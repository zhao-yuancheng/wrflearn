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6"/>
  </p:notesMasterIdLst>
  <p:sldIdLst>
    <p:sldId id="407" r:id="rId4"/>
    <p:sldId id="370" r:id="rId5"/>
    <p:sldId id="431" r:id="rId7"/>
    <p:sldId id="371" r:id="rId8"/>
    <p:sldId id="411" r:id="rId9"/>
    <p:sldId id="372" r:id="rId10"/>
    <p:sldId id="374" r:id="rId11"/>
    <p:sldId id="375" r:id="rId12"/>
    <p:sldId id="376" r:id="rId13"/>
    <p:sldId id="377" r:id="rId14"/>
    <p:sldId id="410" r:id="rId15"/>
    <p:sldId id="378" r:id="rId16"/>
    <p:sldId id="379" r:id="rId17"/>
    <p:sldId id="408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414" r:id="rId27"/>
    <p:sldId id="390" r:id="rId28"/>
    <p:sldId id="413" r:id="rId29"/>
    <p:sldId id="391" r:id="rId30"/>
    <p:sldId id="417" r:id="rId31"/>
    <p:sldId id="392" r:id="rId32"/>
    <p:sldId id="393" r:id="rId33"/>
    <p:sldId id="394" r:id="rId34"/>
    <p:sldId id="422" r:id="rId35"/>
    <p:sldId id="423" r:id="rId36"/>
    <p:sldId id="395" r:id="rId37"/>
    <p:sldId id="396" r:id="rId38"/>
    <p:sldId id="397" r:id="rId39"/>
    <p:sldId id="425" r:id="rId40"/>
    <p:sldId id="426" r:id="rId41"/>
    <p:sldId id="427" r:id="rId42"/>
    <p:sldId id="398" r:id="rId43"/>
    <p:sldId id="399" r:id="rId44"/>
    <p:sldId id="428" r:id="rId45"/>
    <p:sldId id="400" r:id="rId46"/>
    <p:sldId id="429" r:id="rId47"/>
    <p:sldId id="401" r:id="rId48"/>
    <p:sldId id="402" r:id="rId49"/>
    <p:sldId id="435" r:id="rId50"/>
    <p:sldId id="403" r:id="rId51"/>
    <p:sldId id="430" r:id="rId52"/>
    <p:sldId id="404" r:id="rId53"/>
    <p:sldId id="409" r:id="rId54"/>
    <p:sldId id="323" r:id="rId5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0808"/>
    <a:srgbClr val="FF0066"/>
    <a:srgbClr val="CC00CC"/>
    <a:srgbClr val="FFFFFF"/>
    <a:srgbClr val="008000"/>
    <a:srgbClr val="FF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3241"/>
  </p:normalViewPr>
  <p:slideViewPr>
    <p:cSldViewPr showGuides="1">
      <p:cViewPr varScale="1">
        <p:scale>
          <a:sx n="99" d="100"/>
          <a:sy n="99" d="100"/>
        </p:scale>
        <p:origin x="1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A28A401-F3E2-484C-A3B4-581A1E8C1E1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2" name="幻灯片图像占位符 3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12700" cmpd="sng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325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63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837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041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451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656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7373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7577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7885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819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8397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latin typeface="dcr10" charset="0"/>
              <a:ea typeface="宋体" panose="02010600030101010101" pitchFamily="2" charset="-122"/>
            </a:endParaRPr>
          </a:p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8601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latin typeface="dcr10" charset="0"/>
              <a:ea typeface="宋体" panose="02010600030101010101" pitchFamily="2" charset="-122"/>
            </a:endParaRPr>
          </a:p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8806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9011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9216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9421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91440" tIns="45720" rIns="91440" bIns="45720" anchor="ctr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3363"/>
            <a:ext cx="2057400" cy="6219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3363"/>
            <a:ext cx="6019800" cy="6219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showMasterSp="0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179388" y="134938"/>
            <a:ext cx="8785225" cy="773113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3080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2" imgW="2540000" imgH="2540000" progId="Photoshop.Image.6">
                  <p:embed/>
                </p:oleObj>
              </mc:Choice>
              <mc:Fallback>
                <p:oleObj name="" r:id="rId2" imgW="2540000" imgH="2540000" progId="Photoshop.Image.6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2"/>
          <p:cNvSpPr>
            <a:spLocks noChangeArrowheads="1"/>
          </p:cNvSpPr>
          <p:nvPr/>
        </p:nvSpPr>
        <p:spPr bwMode="auto"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23"/>
          <p:cNvSpPr>
            <a:spLocks noChangeArrowheads="1"/>
          </p:cNvSpPr>
          <p:nvPr/>
        </p:nvSpPr>
        <p:spPr bwMode="auto"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日期占位符 5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CA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4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CA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5" name="灯片编号占位符 7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zh-CN" altLang="en-CA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CA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7"/>
          <p:cNvSpPr>
            <a:spLocks noChangeArrowheads="1"/>
          </p:cNvSpPr>
          <p:nvPr/>
        </p:nvSpPr>
        <p:spPr bwMode="auto"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9"/>
          <p:cNvSpPr>
            <a:spLocks noChangeArrowheads="1"/>
          </p:cNvSpPr>
          <p:nvPr/>
        </p:nvSpPr>
        <p:spPr bwMode="auto">
          <a:xfrm>
            <a:off x="179388" y="134938"/>
            <a:ext cx="8785225" cy="773113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4104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" imgW="2540000" imgH="2540000" progId="Photoshop.Image.6">
                  <p:embed/>
                </p:oleObj>
              </mc:Choice>
              <mc:Fallback>
                <p:oleObj name="" r:id="rId2" imgW="2540000" imgH="2540000" progId="Photoshop.Image.6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23"/>
          <p:cNvSpPr>
            <a:spLocks noChangeArrowheads="1"/>
          </p:cNvSpPr>
          <p:nvPr/>
        </p:nvSpPr>
        <p:spPr bwMode="auto"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CA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CA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zh-CN" altLang="en-CA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CA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showMasterSp="0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179388" y="134938"/>
            <a:ext cx="8785225" cy="773113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5128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" imgW="2540000" imgH="2540000" progId="Photoshop.Image.6">
                  <p:embed/>
                </p:oleObj>
              </mc:Choice>
              <mc:Fallback>
                <p:oleObj name="" r:id="rId2" imgW="2540000" imgH="2540000" progId="Photoshop.Image.6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2"/>
          <p:cNvSpPr>
            <a:spLocks noChangeArrowheads="1"/>
          </p:cNvSpPr>
          <p:nvPr/>
        </p:nvSpPr>
        <p:spPr bwMode="auto"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23"/>
          <p:cNvSpPr>
            <a:spLocks noChangeArrowheads="1"/>
          </p:cNvSpPr>
          <p:nvPr/>
        </p:nvSpPr>
        <p:spPr bwMode="auto"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CA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5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CA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6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zh-CN" altLang="en-CA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CA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showMasterSp="0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5"/>
          <p:cNvSpPr>
            <a:spLocks noChangeArrowheads="1"/>
          </p:cNvSpPr>
          <p:nvPr/>
        </p:nvSpPr>
        <p:spPr bwMode="auto"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16"/>
          <p:cNvSpPr>
            <a:spLocks noChangeArrowheads="1"/>
          </p:cNvSpPr>
          <p:nvPr/>
        </p:nvSpPr>
        <p:spPr bwMode="auto"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7"/>
          <p:cNvSpPr>
            <a:spLocks noChangeArrowheads="1"/>
          </p:cNvSpPr>
          <p:nvPr/>
        </p:nvSpPr>
        <p:spPr bwMode="auto"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179388" y="134938"/>
            <a:ext cx="8785225" cy="773113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6152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2" imgW="2540000" imgH="2540000" progId="Photoshop.Image.6">
                  <p:embed/>
                </p:oleObj>
              </mc:Choice>
              <mc:Fallback>
                <p:oleObj name="" r:id="rId2" imgW="2540000" imgH="2540000" progId="Photoshop.Image.6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23"/>
          <p:cNvSpPr>
            <a:spLocks noChangeArrowheads="1"/>
          </p:cNvSpPr>
          <p:nvPr/>
        </p:nvSpPr>
        <p:spPr bwMode="auto"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106362" y="6505575"/>
            <a:ext cx="5126038" cy="35242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48425"/>
            <a:ext cx="2133600" cy="2286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35813" y="6477000"/>
            <a:ext cx="1828800" cy="22701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3363"/>
            <a:ext cx="2057400" cy="6219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3363"/>
            <a:ext cx="6019800" cy="6219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vmlDrawing" Target="../drawings/vmlDrawing5.vml"/><Relationship Id="rId17" Type="http://schemas.openxmlformats.org/officeDocument/2006/relationships/image" Target="../media/image1.png"/><Relationship Id="rId16" Type="http://schemas.openxmlformats.org/officeDocument/2006/relationships/oleObject" Target="../embeddings/oleObject5.bin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7" Type="http://schemas.openxmlformats.org/officeDocument/2006/relationships/theme" Target="../theme/theme2.xml"/><Relationship Id="rId16" Type="http://schemas.openxmlformats.org/officeDocument/2006/relationships/vmlDrawing" Target="../drawings/vmlDrawing6.vml"/><Relationship Id="rId15" Type="http://schemas.openxmlformats.org/officeDocument/2006/relationships/image" Target="../media/image1.png"/><Relationship Id="rId14" Type="http://schemas.openxmlformats.org/officeDocument/2006/relationships/oleObject" Target="../embeddings/oleObject7.bin"/><Relationship Id="rId13" Type="http://schemas.openxmlformats.org/officeDocument/2006/relationships/image" Target="../media/image2.png"/><Relationship Id="rId12" Type="http://schemas.openxmlformats.org/officeDocument/2006/relationships/oleObject" Target="../embeddings/oleObject6.bin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5"/>
          <p:cNvSpPr>
            <a:spLocks noChangeArrowheads="1"/>
          </p:cNvSpPr>
          <p:nvPr/>
        </p:nvSpPr>
        <p:spPr bwMode="auto"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16"/>
          <p:cNvSpPr>
            <a:spLocks noChangeArrowheads="1"/>
          </p:cNvSpPr>
          <p:nvPr/>
        </p:nvSpPr>
        <p:spPr bwMode="auto"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auto"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auto"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19"/>
          <p:cNvSpPr>
            <a:spLocks noChangeArrowheads="1"/>
          </p:cNvSpPr>
          <p:nvPr/>
        </p:nvSpPr>
        <p:spPr bwMode="auto">
          <a:xfrm>
            <a:off x="179388" y="134938"/>
            <a:ext cx="8785225" cy="773113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3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5040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106362" y="6505575"/>
            <a:ext cx="5126038" cy="352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35813" y="6477000"/>
            <a:ext cx="1828800" cy="2270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03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48425"/>
            <a:ext cx="21336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graphicFrame>
        <p:nvGraphicFramePr>
          <p:cNvPr id="1036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6" imgW="2540000" imgH="2540000" progId="Photoshop.Image.6">
                  <p:embed/>
                </p:oleObj>
              </mc:Choice>
              <mc:Fallback>
                <p:oleObj name="" r:id="rId16" imgW="2540000" imgH="2540000" progId="Photoshop.Image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Rectangle 22"/>
          <p:cNvSpPr>
            <a:spLocks noChangeArrowheads="1"/>
          </p:cNvSpPr>
          <p:nvPr/>
        </p:nvSpPr>
        <p:spPr bwMode="auto"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8" name="Rectangle 23"/>
          <p:cNvSpPr>
            <a:spLocks noChangeArrowheads="1"/>
          </p:cNvSpPr>
          <p:nvPr/>
        </p:nvSpPr>
        <p:spPr bwMode="auto"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9" name="Rectangle 2"/>
          <p:cNvSpPr>
            <a:spLocks noGrp="1"/>
          </p:cNvSpPr>
          <p:nvPr>
            <p:ph type="title"/>
          </p:nvPr>
        </p:nvSpPr>
        <p:spPr>
          <a:xfrm>
            <a:off x="747713" y="233363"/>
            <a:ext cx="7862887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7"/>
          <p:cNvSpPr>
            <a:spLocks noChangeArrowheads="1"/>
          </p:cNvSpPr>
          <p:nvPr/>
        </p:nvSpPr>
        <p:spPr bwMode="auto">
          <a:xfrm>
            <a:off x="0" y="5157788"/>
            <a:ext cx="9144000" cy="17081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18"/>
          <p:cNvSpPr>
            <a:spLocks noChangeArrowheads="1"/>
          </p:cNvSpPr>
          <p:nvPr/>
        </p:nvSpPr>
        <p:spPr bwMode="auto">
          <a:xfrm>
            <a:off x="0" y="0"/>
            <a:ext cx="9144000" cy="4935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19"/>
          <p:cNvSpPr>
            <a:spLocks noChangeArrowheads="1"/>
          </p:cNvSpPr>
          <p:nvPr/>
        </p:nvSpPr>
        <p:spPr bwMode="auto">
          <a:xfrm>
            <a:off x="1270000" y="4933950"/>
            <a:ext cx="7874000" cy="22383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Text Box 14"/>
          <p:cNvSpPr txBox="1">
            <a:spLocks noChangeArrowheads="1"/>
          </p:cNvSpPr>
          <p:nvPr/>
        </p:nvSpPr>
        <p:spPr bwMode="auto">
          <a:xfrm>
            <a:off x="2268538" y="5949950"/>
            <a:ext cx="4608513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College of Atmospheric Sciences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20"/>
          <p:cNvSpPr>
            <a:spLocks noChangeArrowheads="1"/>
          </p:cNvSpPr>
          <p:nvPr/>
        </p:nvSpPr>
        <p:spPr bwMode="auto">
          <a:xfrm>
            <a:off x="-7937" y="4935538"/>
            <a:ext cx="1281113" cy="222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55" name="Object 21"/>
          <p:cNvGraphicFramePr>
            <a:graphicFrameLocks noChangeAspect="1"/>
          </p:cNvGraphicFramePr>
          <p:nvPr/>
        </p:nvGraphicFramePr>
        <p:xfrm>
          <a:off x="1279525" y="5054600"/>
          <a:ext cx="23510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2" imgW="2540000" imgH="609600" progId="Photoshop.Image.6">
                  <p:embed/>
                </p:oleObj>
              </mc:Choice>
              <mc:Fallback>
                <p:oleObj name="" r:id="rId12" imgW="2540000" imgH="609600" progId="Photoshop.Image.6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79525" y="5054600"/>
                        <a:ext cx="23510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22"/>
          <p:cNvGraphicFramePr>
            <a:graphicFrameLocks noChangeAspect="1"/>
          </p:cNvGraphicFramePr>
          <p:nvPr/>
        </p:nvGraphicFramePr>
        <p:xfrm>
          <a:off x="0" y="3500438"/>
          <a:ext cx="126682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4" imgW="2540000" imgH="2540000" progId="Photoshop.Image.6">
                  <p:embed/>
                </p:oleObj>
              </mc:Choice>
              <mc:Fallback>
                <p:oleObj name="" r:id="rId14" imgW="2540000" imgH="2540000" progId="Photoshop.Image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0" y="3500438"/>
                        <a:ext cx="1266825" cy="1430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Rectangle 23"/>
          <p:cNvSpPr>
            <a:spLocks noChangeArrowheads="1"/>
          </p:cNvSpPr>
          <p:nvPr/>
        </p:nvSpPr>
        <p:spPr bwMode="auto">
          <a:xfrm>
            <a:off x="1266825" y="1125538"/>
            <a:ext cx="2368550" cy="4535488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24"/>
          <p:cNvSpPr>
            <a:spLocks noChangeArrowheads="1"/>
          </p:cNvSpPr>
          <p:nvPr/>
        </p:nvSpPr>
        <p:spPr bwMode="auto">
          <a:xfrm flipH="1">
            <a:off x="8221663" y="0"/>
            <a:ext cx="95250" cy="2060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9" name="Rectangle 25"/>
          <p:cNvSpPr>
            <a:spLocks noChangeArrowheads="1"/>
          </p:cNvSpPr>
          <p:nvPr/>
        </p:nvSpPr>
        <p:spPr bwMode="auto">
          <a:xfrm>
            <a:off x="250825" y="260350"/>
            <a:ext cx="8569325" cy="4392613"/>
          </a:xfrm>
          <a:prstGeom prst="rect">
            <a:avLst/>
          </a:prstGeom>
          <a:noFill/>
          <a:ln w="0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0" name="Rectangle 26"/>
          <p:cNvSpPr>
            <a:spLocks noChangeArrowheads="1"/>
          </p:cNvSpPr>
          <p:nvPr/>
        </p:nvSpPr>
        <p:spPr bwMode="auto">
          <a:xfrm>
            <a:off x="7775575" y="908050"/>
            <a:ext cx="1368425" cy="1439863"/>
          </a:xfrm>
          <a:prstGeom prst="rect">
            <a:avLst/>
          </a:prstGeom>
          <a:noFill/>
          <a:ln w="0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1" name="Rectangle 27"/>
          <p:cNvSpPr>
            <a:spLocks noChangeArrowheads="1"/>
          </p:cNvSpPr>
          <p:nvPr/>
        </p:nvSpPr>
        <p:spPr bwMode="auto">
          <a:xfrm>
            <a:off x="611188" y="1916113"/>
            <a:ext cx="7921625" cy="1584325"/>
          </a:xfrm>
          <a:prstGeom prst="rect">
            <a:avLst/>
          </a:prstGeom>
          <a:noFill/>
          <a:ln w="0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2" name="Rectangle 3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5040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63" name="Rectangle 2"/>
          <p:cNvSpPr>
            <a:spLocks noGrp="1"/>
          </p:cNvSpPr>
          <p:nvPr>
            <p:ph type="title"/>
          </p:nvPr>
        </p:nvSpPr>
        <p:spPr>
          <a:xfrm>
            <a:off x="747713" y="233363"/>
            <a:ext cx="7862887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4.e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3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4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6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jpeg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7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7.png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32.wmf"/><Relationship Id="rId12" Type="http://schemas.openxmlformats.org/officeDocument/2006/relationships/notesSlide" Target="../notesSlides/notesSlide28.xml"/><Relationship Id="rId11" Type="http://schemas.openxmlformats.org/officeDocument/2006/relationships/vmlDrawing" Target="../drawings/vmlDrawing17.vml"/><Relationship Id="rId10" Type="http://schemas.openxmlformats.org/officeDocument/2006/relationships/slideLayout" Target="../slideLayouts/slideLayout12.xml"/><Relationship Id="rId1" Type="http://schemas.openxmlformats.org/officeDocument/2006/relationships/oleObject" Target="../embeddings/oleObject20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40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37.wmf"/><Relationship Id="rId11" Type="http://schemas.openxmlformats.org/officeDocument/2006/relationships/notesSlide" Target="../notesSlides/notesSlide29.xml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24.bin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28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29.bin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6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45.wmf"/><Relationship Id="rId1" Type="http://schemas.openxmlformats.org/officeDocument/2006/relationships/oleObject" Target="../embeddings/oleObject32.bin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34.bin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0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36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>
          <a:xfrm>
            <a:off x="1428750" y="1000125"/>
            <a:ext cx="6829425" cy="5040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5.3 </a:t>
            </a:r>
            <a:b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b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b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地球大气与辐射的相互作用</a:t>
            </a:r>
            <a:endParaRPr kumimoji="0" lang="zh-CN" altLang="en-US" sz="6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195" name="TextBox 4"/>
          <p:cNvSpPr txBox="1"/>
          <p:nvPr/>
        </p:nvSpPr>
        <p:spPr>
          <a:xfrm>
            <a:off x="1428750" y="214313"/>
            <a:ext cx="77152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600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第五章 地面和大气中的辐射过程</a:t>
            </a:r>
            <a:endParaRPr lang="zh-CN" altLang="en-US" sz="3600" b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5"/>
          <p:cNvSpPr/>
          <p:nvPr/>
        </p:nvSpPr>
        <p:spPr>
          <a:xfrm>
            <a:off x="1357313" y="0"/>
            <a:ext cx="7786687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地球大气与辐射的相互作用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19" name="Rectangle 7"/>
          <p:cNvSpPr/>
          <p:nvPr/>
        </p:nvSpPr>
        <p:spPr>
          <a:xfrm>
            <a:off x="900113" y="1714500"/>
            <a:ext cx="7467600" cy="297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buClr>
                <a:schemeClr val="tx1"/>
              </a:buClr>
              <a:buSzPct val="80000"/>
              <a:buFont typeface="Wingdings 2" pitchFamily="18" charset="2"/>
              <a:buNone/>
            </a:pPr>
            <a:r>
              <a:rPr lang="zh-CN" altLang="en-US" sz="3200" b="0" dirty="0">
                <a:solidFill>
                  <a:srgbClr val="3366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>
              <a:lnSpc>
                <a:spcPct val="150000"/>
              </a:lnSpc>
              <a:buClr>
                <a:schemeClr val="tx1"/>
              </a:buClr>
              <a:buSzPct val="80000"/>
              <a:buFontTx/>
              <a:buChar char="•"/>
            </a:pPr>
            <a:r>
              <a:rPr lang="zh-CN" altLang="en-US" sz="3200" b="0" dirty="0">
                <a:solidFill>
                  <a:srgbClr val="3366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吸收光谱、散射特征、比尔定律</a:t>
            </a:r>
            <a:endParaRPr lang="zh-CN" altLang="en-US" sz="3200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>
              <a:lnSpc>
                <a:spcPct val="150000"/>
              </a:lnSpc>
              <a:buClr>
                <a:schemeClr val="tx1"/>
              </a:buClr>
              <a:buSzPct val="80000"/>
              <a:buFontTx/>
              <a:buChar char="•"/>
            </a:pPr>
            <a:r>
              <a:rPr lang="zh-CN" altLang="en-US" sz="32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相关物理量</a:t>
            </a:r>
            <a:endParaRPr lang="zh-CN" altLang="en-US" sz="3200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大气中有各种气体成分以及水滴、尘埃等气溶胶颗粒。辐射在大气中传输时，要受到大气的影响，其强度、传输方向等都会发生变化。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大气对辐射的作用主要有吸收、散射和折射。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折射过程一般与能量收支问题关系较小，影响比较大的主要是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吸收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散射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作用。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5.3.1 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大气对辐射吸收的物理过程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685800" y="2090738"/>
            <a:ext cx="7772400" cy="4005262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吸收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: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投射到介质上面的辐射能中的一部分被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转变为物质本身的内能或其它形式的能量。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大气中有各种气体成分及气溶胶粒子</a:t>
            </a:r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对辐射具有</a:t>
            </a:r>
            <a:r>
              <a:rPr lang="zh-CN" altLang="en-US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选择吸收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的特性</a:t>
            </a:r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是分子和原子结构及其所处运动状态决定的。</a:t>
            </a:r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Font typeface="Wingdings" panose="05000000000000000000" pitchFamily="2" charset="2"/>
              <a:buChar char="v"/>
            </a:pPr>
            <a:endParaRPr lang="zh-CN" altLang="en-US" sz="2400" dirty="0">
              <a:latin typeface="宋体" panose="02010600030101010101" pitchFamily="2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338" name="Group 2"/>
          <p:cNvGrpSpPr/>
          <p:nvPr/>
        </p:nvGrpSpPr>
        <p:grpSpPr>
          <a:xfrm>
            <a:off x="0" y="685800"/>
            <a:ext cx="9372600" cy="6172200"/>
            <a:chOff x="0" y="432"/>
            <a:chExt cx="5904" cy="3888"/>
          </a:xfrm>
        </p:grpSpPr>
        <p:sp>
          <p:nvSpPr>
            <p:cNvPr id="14339" name="Rectangle 3"/>
            <p:cNvSpPr/>
            <p:nvPr/>
          </p:nvSpPr>
          <p:spPr>
            <a:xfrm>
              <a:off x="0" y="2064"/>
              <a:ext cx="5760" cy="1392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0" name="Rectangle 4"/>
            <p:cNvSpPr/>
            <p:nvPr/>
          </p:nvSpPr>
          <p:spPr>
            <a:xfrm>
              <a:off x="0" y="2208"/>
              <a:ext cx="5760" cy="19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1" name="Text Box 5"/>
            <p:cNvSpPr txBox="1"/>
            <p:nvPr/>
          </p:nvSpPr>
          <p:spPr>
            <a:xfrm>
              <a:off x="0" y="2160"/>
              <a:ext cx="14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 dirty="0">
                  <a:solidFill>
                    <a:srgbClr val="FFFF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臭氧层</a:t>
              </a:r>
              <a:r>
                <a:rPr lang="en-US" altLang="zh-CN" sz="2400" dirty="0">
                  <a:solidFill>
                    <a:srgbClr val="FFFF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O</a:t>
              </a:r>
              <a:r>
                <a:rPr lang="en-US" altLang="zh-CN" sz="1000" dirty="0">
                  <a:solidFill>
                    <a:srgbClr val="FFFF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000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4342" name="Group 6"/>
            <p:cNvGrpSpPr/>
            <p:nvPr/>
          </p:nvGrpSpPr>
          <p:grpSpPr>
            <a:xfrm>
              <a:off x="2496" y="1104"/>
              <a:ext cx="2016" cy="1104"/>
              <a:chOff x="2496" y="1104"/>
              <a:chExt cx="2016" cy="1104"/>
            </a:xfrm>
          </p:grpSpPr>
          <p:sp>
            <p:nvSpPr>
              <p:cNvPr id="14364" name="Line 7"/>
              <p:cNvSpPr/>
              <p:nvPr/>
            </p:nvSpPr>
            <p:spPr>
              <a:xfrm flipH="1">
                <a:off x="2496" y="1104"/>
                <a:ext cx="1536" cy="1104"/>
              </a:xfrm>
              <a:prstGeom prst="line">
                <a:avLst/>
              </a:prstGeom>
              <a:ln w="38100" cap="flat" cmpd="sng">
                <a:solidFill>
                  <a:srgbClr val="9900CC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65" name="Line 8"/>
              <p:cNvSpPr/>
              <p:nvPr/>
            </p:nvSpPr>
            <p:spPr>
              <a:xfrm flipH="1">
                <a:off x="3600" y="1440"/>
                <a:ext cx="576" cy="768"/>
              </a:xfrm>
              <a:prstGeom prst="line">
                <a:avLst/>
              </a:prstGeom>
              <a:ln w="57150" cap="flat" cmpd="sng">
                <a:solidFill>
                  <a:srgbClr val="9900CC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66" name="Line 9"/>
              <p:cNvSpPr/>
              <p:nvPr/>
            </p:nvSpPr>
            <p:spPr>
              <a:xfrm flipH="1">
                <a:off x="4320" y="1632"/>
                <a:ext cx="192" cy="576"/>
              </a:xfrm>
              <a:prstGeom prst="line">
                <a:avLst/>
              </a:prstGeom>
              <a:ln w="38100" cap="flat" cmpd="sng">
                <a:solidFill>
                  <a:srgbClr val="9900CC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4343" name="Group 10"/>
            <p:cNvGrpSpPr/>
            <p:nvPr/>
          </p:nvGrpSpPr>
          <p:grpSpPr>
            <a:xfrm>
              <a:off x="2352" y="1248"/>
              <a:ext cx="2064" cy="1488"/>
              <a:chOff x="2352" y="1248"/>
              <a:chExt cx="2064" cy="1488"/>
            </a:xfrm>
          </p:grpSpPr>
          <p:sp>
            <p:nvSpPr>
              <p:cNvPr id="14360" name="Line 11"/>
              <p:cNvSpPr/>
              <p:nvPr/>
            </p:nvSpPr>
            <p:spPr>
              <a:xfrm flipH="1">
                <a:off x="2352" y="1248"/>
                <a:ext cx="1680" cy="144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61" name="Line 12"/>
              <p:cNvSpPr/>
              <p:nvPr/>
            </p:nvSpPr>
            <p:spPr>
              <a:xfrm flipH="1">
                <a:off x="3552" y="1584"/>
                <a:ext cx="672" cy="115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62" name="Line 13"/>
              <p:cNvSpPr/>
              <p:nvPr/>
            </p:nvSpPr>
            <p:spPr>
              <a:xfrm flipH="1">
                <a:off x="4080" y="1680"/>
                <a:ext cx="336" cy="105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63" name="Line 14"/>
              <p:cNvSpPr/>
              <p:nvPr/>
            </p:nvSpPr>
            <p:spPr>
              <a:xfrm flipH="1">
                <a:off x="3024" y="1440"/>
                <a:ext cx="1104" cy="129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4344" name="Text Box 15"/>
            <p:cNvSpPr txBox="1"/>
            <p:nvPr/>
          </p:nvSpPr>
          <p:spPr>
            <a:xfrm>
              <a:off x="121" y="794"/>
              <a:ext cx="3984" cy="6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、在臭氧层紫外线被臭氧吸收</a:t>
              </a:r>
              <a:endPara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、在对流层红外线被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CO</a:t>
              </a:r>
              <a:r>
                <a:rPr lang="en-US" altLang="zh-CN" sz="2400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和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H</a:t>
              </a:r>
              <a:r>
                <a:rPr lang="en-US" altLang="zh-CN" sz="2400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O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吸收</a:t>
              </a:r>
              <a:endPara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4345" name="Group 16"/>
            <p:cNvGrpSpPr/>
            <p:nvPr/>
          </p:nvGrpSpPr>
          <p:grpSpPr>
            <a:xfrm>
              <a:off x="0" y="1008"/>
              <a:ext cx="4608" cy="2448"/>
              <a:chOff x="0" y="1008"/>
              <a:chExt cx="4608" cy="2448"/>
            </a:xfrm>
          </p:grpSpPr>
          <p:sp>
            <p:nvSpPr>
              <p:cNvPr id="14354" name="Line 17"/>
              <p:cNvSpPr/>
              <p:nvPr/>
            </p:nvSpPr>
            <p:spPr>
              <a:xfrm flipH="1">
                <a:off x="0" y="1008"/>
                <a:ext cx="4032" cy="2448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5" name="Line 18"/>
              <p:cNvSpPr/>
              <p:nvPr/>
            </p:nvSpPr>
            <p:spPr>
              <a:xfrm flipH="1">
                <a:off x="2208" y="1392"/>
                <a:ext cx="1872" cy="2064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6" name="Line 19"/>
              <p:cNvSpPr/>
              <p:nvPr/>
            </p:nvSpPr>
            <p:spPr>
              <a:xfrm flipH="1">
                <a:off x="3024" y="1536"/>
                <a:ext cx="1152" cy="192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7" name="Line 20"/>
              <p:cNvSpPr/>
              <p:nvPr/>
            </p:nvSpPr>
            <p:spPr>
              <a:xfrm flipH="1">
                <a:off x="3696" y="1632"/>
                <a:ext cx="672" cy="1824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8" name="Line 21"/>
              <p:cNvSpPr/>
              <p:nvPr/>
            </p:nvSpPr>
            <p:spPr>
              <a:xfrm flipH="1">
                <a:off x="4320" y="1728"/>
                <a:ext cx="288" cy="1728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9" name="Line 22"/>
              <p:cNvSpPr/>
              <p:nvPr/>
            </p:nvSpPr>
            <p:spPr>
              <a:xfrm flipH="1">
                <a:off x="1008" y="1200"/>
                <a:ext cx="3024" cy="2256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4346" name="Line 23"/>
            <p:cNvSpPr/>
            <p:nvPr/>
          </p:nvSpPr>
          <p:spPr>
            <a:xfrm>
              <a:off x="1248" y="2736"/>
              <a:ext cx="4512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4347" name="Line 24"/>
            <p:cNvSpPr/>
            <p:nvPr/>
          </p:nvSpPr>
          <p:spPr>
            <a:xfrm>
              <a:off x="1248" y="2784"/>
              <a:ext cx="4512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4348" name="Line 25"/>
            <p:cNvSpPr/>
            <p:nvPr/>
          </p:nvSpPr>
          <p:spPr>
            <a:xfrm>
              <a:off x="1248" y="2832"/>
              <a:ext cx="4512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4349" name="Text Box 26"/>
            <p:cNvSpPr txBox="1"/>
            <p:nvPr/>
          </p:nvSpPr>
          <p:spPr>
            <a:xfrm>
              <a:off x="0" y="2640"/>
              <a:ext cx="1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CO</a:t>
              </a:r>
              <a:r>
                <a:rPr lang="en-US" altLang="zh-CN" sz="1800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H</a:t>
              </a:r>
              <a:r>
                <a:rPr lang="en-US" altLang="zh-CN" sz="1800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O</a:t>
              </a:r>
              <a:endPara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14350" name="Picture 27" descr="014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36" y="432"/>
              <a:ext cx="1344" cy="124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1" name="Rectangle 28"/>
            <p:cNvSpPr/>
            <p:nvPr/>
          </p:nvSpPr>
          <p:spPr>
            <a:xfrm>
              <a:off x="0" y="3456"/>
              <a:ext cx="5760" cy="864"/>
            </a:xfrm>
            <a:prstGeom prst="rect">
              <a:avLst/>
            </a:prstGeom>
            <a:solidFill>
              <a:srgbClr val="CC6600"/>
            </a:solidFill>
            <a:ln w="3175" cap="flat" cmpd="sng">
              <a:solidFill>
                <a:srgbClr val="99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2" name="Text Box 29"/>
            <p:cNvSpPr txBox="1"/>
            <p:nvPr/>
          </p:nvSpPr>
          <p:spPr>
            <a:xfrm>
              <a:off x="4800" y="3504"/>
              <a:ext cx="11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i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地面</a:t>
              </a:r>
              <a:endParaRPr lang="zh-CN" altLang="en-US" i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4353" name="Object 30"/>
            <p:cNvGraphicFramePr>
              <a:graphicFrameLocks noChangeAspect="1"/>
            </p:cNvGraphicFramePr>
            <p:nvPr/>
          </p:nvGraphicFramePr>
          <p:xfrm>
            <a:off x="1525" y="912"/>
            <a:ext cx="462" cy="1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2" imgW="2787015" imgH="2372995" progId="MSGraph.Chart.8">
                    <p:embed/>
                  </p:oleObj>
                </mc:Choice>
                <mc:Fallback>
                  <p:oleObj name="" r:id="rId2" imgW="2787015" imgH="2372995" progId="MSGraph.Chart.8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25" y="912"/>
                          <a:ext cx="462" cy="11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"/>
          <p:cNvSpPr txBox="1"/>
          <p:nvPr/>
        </p:nvSpPr>
        <p:spPr>
          <a:xfrm>
            <a:off x="1428750" y="214313"/>
            <a:ext cx="771525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4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大气分子的选择吸收</a:t>
            </a:r>
            <a:endParaRPr lang="zh-CN" altLang="en-US" sz="44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785813" y="1428750"/>
            <a:ext cx="8072438" cy="4929188"/>
          </a:xfrm>
          <a:prstGeom prst="rect">
            <a:avLst/>
          </a:prstGeom>
          <a:noFill/>
        </p:spPr>
        <p:txBody>
          <a:bodyPr/>
          <a:lstStyle/>
          <a:p>
            <a:pPr marL="342900" marR="0" indent="-342900" defTabSz="9144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气体分子或原子内的电子能级跃迁、原子和分子的振动和转动等所发射和吸收的辐射谱是非连续性的，构成原子的线光谱和分子的带光谱。</a:t>
            </a:r>
            <a:endParaRPr kumimoji="0" lang="en-US" altLang="zh-CN" sz="2800" b="1" kern="1200" cap="none" spc="0" normalizeH="0" baseline="0" noProof="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20000"/>
              </a:lnSpc>
              <a:spcBef>
                <a:spcPts val="18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kern="0" cap="none" spc="0" normalizeH="0" baseline="0" noProof="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单个分子，</a:t>
            </a:r>
            <a:r>
              <a:rPr kumimoji="0" lang="zh-CN" altLang="en-US" sz="2800" b="1" kern="1200" cap="none" spc="0" normalizeH="0" baseline="0" noProof="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当它处于某一特定运动状态时，其分子内部总能量</a:t>
            </a:r>
            <a:r>
              <a:rPr kumimoji="0" lang="en-US" altLang="zh-CN" sz="2800" b="1" i="1" kern="1200" cap="none" spc="0" normalizeH="0" baseline="0" noProof="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zh-CN" altLang="en-US" sz="2800" b="1" kern="1200" cap="none" spc="0" normalizeH="0" baseline="0" noProof="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由三部分组成</a:t>
            </a:r>
            <a:endParaRPr kumimoji="0" lang="en-US" altLang="zh-CN" sz="2800" b="1" kern="1200" cap="none" spc="0" normalizeH="0" baseline="0" noProof="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457200" marR="0" indent="-457200" defTabSz="914400" eaLnBrk="1" hangingPunct="1">
              <a:lnSpc>
                <a:spcPct val="15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i="1" kern="1200" cap="none" spc="0" normalizeH="0" baseline="0" noProof="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     </a:t>
            </a:r>
            <a:r>
              <a:rPr kumimoji="0" lang="en-US" altLang="zh-CN" sz="2800" b="1" i="1" kern="1200" cap="none" spc="0" normalizeH="0" baseline="0" noProof="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en-US" altLang="zh-CN" sz="2800" b="1" kern="1200" cap="none" spc="0" normalizeH="0" baseline="0" noProof="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= </a:t>
            </a:r>
            <a:r>
              <a:rPr kumimoji="0" lang="en-US" altLang="zh-CN" sz="2800" b="1" i="1" kern="1200" cap="none" spc="0" normalizeH="0" baseline="0" noProof="0" dirty="0" err="1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en-US" altLang="zh-CN" sz="2800" b="1" kern="1200" cap="none" spc="0" normalizeH="0" baseline="0" noProof="0" dirty="0" err="1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en-US" altLang="zh-CN" sz="2800" b="1" kern="1200" cap="none" spc="0" normalizeH="0" baseline="0" noProof="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</a:t>
            </a:r>
            <a:r>
              <a:rPr kumimoji="0" lang="en-US" altLang="zh-CN" sz="2800" b="1" i="1" kern="1200" cap="none" spc="0" normalizeH="0" baseline="0" noProof="0" dirty="0" err="1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en-US" altLang="zh-CN" sz="2800" b="1" kern="1200" cap="none" spc="0" normalizeH="0" baseline="0" noProof="0" dirty="0" err="1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v</a:t>
            </a:r>
            <a:r>
              <a:rPr kumimoji="0" lang="en-US" altLang="zh-CN" sz="2800" b="1" kern="1200" cap="none" spc="0" normalizeH="0" baseline="0" noProof="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</a:t>
            </a:r>
            <a:r>
              <a:rPr kumimoji="0" lang="en-US" altLang="zh-CN" sz="2800" b="1" i="1" kern="1200" cap="none" spc="0" normalizeH="0" baseline="0" noProof="0" dirty="0" err="1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en-US" altLang="zh-CN" sz="2800" b="1" kern="1200" cap="none" spc="0" normalizeH="0" baseline="0" noProof="0" dirty="0" err="1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r</a:t>
            </a:r>
            <a:r>
              <a:rPr kumimoji="0" lang="en-US" altLang="zh-CN" sz="2800" kern="1200" cap="none" spc="0" normalizeH="0" baseline="0" noProof="0" dirty="0">
                <a:solidFill>
                  <a:srgbClr val="8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	</a:t>
            </a:r>
            <a:r>
              <a:rPr kumimoji="0" lang="en-US" altLang="zh-CN" sz="2800" kern="1200" cap="none" spc="0" normalizeH="0" baseline="0" noProof="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	</a:t>
            </a:r>
            <a:r>
              <a:rPr kumimoji="0" lang="zh-CN" altLang="en-US" sz="2800" kern="1200" cap="none" spc="0" normalizeH="0" baseline="0" noProof="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（</a:t>
            </a:r>
            <a:r>
              <a:rPr kumimoji="0" lang="en-US" altLang="zh-CN" sz="2800" kern="1200" cap="none" spc="0" normalizeH="0" baseline="0" noProof="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5.3.1</a:t>
            </a:r>
            <a:r>
              <a:rPr kumimoji="0" lang="zh-CN" altLang="en-US" sz="2800" kern="1200" cap="none" spc="0" normalizeH="0" baseline="0" noProof="0" dirty="0">
                <a:solidFill>
                  <a:srgbClr val="0066C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） </a:t>
            </a:r>
            <a:endParaRPr kumimoji="0" lang="zh-CN" altLang="en-US" sz="2800" kern="1200" cap="none" spc="0" normalizeH="0" baseline="0" noProof="0" dirty="0">
              <a:solidFill>
                <a:srgbClr val="0066CC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899795" marR="0" indent="-457200" defTabSz="914400" eaLnBrk="1" hangingPunct="1">
              <a:spcBef>
                <a:spcPts val="18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1" kern="1200" cap="none" spc="0" normalizeH="0" baseline="0" noProof="0" dirty="0" err="1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en-US" altLang="zh-CN" sz="2400" b="1" kern="1200" cap="none" spc="0" normalizeH="0" baseline="0" noProof="0" dirty="0" err="1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zh-CN" altLang="en-US" sz="2400" b="1" kern="1200" cap="none" spc="0" normalizeH="0" baseline="0" noProof="0" dirty="0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：绕原子核转动的外层电子的动能和静电势能</a:t>
            </a:r>
            <a:endParaRPr kumimoji="0" lang="zh-CN" altLang="en-US" sz="2400" b="1" kern="1200" cap="none" spc="0" normalizeH="0" baseline="0" noProof="0" dirty="0">
              <a:solidFill>
                <a:schemeClr val="accent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899795" marR="0" indent="-45720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1" kern="1200" cap="none" spc="0" normalizeH="0" baseline="0" noProof="0" dirty="0" err="1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en-US" altLang="zh-CN" sz="2400" b="1" kern="1200" cap="none" spc="0" normalizeH="0" baseline="0" noProof="0" dirty="0" err="1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v</a:t>
            </a:r>
            <a:r>
              <a:rPr kumimoji="0" lang="zh-CN" altLang="en-US" sz="2400" b="1" kern="1200" cap="none" spc="0" normalizeH="0" baseline="0" noProof="0" dirty="0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：原子在其平衡位置附近振动的能量</a:t>
            </a:r>
            <a:endParaRPr kumimoji="0" lang="en-US" altLang="zh-CN" sz="2400" b="1" kern="1200" cap="none" spc="0" normalizeH="0" baseline="0" noProof="0" dirty="0">
              <a:solidFill>
                <a:schemeClr val="accent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899795" marR="0" indent="-45720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1" kern="1200" cap="none" spc="0" normalizeH="0" baseline="0" noProof="0" dirty="0" err="1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Er</a:t>
            </a:r>
            <a:r>
              <a:rPr kumimoji="0" lang="zh-CN" altLang="en-US" sz="2400" b="1" kern="1200" cap="none" spc="0" normalizeH="0" baseline="0" noProof="0" dirty="0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：分子绕其质量中心转动的能量 </a:t>
            </a:r>
            <a:endParaRPr kumimoji="0" lang="zh-CN" altLang="en-US" sz="2400" b="1" kern="1200" cap="none" spc="0" normalizeH="0" baseline="0" noProof="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357313" y="142875"/>
            <a:ext cx="7200900" cy="71120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吸收谱和发射谱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1" name="Rectangle 5"/>
          <p:cNvSpPr>
            <a:spLocks noGrp="1"/>
          </p:cNvSpPr>
          <p:nvPr>
            <p:ph type="body" sz="half" idx="1"/>
          </p:nvPr>
        </p:nvSpPr>
        <p:spPr>
          <a:xfrm>
            <a:off x="684213" y="1412875"/>
            <a:ext cx="7773987" cy="4968875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辐射频率</a:t>
            </a:r>
            <a:r>
              <a:rPr lang="en-US" altLang="zh-CN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f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及波数</a:t>
            </a:r>
            <a:r>
              <a:rPr lang="zh-CN" altLang="en-US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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与能量改变的关系是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40000"/>
              </a:lnSpc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en-US" altLang="zh-CN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f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和</a:t>
            </a:r>
            <a:r>
              <a:rPr lang="zh-CN" altLang="en-US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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为分子吸收或发射谱线的位置。这种谱线由有限个非常窄的吸收线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或发射线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组成，其间夹杂该分子不可能发射和吸收的光谱间隙。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40000"/>
              </a:lnSpc>
              <a:spcBef>
                <a:spcPts val="1800"/>
              </a:spcBef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吸收光谱与发射光谱是一致的。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17412" name="Object 2"/>
          <p:cNvGraphicFramePr>
            <a:graphicFrameLocks noChangeAspect="1"/>
          </p:cNvGraphicFramePr>
          <p:nvPr>
            <p:ph sz="quarter" idx="2"/>
          </p:nvPr>
        </p:nvGraphicFramePr>
        <p:xfrm>
          <a:off x="1476375" y="2060575"/>
          <a:ext cx="52562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2540000" imgH="228600" progId="Equation.DSMT4">
                  <p:embed/>
                </p:oleObj>
              </mc:Choice>
              <mc:Fallback>
                <p:oleObj name="" r:id="rId1" imgW="2540000" imgH="228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476375" y="2060575"/>
                        <a:ext cx="5256213" cy="4730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3"/>
          <p:cNvGraphicFramePr>
            <a:graphicFrameLocks noChangeAspect="1"/>
          </p:cNvGraphicFramePr>
          <p:nvPr>
            <p:ph sz="quarter" idx="3"/>
          </p:nvPr>
        </p:nvGraphicFramePr>
        <p:xfrm>
          <a:off x="1476375" y="2708275"/>
          <a:ext cx="5184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590800" imgH="228600" progId="Equation.DSMT4">
                  <p:embed/>
                </p:oleObj>
              </mc:Choice>
              <mc:Fallback>
                <p:oleObj name="" r:id="rId3" imgW="2590800" imgH="2286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1476375" y="2708275"/>
                        <a:ext cx="5184775" cy="457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357313" y="214313"/>
            <a:ext cx="7632700" cy="639762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大气中主要成分的吸收特征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59" name="Rectangle 5"/>
          <p:cNvSpPr>
            <a:spLocks noGrp="1"/>
          </p:cNvSpPr>
          <p:nvPr>
            <p:ph idx="1"/>
          </p:nvPr>
        </p:nvSpPr>
        <p:spPr>
          <a:xfrm>
            <a:off x="539750" y="1557338"/>
            <a:ext cx="8032750" cy="258603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altLang="zh-CN" sz="2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N</a:t>
            </a:r>
            <a:r>
              <a:rPr lang="en-US" altLang="zh-CN" sz="2600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CN" altLang="en-US" sz="2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和</a:t>
            </a:r>
            <a:r>
              <a:rPr lang="en-US" altLang="zh-CN" sz="2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O</a:t>
            </a:r>
            <a:r>
              <a:rPr lang="en-US" altLang="zh-CN" sz="2600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CN" altLang="en-US" sz="2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分子</a:t>
            </a:r>
            <a:r>
              <a:rPr lang="zh-CN" altLang="en-US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：对称的电荷分布</a:t>
            </a:r>
            <a:r>
              <a:rPr lang="zh-CN" altLang="en-US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Wingdings" panose="05000000000000000000" pitchFamily="2" charset="2"/>
              </a:rPr>
              <a:t>（理论上）</a:t>
            </a:r>
            <a:r>
              <a:rPr lang="zh-CN" altLang="en-US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没有振动或转动谱，其吸收和发射谱由电子轨道跃迁造成，位于</a:t>
            </a:r>
            <a:r>
              <a:rPr lang="zh-CN" altLang="en-US" sz="2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紫外和可见光辐射区</a:t>
            </a:r>
            <a:r>
              <a:rPr lang="zh-CN" altLang="en-US" sz="2600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2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9460" name="Picture 7" descr="molecular_modes"/>
          <p:cNvPicPr>
            <a:picLocks noChangeAspect="1"/>
          </p:cNvPicPr>
          <p:nvPr/>
        </p:nvPicPr>
        <p:blipFill>
          <a:blip r:embed="rId1"/>
          <a:srcRect l="14410" t="6250" r="31966" b="84096"/>
          <a:stretch>
            <a:fillRect/>
          </a:stretch>
        </p:blipFill>
        <p:spPr>
          <a:xfrm>
            <a:off x="900113" y="3857625"/>
            <a:ext cx="6840537" cy="1835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11"/>
          <p:cNvSpPr/>
          <p:nvPr/>
        </p:nvSpPr>
        <p:spPr>
          <a:xfrm>
            <a:off x="827088" y="1285875"/>
            <a:ext cx="7848600" cy="2492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buClrTx/>
              <a:buFont typeface="Arial" panose="020B0604020202020204" pitchFamily="34" charset="0"/>
              <a:buNone/>
            </a:pPr>
            <a:r>
              <a:rPr lang="en-US" altLang="zh-CN" sz="2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</a:t>
            </a:r>
            <a:r>
              <a:rPr lang="en-US" altLang="zh-CN" sz="2600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en-US" altLang="zh-CN" sz="2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O </a:t>
            </a:r>
            <a:r>
              <a:rPr lang="zh-CN" altLang="en-US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分子：原子呈三角形分布，是极性分子，转动和振动态的结合使得水汽的吸收谱十分复杂。其中最强、最宽和重要的吸收带是</a:t>
            </a:r>
            <a:r>
              <a:rPr lang="en-US" altLang="zh-CN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6.3 </a:t>
            </a:r>
            <a:r>
              <a:rPr lang="en-US" altLang="zh-CN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m</a:t>
            </a:r>
            <a:r>
              <a:rPr lang="zh-CN" altLang="en-US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带，以及</a:t>
            </a:r>
            <a:r>
              <a:rPr lang="en-US" altLang="zh-CN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2.73</a:t>
            </a:r>
            <a:r>
              <a:rPr lang="en-US" altLang="zh-CN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m</a:t>
            </a:r>
            <a:r>
              <a:rPr lang="zh-CN" altLang="en-US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带和</a:t>
            </a:r>
            <a:r>
              <a:rPr lang="en-US" altLang="zh-CN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2.66</a:t>
            </a:r>
            <a:r>
              <a:rPr lang="en-US" altLang="zh-CN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m</a:t>
            </a:r>
            <a:r>
              <a:rPr lang="zh-CN" altLang="en-US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带合在一起的</a:t>
            </a:r>
            <a:r>
              <a:rPr lang="en-US" altLang="zh-CN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2.7</a:t>
            </a:r>
            <a:r>
              <a:rPr lang="en-US" altLang="zh-CN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m</a:t>
            </a:r>
            <a:r>
              <a:rPr lang="zh-CN" altLang="en-US" sz="26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吸收区。</a:t>
            </a:r>
            <a:endParaRPr lang="zh-CN" altLang="en-US" sz="26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1507" name="Picture 12" descr="FG03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13" y="4071938"/>
            <a:ext cx="6192837" cy="22891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1508" name="Rectangle 2"/>
          <p:cNvSpPr>
            <a:spLocks noGrp="1"/>
          </p:cNvSpPr>
          <p:nvPr>
            <p:ph type="title"/>
          </p:nvPr>
        </p:nvSpPr>
        <p:spPr>
          <a:xfrm>
            <a:off x="1357313" y="214313"/>
            <a:ext cx="7632700" cy="639762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大气中主要成分的吸收特征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Picture 6" descr="molecular_modes"/>
          <p:cNvPicPr>
            <a:picLocks noChangeAspect="1"/>
          </p:cNvPicPr>
          <p:nvPr/>
        </p:nvPicPr>
        <p:blipFill>
          <a:blip r:embed="rId1"/>
          <a:srcRect l="14410" t="36086" r="27702" b="57159"/>
          <a:stretch>
            <a:fillRect/>
          </a:stretch>
        </p:blipFill>
        <p:spPr>
          <a:xfrm>
            <a:off x="1714500" y="3852863"/>
            <a:ext cx="6191250" cy="1076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1" name="Picture 7" descr="molecular_modes"/>
          <p:cNvPicPr>
            <a:picLocks noChangeAspect="1"/>
          </p:cNvPicPr>
          <p:nvPr/>
        </p:nvPicPr>
        <p:blipFill>
          <a:blip r:embed="rId1"/>
          <a:srcRect l="14410" t="20541" r="27702" b="74976"/>
          <a:stretch>
            <a:fillRect/>
          </a:stretch>
        </p:blipFill>
        <p:spPr>
          <a:xfrm>
            <a:off x="1643063" y="1643063"/>
            <a:ext cx="6192837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Rectangle 2"/>
          <p:cNvSpPr>
            <a:spLocks noGrp="1"/>
          </p:cNvSpPr>
          <p:nvPr>
            <p:ph type="title"/>
          </p:nvPr>
        </p:nvSpPr>
        <p:spPr>
          <a:xfrm>
            <a:off x="1357313" y="214313"/>
            <a:ext cx="7632700" cy="639762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大气中主要成分的吸收特征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3" name="TextBox 5"/>
          <p:cNvSpPr txBox="1"/>
          <p:nvPr/>
        </p:nvSpPr>
        <p:spPr>
          <a:xfrm>
            <a:off x="1571625" y="2571750"/>
            <a:ext cx="6929438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无转动带，</a:t>
            </a:r>
            <a:r>
              <a:rPr lang="en-US" altLang="zh-CN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15 μm </a:t>
            </a:r>
            <a:r>
              <a:rPr lang="zh-CN" altLang="en-US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振动带是</a:t>
            </a:r>
            <a:r>
              <a:rPr lang="en-US" altLang="zh-CN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CO</a:t>
            </a:r>
            <a:r>
              <a:rPr lang="en-US" altLang="zh-CN" sz="20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在红外区的主要吸收带。</a:t>
            </a:r>
            <a:endParaRPr lang="zh-CN" altLang="en-US" sz="20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2534" name="TextBox 6"/>
          <p:cNvSpPr txBox="1"/>
          <p:nvPr/>
        </p:nvSpPr>
        <p:spPr>
          <a:xfrm>
            <a:off x="1857375" y="4929188"/>
            <a:ext cx="5643563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O</a:t>
            </a:r>
            <a:r>
              <a:rPr lang="en-US" altLang="zh-CN" sz="20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 </a:t>
            </a:r>
            <a:r>
              <a:rPr lang="zh-CN" altLang="en-US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振动</a:t>
            </a:r>
            <a:r>
              <a:rPr lang="en-US" altLang="zh-CN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转动带中较重要的是</a:t>
            </a:r>
            <a:r>
              <a:rPr lang="en-US" altLang="zh-CN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9.6 μm</a:t>
            </a:r>
            <a:r>
              <a:rPr lang="zh-CN" altLang="en-US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吸收带，电子吸收带最主要的是</a:t>
            </a:r>
            <a:r>
              <a:rPr lang="en-US" altLang="zh-CN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Hartley bands,0.22-0.30 μm</a:t>
            </a:r>
            <a:r>
              <a:rPr lang="zh-CN" altLang="en-US" sz="2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20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 txBox="1">
            <a:spLocks noRot="1"/>
          </p:cNvSpPr>
          <p:nvPr/>
        </p:nvSpPr>
        <p:spPr>
          <a:xfrm>
            <a:off x="500063" y="4508500"/>
            <a:ext cx="8320087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理论上，吸收波数是确定的，因此谱线是单色的，宽度为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en-US" altLang="zh-CN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实际上，从未观测过单色发射辐射，而是有一定宽度的谱线！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4579" name="Picture 6" descr="Line shapes"/>
          <p:cNvPicPr>
            <a:picLocks noChangeAspect="1"/>
          </p:cNvPicPr>
          <p:nvPr/>
        </p:nvPicPr>
        <p:blipFill>
          <a:blip r:embed="rId1"/>
          <a:srcRect l="21065" t="52295" r="36740" b="9512"/>
          <a:stretch>
            <a:fillRect/>
          </a:stretch>
        </p:blipFill>
        <p:spPr>
          <a:xfrm>
            <a:off x="4584700" y="1577975"/>
            <a:ext cx="3705225" cy="2514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Picture 6" descr="Line shapes"/>
          <p:cNvPicPr>
            <a:picLocks noChangeAspect="1"/>
          </p:cNvPicPr>
          <p:nvPr/>
        </p:nvPicPr>
        <p:blipFill>
          <a:blip r:embed="rId1"/>
          <a:srcRect l="21696" t="12033" r="36121" b="50392"/>
          <a:stretch>
            <a:fillRect/>
          </a:stretch>
        </p:blipFill>
        <p:spPr>
          <a:xfrm>
            <a:off x="715963" y="1412875"/>
            <a:ext cx="3703637" cy="2473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1" name="TextBox 4"/>
          <p:cNvSpPr txBox="1"/>
          <p:nvPr/>
        </p:nvSpPr>
        <p:spPr>
          <a:xfrm>
            <a:off x="1403350" y="284163"/>
            <a:ext cx="7561263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谱线形状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extBox 4"/>
          <p:cNvSpPr txBox="1"/>
          <p:nvPr/>
        </p:nvSpPr>
        <p:spPr>
          <a:xfrm>
            <a:off x="285750" y="6357938"/>
            <a:ext cx="8715375" cy="3698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Rectangle 5"/>
          <p:cNvSpPr>
            <a:spLocks noGrp="1"/>
          </p:cNvSpPr>
          <p:nvPr>
            <p:ph type="title"/>
          </p:nvPr>
        </p:nvSpPr>
        <p:spPr>
          <a:xfrm>
            <a:off x="3000375" y="71438"/>
            <a:ext cx="4524375" cy="936625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谱线增宽的原因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4" name="Text Box 7"/>
          <p:cNvSpPr txBox="1"/>
          <p:nvPr/>
        </p:nvSpPr>
        <p:spPr>
          <a:xfrm>
            <a:off x="357188" y="1700213"/>
            <a:ext cx="8318500" cy="4616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1. 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自然增宽：</a:t>
            </a:r>
            <a:r>
              <a:rPr lang="zh-CN" altLang="en-US" dirty="0">
                <a:solidFill>
                  <a:srgbClr val="080808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由于发射中的能量损耗而造成的或在受激能级上有一定寿命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zh-CN" altLang="en-US" dirty="0">
                <a:solidFill>
                  <a:srgbClr val="CC33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可忽略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）；</a:t>
            </a:r>
            <a:endParaRPr lang="zh-CN" altLang="en-US" dirty="0">
              <a:solidFill>
                <a:schemeClr val="accent2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2. 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压力增宽：</a:t>
            </a:r>
            <a:r>
              <a:rPr lang="zh-CN" altLang="en-US" dirty="0">
                <a:solidFill>
                  <a:srgbClr val="080808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由于分子、原子或离子频繁碰撞的结果导致发射辐射的位相发生无规则变化；</a:t>
            </a:r>
            <a:endParaRPr lang="zh-CN" altLang="en-US" dirty="0">
              <a:solidFill>
                <a:srgbClr val="080808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zh-CN" altLang="en-US" dirty="0">
                <a:solidFill>
                  <a:srgbClr val="CC33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与压力成正比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3. 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多普勒增宽：</a:t>
            </a:r>
            <a:r>
              <a:rPr lang="zh-CN" altLang="en-US" dirty="0">
                <a:solidFill>
                  <a:srgbClr val="080808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由于分子随机运动时的多普勒频移引起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zh-CN" altLang="en-US" dirty="0">
                <a:solidFill>
                  <a:srgbClr val="CC33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与</a:t>
            </a:r>
            <a:r>
              <a:rPr lang="en-US" altLang="zh-CN" dirty="0">
                <a:solidFill>
                  <a:srgbClr val="CC33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</a:t>
            </a:r>
            <a:r>
              <a:rPr lang="zh-CN" altLang="en-US" dirty="0">
                <a:solidFill>
                  <a:srgbClr val="CC33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有关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）。</a:t>
            </a:r>
            <a:endParaRPr lang="zh-CN" altLang="en-US" dirty="0">
              <a:solidFill>
                <a:schemeClr val="accent2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11"/>
          <p:cNvSpPr>
            <a:spLocks noGrp="1"/>
          </p:cNvSpPr>
          <p:nvPr>
            <p:ph type="title"/>
          </p:nvPr>
        </p:nvSpPr>
        <p:spPr>
          <a:xfrm>
            <a:off x="1357313" y="142875"/>
            <a:ext cx="7415212" cy="771525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吸收系数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Rectangle 1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7773987" cy="4395787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单个粒子的吸收截面</a:t>
            </a:r>
            <a:r>
              <a:rPr lang="en-US" altLang="zh-CN" i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σ</a:t>
            </a:r>
            <a:r>
              <a:rPr lang="en-US" altLang="zh-CN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ab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endParaRPr lang="en-US" altLang="zh-CN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粒子所吸收的辐射通量相当于面积</a:t>
            </a:r>
            <a:r>
              <a:rPr lang="en-US" altLang="zh-CN" sz="2400" i="1" dirty="0">
                <a:latin typeface="华文细黑" panose="02010600040101010101" pitchFamily="2" charset="-122"/>
                <a:ea typeface="华文细黑" panose="02010600040101010101" pitchFamily="2" charset="-122"/>
              </a:rPr>
              <a:t>σ</a:t>
            </a:r>
            <a:r>
              <a:rPr lang="en-US" altLang="zh-CN" sz="2400" baseline="-25000" dirty="0">
                <a:latin typeface="华文细黑" panose="02010600040101010101" pitchFamily="2" charset="-122"/>
                <a:ea typeface="华文细黑" panose="02010600040101010101" pitchFamily="2" charset="-122"/>
              </a:rPr>
              <a:t>ab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从入射辐射场中所截获的辐射通量。</a:t>
            </a:r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体积吸收系数 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k</a:t>
            </a:r>
            <a:r>
              <a:rPr lang="en-US" altLang="zh-CN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ab</a:t>
            </a:r>
            <a:endParaRPr lang="en-US" altLang="zh-CN" baseline="-250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单位体积中各粒子吸收截面之和（</a:t>
            </a:r>
            <a:r>
              <a:rPr lang="en-US" altLang="zh-CN" sz="2400" i="1" dirty="0">
                <a:latin typeface="华文细黑" panose="02010600040101010101" pitchFamily="2" charset="-122"/>
                <a:ea typeface="华文细黑" panose="02010600040101010101" pitchFamily="2" charset="-122"/>
              </a:rPr>
              <a:t>k</a:t>
            </a:r>
            <a:r>
              <a:rPr lang="en-US" altLang="zh-CN" sz="2400" baseline="-25000" dirty="0">
                <a:latin typeface="华文细黑" panose="02010600040101010101" pitchFamily="2" charset="-122"/>
                <a:ea typeface="华文细黑" panose="02010600040101010101" pitchFamily="2" charset="-122"/>
              </a:rPr>
              <a:t>ab</a:t>
            </a:r>
            <a:r>
              <a:rPr lang="en-US" altLang="zh-CN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=</a:t>
            </a:r>
            <a:r>
              <a:rPr lang="en-US" altLang="zh-CN" sz="2400" i="1" dirty="0">
                <a:latin typeface="华文细黑" panose="02010600040101010101" pitchFamily="2" charset="-122"/>
                <a:ea typeface="华文细黑" panose="02010600040101010101" pitchFamily="2" charset="-122"/>
              </a:rPr>
              <a:t>N σ</a:t>
            </a:r>
            <a:r>
              <a:rPr lang="en-US" altLang="zh-CN" sz="2400" baseline="-25000" dirty="0">
                <a:latin typeface="华文细黑" panose="02010600040101010101" pitchFamily="2" charset="-122"/>
                <a:ea typeface="华文细黑" panose="02010600040101010101" pitchFamily="2" charset="-122"/>
              </a:rPr>
              <a:t>ab</a:t>
            </a:r>
            <a:r>
              <a:rPr lang="en-US" altLang="zh-CN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1800"/>
              </a:spcBef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质量吸收系数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k</a:t>
            </a:r>
            <a:r>
              <a:rPr lang="en-US" altLang="zh-CN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ab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’</a:t>
            </a:r>
            <a:endParaRPr lang="en-US" altLang="zh-CN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单位质量吸收物质具有的吸收截面</a:t>
            </a:r>
            <a:endParaRPr lang="en-US" altLang="zh-CN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2662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1981200" y="4900613"/>
          <a:ext cx="4535488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828800" imgH="393700" progId="Equation.DSMT4">
                  <p:embed/>
                </p:oleObj>
              </mc:Choice>
              <mc:Fallback>
                <p:oleObj name="" r:id="rId1" imgW="182880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981200" y="4900613"/>
                        <a:ext cx="4535488" cy="9763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4" name="Picture 4"/>
          <p:cNvPicPr>
            <a:picLocks noChangeAspect="1"/>
          </p:cNvPicPr>
          <p:nvPr/>
        </p:nvPicPr>
        <p:blipFill>
          <a:blip r:embed="rId1"/>
          <a:srcRect l="22772" r="11880" b="56528"/>
          <a:stretch>
            <a:fillRect/>
          </a:stretch>
        </p:blipFill>
        <p:spPr>
          <a:xfrm>
            <a:off x="1019175" y="1616075"/>
            <a:ext cx="7326313" cy="3884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5" name="Text Box 12"/>
          <p:cNvSpPr txBox="1"/>
          <p:nvPr/>
        </p:nvSpPr>
        <p:spPr>
          <a:xfrm>
            <a:off x="1428750" y="142875"/>
            <a:ext cx="77152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5.3.2</a:t>
            </a: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大气吸收光谱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8676" name="Picture 4"/>
          <p:cNvPicPr>
            <a:picLocks noChangeAspect="1"/>
          </p:cNvPicPr>
          <p:nvPr/>
        </p:nvPicPr>
        <p:blipFill>
          <a:blip r:embed="rId1"/>
          <a:srcRect l="12871" t="94232" r="17822" b="2042"/>
          <a:stretch>
            <a:fillRect/>
          </a:stretch>
        </p:blipFill>
        <p:spPr>
          <a:xfrm>
            <a:off x="1571625" y="5643563"/>
            <a:ext cx="6667500" cy="285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11"/>
          <p:cNvSpPr>
            <a:spLocks noGrp="1" noChangeArrowheads="1"/>
          </p:cNvSpPr>
          <p:nvPr>
            <p:ph idx="1"/>
          </p:nvPr>
        </p:nvSpPr>
        <p:spPr>
          <a:xfrm>
            <a:off x="468313" y="1412875"/>
            <a:ext cx="8389938" cy="5070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选择性吸收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   太阳短波辐射：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H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3</a:t>
            </a:r>
            <a:endParaRPr kumimoji="0" lang="en-US" altLang="zh-CN" sz="2400" b="1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   地气长波辐射：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H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CO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N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CH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CFCs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气体吸收对大气辐射平衡的重要性取决于：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 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）吸收气体的含量及其空间分布；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）吸收线的强度。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23" name="Text Box 12"/>
          <p:cNvSpPr txBox="1"/>
          <p:nvPr/>
        </p:nvSpPr>
        <p:spPr>
          <a:xfrm>
            <a:off x="1428750" y="142875"/>
            <a:ext cx="77152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5.3.2</a:t>
            </a: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大气吸收光谱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63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83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103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6"/>
          <p:cNvSpPr>
            <a:spLocks noGrp="1"/>
          </p:cNvSpPr>
          <p:nvPr>
            <p:ph type="title"/>
          </p:nvPr>
        </p:nvSpPr>
        <p:spPr>
          <a:xfrm>
            <a:off x="2428875" y="928688"/>
            <a:ext cx="502285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大气中吸收成分分布</a:t>
            </a:r>
            <a:endParaRPr lang="zh-CN" altLang="en-US" sz="36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2771" name="Picture 9"/>
          <p:cNvPicPr>
            <a:picLocks noChangeAspect="1"/>
          </p:cNvPicPr>
          <p:nvPr/>
        </p:nvPicPr>
        <p:blipFill>
          <a:blip r:embed="rId1"/>
          <a:srcRect t="16922"/>
          <a:stretch>
            <a:fillRect/>
          </a:stretch>
        </p:blipFill>
        <p:spPr>
          <a:xfrm>
            <a:off x="277813" y="1857375"/>
            <a:ext cx="8686800" cy="41227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idx="1"/>
          </p:nvPr>
        </p:nvSpPr>
        <p:spPr>
          <a:xfrm>
            <a:off x="0" y="1357313"/>
            <a:ext cx="8820150" cy="5508625"/>
          </a:xfrm>
          <a:ln/>
        </p:spPr>
        <p:txBody>
          <a:bodyPr vert="horz" wrap="square" lIns="91440" tIns="45720" rIns="91440" bIns="45720" anchor="t" anchorCtr="0"/>
          <a:p>
            <a:pPr>
              <a:spcAft>
                <a:spcPct val="20000"/>
              </a:spcAft>
              <a:buFontTx/>
              <a:buNone/>
            </a:pPr>
            <a:r>
              <a:rPr lang="zh-CN" altLang="en-US" sz="3600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3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H</a:t>
            </a:r>
            <a:r>
              <a:rPr lang="en-US" altLang="zh-CN" sz="3600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endParaRPr lang="en-US" altLang="zh-CN" sz="36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吸收约</a:t>
            </a:r>
            <a:r>
              <a:rPr lang="en-US" altLang="zh-CN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20%</a:t>
            </a: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的太阳能量</a:t>
            </a:r>
            <a:endParaRPr lang="zh-CN" altLang="en-US" sz="3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几乎覆盖长波辐射整个波段</a:t>
            </a:r>
            <a:endParaRPr lang="zh-CN" altLang="en-US" sz="3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spcAft>
                <a:spcPct val="20000"/>
              </a:spcAft>
              <a:buFontTx/>
              <a:buNone/>
            </a:pPr>
            <a:r>
              <a:rPr lang="en-US" altLang="zh-CN" sz="32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6.3m</a:t>
            </a: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振动带</a:t>
            </a:r>
            <a:endParaRPr lang="zh-CN" altLang="en-US" sz="3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 algn="r">
              <a:spcAft>
                <a:spcPct val="20000"/>
              </a:spcAft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大于</a:t>
            </a:r>
            <a:r>
              <a:rPr lang="en-US" altLang="zh-CN" sz="32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12m</a:t>
            </a: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转动带</a:t>
            </a:r>
            <a:endParaRPr lang="zh-CN" altLang="en-US" sz="3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type="title"/>
          </p:nvPr>
        </p:nvSpPr>
        <p:spPr>
          <a:xfrm>
            <a:off x="1428750" y="142875"/>
            <a:ext cx="7715250" cy="762000"/>
          </a:xfrm>
          <a:ln/>
        </p:spPr>
        <p:txBody>
          <a:bodyPr vert="horz" wrap="square" lIns="91440" tIns="45720" rIns="91440" bIns="45720" anchor="b" anchorCtr="0"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水汽的吸收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4820" name="Picture 4" descr="Fig5-6"/>
          <p:cNvPicPr>
            <a:picLocks noChangeAspect="1"/>
          </p:cNvPicPr>
          <p:nvPr/>
        </p:nvPicPr>
        <p:blipFill>
          <a:blip r:embed="rId1"/>
          <a:srcRect l="6667" t="86623" r="9166" b="832"/>
          <a:stretch>
            <a:fillRect/>
          </a:stretch>
        </p:blipFill>
        <p:spPr>
          <a:xfrm>
            <a:off x="0" y="4986338"/>
            <a:ext cx="9144000" cy="2157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1" name="Line 5"/>
          <p:cNvSpPr/>
          <p:nvPr/>
        </p:nvSpPr>
        <p:spPr>
          <a:xfrm>
            <a:off x="1600200" y="4019550"/>
            <a:ext cx="3829050" cy="909638"/>
          </a:xfrm>
          <a:prstGeom prst="line">
            <a:avLst/>
          </a:prstGeom>
          <a:ln w="76200" cap="flat" cmpd="sng">
            <a:solidFill>
              <a:srgbClr val="008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822" name="Line 6"/>
          <p:cNvSpPr/>
          <p:nvPr/>
        </p:nvSpPr>
        <p:spPr>
          <a:xfrm flipH="1">
            <a:off x="6858000" y="4643438"/>
            <a:ext cx="304800" cy="38100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5"/>
          <p:cNvSpPr>
            <a:spLocks noGrp="1"/>
          </p:cNvSpPr>
          <p:nvPr>
            <p:ph type="title"/>
          </p:nvPr>
        </p:nvSpPr>
        <p:spPr>
          <a:xfrm>
            <a:off x="1357313" y="142875"/>
            <a:ext cx="7702550" cy="700088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  <a:r>
              <a:rPr lang="en-US" altLang="zh-CN" sz="4000" baseline="-25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的吸收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Rectangle 6"/>
          <p:cNvSpPr/>
          <p:nvPr/>
        </p:nvSpPr>
        <p:spPr>
          <a:xfrm>
            <a:off x="285750" y="1350963"/>
            <a:ext cx="8893175" cy="53641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342900" lvl="0" indent="-342900" eaLnBrk="1" hangingPunct="1">
              <a:spcAft>
                <a:spcPct val="20000"/>
              </a:spcAft>
              <a:buClrTx/>
              <a:buFont typeface="Arial" panose="020B0604020202020204" pitchFamily="34" charset="0"/>
              <a:buNone/>
            </a:pPr>
            <a:r>
              <a:rPr lang="zh-CN" altLang="en-US" sz="3600" b="0" dirty="0">
                <a:solidFill>
                  <a:srgbClr val="000066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36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CO</a:t>
            </a:r>
            <a:r>
              <a:rPr lang="en-US" altLang="zh-CN" sz="3600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endParaRPr lang="en-US" altLang="zh-CN" sz="36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lvl="1" indent="-285750" eaLnBrk="1" hangingPunct="1">
              <a:spcAft>
                <a:spcPct val="2000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大于</a:t>
            </a:r>
            <a:r>
              <a:rPr lang="en-US" altLang="zh-CN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m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的红外区：</a:t>
            </a:r>
            <a:endParaRPr lang="en-US" altLang="zh-CN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lvl="1" indent="-285750" eaLnBrk="1" hangingPunct="1">
              <a:spcAft>
                <a:spcPct val="2000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较强中心： </a:t>
            </a:r>
            <a:r>
              <a:rPr lang="en-US" altLang="zh-CN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2.7 m</a:t>
            </a:r>
            <a:r>
              <a:rPr lang="zh-CN" altLang="en-US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4.3 m </a:t>
            </a:r>
            <a:r>
              <a:rPr lang="zh-CN" altLang="en-US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15 m</a:t>
            </a:r>
            <a:endParaRPr lang="en-US" altLang="zh-CN" sz="2400" dirty="0">
              <a:solidFill>
                <a:srgbClr val="CC00CC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lvl="1" indent="-285750" eaLnBrk="1" hangingPunct="1">
              <a:spcAft>
                <a:spcPct val="20000"/>
              </a:spcAft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15 m </a:t>
            </a:r>
            <a:r>
              <a:rPr lang="zh-CN" altLang="en-US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最重要</a:t>
            </a:r>
            <a:endParaRPr lang="zh-CN" altLang="en-US" sz="2400" dirty="0">
              <a:solidFill>
                <a:srgbClr val="CC00CC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686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428625" y="4000500"/>
          <a:ext cx="8572500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572000" imgH="3429000" progId="PowerPoint.Slide.8">
                  <p:embed/>
                </p:oleObj>
              </mc:Choice>
              <mc:Fallback>
                <p:oleObj name="" r:id="rId1" imgW="4572000" imgH="3429000" progId="PowerPoint.Slid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 t="66565" r="3334"/>
                      <a:stretch>
                        <a:fillRect/>
                      </a:stretch>
                    </p:blipFill>
                    <p:spPr>
                      <a:xfrm>
                        <a:off x="428625" y="4000500"/>
                        <a:ext cx="8572500" cy="28098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Line 4"/>
          <p:cNvSpPr/>
          <p:nvPr/>
        </p:nvSpPr>
        <p:spPr>
          <a:xfrm>
            <a:off x="3090863" y="2990850"/>
            <a:ext cx="1624012" cy="1152525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70" name="Line 5"/>
          <p:cNvSpPr/>
          <p:nvPr/>
        </p:nvSpPr>
        <p:spPr>
          <a:xfrm>
            <a:off x="4233863" y="2990850"/>
            <a:ext cx="1052512" cy="1152525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71" name="Line 6"/>
          <p:cNvSpPr/>
          <p:nvPr/>
        </p:nvSpPr>
        <p:spPr>
          <a:xfrm>
            <a:off x="5605463" y="2990850"/>
            <a:ext cx="1038225" cy="1152525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5"/>
          <p:cNvSpPr>
            <a:spLocks noGrp="1"/>
          </p:cNvSpPr>
          <p:nvPr>
            <p:ph type="title"/>
          </p:nvPr>
        </p:nvSpPr>
        <p:spPr>
          <a:xfrm>
            <a:off x="1428750" y="142875"/>
            <a:ext cx="7558088" cy="771525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臭氧的吸收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15" name="Rectangle 7"/>
          <p:cNvSpPr>
            <a:spLocks noGrp="1"/>
          </p:cNvSpPr>
          <p:nvPr>
            <p:ph idx="1"/>
          </p:nvPr>
        </p:nvSpPr>
        <p:spPr>
          <a:xfrm>
            <a:off x="285750" y="1484313"/>
            <a:ext cx="8459788" cy="4945062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r>
              <a:rPr lang="en-US" altLang="zh-CN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3</a:t>
            </a:r>
            <a:endParaRPr lang="en-US" altLang="zh-CN" baseline="-250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强吸收在紫外区：</a:t>
            </a:r>
            <a:endParaRPr lang="zh-CN" altLang="en-US" dirty="0">
              <a:solidFill>
                <a:srgbClr val="CC00CC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哈特来（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Hartley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）带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—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最强（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0.22-0.30 um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）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哈金斯（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Huggins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）带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—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较弱 （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0.32-0.36um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）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可见光区：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查普尤（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Chappuis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）带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—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较弱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O</a:t>
            </a:r>
            <a:r>
              <a:rPr lang="en-US" altLang="zh-CN" baseline="-25000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层吸收太阳辐射的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2%—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平流层上部温度较高的原因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红外区：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4.7m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9.6m 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14.1m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较强吸收带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4"/>
          <p:cNvSpPr>
            <a:spLocks noGrp="1"/>
          </p:cNvSpPr>
          <p:nvPr>
            <p:ph type="title"/>
          </p:nvPr>
        </p:nvSpPr>
        <p:spPr>
          <a:xfrm>
            <a:off x="1428750" y="214313"/>
            <a:ext cx="7486650" cy="627062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大气光谱窗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79" name="Rectangle 6"/>
          <p:cNvSpPr>
            <a:spLocks noGrp="1" noChangeArrowheads="1"/>
          </p:cNvSpPr>
          <p:nvPr>
            <p:ph idx="1"/>
          </p:nvPr>
        </p:nvSpPr>
        <p:spPr>
          <a:xfrm>
            <a:off x="611188" y="1479550"/>
            <a:ext cx="8064500" cy="25923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240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大气光谱窗：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8-12 m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大气的吸收很弱。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地表的温度约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300 K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，与此温度相对应的黑体辐射能量主要集中在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10 m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这一范围，而大气对这一波长范围的辐射吸收很少，故通过窗区，地面发出的长波辐射可顺利地被发送到宇宙空间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</p:txBody>
      </p:sp>
      <p:grpSp>
        <p:nvGrpSpPr>
          <p:cNvPr id="40964" name="组合 7"/>
          <p:cNvGrpSpPr/>
          <p:nvPr/>
        </p:nvGrpSpPr>
        <p:grpSpPr>
          <a:xfrm>
            <a:off x="357188" y="4286250"/>
            <a:ext cx="8786812" cy="2525713"/>
            <a:chOff x="357158" y="4286256"/>
            <a:chExt cx="8786842" cy="2525738"/>
          </a:xfrm>
        </p:grpSpPr>
        <p:pic>
          <p:nvPicPr>
            <p:cNvPr id="40965" name="Picture 4" descr="Fig5-6"/>
            <p:cNvPicPr>
              <a:picLocks noChangeAspect="1"/>
            </p:cNvPicPr>
            <p:nvPr/>
          </p:nvPicPr>
          <p:blipFill>
            <a:blip r:embed="rId1"/>
            <a:srcRect l="5730" t="27069" r="7281" b="51653"/>
            <a:stretch>
              <a:fillRect/>
            </a:stretch>
          </p:blipFill>
          <p:spPr>
            <a:xfrm>
              <a:off x="357158" y="4286256"/>
              <a:ext cx="8786842" cy="2525738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 w="9525">
              <a:noFill/>
            </a:ln>
          </p:spPr>
        </p:pic>
        <p:sp>
          <p:nvSpPr>
            <p:cNvPr id="40966" name="Rectangle 5"/>
            <p:cNvSpPr/>
            <p:nvPr/>
          </p:nvSpPr>
          <p:spPr>
            <a:xfrm>
              <a:off x="5950800" y="4286256"/>
              <a:ext cx="500066" cy="1785950"/>
            </a:xfrm>
            <a:prstGeom prst="rect">
              <a:avLst/>
            </a:prstGeom>
            <a:solidFill>
              <a:srgbClr val="FF0066">
                <a:alpha val="27451"/>
              </a:srgbClr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矩形 14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3011" name="Group 2"/>
          <p:cNvGrpSpPr/>
          <p:nvPr/>
        </p:nvGrpSpPr>
        <p:grpSpPr>
          <a:xfrm>
            <a:off x="0" y="0"/>
            <a:ext cx="5422900" cy="6858000"/>
            <a:chOff x="0" y="-45"/>
            <a:chExt cx="3416" cy="4320"/>
          </a:xfrm>
        </p:grpSpPr>
        <p:pic>
          <p:nvPicPr>
            <p:cNvPr id="43022" name="Picture 3" descr="F050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-45"/>
              <a:ext cx="3416" cy="432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3" name="Text Box 4"/>
            <p:cNvSpPr txBox="1"/>
            <p:nvPr/>
          </p:nvSpPr>
          <p:spPr>
            <a:xfrm>
              <a:off x="930" y="2682"/>
              <a:ext cx="43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400" dirty="0">
                  <a:solidFill>
                    <a:srgbClr val="FF3300"/>
                  </a:solidFill>
                  <a:latin typeface="Arial" panose="020B0604020202020204" pitchFamily="34" charset="0"/>
                  <a:ea typeface="楷体_GB2312" pitchFamily="49" charset="-122"/>
                </a:rPr>
                <a:t>0.29</a:t>
              </a:r>
              <a:endParaRPr lang="en-US" altLang="zh-CN" sz="1400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24" name="Line 5"/>
            <p:cNvSpPr/>
            <p:nvPr/>
          </p:nvSpPr>
          <p:spPr>
            <a:xfrm flipH="1">
              <a:off x="816" y="2818"/>
              <a:ext cx="182" cy="18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3012" name="Text Box 6"/>
          <p:cNvSpPr txBox="1"/>
          <p:nvPr/>
        </p:nvSpPr>
        <p:spPr>
          <a:xfrm>
            <a:off x="5184775" y="2211388"/>
            <a:ext cx="2316163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整层大气的吸收光谱</a:t>
            </a:r>
            <a:endParaRPr lang="zh-CN" altLang="en-US" sz="1600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3" name="Text Box 7"/>
          <p:cNvSpPr txBox="1"/>
          <p:nvPr/>
        </p:nvSpPr>
        <p:spPr>
          <a:xfrm>
            <a:off x="5184775" y="3354388"/>
            <a:ext cx="3101975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11km</a:t>
            </a:r>
            <a:r>
              <a:rPr lang="zh-CN" altLang="en-US" sz="1600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高度以上大气的吸收光谱</a:t>
            </a:r>
            <a:endParaRPr lang="zh-CN" altLang="en-US" sz="1600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4" name="Text Box 8"/>
          <p:cNvSpPr txBox="1"/>
          <p:nvPr/>
        </p:nvSpPr>
        <p:spPr>
          <a:xfrm>
            <a:off x="5214938" y="4143375"/>
            <a:ext cx="3643312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整层大气</a:t>
            </a:r>
            <a:r>
              <a:rPr lang="zh-CN" altLang="en-US" sz="1600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中不同气体成份的吸收光谱</a:t>
            </a:r>
            <a:endParaRPr lang="zh-CN" altLang="en-US" sz="1600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5" name="Text Box 9"/>
          <p:cNvSpPr txBox="1"/>
          <p:nvPr/>
        </p:nvSpPr>
        <p:spPr>
          <a:xfrm>
            <a:off x="5170488" y="800100"/>
            <a:ext cx="2687637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太阳和地球的黑体辐射</a:t>
            </a:r>
            <a:endParaRPr lang="zh-CN" altLang="en-US" sz="1600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6" name="Line 10"/>
          <p:cNvSpPr/>
          <p:nvPr/>
        </p:nvSpPr>
        <p:spPr>
          <a:xfrm>
            <a:off x="1258888" y="1989138"/>
            <a:ext cx="0" cy="44640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7" name="Line 11"/>
          <p:cNvSpPr/>
          <p:nvPr/>
        </p:nvSpPr>
        <p:spPr>
          <a:xfrm>
            <a:off x="3887788" y="2003425"/>
            <a:ext cx="0" cy="44640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3018" name="Group 12"/>
          <p:cNvGrpSpPr/>
          <p:nvPr/>
        </p:nvGrpSpPr>
        <p:grpSpPr>
          <a:xfrm>
            <a:off x="3959225" y="4257675"/>
            <a:ext cx="865188" cy="503238"/>
            <a:chOff x="2494" y="2682"/>
            <a:chExt cx="545" cy="317"/>
          </a:xfrm>
        </p:grpSpPr>
        <p:sp>
          <p:nvSpPr>
            <p:cNvPr id="43020" name="Text Box 13"/>
            <p:cNvSpPr txBox="1"/>
            <p:nvPr/>
          </p:nvSpPr>
          <p:spPr>
            <a:xfrm>
              <a:off x="2608" y="2682"/>
              <a:ext cx="43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400" dirty="0">
                  <a:solidFill>
                    <a:srgbClr val="FF3300"/>
                  </a:solidFill>
                  <a:latin typeface="Arial" panose="020B0604020202020204" pitchFamily="34" charset="0"/>
                  <a:ea typeface="楷体_GB2312" pitchFamily="49" charset="-122"/>
                </a:rPr>
                <a:t>14</a:t>
              </a:r>
              <a:endParaRPr lang="en-US" altLang="zh-CN" sz="1400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21" name="Line 14"/>
            <p:cNvSpPr/>
            <p:nvPr/>
          </p:nvSpPr>
          <p:spPr>
            <a:xfrm flipH="1">
              <a:off x="2494" y="2818"/>
              <a:ext cx="182" cy="18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5357813" y="4643438"/>
            <a:ext cx="3714750" cy="2143125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</a:ln>
        </p:spPr>
        <p:txBody>
          <a:bodyPr/>
          <a:lstStyle/>
          <a:p>
            <a:pPr marL="0" marR="0" lvl="1" indent="0" algn="just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0" lang="en-US" altLang="zh-CN" sz="1800" b="1" i="0" u="none" strike="noStrike" kern="0" cap="none" spc="0" normalizeH="0" baseline="-2500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0" lang="en-US" altLang="zh-CN" sz="1800" b="1" i="0" u="none" strike="noStrike" kern="0" cap="none" spc="0" normalizeH="0" baseline="-2500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把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0.29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以下的紫外辐射几乎全部吸收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;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algn="just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可见光波段</a:t>
            </a:r>
            <a:r>
              <a:rPr kumimoji="0" lang="en-US" altLang="zh-CN" b="1" kern="0" cap="none" spc="0" normalizeH="0" baseline="0" noProof="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</a:t>
            </a:r>
            <a:r>
              <a:rPr kumimoji="0" lang="zh-CN" altLang="en-US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只有非常少量的吸收</a:t>
            </a:r>
            <a:r>
              <a:rPr kumimoji="0" lang="en-US" altLang="zh-CN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endParaRPr kumimoji="0" lang="en-US" altLang="zh-CN" b="1" kern="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algn="just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红外波段</a:t>
            </a:r>
            <a:r>
              <a:rPr kumimoji="0" lang="en-US" altLang="zh-CN" b="1" kern="0" cap="none" spc="0" normalizeH="0" baseline="0" noProof="0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</a:t>
            </a:r>
            <a:r>
              <a:rPr kumimoji="0" lang="zh-CN" altLang="en-US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主要是</a:t>
            </a:r>
            <a:r>
              <a:rPr kumimoji="0" lang="en-US" altLang="zh-CN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H</a:t>
            </a:r>
            <a:r>
              <a:rPr kumimoji="0" lang="en-US" altLang="zh-CN" b="1" kern="0" cap="none" spc="0" normalizeH="0" baseline="-2500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0" lang="zh-CN" altLang="en-US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的吸收，其次是</a:t>
            </a:r>
            <a:r>
              <a:rPr kumimoji="0" lang="en-US" altLang="zh-CN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</a:t>
            </a:r>
            <a:r>
              <a:rPr kumimoji="0" lang="en-US" altLang="zh-CN" b="1" kern="0" cap="none" spc="0" normalizeH="0" baseline="-2500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zh-CN" altLang="en-US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和</a:t>
            </a:r>
            <a:r>
              <a:rPr kumimoji="0" lang="en-US" altLang="zh-CN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CH</a:t>
            </a:r>
            <a:r>
              <a:rPr kumimoji="0" lang="en-US" altLang="zh-CN" b="1" kern="0" cap="none" spc="0" normalizeH="0" baseline="-2500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4</a:t>
            </a:r>
            <a:r>
              <a:rPr kumimoji="0" lang="en-US" altLang="zh-CN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r>
              <a:rPr kumimoji="0" lang="zh-CN" altLang="en-US" b="1" kern="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endParaRPr kumimoji="0" lang="zh-CN" altLang="en-US" b="1" kern="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1" indent="0" algn="just" defTabSz="914400" rtl="0" eaLnBrk="0" fontAlgn="base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14m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以外，大气可看成黑体，辐射不能透过大气传向外空。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Text Box 9"/>
          <p:cNvSpPr txBox="1"/>
          <p:nvPr/>
        </p:nvSpPr>
        <p:spPr>
          <a:xfrm>
            <a:off x="1428750" y="214313"/>
            <a:ext cx="771525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大气成分对长波辐射的主要吸收带</a:t>
            </a:r>
            <a:endParaRPr lang="zh-CN" altLang="en-US" sz="32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4035" name="Picture 11"/>
          <p:cNvPicPr>
            <a:picLocks noChangeAspect="1"/>
          </p:cNvPicPr>
          <p:nvPr/>
        </p:nvPicPr>
        <p:blipFill>
          <a:blip r:embed="rId1"/>
          <a:srcRect b="2422"/>
          <a:stretch>
            <a:fillRect/>
          </a:stretch>
        </p:blipFill>
        <p:spPr>
          <a:xfrm>
            <a:off x="1000125" y="1100138"/>
            <a:ext cx="7704138" cy="5757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>
            <a:spLocks noGrp="1"/>
          </p:cNvSpPr>
          <p:nvPr>
            <p:ph type="title"/>
          </p:nvPr>
        </p:nvSpPr>
        <p:spPr>
          <a:xfrm>
            <a:off x="1428750" y="214313"/>
            <a:ext cx="7561263" cy="71120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5.3.3 </a:t>
            </a:r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大气对辐射的散射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6083" name="Group 2"/>
          <p:cNvGrpSpPr/>
          <p:nvPr/>
        </p:nvGrpSpPr>
        <p:grpSpPr>
          <a:xfrm>
            <a:off x="228600" y="1773238"/>
            <a:ext cx="8736013" cy="4084637"/>
            <a:chOff x="0" y="816"/>
            <a:chExt cx="5616" cy="2573"/>
          </a:xfrm>
        </p:grpSpPr>
        <p:sp>
          <p:nvSpPr>
            <p:cNvPr id="46084" name="Oval 3" descr="大纸屑"/>
            <p:cNvSpPr/>
            <p:nvPr/>
          </p:nvSpPr>
          <p:spPr>
            <a:xfrm>
              <a:off x="2304" y="1296"/>
              <a:ext cx="1152" cy="1152"/>
            </a:xfrm>
            <a:prstGeom prst="ellipse">
              <a:avLst/>
            </a:prstGeom>
            <a:blipFill rotWithShape="0">
              <a:blip r:embed="rId1"/>
            </a:blipFill>
            <a:ln w="9525" cap="flat" cmpd="sng">
              <a:solidFill>
                <a:srgbClr val="66FF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en-US" altLang="zh-CN" sz="1800" b="0" dirty="0">
                <a:solidFill>
                  <a:srgbClr val="66FF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6085" name="Group 4"/>
            <p:cNvGrpSpPr/>
            <p:nvPr/>
          </p:nvGrpSpPr>
          <p:grpSpPr>
            <a:xfrm>
              <a:off x="0" y="1344"/>
              <a:ext cx="2640" cy="1008"/>
              <a:chOff x="0" y="1344"/>
              <a:chExt cx="2640" cy="1008"/>
            </a:xfrm>
          </p:grpSpPr>
          <p:sp>
            <p:nvSpPr>
              <p:cNvPr id="46103" name="Line 5"/>
              <p:cNvSpPr/>
              <p:nvPr/>
            </p:nvSpPr>
            <p:spPr>
              <a:xfrm>
                <a:off x="0" y="1632"/>
                <a:ext cx="2352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04" name="Line 6"/>
              <p:cNvSpPr/>
              <p:nvPr/>
            </p:nvSpPr>
            <p:spPr>
              <a:xfrm>
                <a:off x="0" y="1776"/>
                <a:ext cx="2304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05" name="Line 7"/>
              <p:cNvSpPr/>
              <p:nvPr/>
            </p:nvSpPr>
            <p:spPr>
              <a:xfrm>
                <a:off x="0" y="1920"/>
                <a:ext cx="2304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06" name="Line 8"/>
              <p:cNvSpPr/>
              <p:nvPr/>
            </p:nvSpPr>
            <p:spPr>
              <a:xfrm>
                <a:off x="0" y="2064"/>
                <a:ext cx="2352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07" name="Line 9"/>
              <p:cNvSpPr/>
              <p:nvPr/>
            </p:nvSpPr>
            <p:spPr>
              <a:xfrm>
                <a:off x="0" y="2208"/>
                <a:ext cx="244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08" name="Line 10"/>
              <p:cNvSpPr/>
              <p:nvPr/>
            </p:nvSpPr>
            <p:spPr>
              <a:xfrm>
                <a:off x="0" y="1488"/>
                <a:ext cx="244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09" name="Line 11"/>
              <p:cNvSpPr/>
              <p:nvPr/>
            </p:nvSpPr>
            <p:spPr>
              <a:xfrm>
                <a:off x="0" y="1344"/>
                <a:ext cx="2640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10" name="Line 12"/>
              <p:cNvSpPr/>
              <p:nvPr/>
            </p:nvSpPr>
            <p:spPr>
              <a:xfrm>
                <a:off x="0" y="2352"/>
                <a:ext cx="2544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46086" name="Group 13"/>
            <p:cNvGrpSpPr/>
            <p:nvPr/>
          </p:nvGrpSpPr>
          <p:grpSpPr>
            <a:xfrm>
              <a:off x="3360" y="1536"/>
              <a:ext cx="2256" cy="624"/>
              <a:chOff x="3360" y="1536"/>
              <a:chExt cx="2256" cy="624"/>
            </a:xfrm>
          </p:grpSpPr>
          <p:sp>
            <p:nvSpPr>
              <p:cNvPr id="46100" name="Line 14"/>
              <p:cNvSpPr/>
              <p:nvPr/>
            </p:nvSpPr>
            <p:spPr>
              <a:xfrm>
                <a:off x="3456" y="1872"/>
                <a:ext cx="2160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01" name="Line 15"/>
              <p:cNvSpPr/>
              <p:nvPr/>
            </p:nvSpPr>
            <p:spPr>
              <a:xfrm>
                <a:off x="3360" y="1536"/>
                <a:ext cx="220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02" name="Line 16"/>
              <p:cNvSpPr/>
              <p:nvPr/>
            </p:nvSpPr>
            <p:spPr>
              <a:xfrm>
                <a:off x="3360" y="2160"/>
                <a:ext cx="2256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46087" name="Group 17"/>
            <p:cNvGrpSpPr/>
            <p:nvPr/>
          </p:nvGrpSpPr>
          <p:grpSpPr>
            <a:xfrm>
              <a:off x="2256" y="816"/>
              <a:ext cx="1344" cy="2064"/>
              <a:chOff x="2256" y="816"/>
              <a:chExt cx="1344" cy="2064"/>
            </a:xfrm>
          </p:grpSpPr>
          <p:sp>
            <p:nvSpPr>
              <p:cNvPr id="46090" name="Line 18"/>
              <p:cNvSpPr/>
              <p:nvPr/>
            </p:nvSpPr>
            <p:spPr>
              <a:xfrm flipV="1">
                <a:off x="2928" y="816"/>
                <a:ext cx="0" cy="480"/>
              </a:xfrm>
              <a:prstGeom prst="line">
                <a:avLst/>
              </a:prstGeom>
              <a:ln w="38100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1" name="Line 19"/>
              <p:cNvSpPr/>
              <p:nvPr/>
            </p:nvSpPr>
            <p:spPr>
              <a:xfrm flipH="1" flipV="1">
                <a:off x="2544" y="912"/>
                <a:ext cx="240" cy="384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2" name="Line 20"/>
              <p:cNvSpPr/>
              <p:nvPr/>
            </p:nvSpPr>
            <p:spPr>
              <a:xfrm flipH="1" flipV="1">
                <a:off x="2352" y="1200"/>
                <a:ext cx="288" cy="144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3" name="Line 21"/>
              <p:cNvSpPr/>
              <p:nvPr/>
            </p:nvSpPr>
            <p:spPr>
              <a:xfrm>
                <a:off x="2880" y="2448"/>
                <a:ext cx="0" cy="432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4" name="Line 22"/>
              <p:cNvSpPr/>
              <p:nvPr/>
            </p:nvSpPr>
            <p:spPr>
              <a:xfrm flipH="1">
                <a:off x="2256" y="2352"/>
                <a:ext cx="336" cy="240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5" name="Line 23"/>
              <p:cNvSpPr/>
              <p:nvPr/>
            </p:nvSpPr>
            <p:spPr>
              <a:xfrm flipV="1">
                <a:off x="3024" y="912"/>
                <a:ext cx="288" cy="384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6" name="Line 24"/>
              <p:cNvSpPr/>
              <p:nvPr/>
            </p:nvSpPr>
            <p:spPr>
              <a:xfrm flipV="1">
                <a:off x="3168" y="1152"/>
                <a:ext cx="384" cy="240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7" name="Line 25"/>
              <p:cNvSpPr/>
              <p:nvPr/>
            </p:nvSpPr>
            <p:spPr>
              <a:xfrm flipH="1">
                <a:off x="2544" y="2448"/>
                <a:ext cx="192" cy="384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8" name="Line 26"/>
              <p:cNvSpPr/>
              <p:nvPr/>
            </p:nvSpPr>
            <p:spPr>
              <a:xfrm>
                <a:off x="3072" y="2400"/>
                <a:ext cx="192" cy="384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099" name="Line 27"/>
              <p:cNvSpPr/>
              <p:nvPr/>
            </p:nvSpPr>
            <p:spPr>
              <a:xfrm>
                <a:off x="3216" y="2304"/>
                <a:ext cx="384" cy="240"/>
              </a:xfrm>
              <a:prstGeom prst="line">
                <a:avLst/>
              </a:prstGeom>
              <a:ln w="28575" cap="flat" cmpd="sng">
                <a:solidFill>
                  <a:srgbClr val="33CC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088" name="Text Box 28"/>
            <p:cNvSpPr txBox="1"/>
            <p:nvPr/>
          </p:nvSpPr>
          <p:spPr>
            <a:xfrm>
              <a:off x="1248" y="3024"/>
              <a:ext cx="33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</a:rPr>
                <a:t>大气对太阳辐射的散射作用</a:t>
              </a:r>
              <a:endPara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6089" name="Text Box 29"/>
            <p:cNvSpPr txBox="1"/>
            <p:nvPr/>
          </p:nvSpPr>
          <p:spPr>
            <a:xfrm>
              <a:off x="2245" y="1525"/>
              <a:ext cx="1270" cy="6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 dirty="0">
                  <a:solidFill>
                    <a:srgbClr val="08080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空气分子</a:t>
              </a:r>
              <a:endParaRPr lang="en-US" altLang="zh-CN" sz="24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 dirty="0">
                  <a:solidFill>
                    <a:srgbClr val="08080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气溶胶颗粒</a:t>
              </a:r>
              <a:endParaRPr lang="zh-CN" altLang="en-US" sz="2400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>
            <a:spLocks noGrp="1"/>
          </p:cNvSpPr>
          <p:nvPr>
            <p:ph type="title"/>
          </p:nvPr>
        </p:nvSpPr>
        <p:spPr>
          <a:xfrm>
            <a:off x="1428750" y="214313"/>
            <a:ext cx="7561263" cy="71120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散射的概念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1" name="Rectangle 10"/>
          <p:cNvSpPr>
            <a:spLocks noGrp="1"/>
          </p:cNvSpPr>
          <p:nvPr>
            <p:ph type="body" sz="half" idx="1"/>
          </p:nvPr>
        </p:nvSpPr>
        <p:spPr>
          <a:xfrm>
            <a:off x="611188" y="836613"/>
            <a:ext cx="8172450" cy="5905500"/>
          </a:xfrm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90000"/>
              </a:lnSpc>
              <a:buNone/>
            </a:pPr>
            <a:endParaRPr lang="zh-CN" altLang="en-US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lvl="1">
              <a:lnSpc>
                <a:spcPct val="126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散射：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当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入射的辐射能遇到大气的各种颗粒物，由于它和颗粒物的相互作用，一部分能量会改变它原来的传播方向而射向四面八方，这就是散射。</a:t>
            </a:r>
            <a:endParaRPr lang="en-US" altLang="zh-CN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26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散射现象的本质：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气体分子以及气溶胶粒子内含有多个分立的电子和质子，当电磁波照射到粒子上后，使正负电荷中心产生偏移，构成电偶极子或多极子，并在电磁波激发下作受迫振动，向各方向发射次生电磁波。这种次生电磁波就是散射辐射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26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特点：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散射波长和原始波相同，并且与原始波有固定的位相关系。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>
            <a:spLocks noGrp="1"/>
          </p:cNvSpPr>
          <p:nvPr>
            <p:ph type="title"/>
          </p:nvPr>
        </p:nvSpPr>
        <p:spPr>
          <a:xfrm>
            <a:off x="1428750" y="214313"/>
            <a:ext cx="7561263" cy="71120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散射的概念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1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643063"/>
            <a:ext cx="8569325" cy="4175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ts val="24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散射和吸收的差异：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（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Wingdings" panose="05000000000000000000" pitchFamily="2" charset="2"/>
              </a:rPr>
              <a:t>1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Wingdings" panose="05000000000000000000" pitchFamily="2" charset="2"/>
              </a:rPr>
              <a:t>）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散射不产生分子内能状态的变化，应以电磁波理论和物质的电子理论来解释（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Mie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理论）；吸收是因内部能级发生变化而产生的，需要用量子理论来解释。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（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2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）散射不是选择性的，它在电磁波谱的各个波长上都会发生，因而是全波段的。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1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83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4"/>
          <p:cNvSpPr>
            <a:spLocks noGrp="1"/>
          </p:cNvSpPr>
          <p:nvPr>
            <p:ph type="title"/>
          </p:nvPr>
        </p:nvSpPr>
        <p:spPr>
          <a:xfrm>
            <a:off x="1428750" y="71438"/>
            <a:ext cx="7700963" cy="85725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散射过程的分类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7" name="Rectangle 7"/>
          <p:cNvSpPr>
            <a:spLocks noGrp="1"/>
          </p:cNvSpPr>
          <p:nvPr>
            <p:ph type="body" sz="half" idx="1"/>
          </p:nvPr>
        </p:nvSpPr>
        <p:spPr>
          <a:xfrm>
            <a:off x="395288" y="1595438"/>
            <a:ext cx="8640762" cy="4857750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定义无量纲尺度参数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4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当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α&lt;&lt;1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，即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 &lt;&lt;</a:t>
            </a:r>
            <a:r>
              <a:rPr lang="el-GR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λ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时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：瑞利（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Rayleigh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）散射，也称分子散射。如气体分子对可见光的散射。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4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当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α≈1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或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 &gt;1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即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 ≈ </a:t>
            </a:r>
            <a:r>
              <a:rPr lang="el-GR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λ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时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：米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(Mie)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散射，也称大颗粒散射。如大气中的尘埃、云滴等气溶胶粒子对可见光的散射。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4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当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α&gt;&gt;1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，即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r&gt;&gt;</a:t>
            </a:r>
            <a:r>
              <a:rPr lang="el-GR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λ 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时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：几何光学散射。如大雨滴对可见光的散射。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222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3786188" y="2049463"/>
          <a:ext cx="158432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71500" imgH="393700" progId="Equation.DSMT4">
                  <p:embed/>
                </p:oleObj>
              </mc:Choice>
              <mc:Fallback>
                <p:oleObj name="" r:id="rId1" imgW="571500" imgH="3937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786188" y="2049463"/>
                        <a:ext cx="1584325" cy="1092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Box 3"/>
          <p:cNvSpPr txBox="1"/>
          <p:nvPr/>
        </p:nvSpPr>
        <p:spPr>
          <a:xfrm>
            <a:off x="395288" y="6237288"/>
            <a:ext cx="8640762" cy="36988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Grp="1" noRot="1"/>
          </p:cNvSpPr>
          <p:nvPr>
            <p:ph type="title"/>
          </p:nvPr>
        </p:nvSpPr>
        <p:spPr>
          <a:xfrm>
            <a:off x="1258888" y="0"/>
            <a:ext cx="7885112" cy="1143000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波长、粒径与散射特性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4276" name="Picture 3" descr="FIG5-7"/>
          <p:cNvPicPr>
            <a:picLocks noChangeAspect="1"/>
          </p:cNvPicPr>
          <p:nvPr/>
        </p:nvPicPr>
        <p:blipFill>
          <a:blip r:embed="rId1">
            <a:lum contrast="54000"/>
          </a:blip>
          <a:stretch>
            <a:fillRect/>
          </a:stretch>
        </p:blipFill>
        <p:spPr>
          <a:xfrm>
            <a:off x="827088" y="1154113"/>
            <a:ext cx="7848600" cy="57038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4"/>
          <p:cNvSpPr>
            <a:spLocks noGrp="1"/>
          </p:cNvSpPr>
          <p:nvPr>
            <p:ph type="title"/>
          </p:nvPr>
        </p:nvSpPr>
        <p:spPr>
          <a:xfrm>
            <a:off x="1357313" y="214313"/>
            <a:ext cx="7715250" cy="627062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散射削弱系数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299" name="Rectangle 6"/>
          <p:cNvSpPr>
            <a:spLocks noGrp="1"/>
          </p:cNvSpPr>
          <p:nvPr>
            <p:ph type="body" sz="half" idx="1"/>
          </p:nvPr>
        </p:nvSpPr>
        <p:spPr>
          <a:xfrm>
            <a:off x="214313" y="1341438"/>
            <a:ext cx="8172450" cy="5183187"/>
          </a:xfrm>
          <a:ln/>
        </p:spPr>
        <p:txBody>
          <a:bodyPr vert="horz" wrap="square" lIns="91440" tIns="45720" rIns="91440" bIns="45720" anchor="t" anchorCtr="0"/>
          <a:p>
            <a:pPr lvl="1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一个粒子的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散射截面</a:t>
            </a:r>
            <a:r>
              <a:rPr lang="en-US" altLang="zh-CN" sz="2400" i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σ</a:t>
            </a:r>
            <a:r>
              <a:rPr lang="en-US" altLang="zh-CN" sz="2400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sc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：表示当有辐照度为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的辐射射入时，将把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σ</a:t>
            </a:r>
            <a:r>
              <a:rPr lang="en-US" altLang="zh-CN" sz="24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sc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的能量散射到四面八方，而使入射波的能量减少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σ</a:t>
            </a:r>
            <a:r>
              <a:rPr lang="en-US" altLang="zh-CN" sz="24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sc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。若单位体积中有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个相同的颗粒，则总散射掉的辐射能为 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EN</a:t>
            </a:r>
            <a:r>
              <a:rPr lang="en-US" altLang="zh-CN" sz="2400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σ</a:t>
            </a:r>
            <a:r>
              <a:rPr lang="en-US" altLang="zh-CN" sz="24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sc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散射削弱系数</a:t>
            </a:r>
            <a:r>
              <a:rPr lang="en-US" altLang="zh-CN" sz="2400" i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sc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单位体积中各个粒子的散射截面之和。</a:t>
            </a:r>
            <a:endParaRPr lang="en-US" altLang="zh-CN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</a:pPr>
            <a:endParaRPr lang="en-US" altLang="zh-CN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30000"/>
              </a:lnSpc>
              <a:spcBef>
                <a:spcPts val="48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散射截面、散射系数：与粒子的尺度数和复折射率有关。</a:t>
            </a:r>
            <a:endParaRPr lang="zh-CN" altLang="en-US" sz="2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55300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2374900" y="4325938"/>
          <a:ext cx="2341563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799465" imgH="431800" progId="Equation.DSMT4">
                  <p:embed/>
                </p:oleObj>
              </mc:Choice>
              <mc:Fallback>
                <p:oleObj name="" r:id="rId1" imgW="799465" imgH="431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374900" y="4325938"/>
                        <a:ext cx="2341563" cy="12636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对象 1"/>
          <p:cNvGraphicFramePr>
            <a:graphicFrameLocks noChangeAspect="1"/>
          </p:cNvGraphicFramePr>
          <p:nvPr/>
        </p:nvGraphicFramePr>
        <p:xfrm>
          <a:off x="4716463" y="4630738"/>
          <a:ext cx="23796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812165" imgH="254000" progId="Equation.DSMT4">
                  <p:embed/>
                </p:oleObj>
              </mc:Choice>
              <mc:Fallback>
                <p:oleObj name="" r:id="rId3" imgW="812165" imgH="254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6463" y="4630738"/>
                        <a:ext cx="2379662" cy="742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矩形 1"/>
          <p:cNvSpPr/>
          <p:nvPr/>
        </p:nvSpPr>
        <p:spPr>
          <a:xfrm>
            <a:off x="250825" y="6237288"/>
            <a:ext cx="8785225" cy="5048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7" name="Rectangle 7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solidFill>
                  <a:srgbClr val="FFFF00"/>
                </a:solidFill>
                <a:ea typeface="宋体" panose="02010600030101010101" pitchFamily="2" charset="-122"/>
              </a:rPr>
              <a:t>             </a:t>
            </a:r>
            <a:endParaRPr lang="zh-CN" altLang="en-US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84313"/>
            <a:ext cx="8458200" cy="4727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对于不同大小的气溶胶散射粒子：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n(r)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dr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：表示单位体积中半径为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到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r+dr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范围中的粒子数。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大气对辐射的散射削弱作用的强弱取决于两个因素：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① 单位体积中气溶胶散射颗粒物的数密度；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② 每个散射粒子的散射截面。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57349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2000250" y="2214563"/>
          <a:ext cx="46799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714500" imgH="330200" progId="Equation.DSMT4">
                  <p:embed/>
                </p:oleObj>
              </mc:Choice>
              <mc:Fallback>
                <p:oleObj name="" r:id="rId1" imgW="1714500" imgH="3302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000250" y="2214563"/>
                        <a:ext cx="4679950" cy="9001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5"/>
          <p:cNvSpPr/>
          <p:nvPr/>
        </p:nvSpPr>
        <p:spPr>
          <a:xfrm>
            <a:off x="1428750" y="214313"/>
            <a:ext cx="528637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）瑞利散射</a:t>
            </a:r>
            <a:endParaRPr lang="zh-CN" altLang="en-US" sz="32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9395" name="Object 2"/>
          <p:cNvGraphicFramePr>
            <a:graphicFrameLocks noChangeAspect="1"/>
          </p:cNvGraphicFramePr>
          <p:nvPr/>
        </p:nvGraphicFramePr>
        <p:xfrm>
          <a:off x="539750" y="2205038"/>
          <a:ext cx="626427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993900" imgH="457200" progId="Equation.DSMT4">
                  <p:embed/>
                </p:oleObj>
              </mc:Choice>
              <mc:Fallback>
                <p:oleObj name="" r:id="rId1" imgW="1993900" imgH="457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2205038"/>
                        <a:ext cx="6264275" cy="151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9396" name="Picture 12" descr="rayleigh"/>
          <p:cNvPicPr>
            <a:picLocks noChangeAspect="1"/>
          </p:cNvPicPr>
          <p:nvPr/>
        </p:nvPicPr>
        <p:blipFill>
          <a:blip r:embed="rId3"/>
          <a:srcRect l="3635"/>
          <a:stretch>
            <a:fillRect/>
          </a:stretch>
        </p:blipFill>
        <p:spPr>
          <a:xfrm>
            <a:off x="6786563" y="0"/>
            <a:ext cx="2357437" cy="3260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7" name="Rectangle 3"/>
          <p:cNvSpPr/>
          <p:nvPr/>
        </p:nvSpPr>
        <p:spPr>
          <a:xfrm>
            <a:off x="323850" y="4365625"/>
            <a:ext cx="8280400" cy="1306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特点：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体积散射系数与入射光波长的四次方成反比，</a:t>
            </a:r>
            <a:endParaRPr lang="en-US" altLang="zh-CN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      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 光波长愈短，其散射光强度愈大。</a:t>
            </a:r>
            <a:endParaRPr lang="zh-CN" altLang="en-US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3" name="Rectangle 3"/>
          <p:cNvSpPr/>
          <p:nvPr/>
        </p:nvSpPr>
        <p:spPr>
          <a:xfrm>
            <a:off x="900113" y="1395413"/>
            <a:ext cx="7704137" cy="1284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：为何正午的太阳基本上呈白色，而旭日和夕阳却呈红色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 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1444" name="Group 4"/>
          <p:cNvGrpSpPr/>
          <p:nvPr/>
        </p:nvGrpSpPr>
        <p:grpSpPr>
          <a:xfrm>
            <a:off x="3132138" y="3060700"/>
            <a:ext cx="3455987" cy="3321050"/>
            <a:chOff x="836" y="2229"/>
            <a:chExt cx="1590" cy="1383"/>
          </a:xfrm>
        </p:grpSpPr>
        <p:sp>
          <p:nvSpPr>
            <p:cNvPr id="61445" name="Oval 5"/>
            <p:cNvSpPr/>
            <p:nvPr/>
          </p:nvSpPr>
          <p:spPr>
            <a:xfrm>
              <a:off x="1565" y="2931"/>
              <a:ext cx="408" cy="408"/>
            </a:xfrm>
            <a:prstGeom prst="ellipse">
              <a:avLst/>
            </a:prstGeom>
            <a:noFill/>
            <a:ln w="254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46" name="Oval 6"/>
            <p:cNvSpPr/>
            <p:nvPr/>
          </p:nvSpPr>
          <p:spPr>
            <a:xfrm>
              <a:off x="1282" y="2675"/>
              <a:ext cx="952" cy="90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47" name="Line 7"/>
            <p:cNvSpPr/>
            <p:nvPr/>
          </p:nvSpPr>
          <p:spPr>
            <a:xfrm>
              <a:off x="1610" y="2432"/>
              <a:ext cx="0" cy="45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48" name="Line 8"/>
            <p:cNvSpPr/>
            <p:nvPr/>
          </p:nvSpPr>
          <p:spPr>
            <a:xfrm>
              <a:off x="1746" y="2432"/>
              <a:ext cx="0" cy="45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49" name="Line 9"/>
            <p:cNvSpPr/>
            <p:nvPr/>
          </p:nvSpPr>
          <p:spPr>
            <a:xfrm>
              <a:off x="1882" y="2432"/>
              <a:ext cx="0" cy="45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50" name="Line 10"/>
            <p:cNvSpPr/>
            <p:nvPr/>
          </p:nvSpPr>
          <p:spPr>
            <a:xfrm flipH="1" flipV="1">
              <a:off x="1292" y="2704"/>
              <a:ext cx="273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51" name="Line 11"/>
            <p:cNvSpPr/>
            <p:nvPr/>
          </p:nvSpPr>
          <p:spPr>
            <a:xfrm flipH="1">
              <a:off x="1156" y="2976"/>
              <a:ext cx="36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52" name="Line 12"/>
            <p:cNvSpPr/>
            <p:nvPr/>
          </p:nvSpPr>
          <p:spPr>
            <a:xfrm flipV="1">
              <a:off x="1927" y="2704"/>
              <a:ext cx="318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53" name="Line 13"/>
            <p:cNvSpPr/>
            <p:nvPr/>
          </p:nvSpPr>
          <p:spPr>
            <a:xfrm>
              <a:off x="2018" y="2976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54" name="Text Box 14"/>
            <p:cNvSpPr txBox="1"/>
            <p:nvPr/>
          </p:nvSpPr>
          <p:spPr>
            <a:xfrm>
              <a:off x="1349" y="2229"/>
              <a:ext cx="1044" cy="17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dirty="0">
                  <a:latin typeface="楷体_GB2312" pitchFamily="49" charset="-122"/>
                  <a:ea typeface="楷体_GB2312" pitchFamily="49" charset="-122"/>
                </a:rPr>
                <a:t>正午的太阳</a:t>
              </a:r>
              <a:endParaRPr lang="zh-CN" altLang="en-US" sz="22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1455" name="Text Box 15"/>
            <p:cNvSpPr txBox="1"/>
            <p:nvPr/>
          </p:nvSpPr>
          <p:spPr>
            <a:xfrm>
              <a:off x="1605" y="3081"/>
              <a:ext cx="589" cy="23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地球</a:t>
              </a:r>
              <a:endParaRPr lang="zh-CN" altLang="en-US" sz="2000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1456" name="Text Box 16"/>
            <p:cNvSpPr txBox="1"/>
            <p:nvPr/>
          </p:nvSpPr>
          <p:spPr>
            <a:xfrm>
              <a:off x="1579" y="3374"/>
              <a:ext cx="681" cy="23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 dirty="0">
                  <a:latin typeface="楷体_GB2312" pitchFamily="49" charset="-122"/>
                  <a:ea typeface="楷体_GB2312" pitchFamily="49" charset="-122"/>
                </a:rPr>
                <a:t>大气层</a:t>
              </a:r>
              <a:endParaRPr lang="zh-CN" altLang="en-US" sz="20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1457" name="Text Box 17"/>
            <p:cNvSpPr txBox="1"/>
            <p:nvPr/>
          </p:nvSpPr>
          <p:spPr>
            <a:xfrm>
              <a:off x="836" y="2732"/>
              <a:ext cx="589" cy="17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dirty="0">
                  <a:latin typeface="楷体_GB2312" pitchFamily="49" charset="-122"/>
                  <a:ea typeface="楷体_GB2312" pitchFamily="49" charset="-122"/>
                </a:rPr>
                <a:t>散射</a:t>
              </a:r>
              <a:endParaRPr lang="zh-CN" altLang="en-US" sz="2200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/>
          <p:nvPr/>
        </p:nvSpPr>
        <p:spPr>
          <a:xfrm>
            <a:off x="8035925" y="3579813"/>
            <a:ext cx="0" cy="958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3900" b="0" i="1" dirty="0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67" name="Rectangle 3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68" name="Rectangle 4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1221" name="Rectangle 5"/>
          <p:cNvSpPr/>
          <p:nvPr/>
        </p:nvSpPr>
        <p:spPr>
          <a:xfrm>
            <a:off x="468313" y="1155700"/>
            <a:ext cx="8353425" cy="3425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① 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正午太阳直射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穿过大气层厚度最小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 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阳光中被散射掉的短波成分不太多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 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因此基本上呈白色或略带黄橙色。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② 早晚的阳光斜射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穿过大气层的厚度比正午时厚得多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大气散射掉短波成分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透过长波成分，所以旭日和夕阳呈红色。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62470" name="Picture 6" descr="0511220532513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4076700"/>
            <a:ext cx="4105275" cy="2736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122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122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2122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>
                                            <p:txEl>
                                              <p:charRg st="53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1221">
                                            <p:txEl>
                                              <p:charRg st="53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1221">
                                            <p:txEl>
                                              <p:charRg st="53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521221">
                                            <p:txEl>
                                              <p:charRg st="53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TextBox 5"/>
          <p:cNvSpPr txBox="1"/>
          <p:nvPr/>
        </p:nvSpPr>
        <p:spPr>
          <a:xfrm>
            <a:off x="285750" y="6357938"/>
            <a:ext cx="8715375" cy="3698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1" name="Rectangle 7"/>
          <p:cNvSpPr>
            <a:spLocks noGrp="1"/>
          </p:cNvSpPr>
          <p:nvPr>
            <p:ph type="title"/>
          </p:nvPr>
        </p:nvSpPr>
        <p:spPr>
          <a:xfrm>
            <a:off x="1357313" y="85725"/>
            <a:ext cx="5786437" cy="700088"/>
          </a:xfrm>
          <a:ln/>
        </p:spPr>
        <p:txBody>
          <a:bodyPr vert="horz" wrap="square" lIns="91440" tIns="45720" rIns="91440" bIns="45720" anchor="b" anchorCtr="0"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米散射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大颗粒散射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492" name="Rectangle 8"/>
          <p:cNvSpPr>
            <a:spLocks noGrp="1"/>
          </p:cNvSpPr>
          <p:nvPr>
            <p:ph type="body" sz="half" idx="1"/>
          </p:nvPr>
        </p:nvSpPr>
        <p:spPr>
          <a:xfrm>
            <a:off x="142875" y="1428750"/>
            <a:ext cx="6962775" cy="4895850"/>
          </a:xfrm>
          <a:ln/>
        </p:spPr>
        <p:txBody>
          <a:bodyPr vert="horz" wrap="square" lIns="91440" tIns="45720" rIns="91440" bIns="45720" anchor="t" anchorCtr="0"/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假设：粒子是球体；介质均匀。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球状粒子的散射特性取决于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粒子的相对尺度数</a:t>
            </a:r>
            <a:r>
              <a:rPr lang="el-GR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粒子介质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复折射指数</a:t>
            </a:r>
            <a:r>
              <a:rPr lang="en-US" altLang="zh-CN" sz="2400" i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米散射理论是球状粒子散射的通用理论。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散射效率因子：粒子的散射截面与粒子几何截面之比。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63493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3708400" y="4868863"/>
          <a:ext cx="2232025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723900" imgH="431800" progId="Equation.DSMT4">
                  <p:embed/>
                </p:oleObj>
              </mc:Choice>
              <mc:Fallback>
                <p:oleObj name="" r:id="rId1" imgW="723900" imgH="4318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708400" y="4868863"/>
                        <a:ext cx="2232025" cy="13335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494" name="Picture 11" descr="mi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0" y="0"/>
            <a:ext cx="2019300" cy="3070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TextBox 3"/>
          <p:cNvSpPr txBox="1"/>
          <p:nvPr/>
        </p:nvSpPr>
        <p:spPr>
          <a:xfrm>
            <a:off x="285750" y="6357938"/>
            <a:ext cx="8715375" cy="3698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5539" name="Picture 7" descr="Fig5-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196975"/>
            <a:ext cx="5832475" cy="522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0" name="Rectangle 7"/>
          <p:cNvSpPr>
            <a:spLocks noGrp="1"/>
          </p:cNvSpPr>
          <p:nvPr>
            <p:ph type="title"/>
          </p:nvPr>
        </p:nvSpPr>
        <p:spPr>
          <a:xfrm>
            <a:off x="1357313" y="157163"/>
            <a:ext cx="7786687" cy="700087"/>
          </a:xfrm>
          <a:ln/>
        </p:spPr>
        <p:txBody>
          <a:bodyPr vert="horz" wrap="square" lIns="91440" tIns="45720" rIns="91440" bIns="45720" anchor="b" anchorCtr="0"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米散射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大颗粒散射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1" name="TextBox 1"/>
          <p:cNvSpPr txBox="1"/>
          <p:nvPr/>
        </p:nvSpPr>
        <p:spPr>
          <a:xfrm>
            <a:off x="1042988" y="6334125"/>
            <a:ext cx="4465637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水滴的散射效率因子随尺度数的变化</a:t>
            </a:r>
            <a:endParaRPr lang="zh-CN" altLang="en-US" sz="1800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2" name="TextBox 2"/>
          <p:cNvSpPr txBox="1"/>
          <p:nvPr/>
        </p:nvSpPr>
        <p:spPr>
          <a:xfrm>
            <a:off x="6083300" y="1484313"/>
            <a:ext cx="2917825" cy="517048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）当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从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增大时，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Q</a:t>
            </a:r>
            <a:r>
              <a:rPr lang="en-US" altLang="zh-CN" sz="22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sc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也从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增大。</a:t>
            </a:r>
            <a:endParaRPr lang="en-US" altLang="zh-CN" sz="2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）当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α≈6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时，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Q</a:t>
            </a:r>
            <a:r>
              <a:rPr lang="en-US" altLang="zh-CN" sz="22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sc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≈4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（第一个极大值），此时粒子半径与波长相当，粒子散射效率最高。</a:t>
            </a:r>
            <a:endParaRPr lang="en-US" altLang="zh-CN" sz="2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）当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继续增大时，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Q</a:t>
            </a:r>
            <a:r>
              <a:rPr lang="en-US" altLang="zh-CN" sz="22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sc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以波动的方式变化，并最后趋向于</a:t>
            </a:r>
            <a:r>
              <a:rPr lang="en-US" altLang="zh-CN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CN" altLang="en-US" sz="2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2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7586" name="Object 3"/>
          <p:cNvGraphicFramePr>
            <a:graphicFrameLocks noChangeAspect="1"/>
          </p:cNvGraphicFramePr>
          <p:nvPr>
            <p:ph sz="quarter" idx="3"/>
          </p:nvPr>
        </p:nvGraphicFramePr>
        <p:xfrm>
          <a:off x="2916238" y="3500438"/>
          <a:ext cx="266382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786765" imgH="254000" progId="Equation.DSMT4">
                  <p:embed/>
                </p:oleObj>
              </mc:Choice>
              <mc:Fallback>
                <p:oleObj name="" r:id="rId1" imgW="786765" imgH="2540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916238" y="3500438"/>
                        <a:ext cx="2663825" cy="8588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Rectangle 7"/>
          <p:cNvSpPr>
            <a:spLocks noGrp="1"/>
          </p:cNvSpPr>
          <p:nvPr>
            <p:ph type="title"/>
          </p:nvPr>
        </p:nvSpPr>
        <p:spPr>
          <a:xfrm>
            <a:off x="1357313" y="157163"/>
            <a:ext cx="7786687" cy="700087"/>
          </a:xfrm>
          <a:ln/>
        </p:spPr>
        <p:txBody>
          <a:bodyPr vert="horz" wrap="square" lIns="91440" tIns="45720" rIns="91440" bIns="45720" anchor="b" anchorCtr="0"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米散射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大颗粒散射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7588" name="Rectangle 7"/>
          <p:cNvSpPr/>
          <p:nvPr/>
        </p:nvSpPr>
        <p:spPr>
          <a:xfrm>
            <a:off x="611188" y="2133600"/>
            <a:ext cx="8424862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散射光强随波长的变化规律是与波长</a:t>
            </a:r>
            <a:r>
              <a:rPr lang="zh-CN" altLang="en-US" sz="3200" b="0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 </a:t>
            </a: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</a:t>
            </a:r>
            <a:r>
              <a:rPr lang="zh-CN" altLang="en-US" sz="3200" u="sng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较低幂次成反比</a:t>
            </a:r>
            <a:r>
              <a:rPr lang="zh-CN" altLang="en-US" sz="32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，即</a:t>
            </a:r>
            <a:endParaRPr lang="zh-CN" altLang="en-US" sz="32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7589" name="TextBox 1"/>
          <p:cNvSpPr txBox="1"/>
          <p:nvPr/>
        </p:nvSpPr>
        <p:spPr>
          <a:xfrm>
            <a:off x="2916238" y="4652963"/>
            <a:ext cx="3240087" cy="862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500" dirty="0">
                <a:latin typeface="华文细黑" panose="02010600040101010101" pitchFamily="2" charset="-122"/>
                <a:ea typeface="华文细黑" panose="02010600040101010101" pitchFamily="2" charset="-122"/>
              </a:rPr>
              <a:t>对分子散射，</a:t>
            </a:r>
            <a:r>
              <a:rPr lang="en-US" altLang="zh-CN" sz="2500" dirty="0">
                <a:latin typeface="华文细黑" panose="02010600040101010101" pitchFamily="2" charset="-122"/>
                <a:ea typeface="华文细黑" panose="02010600040101010101" pitchFamily="2" charset="-122"/>
              </a:rPr>
              <a:t>b=4</a:t>
            </a:r>
            <a:r>
              <a:rPr lang="zh-CN" altLang="en-US" sz="2500" dirty="0">
                <a:latin typeface="华文细黑" panose="02010600040101010101" pitchFamily="2" charset="-122"/>
                <a:ea typeface="华文细黑" panose="02010600040101010101" pitchFamily="2" charset="-122"/>
              </a:rPr>
              <a:t>；</a:t>
            </a:r>
            <a:endParaRPr lang="en-US" altLang="zh-CN" sz="25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500" dirty="0">
                <a:latin typeface="华文细黑" panose="02010600040101010101" pitchFamily="2" charset="-122"/>
                <a:ea typeface="华文细黑" panose="02010600040101010101" pitchFamily="2" charset="-122"/>
              </a:rPr>
              <a:t>对大颗粒散射，</a:t>
            </a:r>
            <a:r>
              <a:rPr lang="en-US" altLang="zh-CN" sz="2500" dirty="0">
                <a:latin typeface="华文细黑" panose="02010600040101010101" pitchFamily="2" charset="-122"/>
                <a:ea typeface="华文细黑" panose="02010600040101010101" pitchFamily="2" charset="-122"/>
              </a:rPr>
              <a:t>b&lt;4</a:t>
            </a:r>
            <a:r>
              <a:rPr lang="zh-CN" altLang="en-US" sz="2500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25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/>
          <p:nvPr/>
        </p:nvSpPr>
        <p:spPr>
          <a:xfrm>
            <a:off x="8035925" y="3579813"/>
            <a:ext cx="0" cy="958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3900" b="0" i="1" dirty="0">
              <a:solidFill>
                <a:srgbClr val="00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6819" name="Rectangle 3"/>
          <p:cNvSpPr/>
          <p:nvPr/>
        </p:nvSpPr>
        <p:spPr>
          <a:xfrm>
            <a:off x="539750" y="1852613"/>
            <a:ext cx="8496300" cy="1068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小水滴在可见光范围内产生的散射属于米氏散射</a:t>
            </a:r>
            <a:r>
              <a:rPr lang="en-US" altLang="zh-CN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, 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其散射光强与光波长关系不大</a:t>
            </a:r>
            <a:r>
              <a:rPr lang="en-US" altLang="zh-CN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,  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所以</a:t>
            </a:r>
            <a:r>
              <a:rPr lang="zh-CN" altLang="en-US" sz="2400" u="sng" dirty="0">
                <a:latin typeface="华文细黑" panose="02010600040101010101" pitchFamily="2" charset="-122"/>
                <a:ea typeface="华文细黑" panose="02010600040101010101" pitchFamily="2" charset="-122"/>
              </a:rPr>
              <a:t>云雾呈现白色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546820" name="Picture 4" descr="27bhntian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3141663"/>
            <a:ext cx="5761038" cy="2986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7" name="TextBox 4"/>
          <p:cNvSpPr txBox="1"/>
          <p:nvPr/>
        </p:nvSpPr>
        <p:spPr>
          <a:xfrm>
            <a:off x="592138" y="1341438"/>
            <a:ext cx="50514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问题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：为什么云雾呈现白色？</a:t>
            </a:r>
            <a:endParaRPr lang="zh-CN" altLang="en-US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4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 noRot="1"/>
          </p:cNvSpPr>
          <p:nvPr>
            <p:ph type="title"/>
          </p:nvPr>
        </p:nvSpPr>
        <p:spPr>
          <a:xfrm>
            <a:off x="1403350" y="1484313"/>
            <a:ext cx="6840538" cy="79216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问题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：蓝色天空和浑浊的天空</a:t>
            </a:r>
            <a:endParaRPr lang="zh-CN" altLang="en-US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70659" name="Picture 5" descr="rayleigh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2484438" y="2420938"/>
            <a:ext cx="4140200" cy="3887787"/>
          </a:xfrm>
          <a:ln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TextBox 1"/>
          <p:cNvSpPr txBox="1"/>
          <p:nvPr/>
        </p:nvSpPr>
        <p:spPr>
          <a:xfrm>
            <a:off x="323850" y="6373813"/>
            <a:ext cx="8569325" cy="3683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7844" name="Rectangle 4"/>
          <p:cNvSpPr>
            <a:spLocks noGrp="1"/>
          </p:cNvSpPr>
          <p:nvPr>
            <p:ph idx="1"/>
          </p:nvPr>
        </p:nvSpPr>
        <p:spPr>
          <a:xfrm>
            <a:off x="519113" y="1196975"/>
            <a:ext cx="8229600" cy="547211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对晴朗的天空，是空气分子散射了太阳光。空气分子相对于可见光波长来说是很小的（空气分子 </a:t>
            </a:r>
            <a:r>
              <a:rPr lang="en-US" altLang="zh-CN" i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r=10</a:t>
            </a:r>
            <a:r>
              <a:rPr lang="en-US" altLang="zh-CN" i="1" baseline="30000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-4</a:t>
            </a:r>
            <a:r>
              <a:rPr lang="en-US" altLang="zh-CN" i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μm</a:t>
            </a:r>
            <a:r>
              <a:rPr lang="zh-CN" altLang="en-US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，对</a:t>
            </a:r>
            <a:r>
              <a:rPr lang="en-US" altLang="zh-CN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λ=0.5μm</a:t>
            </a:r>
            <a:r>
              <a:rPr lang="zh-CN" altLang="en-US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en-US" altLang="zh-CN" i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=0.001</a:t>
            </a:r>
            <a:r>
              <a:rPr lang="zh-CN" altLang="en-US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r>
              <a:rPr lang="en-US" altLang="zh-CN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</a:t>
            </a:r>
            <a:r>
              <a:rPr lang="zh-CN" altLang="en-US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要用瑞利散射的规律。这时散射效率与波长的四次方成反比。因此蓝光的散射远大于红光。在散射光中主要是蓝光，天空的颜色就是蓝色。</a:t>
            </a:r>
            <a:endParaRPr lang="zh-CN" altLang="en-US" dirty="0">
              <a:solidFill>
                <a:srgbClr val="00B05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/>
            <a:endParaRPr lang="zh-CN" altLang="en-US" sz="1000" dirty="0">
              <a:solidFill>
                <a:schemeClr val="hlink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空气中不仅有空气分子，还有气溶胶颗粒。气溶胶颗粒的尺度稍微大一些，大约在 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0.1 – 10 μm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，要用米散射规律来讨论。</a:t>
            </a:r>
            <a:r>
              <a:rPr lang="zh-CN" altLang="en-US" dirty="0">
                <a:solidFill>
                  <a:srgbClr val="FF00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由于气溶胶颗粒对不同波长散射基本上是相同的（设气溶胶约</a:t>
            </a:r>
            <a:r>
              <a:rPr lang="en-US" altLang="zh-CN" dirty="0">
                <a:solidFill>
                  <a:srgbClr val="FF00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1μm</a:t>
            </a:r>
            <a:r>
              <a:rPr lang="zh-CN" altLang="en-US" dirty="0">
                <a:solidFill>
                  <a:srgbClr val="FF00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，对</a:t>
            </a:r>
            <a:r>
              <a:rPr lang="en-US" altLang="zh-CN" dirty="0">
                <a:solidFill>
                  <a:srgbClr val="FF00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0.4-0.7μm</a:t>
            </a:r>
            <a:r>
              <a:rPr lang="zh-CN" altLang="en-US" dirty="0">
                <a:solidFill>
                  <a:srgbClr val="FF00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的可见光</a:t>
            </a:r>
            <a:r>
              <a:rPr lang="el-GR" altLang="zh-CN" dirty="0">
                <a:solidFill>
                  <a:srgbClr val="FF00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α≥</a:t>
            </a:r>
            <a:r>
              <a:rPr lang="en-US" altLang="zh-CN" dirty="0">
                <a:solidFill>
                  <a:srgbClr val="FF00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15</a:t>
            </a:r>
            <a:r>
              <a:rPr lang="zh-CN" altLang="en-US" dirty="0">
                <a:solidFill>
                  <a:srgbClr val="FF0066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，因此散射光的光谱分布向太阳光靠拢，天空颜色变成灰白色。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/>
            <a:endParaRPr lang="en-US" altLang="zh-CN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>
                                            <p:txEl>
                                              <p:charRg st="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47844">
                                            <p:txEl>
                                              <p:charRg st="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7844">
                                            <p:txEl>
                                              <p:charRg st="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47844">
                                            <p:txEl>
                                              <p:charRg st="0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>
                                            <p:txEl>
                                              <p:charRg st="133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7844">
                                            <p:txEl>
                                              <p:charRg st="133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7844">
                                            <p:txEl>
                                              <p:charRg st="133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547844">
                                            <p:txEl>
                                              <p:charRg st="133" end="2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xfrm>
            <a:off x="1428750" y="214313"/>
            <a:ext cx="7489825" cy="639762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小结：瑞利散射和米散射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468313" y="1555750"/>
            <a:ext cx="8675687" cy="4752975"/>
          </a:xfrm>
          <a:ln/>
        </p:spPr>
        <p:txBody>
          <a:bodyPr vert="horz" wrap="square" lIns="91440" tIns="45720" rIns="91440" bIns="45720" anchor="t" anchorCtr="0"/>
          <a:p>
            <a:pPr>
              <a:spcAft>
                <a:spcPts val="1200"/>
              </a:spcAft>
            </a:pP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瑞利散射的基本特征：</a:t>
            </a:r>
            <a:endParaRPr lang="zh-CN" altLang="en-US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   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① 散射光强度和波长的</a:t>
            </a:r>
            <a:r>
              <a:rPr lang="en-US" altLang="zh-CN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次方成反比，这也是天空为什么是蓝色的原因。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② 当入射光为自然光时，前后向散射呈对称分布。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③ 散射光有很高的偏振度。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>
            <a:spLocks noGrp="1"/>
          </p:cNvSpPr>
          <p:nvPr>
            <p:ph type="title"/>
          </p:nvPr>
        </p:nvSpPr>
        <p:spPr>
          <a:xfrm>
            <a:off x="1357313" y="214313"/>
            <a:ext cx="7488237" cy="711200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小结：瑞利散射和米散射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755" name="Rectangle 9"/>
          <p:cNvSpPr>
            <a:spLocks noGrp="1"/>
          </p:cNvSpPr>
          <p:nvPr>
            <p:ph idx="1"/>
          </p:nvPr>
        </p:nvSpPr>
        <p:spPr>
          <a:xfrm>
            <a:off x="611188" y="1268413"/>
            <a:ext cx="8318500" cy="518477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米散射的主要特点：</a:t>
            </a:r>
            <a:endParaRPr lang="zh-CN" altLang="en-US" sz="24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① 随着粒子尺度数</a:t>
            </a:r>
            <a:r>
              <a:rPr lang="el-GR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的增大，前向散射光在总散射光中的比值迅速增大，这就是所谓米效应。</a:t>
            </a:r>
            <a:endParaRPr lang="en-US" altLang="zh-CN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② 在吸收不强时，散射效率</a:t>
            </a:r>
            <a:r>
              <a:rPr lang="en-US" altLang="zh-CN" sz="2400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Q</a:t>
            </a:r>
            <a:r>
              <a:rPr lang="en-US" altLang="zh-CN" sz="24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sc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随</a:t>
            </a:r>
            <a:r>
              <a:rPr lang="el-GR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的增大呈振动状态变化，最后趋向于一常数，但当吸收增强时，</a:t>
            </a:r>
            <a:r>
              <a:rPr lang="en-US" altLang="zh-CN" sz="2400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Q</a:t>
            </a:r>
            <a:r>
              <a:rPr lang="en-US" altLang="zh-CN" sz="24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sc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曲线上的振动消失了。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③ 散射截面随波长而变。当</a:t>
            </a:r>
            <a:r>
              <a:rPr lang="el-GR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很小时，和瑞利散射一样，与波长四次方成反比；当</a:t>
            </a:r>
            <a:r>
              <a:rPr lang="el-GR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增大时，逐渐变为和</a:t>
            </a:r>
            <a:r>
              <a:rPr lang="zh-CN" altLang="en-US" sz="2400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</a:t>
            </a:r>
            <a:r>
              <a:rPr lang="zh-CN" altLang="en-US" sz="2400" baseline="30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i="1" baseline="30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(0 &lt; </a:t>
            </a:r>
            <a:r>
              <a:rPr lang="en-US" altLang="zh-CN" sz="2400" i="1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n 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&lt; 4)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成正比；最后当</a:t>
            </a:r>
            <a:r>
              <a:rPr lang="el-GR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α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相当大时，和波长无明显关系。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71550" y="1700213"/>
            <a:ext cx="7366000" cy="41052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楷体_GB2312" pitchFamily="49" charset="-122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楷体_GB2312" pitchFamily="49" charset="-122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楷体_GB2312" pitchFamily="49" charset="-122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3C43F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rPr>
              <a:t>问题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rPr>
              <a:t>4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rPr>
              <a:t>：如果没有大气天空是什么颜色？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rPr>
              <a:t>练习：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rPr>
              <a:t>利用现有米散射程序重新计算图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rPr>
              <a:t>5.10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rPr>
              <a:t>中不同复折射指数下散射效率因子随尺度数的变化。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TextBox 8"/>
          <p:cNvSpPr txBox="1"/>
          <p:nvPr/>
        </p:nvSpPr>
        <p:spPr>
          <a:xfrm>
            <a:off x="357188" y="6357938"/>
            <a:ext cx="8786812" cy="3698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7" name="Rectangle 2"/>
          <p:cNvSpPr>
            <a:spLocks noGrp="1"/>
          </p:cNvSpPr>
          <p:nvPr>
            <p:ph type="title"/>
          </p:nvPr>
        </p:nvSpPr>
        <p:spPr>
          <a:xfrm>
            <a:off x="1357313" y="214313"/>
            <a:ext cx="7631112" cy="700087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5.3.4 </a:t>
            </a: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辐射能在介质中的传输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285750" y="1320800"/>
            <a:ext cx="8643938" cy="4179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1.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布格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朗伯定律（比尔定律）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设单色平行定向辐射的辐照度为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zh-CN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，经过一有吸收作用的气层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dl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后变成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E</a:t>
            </a:r>
            <a:r>
              <a:rPr kumimoji="0" lang="zh-CN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dE</a:t>
            </a:r>
            <a:r>
              <a:rPr kumimoji="0" lang="zh-CN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，则有：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77829" name="Object 2"/>
          <p:cNvGraphicFramePr>
            <a:graphicFrameLocks noChangeAspect="1"/>
          </p:cNvGraphicFramePr>
          <p:nvPr>
            <p:ph sz="quarter" idx="2"/>
          </p:nvPr>
        </p:nvGraphicFramePr>
        <p:xfrm>
          <a:off x="827088" y="3214688"/>
          <a:ext cx="320357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1231265" imgH="241300" progId="Equation.DSMT4">
                  <p:embed/>
                </p:oleObj>
              </mc:Choice>
              <mc:Fallback>
                <p:oleObj name="" r:id="rId1" imgW="1231265" imgH="2413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827088" y="3214688"/>
                        <a:ext cx="3203575" cy="6270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3"/>
          <p:cNvGraphicFramePr>
            <a:graphicFrameLocks noChangeAspect="1"/>
          </p:cNvGraphicFramePr>
          <p:nvPr>
            <p:ph sz="quarter" idx="3"/>
          </p:nvPr>
        </p:nvGraphicFramePr>
        <p:xfrm>
          <a:off x="4500563" y="3214688"/>
          <a:ext cx="374491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1384300" imgH="241300" progId="Equation.DSMT4">
                  <p:embed/>
                </p:oleObj>
              </mc:Choice>
              <mc:Fallback>
                <p:oleObj name="" r:id="rId3" imgW="1384300" imgH="2413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4500563" y="3214688"/>
                        <a:ext cx="3744912" cy="6508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4"/>
          <p:cNvGraphicFramePr>
            <a:graphicFrameLocks noChangeAspect="1"/>
          </p:cNvGraphicFramePr>
          <p:nvPr/>
        </p:nvGraphicFramePr>
        <p:xfrm>
          <a:off x="755650" y="4005263"/>
          <a:ext cx="35496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1180465" imgH="355600" progId="Equation.DSMT4">
                  <p:embed/>
                </p:oleObj>
              </mc:Choice>
              <mc:Fallback>
                <p:oleObj name="" r:id="rId5" imgW="1180465" imgH="3556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5650" y="4005263"/>
                        <a:ext cx="354965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5"/>
          <p:cNvGraphicFramePr>
            <a:graphicFrameLocks noChangeAspect="1"/>
          </p:cNvGraphicFramePr>
          <p:nvPr/>
        </p:nvGraphicFramePr>
        <p:xfrm>
          <a:off x="4500563" y="3862388"/>
          <a:ext cx="38179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7" imgW="1269365" imgH="355600" progId="Equation.DSMT4">
                  <p:embed/>
                </p:oleObj>
              </mc:Choice>
              <mc:Fallback>
                <p:oleObj name="" r:id="rId7" imgW="1269365" imgH="3556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0563" y="3862388"/>
                        <a:ext cx="3817937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7833" name="Picture 13" descr="MM_Pp_fig_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6063" y="4779963"/>
            <a:ext cx="3736975" cy="2078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2"/>
          <p:cNvSpPr>
            <a:spLocks noGrp="1" noRot="1"/>
          </p:cNvSpPr>
          <p:nvPr>
            <p:ph type="title"/>
          </p:nvPr>
        </p:nvSpPr>
        <p:spPr>
          <a:xfrm>
            <a:off x="684213" y="1700213"/>
            <a:ext cx="7862887" cy="563562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问题：</a:t>
            </a:r>
            <a:endParaRPr lang="zh-CN" altLang="en-US" dirty="0">
              <a:solidFill>
                <a:srgbClr val="FF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687388" y="2349500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纯吸收时的辐射衰减规律？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纯散射时的辐射衰减规律？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吸收和散射同时存在的辐射衰减规律？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并指出上述三种情况下的衰减系数。</a:t>
            </a:r>
            <a:endParaRPr lang="zh-CN" altLang="en-US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TextBox 11"/>
          <p:cNvSpPr txBox="1"/>
          <p:nvPr/>
        </p:nvSpPr>
        <p:spPr>
          <a:xfrm>
            <a:off x="428625" y="6357938"/>
            <a:ext cx="8572500" cy="3698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899" name="Rectangle 6"/>
          <p:cNvSpPr>
            <a:spLocks noGrp="1"/>
          </p:cNvSpPr>
          <p:nvPr>
            <p:ph type="title"/>
          </p:nvPr>
        </p:nvSpPr>
        <p:spPr>
          <a:xfrm>
            <a:off x="1357313" y="142875"/>
            <a:ext cx="7631112" cy="771525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辐射传输的有关物理量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900" name="Text Box 11"/>
          <p:cNvSpPr txBox="1"/>
          <p:nvPr/>
        </p:nvSpPr>
        <p:spPr>
          <a:xfrm>
            <a:off x="357188" y="1214438"/>
            <a:ext cx="8072437" cy="1003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）光学厚度：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沿辐射传输路径，单位截面上所有吸收和</a:t>
            </a:r>
            <a:endParaRPr lang="en-US" altLang="zh-CN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        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散射物质所产生的总削弱（无量纲）。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0901" name="Text Box 13"/>
          <p:cNvSpPr txBox="1"/>
          <p:nvPr/>
        </p:nvSpPr>
        <p:spPr>
          <a:xfrm>
            <a:off x="1581150" y="2524125"/>
            <a:ext cx="83026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积分</a:t>
            </a:r>
            <a:r>
              <a:rPr lang="en-US" altLang="zh-CN" sz="20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00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902" name="Text Box 14"/>
          <p:cNvSpPr txBox="1"/>
          <p:nvPr/>
        </p:nvSpPr>
        <p:spPr>
          <a:xfrm>
            <a:off x="1571625" y="3573463"/>
            <a:ext cx="83026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分光</a:t>
            </a:r>
            <a:r>
              <a:rPr lang="en-US" altLang="zh-CN" sz="20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00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0903" name="Object 9"/>
          <p:cNvGraphicFramePr>
            <a:graphicFrameLocks noChangeAspect="1"/>
          </p:cNvGraphicFramePr>
          <p:nvPr/>
        </p:nvGraphicFramePr>
        <p:xfrm>
          <a:off x="3714750" y="4500563"/>
          <a:ext cx="27146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888365" imgH="254000" progId="Equation.DSMT4">
                  <p:embed/>
                </p:oleObj>
              </mc:Choice>
              <mc:Fallback>
                <p:oleObj name="" r:id="rId1" imgW="888365" imgH="2540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14750" y="4500563"/>
                        <a:ext cx="2714625" cy="776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4" name="TextBox 9"/>
          <p:cNvSpPr txBox="1"/>
          <p:nvPr/>
        </p:nvSpPr>
        <p:spPr>
          <a:xfrm>
            <a:off x="1214438" y="4641850"/>
            <a:ext cx="2071687" cy="430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指数衰减规律：</a:t>
            </a:r>
            <a:endParaRPr lang="zh-CN" altLang="en-US" sz="220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12"/>
          <p:cNvSpPr txBox="1">
            <a:spLocks noChangeArrowheads="1"/>
          </p:cNvSpPr>
          <p:nvPr/>
        </p:nvSpPr>
        <p:spPr bwMode="auto">
          <a:xfrm>
            <a:off x="1228725" y="5357813"/>
            <a:ext cx="7772400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200" b="1" kern="0" cap="none" spc="0" normalizeH="0" baseline="0" noProof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整层大气垂直光学厚度：</a:t>
            </a:r>
            <a:endParaRPr kumimoji="0" lang="zh-CN" altLang="en-US" sz="2200" b="1" kern="0" cap="none" spc="0" normalizeH="0" baseline="0" noProof="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80906" name="Object 10"/>
          <p:cNvGraphicFramePr>
            <a:graphicFrameLocks noChangeAspect="1"/>
          </p:cNvGraphicFramePr>
          <p:nvPr/>
        </p:nvGraphicFramePr>
        <p:xfrm>
          <a:off x="1808163" y="5929313"/>
          <a:ext cx="619283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2514600" imgH="330200" progId="Equation.DSMT4">
                  <p:embed/>
                </p:oleObj>
              </mc:Choice>
              <mc:Fallback>
                <p:oleObj name="" r:id="rId3" imgW="2514600" imgH="330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8163" y="5929313"/>
                        <a:ext cx="6192837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7" name="Object 11"/>
          <p:cNvGraphicFramePr>
            <a:graphicFrameLocks noChangeAspect="1"/>
          </p:cNvGraphicFramePr>
          <p:nvPr/>
        </p:nvGraphicFramePr>
        <p:xfrm>
          <a:off x="2928938" y="2232025"/>
          <a:ext cx="4357687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1384300" imgH="330200" progId="Equation.3">
                  <p:embed/>
                </p:oleObj>
              </mc:Choice>
              <mc:Fallback>
                <p:oleObj name="" r:id="rId5" imgW="1384300" imgH="3302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8938" y="2232025"/>
                        <a:ext cx="4357687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/>
        </p:nvGraphicFramePr>
        <p:xfrm>
          <a:off x="2809875" y="3286125"/>
          <a:ext cx="50768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7" imgW="1612900" imgH="330200" progId="Equation.3">
                  <p:embed/>
                </p:oleObj>
              </mc:Choice>
              <mc:Fallback>
                <p:oleObj name="" r:id="rId7" imgW="1612900" imgH="3302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9875" y="3286125"/>
                        <a:ext cx="5076825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TextBox 4"/>
          <p:cNvSpPr txBox="1"/>
          <p:nvPr/>
        </p:nvSpPr>
        <p:spPr>
          <a:xfrm>
            <a:off x="323850" y="6227763"/>
            <a:ext cx="8664575" cy="36988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2947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3924300" y="2455863"/>
          <a:ext cx="18716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685800" imgH="330200" progId="Equation.DSMT4">
                  <p:embed/>
                </p:oleObj>
              </mc:Choice>
              <mc:Fallback>
                <p:oleObj name="" r:id="rId1" imgW="685800" imgH="3302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924300" y="2455863"/>
                        <a:ext cx="1871663" cy="9017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TextBox 9"/>
          <p:cNvSpPr txBox="1"/>
          <p:nvPr/>
        </p:nvSpPr>
        <p:spPr>
          <a:xfrm>
            <a:off x="500063" y="1428750"/>
            <a:ext cx="8501062" cy="984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）光学质量：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辐射束沿传输路径在单位截面气柱内所参与吸收或散射的气体质量。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 txBox="1">
            <a:spLocks noChangeArrowheads="1"/>
          </p:cNvSpPr>
          <p:nvPr/>
        </p:nvSpPr>
        <p:spPr bwMode="auto">
          <a:xfrm>
            <a:off x="1357313" y="142875"/>
            <a:ext cx="7631113" cy="771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3200" b="1" kern="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2.</a:t>
            </a:r>
            <a:r>
              <a:rPr kumimoji="0" lang="zh-CN" altLang="en-US" sz="3200" b="1" kern="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辐射传输的有关物理量</a:t>
            </a:r>
            <a:endParaRPr kumimoji="0" lang="zh-CN" altLang="en-US" sz="3200" b="1" kern="0" cap="none" spc="0" normalizeH="0" baseline="0" noProof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82950" name="Rectangle 3"/>
          <p:cNvSpPr txBox="1"/>
          <p:nvPr/>
        </p:nvSpPr>
        <p:spPr>
          <a:xfrm>
            <a:off x="500063" y="3500438"/>
            <a:ext cx="8229600" cy="300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742950" lvl="1" indent="-285750">
              <a:buNone/>
            </a:pPr>
            <a:endParaRPr lang="en-US" altLang="zh-CN" sz="2400" dirty="0">
              <a:solidFill>
                <a:srgbClr val="CC00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742950" lvl="1" indent="-285750"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）单位截面积柱体内吸收或散射气体的分子数；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742950" lvl="1" indent="-285750"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）单位截面积柱体内吸收或散射气体的质量；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742950" lvl="1" indent="-285750"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）标准状态下吸收或散射气体的厚度。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lvl="0" indent="-342900">
              <a:spcBef>
                <a:spcPts val="1800"/>
              </a:spcBef>
            </a:pP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三种单位可以互相转换。一般的，水汽的光学质量单位多用（</a:t>
            </a:r>
            <a:r>
              <a:rPr lang="en-US" altLang="zh-CN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），二氧化碳和臭氧的光学质量单位多用（</a:t>
            </a:r>
            <a:r>
              <a:rPr lang="en-US" altLang="zh-CN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）。</a:t>
            </a:r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2951" name="Rectangle 2"/>
          <p:cNvSpPr>
            <a:spLocks noGrp="1" noRot="1"/>
          </p:cNvSpPr>
          <p:nvPr>
            <p:ph type="title" sz="quarter"/>
          </p:nvPr>
        </p:nvSpPr>
        <p:spPr>
          <a:xfrm>
            <a:off x="1209675" y="3294063"/>
            <a:ext cx="7862888" cy="563562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光学质量单位</a:t>
            </a:r>
            <a:r>
              <a:rPr lang="en-US" altLang="zh-CN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:</a:t>
            </a:r>
            <a:endParaRPr lang="zh-CN" altLang="en-US" sz="2400" dirty="0">
              <a:solidFill>
                <a:srgbClr val="CC00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TextBox 4"/>
          <p:cNvSpPr txBox="1"/>
          <p:nvPr/>
        </p:nvSpPr>
        <p:spPr>
          <a:xfrm>
            <a:off x="323850" y="6227763"/>
            <a:ext cx="8664575" cy="36988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7456" name="Object 5"/>
          <p:cNvGraphicFramePr>
            <a:graphicFrameLocks noChangeAspect="1"/>
          </p:cNvGraphicFramePr>
          <p:nvPr>
            <p:ph sz="quarter" idx="4"/>
          </p:nvPr>
        </p:nvGraphicFramePr>
        <p:xfrm>
          <a:off x="3389313" y="5876925"/>
          <a:ext cx="3013075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028065" imgH="292100" progId="Equation.DSMT4">
                  <p:embed/>
                </p:oleObj>
              </mc:Choice>
              <mc:Fallback>
                <p:oleObj name="" r:id="rId1" imgW="1028065" imgH="2921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389313" y="5876925"/>
                        <a:ext cx="3013075" cy="8556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1563" y="6019800"/>
            <a:ext cx="178593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衰减规律：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 txBox="1">
            <a:spLocks noChangeArrowheads="1"/>
          </p:cNvSpPr>
          <p:nvPr/>
        </p:nvSpPr>
        <p:spPr bwMode="auto">
          <a:xfrm>
            <a:off x="1357313" y="142875"/>
            <a:ext cx="7631113" cy="771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3200" b="1" kern="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2.</a:t>
            </a:r>
            <a:r>
              <a:rPr kumimoji="0" lang="zh-CN" altLang="en-US" sz="3200" b="1" kern="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辐射传输的有关物理量</a:t>
            </a:r>
            <a:endParaRPr kumimoji="0" lang="zh-CN" altLang="en-US" sz="3200" b="1" kern="0" cap="none" spc="0" normalizeH="0" baseline="0" noProof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84998" name="TextBox 12"/>
          <p:cNvSpPr txBox="1"/>
          <p:nvPr/>
        </p:nvSpPr>
        <p:spPr>
          <a:xfrm>
            <a:off x="1047750" y="4048125"/>
            <a:ext cx="24288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订正光学质量：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4999" name="Object 9"/>
          <p:cNvGraphicFramePr>
            <a:graphicFrameLocks noChangeAspect="1"/>
          </p:cNvGraphicFramePr>
          <p:nvPr/>
        </p:nvGraphicFramePr>
        <p:xfrm>
          <a:off x="2071688" y="1500188"/>
          <a:ext cx="4857750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803400" imgH="571500" progId="Equation.3">
                  <p:embed/>
                </p:oleObj>
              </mc:Choice>
              <mc:Fallback>
                <p:oleObj name="" r:id="rId3" imgW="1803400" imgH="5715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1688" y="1500188"/>
                        <a:ext cx="4857750" cy="1455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0" name="对象 2"/>
          <p:cNvGraphicFramePr>
            <a:graphicFrameLocks noChangeAspect="1"/>
          </p:cNvGraphicFramePr>
          <p:nvPr/>
        </p:nvGraphicFramePr>
        <p:xfrm>
          <a:off x="3563938" y="3500438"/>
          <a:ext cx="3827462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1307465" imgH="533400" progId="Equation.DSMT4">
                  <p:embed/>
                </p:oleObj>
              </mc:Choice>
              <mc:Fallback>
                <p:oleObj name="" r:id="rId5" imgW="1307465" imgH="5334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63938" y="3500438"/>
                        <a:ext cx="3827462" cy="1560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1" name="Oval 5"/>
          <p:cNvSpPr/>
          <p:nvPr/>
        </p:nvSpPr>
        <p:spPr>
          <a:xfrm>
            <a:off x="4691063" y="3419475"/>
            <a:ext cx="1871662" cy="180975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dash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02" name="TextBox 3"/>
          <p:cNvSpPr txBox="1"/>
          <p:nvPr/>
        </p:nvSpPr>
        <p:spPr>
          <a:xfrm>
            <a:off x="6275388" y="3357563"/>
            <a:ext cx="15827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FF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订正因子</a:t>
            </a:r>
            <a:endParaRPr lang="zh-CN" altLang="en-US" sz="1800" dirty="0">
              <a:solidFill>
                <a:srgbClr val="FF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03" name="TextBox 11"/>
          <p:cNvSpPr txBox="1"/>
          <p:nvPr/>
        </p:nvSpPr>
        <p:spPr>
          <a:xfrm>
            <a:off x="3635375" y="3995738"/>
            <a:ext cx="412750" cy="5857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3200" b="0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ũ</a:t>
            </a:r>
            <a:endParaRPr lang="zh-CN" altLang="en-US" sz="3200" b="0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5"/>
          <p:cNvSpPr>
            <a:spLocks noGrp="1"/>
          </p:cNvSpPr>
          <p:nvPr>
            <p:ph type="title"/>
          </p:nvPr>
        </p:nvSpPr>
        <p:spPr>
          <a:xfrm>
            <a:off x="642938" y="1214438"/>
            <a:ext cx="7631112" cy="571500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单色透过率和吸收率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7043" name="Rectangle 7"/>
          <p:cNvSpPr>
            <a:spLocks noGrp="1"/>
          </p:cNvSpPr>
          <p:nvPr>
            <p:ph type="body" sz="half" idx="1"/>
          </p:nvPr>
        </p:nvSpPr>
        <p:spPr>
          <a:xfrm>
            <a:off x="0" y="1724025"/>
            <a:ext cx="8929688" cy="2857500"/>
          </a:xfrm>
          <a:ln/>
        </p:spPr>
        <p:txBody>
          <a:bodyPr vert="horz" wrap="square" lIns="91440" tIns="45720" rIns="91440" bIns="45720" anchor="t" anchorCtr="0"/>
          <a:p>
            <a:pPr marL="609600" indent="-609600">
              <a:buClr>
                <a:schemeClr val="hlink"/>
              </a:buClr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透过率：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辐射通过一段大气路径，前后辐射通量密度之比</a:t>
            </a:r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marL="990600" lvl="1" indent="-533400">
              <a:spcBef>
                <a:spcPts val="3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00C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透明系数：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rPr>
              <a:t>整层大气在垂直方向的透过率。</a:t>
            </a:r>
            <a:endParaRPr lang="en-US" altLang="zh-CN" sz="2400" dirty="0">
              <a:solidFill>
                <a:srgbClr val="CC00C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990600" lvl="1" indent="-533400">
              <a:buClr>
                <a:schemeClr val="accent1"/>
              </a:buClr>
              <a:buFont typeface="Wingdings" panose="05000000000000000000" pitchFamily="2" charset="2"/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marL="990600" lvl="1" indent="-533400">
              <a:spcAft>
                <a:spcPct val="20000"/>
              </a:spcAft>
              <a:buClr>
                <a:schemeClr val="accent1"/>
              </a:buClr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7044" name="Object 2"/>
          <p:cNvGraphicFramePr>
            <a:graphicFrameLocks noChangeAspect="1"/>
          </p:cNvGraphicFramePr>
          <p:nvPr>
            <p:ph sz="quarter" idx="2"/>
          </p:nvPr>
        </p:nvGraphicFramePr>
        <p:xfrm>
          <a:off x="2268538" y="2852738"/>
          <a:ext cx="45164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1511300" imgH="457200" progId="Equation.DSMT4">
                  <p:embed/>
                </p:oleObj>
              </mc:Choice>
              <mc:Fallback>
                <p:oleObj name="" r:id="rId1" imgW="1511300" imgH="4572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268538" y="2852738"/>
                        <a:ext cx="4516437" cy="13684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1357313" y="142875"/>
            <a:ext cx="7631113" cy="771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3200" b="1" kern="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2.</a:t>
            </a:r>
            <a:r>
              <a:rPr kumimoji="0" lang="zh-CN" altLang="en-US" sz="3200" b="1" kern="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辐射传输的有关物理量</a:t>
            </a:r>
            <a:endParaRPr kumimoji="0" lang="zh-CN" altLang="en-US" sz="3200" b="1" kern="0" cap="none" spc="0" normalizeH="0" baseline="0" noProof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87046" name="Object 8"/>
          <p:cNvGraphicFramePr>
            <a:graphicFrameLocks noChangeAspect="1"/>
          </p:cNvGraphicFramePr>
          <p:nvPr/>
        </p:nvGraphicFramePr>
        <p:xfrm>
          <a:off x="3643313" y="5259388"/>
          <a:ext cx="24415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698500" imgH="241300" progId="Equation.3">
                  <p:embed/>
                </p:oleObj>
              </mc:Choice>
              <mc:Fallback>
                <p:oleObj name="" r:id="rId3" imgW="698500" imgH="2413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3313" y="5259388"/>
                        <a:ext cx="2441575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9090" name="Object 3"/>
          <p:cNvGraphicFramePr>
            <a:graphicFrameLocks noChangeAspect="1"/>
          </p:cNvGraphicFramePr>
          <p:nvPr>
            <p:ph sz="quarter" idx="3"/>
          </p:nvPr>
        </p:nvGraphicFramePr>
        <p:xfrm>
          <a:off x="2195513" y="2141538"/>
          <a:ext cx="4357687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422400" imgH="254000" progId="Equation.DSMT4">
                  <p:embed/>
                </p:oleObj>
              </mc:Choice>
              <mc:Fallback>
                <p:oleObj name="" r:id="rId1" imgW="1422400" imgH="2540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195513" y="2141538"/>
                        <a:ext cx="4357687" cy="7064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4"/>
          <p:cNvGraphicFramePr>
            <a:graphicFrameLocks noChangeAspect="1"/>
          </p:cNvGraphicFramePr>
          <p:nvPr/>
        </p:nvGraphicFramePr>
        <p:xfrm>
          <a:off x="1074738" y="4878388"/>
          <a:ext cx="7529512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2527300" imgH="266700" progId="Equation.DSMT4">
                  <p:embed/>
                </p:oleObj>
              </mc:Choice>
              <mc:Fallback>
                <p:oleObj name="" r:id="rId3" imgW="2527300" imgH="2667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4738" y="4878388"/>
                        <a:ext cx="7529512" cy="782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1357313" y="142875"/>
            <a:ext cx="7631113" cy="771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3200" b="1" kern="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2.</a:t>
            </a:r>
            <a:r>
              <a:rPr kumimoji="0" lang="zh-CN" altLang="en-US" sz="3200" b="1" kern="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辐射传输的有关物理量</a:t>
            </a:r>
            <a:endParaRPr kumimoji="0" lang="zh-CN" altLang="en-US" sz="3200" b="1" kern="0" cap="none" spc="0" normalizeH="0" baseline="0" noProof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89093" name="Text Box 7"/>
          <p:cNvSpPr txBox="1"/>
          <p:nvPr/>
        </p:nvSpPr>
        <p:spPr>
          <a:xfrm>
            <a:off x="725488" y="1566863"/>
            <a:ext cx="579120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若路径内仅有吸收，则吸收率定义为：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9094" name="Text Box 6"/>
          <p:cNvSpPr txBox="1"/>
          <p:nvPr/>
        </p:nvSpPr>
        <p:spPr>
          <a:xfrm>
            <a:off x="1187450" y="2781300"/>
            <a:ext cx="7878763" cy="11334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可见，一个气层的吸收率并不与吸收物质的多少成正比，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而是呈指数关系。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9095" name="Text Box 7"/>
          <p:cNvSpPr txBox="1"/>
          <p:nvPr/>
        </p:nvSpPr>
        <p:spPr>
          <a:xfrm>
            <a:off x="755650" y="4264025"/>
            <a:ext cx="39338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当吸收物质很少时，有：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9096" name="Text Box 10"/>
          <p:cNvSpPr txBox="1"/>
          <p:nvPr/>
        </p:nvSpPr>
        <p:spPr>
          <a:xfrm>
            <a:off x="1116013" y="5775325"/>
            <a:ext cx="6372225" cy="46196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这种条件下，吸收率与物质光学质量成正比。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5"/>
          <p:cNvSpPr>
            <a:spLocks noGrp="1"/>
          </p:cNvSpPr>
          <p:nvPr>
            <p:ph type="title"/>
          </p:nvPr>
        </p:nvSpPr>
        <p:spPr>
          <a:xfrm>
            <a:off x="644525" y="1500188"/>
            <a:ext cx="8499475" cy="1423987"/>
          </a:xfrm>
          <a:ln/>
        </p:spPr>
        <p:txBody>
          <a:bodyPr vert="horz" wrap="square" lIns="91440" tIns="45720" rIns="91440" bIns="45720" anchor="ctr" anchorCtr="0"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在光谱波数间隔</a:t>
            </a:r>
            <a:r>
              <a:rPr lang="el-GR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Δν 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= </a:t>
            </a:r>
            <a:r>
              <a:rPr lang="el-GR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ν</a:t>
            </a:r>
            <a:r>
              <a:rPr lang="en-US" altLang="zh-CN" sz="24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el-GR" altLang="zh-CN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ν</a:t>
            </a:r>
            <a:r>
              <a:rPr lang="en-US" altLang="zh-CN" sz="2400" baseline="-250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内，透射率函数为：</a:t>
            </a:r>
            <a:endParaRPr lang="zh-CN" altLang="en-US" sz="2400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91139" name="Object 2"/>
          <p:cNvGraphicFramePr>
            <a:graphicFrameLocks noChangeAspect="1"/>
          </p:cNvGraphicFramePr>
          <p:nvPr>
            <p:ph sz="half" idx="1"/>
          </p:nvPr>
        </p:nvGraphicFramePr>
        <p:xfrm>
          <a:off x="3060700" y="2679700"/>
          <a:ext cx="3095625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003300" imgH="685800" progId="Equation.DSMT4">
                  <p:embed/>
                </p:oleObj>
              </mc:Choice>
              <mc:Fallback>
                <p:oleObj name="" r:id="rId1" imgW="1003300" imgH="6858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060700" y="2679700"/>
                        <a:ext cx="3095625" cy="21177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3"/>
          <p:cNvGraphicFramePr>
            <a:graphicFrameLocks noChangeAspect="1"/>
          </p:cNvGraphicFramePr>
          <p:nvPr>
            <p:ph sz="half" idx="2"/>
          </p:nvPr>
        </p:nvGraphicFramePr>
        <p:xfrm>
          <a:off x="323850" y="5097463"/>
          <a:ext cx="882015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3492500" imgH="393700" progId="Equation.DSMT4">
                  <p:embed/>
                </p:oleObj>
              </mc:Choice>
              <mc:Fallback>
                <p:oleObj name="" r:id="rId3" imgW="3492500" imgH="3937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323850" y="5097463"/>
                        <a:ext cx="8820150" cy="9953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5"/>
          <p:cNvSpPr/>
          <p:nvPr/>
        </p:nvSpPr>
        <p:spPr>
          <a:xfrm>
            <a:off x="1357313" y="0"/>
            <a:ext cx="7786687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地球大气与辐射的相互作用</a:t>
            </a:r>
            <a:endParaRPr lang="zh-CN" altLang="en-US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187" name="Rectangle 7"/>
          <p:cNvSpPr/>
          <p:nvPr/>
        </p:nvSpPr>
        <p:spPr>
          <a:xfrm>
            <a:off x="1143000" y="1714500"/>
            <a:ext cx="7467600" cy="297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buClr>
                <a:schemeClr val="tx1"/>
              </a:buClr>
              <a:buSzPct val="80000"/>
              <a:buFont typeface="Wingdings 2" pitchFamily="18" charset="2"/>
              <a:buNone/>
            </a:pPr>
            <a:r>
              <a:rPr lang="zh-CN" altLang="en-US" sz="3200" b="0" dirty="0">
                <a:solidFill>
                  <a:srgbClr val="3366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>
              <a:lnSpc>
                <a:spcPct val="150000"/>
              </a:lnSpc>
              <a:buClr>
                <a:schemeClr val="tx1"/>
              </a:buClr>
              <a:buSzPct val="80000"/>
              <a:buFontTx/>
              <a:buChar char="•"/>
            </a:pPr>
            <a:r>
              <a:rPr lang="zh-CN" altLang="en-US" sz="3200" b="0" dirty="0">
                <a:solidFill>
                  <a:srgbClr val="3366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吸收光谱、散射特征、比尔定律</a:t>
            </a:r>
            <a:endParaRPr lang="zh-CN" altLang="en-US" sz="3200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>
              <a:lnSpc>
                <a:spcPct val="150000"/>
              </a:lnSpc>
              <a:buClr>
                <a:schemeClr val="tx1"/>
              </a:buClr>
              <a:buSzPct val="80000"/>
              <a:buFontTx/>
              <a:buChar char="•"/>
            </a:pPr>
            <a:r>
              <a:rPr lang="zh-CN" altLang="en-US" sz="32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相关物理量</a:t>
            </a:r>
            <a:endParaRPr lang="zh-CN" altLang="en-US" sz="3200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WordArt 3"/>
          <p:cNvSpPr>
            <a:spLocks noTextEdit="1"/>
          </p:cNvSpPr>
          <p:nvPr/>
        </p:nvSpPr>
        <p:spPr>
          <a:xfrm>
            <a:off x="3995738" y="1989138"/>
            <a:ext cx="1173162" cy="1008062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normAutofit/>
          </a:bodyPr>
          <a:p>
            <a:pPr algn="ctr"/>
            <a:r>
              <a:rPr lang="zh-CN" altLang="en-US" sz="3600" b="1">
                <a:ln w="2857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folHlink">
                    <a:alpha val="76862"/>
                  </a:schemeClr>
                </a:solidFill>
                <a:effectLst>
                  <a:outerShdw dist="89803" dir="2699999" algn="ctr" rotWithShape="0">
                    <a:schemeClr val="tx2">
                      <a:alpha val="50000"/>
                    </a:schemeClr>
                  </a:outerShdw>
                </a:effectLst>
                <a:latin typeface="+mn-ea" charset="0"/>
                <a:ea typeface="+mn-ea" charset="0"/>
              </a:rPr>
              <a:t>完</a:t>
            </a:r>
            <a:endParaRPr lang="zh-CN" altLang="en-US" sz="3600" b="1"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  <a:solidFill>
                <a:schemeClr val="folHlink">
                  <a:alpha val="76862"/>
                </a:schemeClr>
              </a:solidFill>
              <a:effectLst>
                <a:outerShdw dist="89803" dir="2699999" algn="ctr" rotWithShape="0">
                  <a:schemeClr val="tx2">
                    <a:alpha val="50000"/>
                  </a:schemeClr>
                </a:outerShdw>
              </a:effectLst>
              <a:latin typeface="+mn-ea" charset="0"/>
              <a:ea typeface="+mn-e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db2004132l">
  <a:themeElements>
    <a:clrScheme name="cdb2004132l 3">
      <a:dk1>
        <a:srgbClr val="1A1A70"/>
      </a:dk1>
      <a:lt1>
        <a:srgbClr val="FFFFFF"/>
      </a:lt1>
      <a:dk2>
        <a:srgbClr val="243D8C"/>
      </a:dk2>
      <a:lt2>
        <a:srgbClr val="DDDDDD"/>
      </a:lt2>
      <a:accent1>
        <a:srgbClr val="3E78C6"/>
      </a:accent1>
      <a:accent2>
        <a:srgbClr val="84A1E8"/>
      </a:accent2>
      <a:accent3>
        <a:srgbClr val="FFFFFF"/>
      </a:accent3>
      <a:accent4>
        <a:srgbClr val="14145F"/>
      </a:accent4>
      <a:accent5>
        <a:srgbClr val="AFBEDF"/>
      </a:accent5>
      <a:accent6>
        <a:srgbClr val="7791D2"/>
      </a:accent6>
      <a:hlink>
        <a:srgbClr val="90B54D"/>
      </a:hlink>
      <a:folHlink>
        <a:srgbClr val="F3C43F"/>
      </a:folHlink>
    </a:clrScheme>
    <a:fontScheme name="cdb2004132l">
      <a:majorFont>
        <a:latin typeface="楷体_GB2312"/>
        <a:ea typeface="楷体_GB2312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db2004132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2l 2">
        <a:dk1>
          <a:srgbClr val="2D4473"/>
        </a:dk1>
        <a:lt1>
          <a:srgbClr val="FFFFFF"/>
        </a:lt1>
        <a:dk2>
          <a:srgbClr val="2B6185"/>
        </a:dk2>
        <a:lt2>
          <a:srgbClr val="D3D9DD"/>
        </a:lt2>
        <a:accent1>
          <a:srgbClr val="638AA1"/>
        </a:accent1>
        <a:accent2>
          <a:srgbClr val="8CA8B5"/>
        </a:accent2>
        <a:accent3>
          <a:srgbClr val="FFFFFF"/>
        </a:accent3>
        <a:accent4>
          <a:srgbClr val="253961"/>
        </a:accent4>
        <a:accent5>
          <a:srgbClr val="B7C4CD"/>
        </a:accent5>
        <a:accent6>
          <a:srgbClr val="7E98A4"/>
        </a:accent6>
        <a:hlink>
          <a:srgbClr val="6FA2E7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2l 3">
        <a:dk1>
          <a:srgbClr val="1A1A70"/>
        </a:dk1>
        <a:lt1>
          <a:srgbClr val="FFFFFF"/>
        </a:lt1>
        <a:dk2>
          <a:srgbClr val="243D8C"/>
        </a:dk2>
        <a:lt2>
          <a:srgbClr val="DDDDDD"/>
        </a:lt2>
        <a:accent1>
          <a:srgbClr val="3E78C6"/>
        </a:accent1>
        <a:accent2>
          <a:srgbClr val="84A1E8"/>
        </a:accent2>
        <a:accent3>
          <a:srgbClr val="FFFFFF"/>
        </a:accent3>
        <a:accent4>
          <a:srgbClr val="14145F"/>
        </a:accent4>
        <a:accent5>
          <a:srgbClr val="AFBEDF"/>
        </a:accent5>
        <a:accent6>
          <a:srgbClr val="7791D2"/>
        </a:accent6>
        <a:hlink>
          <a:srgbClr val="90B54D"/>
        </a:hlink>
        <a:folHlink>
          <a:srgbClr val="F3C43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db2004132l">
  <a:themeElements>
    <a:clrScheme name="1_cdb2004132l 3">
      <a:dk1>
        <a:srgbClr val="1A1A70"/>
      </a:dk1>
      <a:lt1>
        <a:srgbClr val="FFFFFF"/>
      </a:lt1>
      <a:dk2>
        <a:srgbClr val="243D8C"/>
      </a:dk2>
      <a:lt2>
        <a:srgbClr val="DDDDDD"/>
      </a:lt2>
      <a:accent1>
        <a:srgbClr val="3E78C6"/>
      </a:accent1>
      <a:accent2>
        <a:srgbClr val="84A1E8"/>
      </a:accent2>
      <a:accent3>
        <a:srgbClr val="FFFFFF"/>
      </a:accent3>
      <a:accent4>
        <a:srgbClr val="14145F"/>
      </a:accent4>
      <a:accent5>
        <a:srgbClr val="AFBEDF"/>
      </a:accent5>
      <a:accent6>
        <a:srgbClr val="7791D2"/>
      </a:accent6>
      <a:hlink>
        <a:srgbClr val="90B54D"/>
      </a:hlink>
      <a:folHlink>
        <a:srgbClr val="F3C43F"/>
      </a:folHlink>
    </a:clrScheme>
    <a:fontScheme name="1_cdb2004132l">
      <a:majorFont>
        <a:latin typeface="楷体_GB2312"/>
        <a:ea typeface="楷体_GB2312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cdb2004132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db2004132l 2">
        <a:dk1>
          <a:srgbClr val="2D4473"/>
        </a:dk1>
        <a:lt1>
          <a:srgbClr val="FFFFFF"/>
        </a:lt1>
        <a:dk2>
          <a:srgbClr val="2B6185"/>
        </a:dk2>
        <a:lt2>
          <a:srgbClr val="D3D9DD"/>
        </a:lt2>
        <a:accent1>
          <a:srgbClr val="638AA1"/>
        </a:accent1>
        <a:accent2>
          <a:srgbClr val="8CA8B5"/>
        </a:accent2>
        <a:accent3>
          <a:srgbClr val="FFFFFF"/>
        </a:accent3>
        <a:accent4>
          <a:srgbClr val="253961"/>
        </a:accent4>
        <a:accent5>
          <a:srgbClr val="B7C4CD"/>
        </a:accent5>
        <a:accent6>
          <a:srgbClr val="7E98A4"/>
        </a:accent6>
        <a:hlink>
          <a:srgbClr val="6FA2E7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db2004132l 3">
        <a:dk1>
          <a:srgbClr val="1A1A70"/>
        </a:dk1>
        <a:lt1>
          <a:srgbClr val="FFFFFF"/>
        </a:lt1>
        <a:dk2>
          <a:srgbClr val="243D8C"/>
        </a:dk2>
        <a:lt2>
          <a:srgbClr val="DDDDDD"/>
        </a:lt2>
        <a:accent1>
          <a:srgbClr val="3E78C6"/>
        </a:accent1>
        <a:accent2>
          <a:srgbClr val="84A1E8"/>
        </a:accent2>
        <a:accent3>
          <a:srgbClr val="FFFFFF"/>
        </a:accent3>
        <a:accent4>
          <a:srgbClr val="14145F"/>
        </a:accent4>
        <a:accent5>
          <a:srgbClr val="AFBEDF"/>
        </a:accent5>
        <a:accent6>
          <a:srgbClr val="7791D2"/>
        </a:accent6>
        <a:hlink>
          <a:srgbClr val="90B54D"/>
        </a:hlink>
        <a:folHlink>
          <a:srgbClr val="F3C43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cdb2004132l</Template>
  <TotalTime>0</TotalTime>
  <Words>4631</Words>
  <Application>WPS 演示</Application>
  <PresentationFormat>全屏显示(4:3)</PresentationFormat>
  <Paragraphs>364</Paragraphs>
  <Slides>51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37</vt:i4>
      </vt:variant>
      <vt:variant>
        <vt:lpstr>幻灯片标题</vt:lpstr>
      </vt:variant>
      <vt:variant>
        <vt:i4>51</vt:i4>
      </vt:variant>
    </vt:vector>
  </HeadingPairs>
  <TitlesOfParts>
    <vt:vector size="109" baseType="lpstr">
      <vt:lpstr>Arial</vt:lpstr>
      <vt:lpstr>宋体</vt:lpstr>
      <vt:lpstr>Wingdings</vt:lpstr>
      <vt:lpstr>楷体_GB2312</vt:lpstr>
      <vt:lpstr>新宋体</vt:lpstr>
      <vt:lpstr>Verdana</vt:lpstr>
      <vt:lpstr>Calibri</vt:lpstr>
      <vt:lpstr>黑体</vt:lpstr>
      <vt:lpstr>Wingdings 2</vt:lpstr>
      <vt:lpstr>Wingdings</vt:lpstr>
      <vt:lpstr>华文细黑</vt:lpstr>
      <vt:lpstr>Symbol</vt:lpstr>
      <vt:lpstr>Times New Roman</vt:lpstr>
      <vt:lpstr>MS PGothic</vt:lpstr>
      <vt:lpstr>dcr10</vt:lpstr>
      <vt:lpstr>Segoe Print</vt:lpstr>
      <vt:lpstr>微软雅黑</vt:lpstr>
      <vt:lpstr>+mn-ea</vt:lpstr>
      <vt:lpstr>Arial Unicode MS</vt:lpstr>
      <vt:lpstr>cdb2004132l</vt:lpstr>
      <vt:lpstr>1_cdb2004132l</vt:lpstr>
      <vt:lpstr>Photoshop.Image.6</vt:lpstr>
      <vt:lpstr>Equation.DSMT4</vt:lpstr>
      <vt:lpstr>Equation.DSMT4</vt:lpstr>
      <vt:lpstr>PowerPoint.Slide.8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Photoshop.Image.6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Photoshop.Image.6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Photoshop.Image.6</vt:lpstr>
      <vt:lpstr>Photoshop.Image.6</vt:lpstr>
      <vt:lpstr>Photoshop.Image.6</vt:lpstr>
      <vt:lpstr>Photoshop.Image.6</vt:lpstr>
      <vt:lpstr>MSGraph.Chart.8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气象统计分析与预报方法 复习概要</dc:title>
  <dc:creator>User</dc:creator>
  <cp:lastModifiedBy>赵元丞</cp:lastModifiedBy>
  <cp:revision>781</cp:revision>
  <dcterms:created xsi:type="dcterms:W3CDTF">2008-12-05T07:55:53Z</dcterms:created>
  <dcterms:modified xsi:type="dcterms:W3CDTF">2026-10-10T00:50:51Z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2093758D1BC441E5812182B2EB1D6708_13</vt:lpwstr>
  </property>
</Properties>
</file>