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379" r:id="rId4"/>
    <p:sldId id="380" r:id="rId6"/>
    <p:sldId id="409" r:id="rId7"/>
    <p:sldId id="381" r:id="rId8"/>
    <p:sldId id="382" r:id="rId9"/>
    <p:sldId id="411" r:id="rId10"/>
    <p:sldId id="383" r:id="rId11"/>
    <p:sldId id="390" r:id="rId12"/>
    <p:sldId id="391" r:id="rId13"/>
    <p:sldId id="384" r:id="rId14"/>
    <p:sldId id="412" r:id="rId15"/>
    <p:sldId id="392" r:id="rId16"/>
    <p:sldId id="385" r:id="rId17"/>
    <p:sldId id="386" r:id="rId18"/>
    <p:sldId id="413" r:id="rId19"/>
    <p:sldId id="393" r:id="rId20"/>
    <p:sldId id="414" r:id="rId21"/>
    <p:sldId id="398" r:id="rId22"/>
    <p:sldId id="394" r:id="rId23"/>
    <p:sldId id="415" r:id="rId24"/>
    <p:sldId id="397" r:id="rId25"/>
    <p:sldId id="396" r:id="rId26"/>
    <p:sldId id="323" r:id="rId27"/>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0800"/>
    <a:srgbClr val="0000FF"/>
    <a:srgbClr val="FF66FF"/>
    <a:srgbClr val="D60093"/>
    <a:srgbClr val="FF0000"/>
    <a:srgbClr val="008000"/>
    <a:srgbClr val="FF0066"/>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20167"/>
    <p:restoredTop sz="94712"/>
  </p:normalViewPr>
  <p:slideViewPr>
    <p:cSldViewPr showGuides="1">
      <p:cViewPr varScale="1">
        <p:scale>
          <a:sx n="94" d="100"/>
          <a:sy n="94" d="100"/>
        </p:scale>
        <p:origin x="68" y="1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3.vml.rels><?xml version="1.0" encoding="UTF-8" standalone="yes"?>
<Relationships xmlns="http://schemas.openxmlformats.org/package/2006/relationships"><Relationship Id="rId5" Type="http://schemas.openxmlformats.org/officeDocument/2006/relationships/image" Target="../media/image14.wmf"/><Relationship Id="rId4" Type="http://schemas.openxmlformats.org/officeDocument/2006/relationships/image" Target="../media/image13.wmf"/><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4" Type="http://schemas.openxmlformats.org/officeDocument/2006/relationships/image" Target="../media/image18.wmf"/><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5" Type="http://schemas.openxmlformats.org/officeDocument/2006/relationships/image" Target="../media/image26.wmf"/><Relationship Id="rId4" Type="http://schemas.openxmlformats.org/officeDocument/2006/relationships/image" Target="../media/image25.wmf"/><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s>
</file>

<file path=ppt/drawings/_rels/vmlDrawing8.vml.rels><?xml version="1.0" encoding="UTF-8" standalone="yes"?>
<Relationships xmlns="http://schemas.openxmlformats.org/package/2006/relationships"><Relationship Id="rId4" Type="http://schemas.openxmlformats.org/officeDocument/2006/relationships/image" Target="../media/image37.wmf"/><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Tx/>
              <a:buNone/>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buFontTx/>
              <a:buNone/>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buFontTx/>
              <a:buNone/>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
            <a:pPr lvl="0" algn="r" eaLnBrk="1" hangingPunct="1">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6147" name="Rectangle 2"/>
          <p:cNvSpPr>
            <a:spLocks noTextEdit="1"/>
          </p:cNvSpPr>
          <p:nvPr>
            <p:ph type="sldImg"/>
          </p:nvPr>
        </p:nvSpPr>
        <p:spPr>
          <a:ln>
            <a:solidFill>
              <a:srgbClr val="000000">
                <a:alpha val="100000"/>
              </a:srgbClr>
            </a:solidFill>
            <a:miter lim="800000"/>
          </a:ln>
        </p:spPr>
      </p:sp>
      <p:sp>
        <p:nvSpPr>
          <p:cNvPr id="6148" name="Rectangle 3"/>
          <p:cNvSpPr>
            <a:spLocks noGrp="1"/>
          </p:cNvSpPr>
          <p:nvPr>
            <p:ph type="body"/>
          </p:nvPr>
        </p:nvSpPr>
        <p:spPr>
          <a:noFill/>
          <a:ln>
            <a:noFill/>
          </a:ln>
        </p:spPr>
        <p:txBody>
          <a:bodyPr wrap="square" lIns="91440" tIns="45720" rIns="91440" bIns="45720" anchor="t" anchorCtr="0"/>
          <a:p>
            <a:pPr lvl="0"/>
            <a:endParaRPr lang="zh-CN" altLang="en-US"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20483" name="Rectangle 2"/>
          <p:cNvSpPr>
            <a:spLocks noTextEdit="1"/>
          </p:cNvSpPr>
          <p:nvPr>
            <p:ph type="sldImg"/>
          </p:nvPr>
        </p:nvSpPr>
        <p:spPr>
          <a:ln>
            <a:solidFill>
              <a:srgbClr val="000000">
                <a:alpha val="100000"/>
              </a:srgbClr>
            </a:solidFill>
            <a:miter lim="800000"/>
          </a:ln>
        </p:spPr>
      </p:sp>
      <p:sp>
        <p:nvSpPr>
          <p:cNvPr id="20484" name="Rectangle 3"/>
          <p:cNvSpPr>
            <a:spLocks noGrp="1"/>
          </p:cNvSpPr>
          <p:nvPr>
            <p:ph type="body"/>
          </p:nvPr>
        </p:nvSpPr>
        <p:spPr>
          <a:noFill/>
          <a:ln>
            <a:noFill/>
          </a:ln>
        </p:spPr>
        <p:txBody>
          <a:bodyPr wrap="square" lIns="91440" tIns="45720" rIns="91440" bIns="45720" anchor="t" anchorCtr="0"/>
          <a:p>
            <a:pPr lvl="0"/>
            <a:endParaRPr lang="zh-CN" altLang="en-US"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image" Target="../media/image2.png"/><Relationship Id="rId4" Type="http://schemas.openxmlformats.org/officeDocument/2006/relationships/oleObject" Target="../embeddings/oleObject2.bin"/><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5" name="Rectangle 17"/>
          <p:cNvSpPr>
            <a:spLocks noChangeArrowheads="1"/>
          </p:cNvSpPr>
          <p:nvPr/>
        </p:nvSpPr>
        <p:spPr bwMode="auto">
          <a:xfrm>
            <a:off x="-1587" y="5157788"/>
            <a:ext cx="9145588" cy="1708150"/>
          </a:xfrm>
          <a:prstGeom prst="rect">
            <a:avLst/>
          </a:prstGeom>
          <a:solidFill>
            <a:schemeClr val="bg2"/>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Rectangle 18"/>
          <p:cNvSpPr>
            <a:spLocks noChangeArrowheads="1"/>
          </p:cNvSpPr>
          <p:nvPr/>
        </p:nvSpPr>
        <p:spPr bwMode="auto">
          <a:xfrm>
            <a:off x="0" y="0"/>
            <a:ext cx="9144000" cy="4935538"/>
          </a:xfrm>
          <a:prstGeom prst="rect">
            <a:avLst/>
          </a:prstGeom>
          <a:solidFill>
            <a:schemeClr val="tx1"/>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Rectangle 19"/>
          <p:cNvSpPr>
            <a:spLocks noChangeArrowheads="1"/>
          </p:cNvSpPr>
          <p:nvPr/>
        </p:nvSpPr>
        <p:spPr bwMode="auto">
          <a:xfrm>
            <a:off x="1270000" y="4933950"/>
            <a:ext cx="7874000" cy="223838"/>
          </a:xfrm>
          <a:prstGeom prst="rect">
            <a:avLst/>
          </a:prstGeom>
          <a:solidFill>
            <a:schemeClr val="hlink"/>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Text Box 14"/>
          <p:cNvSpPr txBox="1">
            <a:spLocks noChangeArrowheads="1"/>
          </p:cNvSpPr>
          <p:nvPr/>
        </p:nvSpPr>
        <p:spPr bwMode="gray">
          <a:xfrm>
            <a:off x="2268538" y="5949950"/>
            <a:ext cx="4608513" cy="366713"/>
          </a:xfrm>
          <a:prstGeom prst="rect">
            <a:avLst/>
          </a:prstGeom>
          <a:no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College of Atmospheric Sciences</a:t>
            </a:r>
            <a:endPar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Rectangle 20"/>
          <p:cNvSpPr>
            <a:spLocks noChangeArrowheads="1"/>
          </p:cNvSpPr>
          <p:nvPr/>
        </p:nvSpPr>
        <p:spPr bwMode="auto">
          <a:xfrm>
            <a:off x="-9525" y="4935538"/>
            <a:ext cx="1282700" cy="222250"/>
          </a:xfrm>
          <a:prstGeom prst="rect">
            <a:avLst/>
          </a:prstGeom>
          <a:solidFill>
            <a:schemeClr val="accent1"/>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aphicFrame>
        <p:nvGraphicFramePr>
          <p:cNvPr id="2055" name="Object 21"/>
          <p:cNvGraphicFramePr>
            <a:graphicFrameLocks noChangeAspect="1"/>
          </p:cNvGraphicFramePr>
          <p:nvPr/>
        </p:nvGraphicFramePr>
        <p:xfrm>
          <a:off x="1279525" y="5054600"/>
          <a:ext cx="2351088" cy="609600"/>
        </p:xfrm>
        <a:graphic>
          <a:graphicData uri="http://schemas.openxmlformats.org/presentationml/2006/ole">
            <mc:AlternateContent xmlns:mc="http://schemas.openxmlformats.org/markup-compatibility/2006">
              <mc:Choice xmlns:v="urn:schemas-microsoft-com:vml" Requires="v">
                <p:oleObj spid="_x0000_s3078" name="" r:id="rId2" imgW="2540000" imgH="609600" progId="Photoshop.Image.6">
                  <p:embed/>
                </p:oleObj>
              </mc:Choice>
              <mc:Fallback>
                <p:oleObj name="" r:id="rId2" imgW="2540000" imgH="609600" progId="Photoshop.Image.6">
                  <p:embed/>
                  <p:pic>
                    <p:nvPicPr>
                      <p:cNvPr id="0" name="图片 3077"/>
                      <p:cNvPicPr/>
                      <p:nvPr/>
                    </p:nvPicPr>
                    <p:blipFill>
                      <a:blip r:embed="rId3"/>
                      <a:stretch>
                        <a:fillRect/>
                      </a:stretch>
                    </p:blipFill>
                    <p:spPr>
                      <a:xfrm>
                        <a:off x="1279525" y="5054600"/>
                        <a:ext cx="2351088" cy="609600"/>
                      </a:xfrm>
                      <a:prstGeom prst="rect">
                        <a:avLst/>
                      </a:prstGeom>
                      <a:noFill/>
                      <a:ln w="38100">
                        <a:noFill/>
                        <a:miter/>
                      </a:ln>
                    </p:spPr>
                  </p:pic>
                </p:oleObj>
              </mc:Fallback>
            </mc:AlternateContent>
          </a:graphicData>
        </a:graphic>
      </p:graphicFrame>
      <p:graphicFrame>
        <p:nvGraphicFramePr>
          <p:cNvPr id="2056" name="Object 22"/>
          <p:cNvGraphicFramePr>
            <a:graphicFrameLocks noChangeAspect="1"/>
          </p:cNvGraphicFramePr>
          <p:nvPr/>
        </p:nvGraphicFramePr>
        <p:xfrm>
          <a:off x="0" y="3500438"/>
          <a:ext cx="1266825" cy="1430337"/>
        </p:xfrm>
        <a:graphic>
          <a:graphicData uri="http://schemas.openxmlformats.org/presentationml/2006/ole">
            <mc:AlternateContent xmlns:mc="http://schemas.openxmlformats.org/markup-compatibility/2006">
              <mc:Choice xmlns:v="urn:schemas-microsoft-com:vml" Requires="v">
                <p:oleObj spid="_x0000_s3077" name="" r:id="rId4" imgW="2540000" imgH="2540000" progId="Photoshop.Image.6">
                  <p:embed/>
                </p:oleObj>
              </mc:Choice>
              <mc:Fallback>
                <p:oleObj name="" r:id="rId4" imgW="2540000" imgH="2540000" progId="Photoshop.Image.6">
                  <p:embed/>
                  <p:pic>
                    <p:nvPicPr>
                      <p:cNvPr id="0" name="图片 3076"/>
                      <p:cNvPicPr/>
                      <p:nvPr/>
                    </p:nvPicPr>
                    <p:blipFill>
                      <a:blip r:embed="rId5"/>
                      <a:stretch>
                        <a:fillRect/>
                      </a:stretch>
                    </p:blipFill>
                    <p:spPr>
                      <a:xfrm>
                        <a:off x="0" y="3500438"/>
                        <a:ext cx="1266825" cy="1430337"/>
                      </a:xfrm>
                      <a:prstGeom prst="rect">
                        <a:avLst/>
                      </a:prstGeom>
                      <a:noFill/>
                      <a:ln w="38100">
                        <a:noFill/>
                        <a:miter/>
                      </a:ln>
                    </p:spPr>
                  </p:pic>
                </p:oleObj>
              </mc:Fallback>
            </mc:AlternateContent>
          </a:graphicData>
        </a:graphic>
      </p:graphicFrame>
      <p:sp>
        <p:nvSpPr>
          <p:cNvPr id="12" name="Rectangle 23"/>
          <p:cNvSpPr>
            <a:spLocks noChangeArrowheads="1"/>
          </p:cNvSpPr>
          <p:nvPr/>
        </p:nvSpPr>
        <p:spPr bwMode="auto">
          <a:xfrm>
            <a:off x="1266825" y="1125538"/>
            <a:ext cx="2368550" cy="4535488"/>
          </a:xfrm>
          <a:prstGeom prst="rect">
            <a:avLst/>
          </a:prstGeom>
          <a:noFill/>
          <a:ln w="0">
            <a:solidFill>
              <a:schemeClr val="accent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Rectangle 24"/>
          <p:cNvSpPr>
            <a:spLocks noChangeArrowheads="1"/>
          </p:cNvSpPr>
          <p:nvPr/>
        </p:nvSpPr>
        <p:spPr bwMode="auto">
          <a:xfrm flipH="1">
            <a:off x="8221663" y="0"/>
            <a:ext cx="95250" cy="2060575"/>
          </a:xfrm>
          <a:prstGeom prst="rect">
            <a:avLst/>
          </a:prstGeom>
          <a:solidFill>
            <a:schemeClr val="accent1"/>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 name="Rectangle 25"/>
          <p:cNvSpPr>
            <a:spLocks noChangeArrowheads="1"/>
          </p:cNvSpPr>
          <p:nvPr/>
        </p:nvSpPr>
        <p:spPr bwMode="auto">
          <a:xfrm>
            <a:off x="250825" y="260350"/>
            <a:ext cx="8569325" cy="4392613"/>
          </a:xfrm>
          <a:prstGeom prst="rect">
            <a:avLst/>
          </a:prstGeom>
          <a:noFill/>
          <a:ln w="0">
            <a:solidFill>
              <a:schemeClr val="tx2"/>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5" name="Rectangle 26"/>
          <p:cNvSpPr>
            <a:spLocks noChangeArrowheads="1"/>
          </p:cNvSpPr>
          <p:nvPr/>
        </p:nvSpPr>
        <p:spPr bwMode="auto">
          <a:xfrm>
            <a:off x="7775575" y="908050"/>
            <a:ext cx="1368425" cy="1439863"/>
          </a:xfrm>
          <a:prstGeom prst="rect">
            <a:avLst/>
          </a:prstGeom>
          <a:noFill/>
          <a:ln w="0">
            <a:solidFill>
              <a:schemeClr val="tx2"/>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 name="Rectangle 27"/>
          <p:cNvSpPr>
            <a:spLocks noChangeArrowheads="1"/>
          </p:cNvSpPr>
          <p:nvPr/>
        </p:nvSpPr>
        <p:spPr bwMode="auto">
          <a:xfrm>
            <a:off x="611188" y="1916113"/>
            <a:ext cx="7921625" cy="1584325"/>
          </a:xfrm>
          <a:prstGeom prst="rect">
            <a:avLst/>
          </a:prstGeom>
          <a:noFill/>
          <a:ln w="0">
            <a:solidFill>
              <a:schemeClr val="tx2"/>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subTitle" idx="1"/>
          </p:nvPr>
        </p:nvSpPr>
        <p:spPr bwMode="black">
          <a:xfrm>
            <a:off x="1752600" y="3733800"/>
            <a:ext cx="6019800" cy="381000"/>
          </a:xfrm>
        </p:spPr>
        <p:txBody>
          <a:bodyPr/>
          <a:lstStyle>
            <a:lvl1pPr marL="0" indent="0" algn="ctr">
              <a:buFont typeface="Wingdings" panose="05000000000000000000" pitchFamily="2" charset="2"/>
              <a:buNone/>
              <a:defRPr sz="2000">
                <a:solidFill>
                  <a:srgbClr val="84A1E8"/>
                </a:solidFill>
              </a:defRPr>
            </a:lvl1pPr>
          </a:lstStyle>
          <a:p>
            <a:r>
              <a:rPr lang="zh-CN" altLang="en-US" noProof="1"/>
              <a:t>单击此处编辑母版副标题样式</a:t>
            </a:r>
            <a:endParaRPr lang="zh-CN" altLang="en-US" noProof="1"/>
          </a:p>
        </p:txBody>
      </p:sp>
      <p:sp>
        <p:nvSpPr>
          <p:cNvPr id="3074" name="Rectangle 2"/>
          <p:cNvSpPr>
            <a:spLocks noGrp="1" noChangeArrowheads="1"/>
          </p:cNvSpPr>
          <p:nvPr>
            <p:ph type="ctrTitle"/>
          </p:nvPr>
        </p:nvSpPr>
        <p:spPr>
          <a:xfrm>
            <a:off x="990600" y="1981200"/>
            <a:ext cx="7239000" cy="1524000"/>
          </a:xfrm>
        </p:spPr>
        <p:txBody>
          <a:bodyPr/>
          <a:lstStyle>
            <a:lvl1pPr>
              <a:defRPr sz="4000" b="0"/>
            </a:lvl1pPr>
          </a:lstStyle>
          <a:p>
            <a:r>
              <a:rPr lang="zh-CN" altLang="en-US" noProof="1"/>
              <a:t>单击此处编辑母版标题样式</a:t>
            </a:r>
            <a:endParaRPr lang="zh-CN" altLang="en-US"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altLang="zh-CN" sz="1400" b="1" i="0" u="none" strike="noStrike" kern="1200" cap="none" spc="0" normalizeH="0" baseline="0" noProof="0">
                <a:ln>
                  <a:noFill/>
                </a:ln>
                <a:solidFill>
                  <a:schemeClr val="tx2"/>
                </a:solidFill>
                <a:effectLst/>
                <a:uLnTx/>
                <a:uFillTx/>
                <a:latin typeface="+mn-lt"/>
                <a:ea typeface="+mj-ea"/>
                <a:cs typeface="+mn-cs"/>
              </a:rPr>
              <a:t>·</a:t>
            </a: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altLang="zh-CN" sz="1400" b="1" i="0" u="none" strike="noStrike" kern="1200" cap="none" spc="0" normalizeH="0" baseline="0" noProof="0">
                <a:ln>
                  <a:noFill/>
                </a:ln>
                <a:solidFill>
                  <a:schemeClr val="tx2"/>
                </a:solidFill>
                <a:effectLst/>
                <a:uLnTx/>
                <a:uFillTx/>
                <a:latin typeface="+mj-lt"/>
                <a:ea typeface="+mj-ea"/>
                <a:cs typeface="+mn-cs"/>
              </a:rPr>
              <a:t>》</a:t>
            </a:r>
            <a:endParaRPr kumimoji="0" lang="en-US"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altLang="zh-CN" sz="1400" b="1" i="0" u="none" strike="noStrike" kern="1200" cap="none" spc="0" normalizeH="0" baseline="0" noProof="0">
                <a:ln>
                  <a:noFill/>
                </a:ln>
                <a:solidFill>
                  <a:schemeClr val="tx2"/>
                </a:solidFill>
                <a:effectLst/>
                <a:uLnTx/>
                <a:uFillTx/>
                <a:latin typeface="+mn-lt"/>
                <a:ea typeface="+mj-ea"/>
                <a:cs typeface="+mn-cs"/>
              </a:rPr>
              <a:t>·</a:t>
            </a: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altLang="zh-CN" sz="1400" b="1" i="0" u="none" strike="noStrike" kern="1200" cap="none" spc="0" normalizeH="0" baseline="0" noProof="0">
                <a:ln>
                  <a:noFill/>
                </a:ln>
                <a:solidFill>
                  <a:schemeClr val="tx2"/>
                </a:solidFill>
                <a:effectLst/>
                <a:uLnTx/>
                <a:uFillTx/>
                <a:latin typeface="+mj-lt"/>
                <a:ea typeface="+mj-ea"/>
                <a:cs typeface="+mn-cs"/>
              </a:rPr>
              <a:t>》</a:t>
            </a:r>
            <a:endParaRPr kumimoji="0" lang="en-US"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57200" y="1412875"/>
            <a:ext cx="4038600" cy="50403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412875"/>
            <a:ext cx="4038600" cy="50403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altLang="zh-CN" sz="1400" b="1" i="0" u="none" strike="noStrike" kern="1200" cap="none" spc="0" normalizeH="0" baseline="0" noProof="0">
                <a:ln>
                  <a:noFill/>
                </a:ln>
                <a:solidFill>
                  <a:schemeClr val="tx2"/>
                </a:solidFill>
                <a:effectLst/>
                <a:uLnTx/>
                <a:uFillTx/>
                <a:latin typeface="+mn-lt"/>
                <a:ea typeface="+mj-ea"/>
                <a:cs typeface="+mn-cs"/>
              </a:rPr>
              <a:t>·</a:t>
            </a: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6" name="页脚占位符 5"/>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altLang="zh-CN" sz="1400" b="1" i="0" u="none" strike="noStrike" kern="1200" cap="none" spc="0" normalizeH="0" baseline="0" noProof="0">
                <a:ln>
                  <a:noFill/>
                </a:ln>
                <a:solidFill>
                  <a:schemeClr val="tx2"/>
                </a:solidFill>
                <a:effectLst/>
                <a:uLnTx/>
                <a:uFillTx/>
                <a:latin typeface="+mj-lt"/>
                <a:ea typeface="+mj-ea"/>
                <a:cs typeface="+mn-cs"/>
              </a:rPr>
              <a:t>》</a:t>
            </a:r>
            <a:endParaRPr kumimoji="0" lang="en-US"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altLang="zh-CN" sz="1400" b="1" i="0" u="none" strike="noStrike" kern="1200" cap="none" spc="0" normalizeH="0" baseline="0" noProof="0">
                <a:ln>
                  <a:noFill/>
                </a:ln>
                <a:solidFill>
                  <a:schemeClr val="tx2"/>
                </a:solidFill>
                <a:effectLst/>
                <a:uLnTx/>
                <a:uFillTx/>
                <a:latin typeface="+mn-lt"/>
                <a:ea typeface="+mj-ea"/>
                <a:cs typeface="+mn-cs"/>
              </a:rPr>
              <a:t>·</a:t>
            </a: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8" name="页脚占位符 7"/>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altLang="zh-CN" sz="1400" b="1" i="0" u="none" strike="noStrike" kern="1200" cap="none" spc="0" normalizeH="0" baseline="0" noProof="0">
                <a:ln>
                  <a:noFill/>
                </a:ln>
                <a:solidFill>
                  <a:schemeClr val="tx2"/>
                </a:solidFill>
                <a:effectLst/>
                <a:uLnTx/>
                <a:uFillTx/>
                <a:latin typeface="+mj-lt"/>
                <a:ea typeface="+mj-ea"/>
                <a:cs typeface="+mn-cs"/>
              </a:rPr>
              <a:t>》</a:t>
            </a:r>
            <a:endParaRPr kumimoji="0" lang="en-US"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altLang="zh-CN" sz="1400" b="1" i="0" u="none" strike="noStrike" kern="1200" cap="none" spc="0" normalizeH="0" baseline="0" noProof="0">
                <a:ln>
                  <a:noFill/>
                </a:ln>
                <a:solidFill>
                  <a:schemeClr val="tx2"/>
                </a:solidFill>
                <a:effectLst/>
                <a:uLnTx/>
                <a:uFillTx/>
                <a:latin typeface="+mn-lt"/>
                <a:ea typeface="+mj-ea"/>
                <a:cs typeface="+mn-cs"/>
              </a:rPr>
              <a:t>·</a:t>
            </a: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4" name="页脚占位符 3"/>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altLang="zh-CN" sz="1400" b="1" i="0" u="none" strike="noStrike" kern="1200" cap="none" spc="0" normalizeH="0" baseline="0" noProof="0">
                <a:ln>
                  <a:noFill/>
                </a:ln>
                <a:solidFill>
                  <a:schemeClr val="tx2"/>
                </a:solidFill>
                <a:effectLst/>
                <a:uLnTx/>
                <a:uFillTx/>
                <a:latin typeface="+mj-lt"/>
                <a:ea typeface="+mj-ea"/>
                <a:cs typeface="+mn-cs"/>
              </a:rPr>
              <a:t>》</a:t>
            </a:r>
            <a:endParaRPr kumimoji="0" lang="en-US"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altLang="zh-CN" sz="1400" b="1" i="0" u="none" strike="noStrike" kern="1200" cap="none" spc="0" normalizeH="0" baseline="0" noProof="0">
                <a:ln>
                  <a:noFill/>
                </a:ln>
                <a:solidFill>
                  <a:schemeClr val="tx2"/>
                </a:solidFill>
                <a:effectLst/>
                <a:uLnTx/>
                <a:uFillTx/>
                <a:latin typeface="+mn-lt"/>
                <a:ea typeface="+mj-ea"/>
                <a:cs typeface="+mn-cs"/>
              </a:rPr>
              <a:t>·</a:t>
            </a: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3" name="页脚占位符 2"/>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altLang="zh-CN" sz="1400" b="1" i="0" u="none" strike="noStrike" kern="1200" cap="none" spc="0" normalizeH="0" baseline="0" noProof="0">
                <a:ln>
                  <a:noFill/>
                </a:ln>
                <a:solidFill>
                  <a:schemeClr val="tx2"/>
                </a:solidFill>
                <a:effectLst/>
                <a:uLnTx/>
                <a:uFillTx/>
                <a:latin typeface="+mj-lt"/>
                <a:ea typeface="+mj-ea"/>
                <a:cs typeface="+mn-cs"/>
              </a:rPr>
              <a:t>》</a:t>
            </a:r>
            <a:endParaRPr kumimoji="0" lang="en-US"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altLang="zh-CN" sz="1400" b="1" i="0" u="none" strike="noStrike" kern="1200" cap="none" spc="0" normalizeH="0" baseline="0" noProof="0">
                <a:ln>
                  <a:noFill/>
                </a:ln>
                <a:solidFill>
                  <a:schemeClr val="tx2"/>
                </a:solidFill>
                <a:effectLst/>
                <a:uLnTx/>
                <a:uFillTx/>
                <a:latin typeface="+mn-lt"/>
                <a:ea typeface="+mj-ea"/>
                <a:cs typeface="+mn-cs"/>
              </a:rPr>
              <a:t>·</a:t>
            </a: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6" name="页脚占位符 5"/>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altLang="zh-CN" sz="1400" b="1" i="0" u="none" strike="noStrike" kern="1200" cap="none" spc="0" normalizeH="0" baseline="0" noProof="0">
                <a:ln>
                  <a:noFill/>
                </a:ln>
                <a:solidFill>
                  <a:schemeClr val="tx2"/>
                </a:solidFill>
                <a:effectLst/>
                <a:uLnTx/>
                <a:uFillTx/>
                <a:latin typeface="+mj-lt"/>
                <a:ea typeface="+mj-ea"/>
                <a:cs typeface="+mn-cs"/>
              </a:rPr>
              <a:t>》</a:t>
            </a:r>
            <a:endParaRPr kumimoji="0" lang="en-US"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altLang="zh-CN" sz="1400" b="1" i="0" u="none" strike="noStrike" kern="1200" cap="none" spc="0" normalizeH="0" baseline="0" noProof="0">
                <a:ln>
                  <a:noFill/>
                </a:ln>
                <a:solidFill>
                  <a:schemeClr val="tx2"/>
                </a:solidFill>
                <a:effectLst/>
                <a:uLnTx/>
                <a:uFillTx/>
                <a:latin typeface="+mn-lt"/>
                <a:ea typeface="+mj-ea"/>
                <a:cs typeface="+mn-cs"/>
              </a:rPr>
              <a:t>·</a:t>
            </a: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6" name="页脚占位符 5"/>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altLang="zh-CN" sz="1400" b="1" i="0" u="none" strike="noStrike" kern="1200" cap="none" spc="0" normalizeH="0" baseline="0" noProof="0">
                <a:ln>
                  <a:noFill/>
                </a:ln>
                <a:solidFill>
                  <a:schemeClr val="tx2"/>
                </a:solidFill>
                <a:effectLst/>
                <a:uLnTx/>
                <a:uFillTx/>
                <a:latin typeface="+mj-lt"/>
                <a:ea typeface="+mj-ea"/>
                <a:cs typeface="+mn-cs"/>
              </a:rPr>
              <a:t>》</a:t>
            </a:r>
            <a:endParaRPr kumimoji="0" lang="en-US"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altLang="zh-CN" sz="1400" b="1" i="0" u="none" strike="noStrike" kern="1200" cap="none" spc="0" normalizeH="0" baseline="0" noProof="0">
                <a:ln>
                  <a:noFill/>
                </a:ln>
                <a:solidFill>
                  <a:schemeClr val="tx2"/>
                </a:solidFill>
                <a:effectLst/>
                <a:uLnTx/>
                <a:uFillTx/>
                <a:latin typeface="+mn-lt"/>
                <a:ea typeface="+mj-ea"/>
                <a:cs typeface="+mn-cs"/>
              </a:rPr>
              <a:t>·</a:t>
            </a: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altLang="zh-CN" sz="1400" b="1" i="0" u="none" strike="noStrike" kern="1200" cap="none" spc="0" normalizeH="0" baseline="0" noProof="0">
                <a:ln>
                  <a:noFill/>
                </a:ln>
                <a:solidFill>
                  <a:schemeClr val="tx2"/>
                </a:solidFill>
                <a:effectLst/>
                <a:uLnTx/>
                <a:uFillTx/>
                <a:latin typeface="+mj-lt"/>
                <a:ea typeface="+mj-ea"/>
                <a:cs typeface="+mn-cs"/>
              </a:rPr>
              <a:t>》</a:t>
            </a:r>
            <a:endParaRPr kumimoji="0" lang="en-US"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33363"/>
            <a:ext cx="2057400" cy="6219825"/>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233363"/>
            <a:ext cx="6019800" cy="6219825"/>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altLang="zh-CN" sz="1400" b="1" i="0" u="none" strike="noStrike" kern="1200" cap="none" spc="0" normalizeH="0" baseline="0" noProof="0">
                <a:ln>
                  <a:noFill/>
                </a:ln>
                <a:solidFill>
                  <a:schemeClr val="tx2"/>
                </a:solidFill>
                <a:effectLst/>
                <a:uLnTx/>
                <a:uFillTx/>
                <a:latin typeface="+mn-lt"/>
                <a:ea typeface="+mj-ea"/>
                <a:cs typeface="+mn-cs"/>
              </a:rPr>
              <a:t>·</a:t>
            </a: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altLang="zh-CN" sz="1400" b="1" i="0" u="none" strike="noStrike" kern="1200" cap="none" spc="0" normalizeH="0" baseline="0" noProof="0">
                <a:ln>
                  <a:noFill/>
                </a:ln>
                <a:solidFill>
                  <a:schemeClr val="tx2"/>
                </a:solidFill>
                <a:effectLst/>
                <a:uLnTx/>
                <a:uFillTx/>
                <a:latin typeface="+mj-lt"/>
                <a:ea typeface="+mj-ea"/>
                <a:cs typeface="+mn-cs"/>
              </a:rPr>
              <a:t>》</a:t>
            </a:r>
            <a:endParaRPr kumimoji="0" lang="en-US"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47713" y="233363"/>
            <a:ext cx="7862887" cy="563562"/>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457200" y="1412875"/>
            <a:ext cx="4038600" cy="50403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412875"/>
            <a:ext cx="4038600" cy="50403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altLang="zh-CN" sz="1400" b="1" i="0" u="none" strike="noStrike" kern="1200" cap="none" spc="0" normalizeH="0" baseline="0" noProof="0">
                <a:ln>
                  <a:noFill/>
                </a:ln>
                <a:solidFill>
                  <a:schemeClr val="tx2"/>
                </a:solidFill>
                <a:effectLst/>
                <a:uLnTx/>
                <a:uFillTx/>
                <a:latin typeface="+mn-lt"/>
                <a:ea typeface="+mj-ea"/>
                <a:cs typeface="+mn-cs"/>
              </a:rPr>
              <a:t>·</a:t>
            </a: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6" name="页脚占位符 5"/>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altLang="zh-CN" sz="1400" b="1" i="0" u="none" strike="noStrike" kern="1200" cap="none" spc="0" normalizeH="0" baseline="0" noProof="0">
                <a:ln>
                  <a:noFill/>
                </a:ln>
                <a:solidFill>
                  <a:schemeClr val="tx2"/>
                </a:solidFill>
                <a:effectLst/>
                <a:uLnTx/>
                <a:uFillTx/>
                <a:latin typeface="+mj-lt"/>
                <a:ea typeface="+mj-ea"/>
                <a:cs typeface="+mn-cs"/>
              </a:rPr>
              <a:t>》</a:t>
            </a:r>
            <a:endParaRPr kumimoji="0" lang="en-US"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vmlDrawing" Target="../drawings/vmlDrawing2.vml"/><Relationship Id="rId14" Type="http://schemas.openxmlformats.org/officeDocument/2006/relationships/image" Target="../media/image2.png"/><Relationship Id="rId13" Type="http://schemas.openxmlformats.org/officeDocument/2006/relationships/oleObject" Target="../embeddings/oleObject3.bin"/><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15"/>
          <p:cNvSpPr>
            <a:spLocks noChangeArrowheads="1"/>
          </p:cNvSpPr>
          <p:nvPr/>
        </p:nvSpPr>
        <p:spPr bwMode="auto">
          <a:xfrm>
            <a:off x="0" y="981075"/>
            <a:ext cx="250825" cy="5891213"/>
          </a:xfrm>
          <a:prstGeom prst="rect">
            <a:avLst/>
          </a:prstGeom>
          <a:solidFill>
            <a:schemeClr val="hlink"/>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7" name="Rectangle 16"/>
          <p:cNvSpPr>
            <a:spLocks noChangeArrowheads="1"/>
          </p:cNvSpPr>
          <p:nvPr/>
        </p:nvSpPr>
        <p:spPr bwMode="auto">
          <a:xfrm>
            <a:off x="0" y="0"/>
            <a:ext cx="1403350" cy="1247775"/>
          </a:xfrm>
          <a:prstGeom prst="rect">
            <a:avLst/>
          </a:prstGeom>
          <a:solidFill>
            <a:schemeClr val="accent1"/>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8" name="Rectangle 17"/>
          <p:cNvSpPr>
            <a:spLocks noChangeArrowheads="1"/>
          </p:cNvSpPr>
          <p:nvPr/>
        </p:nvSpPr>
        <p:spPr bwMode="auto">
          <a:xfrm>
            <a:off x="1403350" y="0"/>
            <a:ext cx="7740650" cy="1052513"/>
          </a:xfrm>
          <a:prstGeom prst="rect">
            <a:avLst/>
          </a:prstGeom>
          <a:solidFill>
            <a:schemeClr val="tx2"/>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18"/>
          <p:cNvSpPr>
            <a:spLocks noChangeArrowheads="1"/>
          </p:cNvSpPr>
          <p:nvPr/>
        </p:nvSpPr>
        <p:spPr bwMode="auto">
          <a:xfrm>
            <a:off x="8820150" y="0"/>
            <a:ext cx="73025" cy="765175"/>
          </a:xfrm>
          <a:prstGeom prst="rect">
            <a:avLst/>
          </a:prstGeom>
          <a:solidFill>
            <a:schemeClr val="accent1"/>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19"/>
          <p:cNvSpPr>
            <a:spLocks noChangeArrowheads="1"/>
          </p:cNvSpPr>
          <p:nvPr/>
        </p:nvSpPr>
        <p:spPr bwMode="auto">
          <a:xfrm>
            <a:off x="179388" y="134938"/>
            <a:ext cx="8785225" cy="773113"/>
          </a:xfrm>
          <a:prstGeom prst="rect">
            <a:avLst/>
          </a:prstGeom>
          <a:noFill/>
          <a:ln w="0">
            <a:solidFill>
              <a:schemeClr val="accent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1" name="Line 20"/>
          <p:cNvSpPr/>
          <p:nvPr/>
        </p:nvSpPr>
        <p:spPr>
          <a:xfrm>
            <a:off x="468313" y="6481763"/>
            <a:ext cx="8424862" cy="0"/>
          </a:xfrm>
          <a:prstGeom prst="line">
            <a:avLst/>
          </a:prstGeom>
          <a:ln w="0" cap="flat" cmpd="sng">
            <a:solidFill>
              <a:schemeClr val="tx2"/>
            </a:solidFill>
            <a:prstDash val="solid"/>
            <a:headEnd type="none" w="med" len="med"/>
            <a:tailEnd type="none" w="med" len="med"/>
          </a:ln>
        </p:spPr>
      </p:sp>
      <p:sp>
        <p:nvSpPr>
          <p:cNvPr id="1032" name="Rectangle 3"/>
          <p:cNvSpPr>
            <a:spLocks noGrp="1"/>
          </p:cNvSpPr>
          <p:nvPr>
            <p:ph type="body"/>
          </p:nvPr>
        </p:nvSpPr>
        <p:spPr>
          <a:xfrm>
            <a:off x="457200" y="1412875"/>
            <a:ext cx="8229600" cy="504031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 name="Rectangle 4"/>
          <p:cNvSpPr>
            <a:spLocks noGrp="1" noChangeArrowheads="1"/>
          </p:cNvSpPr>
          <p:nvPr>
            <p:ph type="dt" sz="half" idx="2"/>
          </p:nvPr>
        </p:nvSpPr>
        <p:spPr bwMode="auto">
          <a:xfrm>
            <a:off x="-107950" y="6505575"/>
            <a:ext cx="5127625" cy="352425"/>
          </a:xfrm>
          <a:prstGeom prst="rect">
            <a:avLst/>
          </a:prstGeom>
          <a:noFill/>
          <a:ln w="9525">
            <a:noFill/>
            <a:miter lim="800000"/>
          </a:ln>
          <a:effectLst/>
        </p:spPr>
        <p:txBody>
          <a:bodyPr vert="horz" wrap="square" lIns="91440" tIns="45720" rIns="91440" bIns="45720" numCol="1" anchor="t" anchorCtr="0" compatLnSpc="1"/>
          <a:lstStyle>
            <a:lvl1pPr algn="ctr" eaLnBrk="1" hangingPunct="1">
              <a:buFontTx/>
              <a:buNone/>
              <a:defRPr sz="1400" b="1">
                <a:solidFill>
                  <a:schemeClr val="tx2"/>
                </a:solidFill>
                <a:latin typeface="+mj-lt"/>
                <a:ea typeface="+mj-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altLang="zh-CN" sz="1400" b="1" i="0" u="none" strike="noStrike" kern="1200" cap="none" spc="0" normalizeH="0" baseline="0" noProof="0">
                <a:ln>
                  <a:noFill/>
                </a:ln>
                <a:solidFill>
                  <a:schemeClr val="tx2"/>
                </a:solidFill>
                <a:effectLst/>
                <a:uLnTx/>
                <a:uFillTx/>
                <a:latin typeface="+mn-lt"/>
                <a:ea typeface="+mj-ea"/>
                <a:cs typeface="+mn-cs"/>
              </a:rPr>
              <a:t>·</a:t>
            </a: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3" name="Rectangle 5"/>
          <p:cNvSpPr>
            <a:spLocks noGrp="1" noChangeArrowheads="1"/>
          </p:cNvSpPr>
          <p:nvPr>
            <p:ph type="ftr" sz="quarter" idx="3"/>
          </p:nvPr>
        </p:nvSpPr>
        <p:spPr bwMode="auto">
          <a:xfrm>
            <a:off x="7135813" y="6477000"/>
            <a:ext cx="1828800" cy="227013"/>
          </a:xfrm>
          <a:prstGeom prst="rect">
            <a:avLst/>
          </a:prstGeom>
          <a:noFill/>
          <a:ln w="9525">
            <a:noFill/>
            <a:miter lim="800000"/>
          </a:ln>
          <a:effectLst/>
        </p:spPr>
        <p:txBody>
          <a:bodyPr vert="horz" wrap="square" lIns="91440" tIns="45720" rIns="91440" bIns="45720" numCol="1" anchor="t" anchorCtr="0" compatLnSpc="1"/>
          <a:lstStyle>
            <a:lvl1pPr algn="r" eaLnBrk="1" hangingPunct="1">
              <a:buFontTx/>
              <a:buNone/>
              <a:defRPr sz="1400" b="1">
                <a:solidFill>
                  <a:schemeClr val="tx2"/>
                </a:solidFill>
                <a:latin typeface="+mj-lt"/>
                <a:ea typeface="+mj-ea"/>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altLang="zh-CN" sz="1400" b="1" i="0" u="none" strike="noStrike" kern="1200" cap="none" spc="0" normalizeH="0" baseline="0" noProof="0">
                <a:ln>
                  <a:noFill/>
                </a:ln>
                <a:solidFill>
                  <a:schemeClr val="tx2"/>
                </a:solidFill>
                <a:effectLst/>
                <a:uLnTx/>
                <a:uFillTx/>
                <a:latin typeface="+mj-lt"/>
                <a:ea typeface="+mj-ea"/>
                <a:cs typeface="+mn-cs"/>
              </a:rPr>
              <a:t>》</a:t>
            </a:r>
            <a:endParaRPr kumimoji="0" lang="en-US"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4" name="Rectangle 6"/>
          <p:cNvSpPr>
            <a:spLocks noGrp="1" noChangeArrowheads="1"/>
          </p:cNvSpPr>
          <p:nvPr>
            <p:ph type="sldNum" sz="quarter" idx="4"/>
          </p:nvPr>
        </p:nvSpPr>
        <p:spPr bwMode="auto">
          <a:xfrm>
            <a:off x="3505200" y="6448425"/>
            <a:ext cx="2133600" cy="228600"/>
          </a:xfrm>
          <a:prstGeom prst="rect">
            <a:avLst/>
          </a:prstGeom>
          <a:noFill/>
          <a:ln w="9525">
            <a:noFill/>
            <a:miter lim="800000"/>
          </a:ln>
          <a:effectLst/>
        </p:spPr>
        <p:txBody>
          <a:bodyPr vert="horz" wrap="square" lIns="91440" tIns="45720" rIns="91440" bIns="45720" numCol="1" anchor="t" anchorCtr="0" compatLnSpc="1"/>
          <a:lstStyle>
            <a:lvl1pPr algn="ctr">
              <a:defRPr sz="1000" b="1">
                <a:latin typeface="Verdana" panose="020B0604030504040204" pitchFamily="34" charset="0"/>
                <a:ea typeface="宋体" panose="02010600030101010101" pitchFamily="2" charset="-122"/>
              </a:defRPr>
            </a:lvl1pPr>
          </a:lstStyle>
          <a:p>
            <a:pPr lvl="0" eaLnBrk="1" hangingPunct="1">
              <a:buNone/>
            </a:pPr>
            <a:fld id="{9A0DB2DC-4C9A-4742-B13C-FB6460FD3503}" type="slidenum">
              <a:rPr lang="zh-CN" altLang="en-US" dirty="0"/>
            </a:fld>
            <a:endParaRPr lang="zh-CN" altLang="en-US" dirty="0"/>
          </a:p>
        </p:txBody>
      </p:sp>
      <p:graphicFrame>
        <p:nvGraphicFramePr>
          <p:cNvPr id="1036" name="Object 21"/>
          <p:cNvGraphicFramePr>
            <a:graphicFrameLocks noChangeAspect="1"/>
          </p:cNvGraphicFramePr>
          <p:nvPr/>
        </p:nvGraphicFramePr>
        <p:xfrm>
          <a:off x="0" y="0"/>
          <a:ext cx="971550" cy="1042988"/>
        </p:xfrm>
        <a:graphic>
          <a:graphicData uri="http://schemas.openxmlformats.org/presentationml/2006/ole">
            <mc:AlternateContent xmlns:mc="http://schemas.openxmlformats.org/markup-compatibility/2006">
              <mc:Choice xmlns:v="urn:schemas-microsoft-com:vml" Requires="v">
                <p:oleObj spid="_x0000_s3076" name="" r:id="rId13" imgW="2540000" imgH="2540000" progId="Photoshop.Image.6">
                  <p:embed/>
                </p:oleObj>
              </mc:Choice>
              <mc:Fallback>
                <p:oleObj name="" r:id="rId13" imgW="2540000" imgH="2540000" progId="Photoshop.Image.6">
                  <p:embed/>
                  <p:pic>
                    <p:nvPicPr>
                      <p:cNvPr id="0" name="图片 3075"/>
                      <p:cNvPicPr/>
                      <p:nvPr/>
                    </p:nvPicPr>
                    <p:blipFill>
                      <a:blip r:embed="rId14"/>
                      <a:stretch>
                        <a:fillRect/>
                      </a:stretch>
                    </p:blipFill>
                    <p:spPr>
                      <a:xfrm>
                        <a:off x="0" y="0"/>
                        <a:ext cx="971550" cy="1042988"/>
                      </a:xfrm>
                      <a:prstGeom prst="rect">
                        <a:avLst/>
                      </a:prstGeom>
                      <a:noFill/>
                      <a:ln w="38100">
                        <a:noFill/>
                        <a:miter/>
                      </a:ln>
                    </p:spPr>
                  </p:pic>
                </p:oleObj>
              </mc:Fallback>
            </mc:AlternateContent>
          </a:graphicData>
        </a:graphic>
      </p:graphicFrame>
      <p:sp>
        <p:nvSpPr>
          <p:cNvPr id="1037" name="Rectangle 22"/>
          <p:cNvSpPr>
            <a:spLocks noChangeArrowheads="1"/>
          </p:cNvSpPr>
          <p:nvPr/>
        </p:nvSpPr>
        <p:spPr bwMode="auto">
          <a:xfrm>
            <a:off x="1187450" y="908050"/>
            <a:ext cx="7956550" cy="144463"/>
          </a:xfrm>
          <a:prstGeom prst="rect">
            <a:avLst/>
          </a:prstGeom>
          <a:solidFill>
            <a:schemeClr val="tx1"/>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8" name="Rectangle 23"/>
          <p:cNvSpPr>
            <a:spLocks noChangeArrowheads="1"/>
          </p:cNvSpPr>
          <p:nvPr/>
        </p:nvSpPr>
        <p:spPr bwMode="auto">
          <a:xfrm>
            <a:off x="971550" y="0"/>
            <a:ext cx="431800" cy="1052513"/>
          </a:xfrm>
          <a:prstGeom prst="rect">
            <a:avLst/>
          </a:prstGeom>
          <a:solidFill>
            <a:schemeClr val="tx1"/>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9" name="Rectangle 2"/>
          <p:cNvSpPr>
            <a:spLocks noGrp="1"/>
          </p:cNvSpPr>
          <p:nvPr>
            <p:ph type="title"/>
          </p:nvPr>
        </p:nvSpPr>
        <p:spPr>
          <a:xfrm>
            <a:off x="747713" y="233363"/>
            <a:ext cx="7862887" cy="563562"/>
          </a:xfrm>
          <a:prstGeom prst="rect">
            <a:avLst/>
          </a:prstGeom>
          <a:noFill/>
          <a:ln w="9525">
            <a:noFill/>
          </a:ln>
        </p:spPr>
        <p:txBody>
          <a:bodyPr anchor="ctr" anchorCtr="0"/>
          <a:p>
            <a:pPr lvl="0"/>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rtl="0" eaLnBrk="0" fontAlgn="base" hangingPunct="0">
        <a:spcBef>
          <a:spcPct val="0"/>
        </a:spcBef>
        <a:spcAft>
          <a:spcPct val="0"/>
        </a:spcAft>
        <a:defRPr sz="3200" b="1">
          <a:solidFill>
            <a:srgbClr val="F3C43F"/>
          </a:solidFill>
          <a:latin typeface="+mj-lt"/>
          <a:ea typeface="+mj-ea"/>
          <a:cs typeface="+mj-cs"/>
        </a:defRPr>
      </a:lvl1pPr>
      <a:lvl2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2pPr>
      <a:lvl3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3pPr>
      <a:lvl4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4pPr>
      <a:lvl5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5pPr>
      <a:lvl6pPr marL="457200" algn="l" rtl="0" fontAlgn="base">
        <a:spcBef>
          <a:spcPct val="0"/>
        </a:spcBef>
        <a:spcAft>
          <a:spcPct val="0"/>
        </a:spcAft>
        <a:defRPr sz="3200" b="1">
          <a:solidFill>
            <a:srgbClr val="F3C43F"/>
          </a:solidFill>
          <a:latin typeface="楷体_GB2312" pitchFamily="49" charset="-122"/>
          <a:ea typeface="楷体_GB2312" pitchFamily="49" charset="-122"/>
        </a:defRPr>
      </a:lvl6pPr>
      <a:lvl7pPr marL="914400" algn="l" rtl="0" fontAlgn="base">
        <a:spcBef>
          <a:spcPct val="0"/>
        </a:spcBef>
        <a:spcAft>
          <a:spcPct val="0"/>
        </a:spcAft>
        <a:defRPr sz="3200" b="1">
          <a:solidFill>
            <a:srgbClr val="F3C43F"/>
          </a:solidFill>
          <a:latin typeface="楷体_GB2312" pitchFamily="49" charset="-122"/>
          <a:ea typeface="楷体_GB2312" pitchFamily="49" charset="-122"/>
        </a:defRPr>
      </a:lvl7pPr>
      <a:lvl8pPr marL="1371600" algn="l" rtl="0" fontAlgn="base">
        <a:spcBef>
          <a:spcPct val="0"/>
        </a:spcBef>
        <a:spcAft>
          <a:spcPct val="0"/>
        </a:spcAft>
        <a:defRPr sz="3200" b="1">
          <a:solidFill>
            <a:srgbClr val="F3C43F"/>
          </a:solidFill>
          <a:latin typeface="楷体_GB2312" pitchFamily="49" charset="-122"/>
          <a:ea typeface="楷体_GB2312" pitchFamily="49" charset="-122"/>
        </a:defRPr>
      </a:lvl8pPr>
      <a:lvl9pPr marL="1828800" algn="l" rtl="0" fontAlgn="base">
        <a:spcBef>
          <a:spcPct val="0"/>
        </a:spcBef>
        <a:spcAft>
          <a:spcPct val="0"/>
        </a:spcAft>
        <a:defRPr sz="3200" b="1">
          <a:solidFill>
            <a:srgbClr val="F3C43F"/>
          </a:solidFill>
          <a:latin typeface="楷体_GB2312" pitchFamily="49" charset="-122"/>
          <a:ea typeface="楷体_GB2312"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vl6pPr marL="2514600" indent="-228600" algn="l" rtl="0" fontAlgn="base">
        <a:spcBef>
          <a:spcPct val="20000"/>
        </a:spcBef>
        <a:spcAft>
          <a:spcPct val="0"/>
        </a:spcAft>
        <a:buChar char="»"/>
        <a:defRPr sz="2000" b="1">
          <a:solidFill>
            <a:schemeClr val="tx1"/>
          </a:solidFill>
          <a:latin typeface="Arial" panose="020B0604020202020204" pitchFamily="34" charset="0"/>
        </a:defRPr>
      </a:lvl6pPr>
      <a:lvl7pPr marL="2971800" indent="-228600" algn="l" rtl="0" fontAlgn="base">
        <a:spcBef>
          <a:spcPct val="20000"/>
        </a:spcBef>
        <a:spcAft>
          <a:spcPct val="0"/>
        </a:spcAft>
        <a:buChar char="»"/>
        <a:defRPr sz="2000" b="1">
          <a:solidFill>
            <a:schemeClr val="tx1"/>
          </a:solidFill>
          <a:latin typeface="Arial" panose="020B0604020202020204" pitchFamily="34" charset="0"/>
        </a:defRPr>
      </a:lvl7pPr>
      <a:lvl8pPr marL="3429000" indent="-228600" algn="l" rtl="0" fontAlgn="base">
        <a:spcBef>
          <a:spcPct val="20000"/>
        </a:spcBef>
        <a:spcAft>
          <a:spcPct val="0"/>
        </a:spcAft>
        <a:buChar char="»"/>
        <a:defRPr sz="2000" b="1">
          <a:solidFill>
            <a:schemeClr val="tx1"/>
          </a:solidFill>
          <a:latin typeface="Arial" panose="020B0604020202020204" pitchFamily="34" charset="0"/>
        </a:defRPr>
      </a:lvl8pPr>
      <a:lvl9pPr marL="3886200" indent="-228600" algn="l" rtl="0" fontAlgn="base">
        <a:spcBef>
          <a:spcPct val="20000"/>
        </a:spcBef>
        <a:spcAft>
          <a:spcPct val="0"/>
        </a:spcAft>
        <a:buChar char="»"/>
        <a:defRPr sz="2000" b="1">
          <a:solidFill>
            <a:schemeClr val="tx1"/>
          </a:solidFill>
          <a:latin typeface="Arial" panose="020B060402020202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8.bin"/><Relationship Id="rId8" Type="http://schemas.openxmlformats.org/officeDocument/2006/relationships/image" Target="../media/image13.wmf"/><Relationship Id="rId7" Type="http://schemas.openxmlformats.org/officeDocument/2006/relationships/oleObject" Target="../embeddings/oleObject7.bin"/><Relationship Id="rId6" Type="http://schemas.openxmlformats.org/officeDocument/2006/relationships/image" Target="../media/image12.wmf"/><Relationship Id="rId5" Type="http://schemas.openxmlformats.org/officeDocument/2006/relationships/oleObject" Target="../embeddings/oleObject6.bin"/><Relationship Id="rId4" Type="http://schemas.openxmlformats.org/officeDocument/2006/relationships/image" Target="../media/image11.wmf"/><Relationship Id="rId3" Type="http://schemas.openxmlformats.org/officeDocument/2006/relationships/oleObject" Target="../embeddings/oleObject5.bin"/><Relationship Id="rId2" Type="http://schemas.openxmlformats.org/officeDocument/2006/relationships/image" Target="../media/image10.wmf"/><Relationship Id="rId12" Type="http://schemas.openxmlformats.org/officeDocument/2006/relationships/vmlDrawing" Target="../drawings/vmlDrawing3.vml"/><Relationship Id="rId11" Type="http://schemas.openxmlformats.org/officeDocument/2006/relationships/slideLayout" Target="../slideLayouts/slideLayout2.xml"/><Relationship Id="rId10" Type="http://schemas.openxmlformats.org/officeDocument/2006/relationships/image" Target="../media/image14.wmf"/><Relationship Id="rId1" Type="http://schemas.openxmlformats.org/officeDocument/2006/relationships/oleObject" Target="../embeddings/oleObject4.bin"/></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8.wmf"/><Relationship Id="rId7" Type="http://schemas.openxmlformats.org/officeDocument/2006/relationships/oleObject" Target="../embeddings/oleObject12.bin"/><Relationship Id="rId6" Type="http://schemas.openxmlformats.org/officeDocument/2006/relationships/image" Target="../media/image17.wmf"/><Relationship Id="rId5" Type="http://schemas.openxmlformats.org/officeDocument/2006/relationships/oleObject" Target="../embeddings/oleObject11.bin"/><Relationship Id="rId4" Type="http://schemas.openxmlformats.org/officeDocument/2006/relationships/image" Target="../media/image16.wmf"/><Relationship Id="rId3" Type="http://schemas.openxmlformats.org/officeDocument/2006/relationships/oleObject" Target="../embeddings/oleObject10.bin"/><Relationship Id="rId2" Type="http://schemas.openxmlformats.org/officeDocument/2006/relationships/image" Target="../media/image15.wmf"/><Relationship Id="rId10" Type="http://schemas.openxmlformats.org/officeDocument/2006/relationships/vmlDrawing" Target="../drawings/vmlDrawing4.vml"/><Relationship Id="rId1" Type="http://schemas.openxmlformats.org/officeDocument/2006/relationships/oleObject" Target="../embeddings/oleObject9.bin"/></Relationships>
</file>

<file path=ppt/slides/_rels/slide11.xml.rels><?xml version="1.0" encoding="UTF-8" standalone="yes"?>
<Relationships xmlns="http://schemas.openxmlformats.org/package/2006/relationships"><Relationship Id="rId8" Type="http://schemas.openxmlformats.org/officeDocument/2006/relationships/vmlDrawing" Target="../drawings/vmlDrawing5.vml"/><Relationship Id="rId7" Type="http://schemas.openxmlformats.org/officeDocument/2006/relationships/slideLayout" Target="../slideLayouts/slideLayout2.xml"/><Relationship Id="rId6" Type="http://schemas.openxmlformats.org/officeDocument/2006/relationships/image" Target="../media/image21.wmf"/><Relationship Id="rId5" Type="http://schemas.openxmlformats.org/officeDocument/2006/relationships/oleObject" Target="../embeddings/oleObject15.bin"/><Relationship Id="rId4" Type="http://schemas.openxmlformats.org/officeDocument/2006/relationships/image" Target="../media/image20.wmf"/><Relationship Id="rId3" Type="http://schemas.openxmlformats.org/officeDocument/2006/relationships/oleObject" Target="../embeddings/oleObject14.bin"/><Relationship Id="rId2" Type="http://schemas.openxmlformats.org/officeDocument/2006/relationships/image" Target="../media/image19.wmf"/><Relationship Id="rId1" Type="http://schemas.openxmlformats.org/officeDocument/2006/relationships/oleObject" Target="../embeddings/oleObject13.bin"/></Relationships>
</file>

<file path=ppt/slides/_rels/slide12.xml.rels><?xml version="1.0" encoding="UTF-8" standalone="yes"?>
<Relationships xmlns="http://schemas.openxmlformats.org/package/2006/relationships"><Relationship Id="rId9" Type="http://schemas.openxmlformats.org/officeDocument/2006/relationships/oleObject" Target="../embeddings/oleObject20.bin"/><Relationship Id="rId8" Type="http://schemas.openxmlformats.org/officeDocument/2006/relationships/image" Target="../media/image25.wmf"/><Relationship Id="rId7" Type="http://schemas.openxmlformats.org/officeDocument/2006/relationships/oleObject" Target="../embeddings/oleObject19.bin"/><Relationship Id="rId6" Type="http://schemas.openxmlformats.org/officeDocument/2006/relationships/image" Target="../media/image24.wmf"/><Relationship Id="rId5" Type="http://schemas.openxmlformats.org/officeDocument/2006/relationships/oleObject" Target="../embeddings/oleObject18.bin"/><Relationship Id="rId4" Type="http://schemas.openxmlformats.org/officeDocument/2006/relationships/image" Target="../media/image23.wmf"/><Relationship Id="rId3" Type="http://schemas.openxmlformats.org/officeDocument/2006/relationships/oleObject" Target="../embeddings/oleObject17.bin"/><Relationship Id="rId2" Type="http://schemas.openxmlformats.org/officeDocument/2006/relationships/image" Target="../media/image22.wmf"/><Relationship Id="rId12" Type="http://schemas.openxmlformats.org/officeDocument/2006/relationships/vmlDrawing" Target="../drawings/vmlDrawing6.vml"/><Relationship Id="rId11" Type="http://schemas.openxmlformats.org/officeDocument/2006/relationships/slideLayout" Target="../slideLayouts/slideLayout2.xml"/><Relationship Id="rId10" Type="http://schemas.openxmlformats.org/officeDocument/2006/relationships/image" Target="../media/image26.wmf"/><Relationship Id="rId1" Type="http://schemas.openxmlformats.org/officeDocument/2006/relationships/oleObject" Target="../embeddings/oleObject16.bin"/></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wmf"/></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15.xml.rels><?xml version="1.0" encoding="UTF-8" standalone="yes"?>
<Relationships xmlns="http://schemas.openxmlformats.org/package/2006/relationships"><Relationship Id="rId9" Type="http://schemas.openxmlformats.org/officeDocument/2006/relationships/vmlDrawing" Target="../drawings/vmlDrawing7.vml"/><Relationship Id="rId8" Type="http://schemas.openxmlformats.org/officeDocument/2006/relationships/slideLayout" Target="../slideLayouts/slideLayout2.xml"/><Relationship Id="rId7" Type="http://schemas.openxmlformats.org/officeDocument/2006/relationships/image" Target="../media/image32.wmf"/><Relationship Id="rId6" Type="http://schemas.openxmlformats.org/officeDocument/2006/relationships/oleObject" Target="../embeddings/oleObject23.bin"/><Relationship Id="rId5" Type="http://schemas.openxmlformats.org/officeDocument/2006/relationships/image" Target="../media/image31.wmf"/><Relationship Id="rId4" Type="http://schemas.openxmlformats.org/officeDocument/2006/relationships/oleObject" Target="../embeddings/oleObject22.bin"/><Relationship Id="rId3" Type="http://schemas.openxmlformats.org/officeDocument/2006/relationships/image" Target="../media/image30.wmf"/><Relationship Id="rId2" Type="http://schemas.openxmlformats.org/officeDocument/2006/relationships/oleObject" Target="../embeddings/oleObject21.bin"/><Relationship Id="rId10" Type="http://schemas.openxmlformats.org/officeDocument/2006/relationships/notesSlide" Target="../notesSlides/notesSlide2.xml"/><Relationship Id="rId1"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7.wmf"/><Relationship Id="rId7" Type="http://schemas.openxmlformats.org/officeDocument/2006/relationships/oleObject" Target="../embeddings/oleObject27.bin"/><Relationship Id="rId6" Type="http://schemas.openxmlformats.org/officeDocument/2006/relationships/image" Target="../media/image36.wmf"/><Relationship Id="rId5" Type="http://schemas.openxmlformats.org/officeDocument/2006/relationships/oleObject" Target="../embeddings/oleObject26.bin"/><Relationship Id="rId4" Type="http://schemas.openxmlformats.org/officeDocument/2006/relationships/image" Target="../media/image35.wmf"/><Relationship Id="rId3" Type="http://schemas.openxmlformats.org/officeDocument/2006/relationships/oleObject" Target="../embeddings/oleObject25.bin"/><Relationship Id="rId2" Type="http://schemas.openxmlformats.org/officeDocument/2006/relationships/image" Target="../media/image34.wmf"/><Relationship Id="rId10" Type="http://schemas.openxmlformats.org/officeDocument/2006/relationships/vmlDrawing" Target="../drawings/vmlDrawing8.vml"/><Relationship Id="rId1" Type="http://schemas.openxmlformats.org/officeDocument/2006/relationships/oleObject" Target="../embeddings/oleObject24.bin"/></Relationships>
</file>

<file path=ppt/slides/_rels/slide19.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7.xml"/><Relationship Id="rId4" Type="http://schemas.openxmlformats.org/officeDocument/2006/relationships/image" Target="../media/image39.wmf"/><Relationship Id="rId3" Type="http://schemas.openxmlformats.org/officeDocument/2006/relationships/oleObject" Target="../embeddings/oleObject29.bin"/><Relationship Id="rId2" Type="http://schemas.openxmlformats.org/officeDocument/2006/relationships/image" Target="../media/image38.wmf"/><Relationship Id="rId1" Type="http://schemas.openxmlformats.org/officeDocument/2006/relationships/oleObject" Target="../embeddings/oleObject28.bin"/></Relationships>
</file>

<file path=ppt/slides/_rels/slide20.xml.rels><?xml version="1.0" encoding="UTF-8" standalone="yes"?>
<Relationships xmlns="http://schemas.openxmlformats.org/package/2006/relationships"><Relationship Id="rId8" Type="http://schemas.openxmlformats.org/officeDocument/2006/relationships/vmlDrawing" Target="../drawings/vmlDrawing10.vml"/><Relationship Id="rId7" Type="http://schemas.openxmlformats.org/officeDocument/2006/relationships/slideLayout" Target="../slideLayouts/slideLayout7.xml"/><Relationship Id="rId6" Type="http://schemas.openxmlformats.org/officeDocument/2006/relationships/image" Target="../media/image42.wmf"/><Relationship Id="rId5" Type="http://schemas.openxmlformats.org/officeDocument/2006/relationships/oleObject" Target="../embeddings/oleObject32.bin"/><Relationship Id="rId4" Type="http://schemas.openxmlformats.org/officeDocument/2006/relationships/image" Target="../media/image41.wmf"/><Relationship Id="rId3" Type="http://schemas.openxmlformats.org/officeDocument/2006/relationships/oleObject" Target="../embeddings/oleObject31.bin"/><Relationship Id="rId2" Type="http://schemas.openxmlformats.org/officeDocument/2006/relationships/image" Target="../media/image40.wmf"/><Relationship Id="rId1" Type="http://schemas.openxmlformats.org/officeDocument/2006/relationships/oleObject" Target="../embeddings/oleObject30.bin"/></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4.png"/><Relationship Id="rId1" Type="http://schemas.openxmlformats.org/officeDocument/2006/relationships/image" Target="../media/image43.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6.png"/><Relationship Id="rId1" Type="http://schemas.openxmlformats.org/officeDocument/2006/relationships/image" Target="../media/image45.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ctrTitle"/>
          </p:nvPr>
        </p:nvSpPr>
        <p:spPr>
          <a:xfrm>
            <a:off x="1477963" y="928688"/>
            <a:ext cx="7237412" cy="3508375"/>
          </a:xfrm>
          <a:ln/>
        </p:spPr>
        <p:txBody>
          <a:bodyPr vert="horz" wrap="square" lIns="91440" tIns="45720" rIns="91440" bIns="45720" anchor="ctr" anchorCtr="0"/>
          <a:p>
            <a:pPr algn="ctr" eaLnBrk="1" hangingPunct="1">
              <a:lnSpc>
                <a:spcPct val="150000"/>
              </a:lnSpc>
              <a:spcAft>
                <a:spcPts val="1200"/>
              </a:spcAft>
              <a:buClrTx/>
              <a:buSzTx/>
              <a:buFontTx/>
            </a:pPr>
            <a:r>
              <a:rPr lang="zh-CN" altLang="en-US" sz="5400" dirty="0">
                <a:latin typeface="黑体" panose="02010609060101010101" pitchFamily="49" charset="-122"/>
                <a:ea typeface="黑体" panose="02010609060101010101" pitchFamily="49" charset="-122"/>
                <a:cs typeface="+mj-cs"/>
              </a:rPr>
              <a:t>第 五 章</a:t>
            </a:r>
            <a:br>
              <a:rPr lang="zh-CN" altLang="en-US" sz="5400" dirty="0">
                <a:latin typeface="黑体" panose="02010609060101010101" pitchFamily="49" charset="-122"/>
                <a:ea typeface="黑体" panose="02010609060101010101" pitchFamily="49" charset="-122"/>
                <a:cs typeface="+mj-cs"/>
              </a:rPr>
            </a:br>
            <a:r>
              <a:rPr lang="en-US" altLang="zh-CN" sz="5400" dirty="0">
                <a:latin typeface="黑体" panose="02010609060101010101" pitchFamily="49" charset="-122"/>
                <a:ea typeface="黑体" panose="02010609060101010101" pitchFamily="49" charset="-122"/>
                <a:cs typeface="+mj-cs"/>
              </a:rPr>
              <a:t>5.6 </a:t>
            </a:r>
            <a:r>
              <a:rPr lang="zh-CN" altLang="en-US" sz="5400" dirty="0">
                <a:latin typeface="黑体" panose="02010609060101010101" pitchFamily="49" charset="-122"/>
                <a:ea typeface="黑体" panose="02010609060101010101" pitchFamily="49" charset="-122"/>
                <a:cs typeface="+mj-cs"/>
              </a:rPr>
              <a:t>地面、大气及地</a:t>
            </a:r>
            <a:r>
              <a:rPr lang="en-US" altLang="zh-CN" sz="5400" dirty="0">
                <a:latin typeface="黑体" panose="02010609060101010101" pitchFamily="49" charset="-122"/>
                <a:ea typeface="黑体" panose="02010609060101010101" pitchFamily="49" charset="-122"/>
                <a:cs typeface="+mj-cs"/>
              </a:rPr>
              <a:t>-</a:t>
            </a:r>
            <a:r>
              <a:rPr lang="zh-CN" altLang="en-US" sz="5400" dirty="0">
                <a:latin typeface="黑体" panose="02010609060101010101" pitchFamily="49" charset="-122"/>
                <a:ea typeface="黑体" panose="02010609060101010101" pitchFamily="49" charset="-122"/>
                <a:cs typeface="+mj-cs"/>
              </a:rPr>
              <a:t>气系统的辐射平衡</a:t>
            </a:r>
            <a:endParaRPr lang="zh-CN" altLang="en-US" sz="5400" dirty="0">
              <a:latin typeface="黑体" panose="02010609060101010101" pitchFamily="49" charset="-122"/>
              <a:ea typeface="黑体" panose="02010609060101010101" pitchFamily="49" charset="-122"/>
              <a:cs typeface="+mj-cs"/>
            </a:endParaRPr>
          </a:p>
        </p:txBody>
      </p:sp>
      <p:sp>
        <p:nvSpPr>
          <p:cNvPr id="4099" name="Rectangle 5"/>
          <p:cNvSpPr>
            <a:spLocks noGrp="1"/>
          </p:cNvSpPr>
          <p:nvPr>
            <p:ph type="subTitle" idx="1"/>
          </p:nvPr>
        </p:nvSpPr>
        <p:spPr>
          <a:xfrm>
            <a:off x="250825" y="260350"/>
            <a:ext cx="2881313" cy="381000"/>
          </a:xfrm>
          <a:ln/>
        </p:spPr>
        <p:txBody>
          <a:bodyPr vert="horz" wrap="square" lIns="91440" tIns="45720" rIns="91440" bIns="45720" anchor="t" anchorCtr="0"/>
          <a:p>
            <a:pPr eaLnBrk="1" hangingPunct="1">
              <a:buSzTx/>
            </a:pPr>
            <a:r>
              <a:rPr lang="zh-CN" altLang="en-US" sz="1800" dirty="0">
                <a:solidFill>
                  <a:srgbClr val="D27D00"/>
                </a:solidFill>
                <a:latin typeface="+mn-lt"/>
                <a:ea typeface="宋体" panose="02010600030101010101" pitchFamily="2" charset="-122"/>
                <a:cs typeface="+mn-cs"/>
              </a:rPr>
              <a:t>大气科学学院本科课程</a:t>
            </a:r>
            <a:endParaRPr lang="zh-CN" altLang="en-US" sz="1800" dirty="0">
              <a:solidFill>
                <a:srgbClr val="D27D00"/>
              </a:solidFill>
              <a:latin typeface="+mn-lt"/>
              <a:ea typeface="宋体" panose="02010600030101010101" pitchFamily="2"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idx="1"/>
          </p:nvPr>
        </p:nvSpPr>
        <p:spPr>
          <a:xfrm>
            <a:off x="571500" y="1785938"/>
            <a:ext cx="8072438" cy="3938587"/>
          </a:xfrm>
          <a:ln/>
        </p:spPr>
        <p:txBody>
          <a:bodyPr vert="horz" wrap="square" lIns="91440" tIns="45720" rIns="91440" bIns="45720" anchor="t" anchorCtr="0"/>
          <a:p>
            <a:pPr>
              <a:spcBef>
                <a:spcPct val="25000"/>
              </a:spcBef>
              <a:spcAft>
                <a:spcPct val="25000"/>
              </a:spcAft>
            </a:pPr>
            <a:r>
              <a:rPr lang="zh-CN" altLang="en-US" sz="3200" dirty="0">
                <a:solidFill>
                  <a:srgbClr val="FF0000"/>
                </a:solidFill>
                <a:latin typeface="Times New Roman" panose="02020603050405020304" pitchFamily="18" charset="0"/>
                <a:ea typeface="宋体" panose="02010600030101010101" pitchFamily="2" charset="-122"/>
              </a:rPr>
              <a:t>   </a:t>
            </a:r>
            <a:r>
              <a:rPr lang="zh-CN" altLang="en-US" sz="3200" dirty="0">
                <a:solidFill>
                  <a:srgbClr val="FF0000"/>
                </a:solidFill>
                <a:latin typeface="黑体" panose="02010609060101010101" pitchFamily="49" charset="-122"/>
                <a:ea typeface="黑体" panose="02010609060101010101" pitchFamily="49" charset="-122"/>
              </a:rPr>
              <a:t>重点：掌握净辐射的概念</a:t>
            </a:r>
            <a:endParaRPr lang="en-US" altLang="zh-CN" sz="3200" dirty="0">
              <a:solidFill>
                <a:srgbClr val="FF0000"/>
              </a:solidFill>
              <a:latin typeface="黑体" panose="02010609060101010101" pitchFamily="49" charset="-122"/>
              <a:ea typeface="黑体" panose="02010609060101010101" pitchFamily="49" charset="-122"/>
            </a:endParaRPr>
          </a:p>
          <a:p>
            <a:pPr>
              <a:spcBef>
                <a:spcPct val="25000"/>
              </a:spcBef>
              <a:spcAft>
                <a:spcPct val="25000"/>
              </a:spcAft>
            </a:pPr>
            <a:endParaRPr lang="zh-CN" altLang="en-US" sz="3200" dirty="0">
              <a:solidFill>
                <a:srgbClr val="FF0000"/>
              </a:solidFill>
              <a:latin typeface="华文细黑" panose="02010600040101010101" pitchFamily="2" charset="-122"/>
              <a:ea typeface="华文细黑" panose="02010600040101010101" pitchFamily="2" charset="-122"/>
            </a:endParaRPr>
          </a:p>
          <a:p>
            <a:pPr>
              <a:lnSpc>
                <a:spcPct val="150000"/>
              </a:lnSpc>
              <a:spcBef>
                <a:spcPts val="3600"/>
              </a:spcBef>
              <a:spcAft>
                <a:spcPct val="25000"/>
              </a:spcAft>
              <a:buFont typeface="Wingdings 2" pitchFamily="18" charset="2"/>
              <a:buNone/>
            </a:pPr>
            <a:r>
              <a:rPr lang="zh-CN" altLang="en-US" dirty="0">
                <a:solidFill>
                  <a:srgbClr val="0000FF"/>
                </a:solidFill>
                <a:latin typeface="华文细黑" panose="02010600040101010101" pitchFamily="2" charset="-122"/>
                <a:ea typeface="华文细黑" panose="02010600040101010101" pitchFamily="2" charset="-122"/>
              </a:rPr>
              <a:t>    系统或物体收入辐射能与支出辐射能的差值</a:t>
            </a:r>
            <a:r>
              <a:rPr lang="en-US" altLang="zh-CN" dirty="0">
                <a:solidFill>
                  <a:srgbClr val="0000FF"/>
                </a:solidFill>
                <a:latin typeface="华文细黑" panose="02010600040101010101" pitchFamily="2" charset="-122"/>
                <a:ea typeface="华文细黑" panose="02010600040101010101" pitchFamily="2" charset="-122"/>
              </a:rPr>
              <a:t>.</a:t>
            </a:r>
            <a:endParaRPr lang="zh-CN" altLang="en-US" dirty="0">
              <a:latin typeface="华文细黑" panose="02010600040101010101" pitchFamily="2" charset="-122"/>
              <a:ea typeface="华文细黑" panose="02010600040101010101" pitchFamily="2" charset="-122"/>
            </a:endParaRPr>
          </a:p>
          <a:p>
            <a:pPr>
              <a:lnSpc>
                <a:spcPct val="150000"/>
              </a:lnSpc>
              <a:spcBef>
                <a:spcPct val="25000"/>
              </a:spcBef>
              <a:spcAft>
                <a:spcPct val="25000"/>
              </a:spcAft>
              <a:buFont typeface="Wingdings 2" pitchFamily="18" charset="2"/>
              <a:buNone/>
            </a:pPr>
            <a:r>
              <a:rPr lang="zh-CN" altLang="en-US" dirty="0">
                <a:latin typeface="华文细黑" panose="02010600040101010101" pitchFamily="2" charset="-122"/>
                <a:ea typeface="华文细黑" panose="02010600040101010101" pitchFamily="2" charset="-122"/>
              </a:rPr>
              <a:t>         </a:t>
            </a:r>
            <a:r>
              <a:rPr lang="zh-CN" altLang="en-US" dirty="0">
                <a:solidFill>
                  <a:srgbClr val="FF0066"/>
                </a:solidFill>
                <a:latin typeface="华文细黑" panose="02010600040101010101" pitchFamily="2" charset="-122"/>
                <a:ea typeface="华文细黑" panose="02010600040101010101" pitchFamily="2" charset="-122"/>
              </a:rPr>
              <a:t>辐射差额 </a:t>
            </a:r>
            <a:r>
              <a:rPr lang="en-US" altLang="zh-CN" dirty="0">
                <a:solidFill>
                  <a:srgbClr val="FF0066"/>
                </a:solidFill>
                <a:latin typeface="华文细黑" panose="02010600040101010101" pitchFamily="2" charset="-122"/>
                <a:ea typeface="华文细黑" panose="02010600040101010101" pitchFamily="2" charset="-122"/>
              </a:rPr>
              <a:t>(</a:t>
            </a:r>
            <a:r>
              <a:rPr lang="zh-CN" altLang="en-US" dirty="0">
                <a:solidFill>
                  <a:srgbClr val="FF0066"/>
                </a:solidFill>
                <a:latin typeface="华文细黑" panose="02010600040101010101" pitchFamily="2" charset="-122"/>
                <a:ea typeface="华文细黑" panose="02010600040101010101" pitchFamily="2" charset="-122"/>
              </a:rPr>
              <a:t>净辐射</a:t>
            </a:r>
            <a:r>
              <a:rPr lang="en-US" altLang="zh-CN" dirty="0">
                <a:solidFill>
                  <a:srgbClr val="FF0066"/>
                </a:solidFill>
                <a:latin typeface="华文细黑" panose="02010600040101010101" pitchFamily="2" charset="-122"/>
                <a:ea typeface="华文细黑" panose="02010600040101010101" pitchFamily="2" charset="-122"/>
              </a:rPr>
              <a:t>) </a:t>
            </a:r>
            <a:r>
              <a:rPr lang="zh-CN" altLang="en-US" dirty="0">
                <a:solidFill>
                  <a:srgbClr val="FF0066"/>
                </a:solidFill>
                <a:latin typeface="华文细黑" panose="02010600040101010101" pitchFamily="2" charset="-122"/>
                <a:ea typeface="华文细黑" panose="02010600040101010101" pitchFamily="2" charset="-122"/>
              </a:rPr>
              <a:t>=辐射收入-辐射支出</a:t>
            </a:r>
            <a:endParaRPr lang="zh-CN" altLang="en-US" dirty="0">
              <a:solidFill>
                <a:srgbClr val="FF0066"/>
              </a:solidFill>
              <a:latin typeface="华文细黑" panose="02010600040101010101" pitchFamily="2" charset="-122"/>
              <a:ea typeface="华文细黑" panose="02010600040101010101" pitchFamily="2" charset="-122"/>
            </a:endParaRPr>
          </a:p>
          <a:p>
            <a:pPr>
              <a:spcBef>
                <a:spcPct val="25000"/>
              </a:spcBef>
              <a:spcAft>
                <a:spcPct val="25000"/>
              </a:spcAft>
              <a:buFont typeface="Wingdings 2" pitchFamily="18" charset="2"/>
              <a:buNone/>
            </a:pPr>
            <a:endParaRPr lang="zh-CN" altLang="en-US" dirty="0">
              <a:latin typeface="Times New Roman" panose="02020603050405020304" pitchFamily="18" charset="0"/>
              <a:ea typeface="宋体" panose="02010600030101010101" pitchFamily="2" charset="-122"/>
            </a:endParaRPr>
          </a:p>
          <a:p>
            <a:pPr>
              <a:spcBef>
                <a:spcPct val="25000"/>
              </a:spcBef>
              <a:spcAft>
                <a:spcPct val="25000"/>
              </a:spcAft>
              <a:buFont typeface="Wingdings" panose="05000000000000000000" pitchFamily="2" charset="2"/>
              <a:buChar char="v"/>
            </a:pPr>
            <a:endParaRPr lang="zh-CN" altLang="en-US" dirty="0">
              <a:latin typeface="Times New Roman" panose="02020603050405020304" pitchFamily="18" charset="0"/>
              <a:ea typeface="宋体" panose="02010600030101010101" pitchFamily="2" charset="-122"/>
            </a:endParaRPr>
          </a:p>
        </p:txBody>
      </p:sp>
      <p:sp>
        <p:nvSpPr>
          <p:cNvPr id="5123" name="Rectangle 3"/>
          <p:cNvSpPr>
            <a:spLocks noGrp="1"/>
          </p:cNvSpPr>
          <p:nvPr>
            <p:ph type="title"/>
          </p:nvPr>
        </p:nvSpPr>
        <p:spPr>
          <a:xfrm>
            <a:off x="1428750" y="166688"/>
            <a:ext cx="7715250" cy="762000"/>
          </a:xfrm>
          <a:ln/>
        </p:spPr>
        <p:txBody>
          <a:bodyPr vert="horz" wrap="square" lIns="91440" tIns="45720" rIns="91440" bIns="45720" anchor="ctr" anchorCtr="0"/>
          <a:p>
            <a:pPr algn="ctr"/>
            <a:r>
              <a:rPr lang="en-US" altLang="zh-CN" sz="4000" dirty="0">
                <a:solidFill>
                  <a:srgbClr val="FFFF00"/>
                </a:solidFill>
                <a:latin typeface="黑体" panose="02010609060101010101" pitchFamily="49" charset="-122"/>
                <a:ea typeface="黑体" panose="02010609060101010101" pitchFamily="49" charset="-122"/>
              </a:rPr>
              <a:t>5.6 </a:t>
            </a:r>
            <a:r>
              <a:rPr lang="zh-CN" altLang="en-US" sz="4000" dirty="0">
                <a:solidFill>
                  <a:srgbClr val="FFFF00"/>
                </a:solidFill>
                <a:latin typeface="黑体" panose="02010609060101010101" pitchFamily="49" charset="-122"/>
                <a:ea typeface="黑体" panose="02010609060101010101" pitchFamily="49" charset="-122"/>
              </a:rPr>
              <a:t>地气系统的辐射平衡</a:t>
            </a:r>
            <a:endParaRPr lang="zh-CN" altLang="en-US" sz="4000" dirty="0">
              <a:solidFill>
                <a:srgbClr val="FFFF00"/>
              </a:solidFill>
              <a:latin typeface="黑体" panose="02010609060101010101" pitchFamily="49" charset="-122"/>
              <a:ea typeface="黑体" panose="020106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extBox 1"/>
          <p:cNvSpPr txBox="1"/>
          <p:nvPr/>
        </p:nvSpPr>
        <p:spPr>
          <a:xfrm>
            <a:off x="250825" y="6165850"/>
            <a:ext cx="8893175" cy="36830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zh-CN" altLang="en-US" sz="1800" b="0" dirty="0">
              <a:latin typeface="Arial" panose="020B0604020202020204" pitchFamily="34" charset="0"/>
              <a:ea typeface="宋体" panose="02010600030101010101" pitchFamily="2" charset="-122"/>
            </a:endParaRPr>
          </a:p>
        </p:txBody>
      </p:sp>
      <p:sp>
        <p:nvSpPr>
          <p:cNvPr id="6149" name="Rectangle 3"/>
          <p:cNvSpPr>
            <a:spLocks noGrp="1" noRot="1" noChangeAspect="1" noMove="1" noResize="1" noEditPoints="1" noAdjustHandles="1" noChangeArrowheads="1" noChangeShapeType="1" noTextEdit="1"/>
          </p:cNvSpPr>
          <p:nvPr>
            <p:ph idx="1"/>
          </p:nvPr>
        </p:nvSpPr>
        <p:spPr bwMode="auto">
          <a:xfrm>
            <a:off x="432817" y="1214438"/>
            <a:ext cx="8675687" cy="5429250"/>
          </a:xfrm>
          <a:blipFill>
            <a:blip r:embed="rId1"/>
            <a:stretch>
              <a:fillRect l="-1405" t="-1235"/>
            </a:stretch>
          </a:blipFill>
          <a:ln/>
          <a:effectLst/>
          <a:scene3d>
            <a:camera prst="orthographicFront"/>
            <a:lightRig rig="balanced" dir="t"/>
          </a:scene3d>
          <a:sp3d prstMaterial="plastic"/>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1" i="0" u="none" strike="noStrike" kern="0" cap="none" spc="0" normalizeH="0" baseline="0" noProof="0">
                <a:ln>
                  <a:noFill/>
                </a:ln>
                <a:noFill/>
                <a:effectLst/>
                <a:uLnTx/>
                <a:uFillTx/>
                <a:latin typeface="+mn-lt"/>
                <a:ea typeface="+mn-ea"/>
                <a:cs typeface="+mn-cs"/>
              </a:rPr>
              <a:t> </a:t>
            </a:r>
            <a:endParaRPr kumimoji="0" lang="zh-CN" altLang="en-US" sz="2800" b="1" i="0" u="none" strike="noStrike" kern="0" cap="none" spc="0" normalizeH="0" baseline="0" noProof="0">
              <a:ln>
                <a:noFill/>
              </a:ln>
              <a:noFill/>
              <a:effectLst/>
              <a:uLnTx/>
              <a:uFillTx/>
              <a:latin typeface="+mn-lt"/>
              <a:ea typeface="+mn-ea"/>
              <a:cs typeface="+mn-cs"/>
            </a:endParaRPr>
          </a:p>
        </p:txBody>
      </p:sp>
      <p:pic>
        <p:nvPicPr>
          <p:cNvPr id="7172" name="Picture 10"/>
          <p:cNvPicPr>
            <a:picLocks noChangeAspect="1"/>
          </p:cNvPicPr>
          <p:nvPr/>
        </p:nvPicPr>
        <p:blipFill>
          <a:blip r:embed="rId2"/>
          <a:srcRect l="3241" t="11089" r="4745" b="4633"/>
          <a:stretch>
            <a:fillRect/>
          </a:stretch>
        </p:blipFill>
        <p:spPr>
          <a:xfrm>
            <a:off x="5508625" y="2357438"/>
            <a:ext cx="3586163" cy="2571750"/>
          </a:xfrm>
          <a:prstGeom prst="rect">
            <a:avLst/>
          </a:prstGeom>
          <a:noFill/>
          <a:ln w="9525">
            <a:noFill/>
          </a:ln>
        </p:spPr>
      </p:pic>
      <p:sp>
        <p:nvSpPr>
          <p:cNvPr id="7173" name="Rectangle 3"/>
          <p:cNvSpPr>
            <a:spLocks noGrp="1"/>
          </p:cNvSpPr>
          <p:nvPr>
            <p:ph type="title"/>
          </p:nvPr>
        </p:nvSpPr>
        <p:spPr>
          <a:xfrm>
            <a:off x="1428750" y="166688"/>
            <a:ext cx="7715250" cy="762000"/>
          </a:xfrm>
          <a:ln/>
        </p:spPr>
        <p:txBody>
          <a:bodyPr vert="horz" wrap="square" lIns="91440" tIns="45720" rIns="91440" bIns="45720" anchor="ctr" anchorCtr="0"/>
          <a:p>
            <a:pPr algn="ctr"/>
            <a:r>
              <a:rPr lang="zh-CN" altLang="en-US" sz="4000" dirty="0">
                <a:solidFill>
                  <a:srgbClr val="FFFF00"/>
                </a:solidFill>
                <a:latin typeface="黑体" panose="02010609060101010101" pitchFamily="49" charset="-122"/>
                <a:ea typeface="黑体" panose="02010609060101010101" pitchFamily="49" charset="-122"/>
              </a:rPr>
              <a:t>地气系统辐射平衡</a:t>
            </a:r>
            <a:endParaRPr lang="zh-CN" altLang="en-US" sz="4000" dirty="0">
              <a:solidFill>
                <a:srgbClr val="FFFF00"/>
              </a:solidFill>
              <a:latin typeface="黑体" panose="02010609060101010101" pitchFamily="49" charset="-122"/>
              <a:ea typeface="黑体" panose="02010609060101010101" pitchFamily="49" charset="-122"/>
            </a:endParaRPr>
          </a:p>
        </p:txBody>
      </p:sp>
      <p:sp>
        <p:nvSpPr>
          <p:cNvPr id="2" name="文本框 1"/>
          <p:cNvSpPr txBox="1">
            <a:spLocks noRot="1" noChangeAspect="1" noMove="1" noResize="1" noEditPoints="1" noAdjustHandles="1" noChangeArrowheads="1" noChangeShapeType="1" noTextEdit="1"/>
          </p:cNvSpPr>
          <p:nvPr/>
        </p:nvSpPr>
        <p:spPr>
          <a:xfrm>
            <a:off x="1259631" y="3706971"/>
            <a:ext cx="3458192" cy="370101"/>
          </a:xfrm>
          <a:prstGeom prst="rect">
            <a:avLst/>
          </a:prstGeom>
          <a:blipFill>
            <a:blip r:embed="rId3"/>
            <a:stretch>
              <a:fillRect l="-1411" r="-176" b="-16393"/>
            </a:stretch>
          </a:blipFill>
        </p:spPr>
        <p:txBody>
          <a:bodyPr/>
          <a:lstStyle/>
          <a:p>
            <a:pPr marR="0" defTabSz="914400">
              <a:buClrTx/>
              <a:buSzTx/>
              <a:buFontTx/>
              <a:buNone/>
              <a:defRPr/>
            </a:pPr>
            <a:r>
              <a:rPr kumimoji="0" lang="zh-CN" altLang="en-US" kern="1200" cap="none" spc="0" normalizeH="0" baseline="0" noProof="0">
                <a:noFill/>
                <a:latin typeface="Arial" panose="020B0604020202020204" pitchFamily="34" charset="0"/>
                <a:ea typeface="+mn-ea"/>
                <a:cs typeface="+mn-cs"/>
              </a:rPr>
              <a:t> </a:t>
            </a:r>
            <a:endParaRPr kumimoji="0" lang="zh-CN" altLang="en-US" kern="1200" cap="none" spc="0" normalizeH="0" baseline="0" noProof="0">
              <a:noFill/>
              <a:latin typeface="Arial" panose="020B0604020202020204" pitchFamily="34" charset="0"/>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noRot="1"/>
          </p:cNvSpPr>
          <p:nvPr>
            <p:ph type="title"/>
          </p:nvPr>
        </p:nvSpPr>
        <p:spPr>
          <a:xfrm>
            <a:off x="1047750" y="836613"/>
            <a:ext cx="7772400" cy="1143000"/>
          </a:xfrm>
          <a:ln/>
        </p:spPr>
        <p:txBody>
          <a:bodyPr vert="horz" wrap="square" lIns="91440" tIns="45720" rIns="91440" bIns="45720" anchor="ctr" anchorCtr="0"/>
          <a:p>
            <a:pPr eaLnBrk="1" hangingPunct="1"/>
            <a:r>
              <a:rPr lang="zh-CN" altLang="en-US" sz="2800" dirty="0">
                <a:solidFill>
                  <a:srgbClr val="0000FF"/>
                </a:solidFill>
                <a:latin typeface="黑体" panose="02010609060101010101" pitchFamily="49" charset="-122"/>
                <a:ea typeface="黑体" panose="02010609060101010101" pitchFamily="49" charset="-122"/>
              </a:rPr>
              <a:t>不同地球大气温度计算出的理论普朗克辐亮度</a:t>
            </a:r>
            <a:endParaRPr lang="en-US" altLang="zh-CN" sz="2800" dirty="0">
              <a:solidFill>
                <a:srgbClr val="0000FF"/>
              </a:solidFill>
              <a:latin typeface="黑体" panose="02010609060101010101" pitchFamily="49" charset="-122"/>
              <a:ea typeface="黑体" panose="02010609060101010101" pitchFamily="49" charset="-122"/>
            </a:endParaRPr>
          </a:p>
        </p:txBody>
      </p:sp>
      <p:grpSp>
        <p:nvGrpSpPr>
          <p:cNvPr id="8195" name="Group 3"/>
          <p:cNvGrpSpPr/>
          <p:nvPr/>
        </p:nvGrpSpPr>
        <p:grpSpPr>
          <a:xfrm>
            <a:off x="468313" y="1731963"/>
            <a:ext cx="8666162" cy="4000500"/>
            <a:chOff x="-6" y="1525"/>
            <a:chExt cx="5459" cy="2520"/>
          </a:xfrm>
        </p:grpSpPr>
        <p:grpSp>
          <p:nvGrpSpPr>
            <p:cNvPr id="8197" name="Group 4"/>
            <p:cNvGrpSpPr/>
            <p:nvPr/>
          </p:nvGrpSpPr>
          <p:grpSpPr>
            <a:xfrm>
              <a:off x="-6" y="1525"/>
              <a:ext cx="5459" cy="2520"/>
              <a:chOff x="-6" y="1388"/>
              <a:chExt cx="5459" cy="2520"/>
            </a:xfrm>
          </p:grpSpPr>
          <p:grpSp>
            <p:nvGrpSpPr>
              <p:cNvPr id="8199" name="Group 5"/>
              <p:cNvGrpSpPr/>
              <p:nvPr/>
            </p:nvGrpSpPr>
            <p:grpSpPr>
              <a:xfrm>
                <a:off x="-6" y="1388"/>
                <a:ext cx="5459" cy="2520"/>
                <a:chOff x="-6" y="1388"/>
                <a:chExt cx="5459" cy="2520"/>
              </a:xfrm>
            </p:grpSpPr>
            <p:pic>
              <p:nvPicPr>
                <p:cNvPr id="8204" name="Picture 6" descr="thermal-spectrum"/>
                <p:cNvPicPr>
                  <a:picLocks noChangeAspect="1"/>
                </p:cNvPicPr>
                <p:nvPr/>
              </p:nvPicPr>
              <p:blipFill>
                <a:blip r:embed="rId1"/>
                <a:srcRect t="7977" b="6828"/>
                <a:stretch>
                  <a:fillRect/>
                </a:stretch>
              </p:blipFill>
              <p:spPr>
                <a:xfrm>
                  <a:off x="-6" y="1388"/>
                  <a:ext cx="5459" cy="2520"/>
                </a:xfrm>
                <a:prstGeom prst="rect">
                  <a:avLst/>
                </a:prstGeom>
                <a:noFill/>
                <a:ln w="9525">
                  <a:noFill/>
                </a:ln>
              </p:spPr>
            </p:pic>
            <p:sp>
              <p:nvSpPr>
                <p:cNvPr id="8205" name="Line 7"/>
                <p:cNvSpPr/>
                <p:nvPr/>
              </p:nvSpPr>
              <p:spPr>
                <a:xfrm flipH="1">
                  <a:off x="3264" y="2112"/>
                  <a:ext cx="144" cy="480"/>
                </a:xfrm>
                <a:prstGeom prst="line">
                  <a:avLst/>
                </a:prstGeom>
                <a:ln w="38100" cap="flat" cmpd="sng">
                  <a:solidFill>
                    <a:srgbClr val="FF3300"/>
                  </a:solidFill>
                  <a:prstDash val="solid"/>
                  <a:headEnd type="none" w="med" len="med"/>
                  <a:tailEnd type="triangle" w="med" len="med"/>
                </a:ln>
              </p:spPr>
            </p:sp>
          </p:grpSp>
          <p:grpSp>
            <p:nvGrpSpPr>
              <p:cNvPr id="8200" name="Group 8"/>
              <p:cNvGrpSpPr/>
              <p:nvPr/>
            </p:nvGrpSpPr>
            <p:grpSpPr>
              <a:xfrm>
                <a:off x="2059" y="3096"/>
                <a:ext cx="1776" cy="288"/>
                <a:chOff x="2059" y="3096"/>
                <a:chExt cx="1776" cy="288"/>
              </a:xfrm>
            </p:grpSpPr>
            <p:sp>
              <p:nvSpPr>
                <p:cNvPr id="8201" name="Text Box 9"/>
                <p:cNvSpPr txBox="1"/>
                <p:nvPr/>
              </p:nvSpPr>
              <p:spPr>
                <a:xfrm>
                  <a:off x="2059" y="3096"/>
                  <a:ext cx="475"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en-US" altLang="zh-CN" sz="1800" dirty="0">
                      <a:solidFill>
                        <a:srgbClr val="FF0000"/>
                      </a:solidFill>
                      <a:latin typeface="Arial" panose="020B0604020202020204" pitchFamily="34" charset="0"/>
                      <a:ea typeface="宋体" panose="02010600030101010101" pitchFamily="2" charset="-122"/>
                    </a:rPr>
                    <a:t>CO</a:t>
                  </a:r>
                  <a:r>
                    <a:rPr lang="en-US" altLang="zh-CN" sz="1800" baseline="-25000" dirty="0">
                      <a:solidFill>
                        <a:srgbClr val="FF0000"/>
                      </a:solidFill>
                      <a:latin typeface="Arial" panose="020B0604020202020204" pitchFamily="34" charset="0"/>
                      <a:ea typeface="宋体" panose="02010600030101010101" pitchFamily="2" charset="-122"/>
                    </a:rPr>
                    <a:t>2</a:t>
                  </a:r>
                  <a:endParaRPr lang="en-US" altLang="zh-CN" sz="1800" dirty="0">
                    <a:solidFill>
                      <a:srgbClr val="FF0000"/>
                    </a:solidFill>
                    <a:latin typeface="Arial" panose="020B0604020202020204" pitchFamily="34" charset="0"/>
                    <a:ea typeface="宋体" panose="02010600030101010101" pitchFamily="2" charset="-122"/>
                  </a:endParaRPr>
                </a:p>
              </p:txBody>
            </p:sp>
            <p:sp>
              <p:nvSpPr>
                <p:cNvPr id="8202" name="Text Box 10"/>
                <p:cNvSpPr txBox="1"/>
                <p:nvPr/>
              </p:nvSpPr>
              <p:spPr>
                <a:xfrm>
                  <a:off x="3360" y="3096"/>
                  <a:ext cx="475"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en-US" altLang="zh-CN" sz="1800" dirty="0">
                      <a:solidFill>
                        <a:srgbClr val="FF0000"/>
                      </a:solidFill>
                      <a:latin typeface="Arial" panose="020B0604020202020204" pitchFamily="34" charset="0"/>
                      <a:ea typeface="宋体" panose="02010600030101010101" pitchFamily="2" charset="-122"/>
                    </a:rPr>
                    <a:t>H</a:t>
                  </a:r>
                  <a:r>
                    <a:rPr lang="en-US" altLang="zh-CN" sz="1800" baseline="-25000" dirty="0">
                      <a:solidFill>
                        <a:srgbClr val="FF0000"/>
                      </a:solidFill>
                      <a:latin typeface="Arial" panose="020B0604020202020204" pitchFamily="34" charset="0"/>
                      <a:ea typeface="宋体" panose="02010600030101010101" pitchFamily="2" charset="-122"/>
                    </a:rPr>
                    <a:t>2</a:t>
                  </a:r>
                  <a:r>
                    <a:rPr lang="en-US" altLang="zh-CN" sz="1800" dirty="0">
                      <a:solidFill>
                        <a:srgbClr val="FF0000"/>
                      </a:solidFill>
                      <a:latin typeface="Arial" panose="020B0604020202020204" pitchFamily="34" charset="0"/>
                      <a:ea typeface="宋体" panose="02010600030101010101" pitchFamily="2" charset="-122"/>
                    </a:rPr>
                    <a:t>O</a:t>
                  </a:r>
                  <a:endParaRPr lang="en-US" altLang="zh-CN" sz="1800" dirty="0">
                    <a:solidFill>
                      <a:srgbClr val="FF0000"/>
                    </a:solidFill>
                    <a:latin typeface="Arial" panose="020B0604020202020204" pitchFamily="34" charset="0"/>
                    <a:ea typeface="宋体" panose="02010600030101010101" pitchFamily="2" charset="-122"/>
                  </a:endParaRPr>
                </a:p>
              </p:txBody>
            </p:sp>
            <p:sp>
              <p:nvSpPr>
                <p:cNvPr id="8203" name="Text Box 11"/>
                <p:cNvSpPr txBox="1"/>
                <p:nvPr/>
              </p:nvSpPr>
              <p:spPr>
                <a:xfrm>
                  <a:off x="2897" y="3096"/>
                  <a:ext cx="336"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en-US" altLang="zh-CN" sz="1800" dirty="0">
                      <a:solidFill>
                        <a:srgbClr val="FF0000"/>
                      </a:solidFill>
                      <a:latin typeface="Arial" panose="020B0604020202020204" pitchFamily="34" charset="0"/>
                      <a:ea typeface="宋体" panose="02010600030101010101" pitchFamily="2" charset="-122"/>
                    </a:rPr>
                    <a:t>O</a:t>
                  </a:r>
                  <a:r>
                    <a:rPr lang="en-US" altLang="zh-CN" sz="1800" baseline="-25000" dirty="0">
                      <a:solidFill>
                        <a:srgbClr val="FF0000"/>
                      </a:solidFill>
                      <a:latin typeface="Arial" panose="020B0604020202020204" pitchFamily="34" charset="0"/>
                      <a:ea typeface="宋体" panose="02010600030101010101" pitchFamily="2" charset="-122"/>
                    </a:rPr>
                    <a:t>3</a:t>
                  </a:r>
                  <a:endParaRPr lang="en-US" altLang="zh-CN" sz="1800" dirty="0">
                    <a:solidFill>
                      <a:srgbClr val="FF0000"/>
                    </a:solidFill>
                    <a:latin typeface="Arial" panose="020B0604020202020204" pitchFamily="34" charset="0"/>
                    <a:ea typeface="宋体" panose="02010600030101010101" pitchFamily="2" charset="-122"/>
                  </a:endParaRPr>
                </a:p>
              </p:txBody>
            </p:sp>
          </p:grpSp>
        </p:grpSp>
        <p:sp>
          <p:nvSpPr>
            <p:cNvPr id="8198" name="Text Box 12"/>
            <p:cNvSpPr txBox="1"/>
            <p:nvPr/>
          </p:nvSpPr>
          <p:spPr>
            <a:xfrm>
              <a:off x="2544" y="1577"/>
              <a:ext cx="2549" cy="74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en-US" altLang="zh-CN" sz="1800" dirty="0">
                  <a:solidFill>
                    <a:srgbClr val="009999"/>
                  </a:solidFill>
                  <a:latin typeface="Arial" panose="020B0604020202020204" pitchFamily="34" charset="0"/>
                  <a:ea typeface="宋体" panose="02010600030101010101" pitchFamily="2" charset="-122"/>
                </a:rPr>
                <a:t>Theoretical Planck curves:</a:t>
              </a:r>
              <a:endParaRPr lang="en-US" altLang="zh-CN" sz="1800" dirty="0">
                <a:solidFill>
                  <a:srgbClr val="009999"/>
                </a:solidFill>
                <a:latin typeface="Arial" panose="020B0604020202020204" pitchFamily="34" charset="0"/>
                <a:ea typeface="宋体" panose="02010600030101010101" pitchFamily="2" charset="-122"/>
              </a:endParaRPr>
            </a:p>
            <a:p>
              <a:pPr marL="0" lvl="0" indent="0" eaLnBrk="1" hangingPunct="1">
                <a:spcBef>
                  <a:spcPct val="0"/>
                </a:spcBef>
                <a:buClrTx/>
                <a:buFont typeface="Arial" panose="020B0604020202020204" pitchFamily="34" charset="0"/>
                <a:buNone/>
              </a:pPr>
              <a:r>
                <a:rPr lang="en-US" altLang="zh-CN" sz="1800" dirty="0">
                  <a:solidFill>
                    <a:srgbClr val="009999"/>
                  </a:solidFill>
                  <a:latin typeface="Arial" panose="020B0604020202020204" pitchFamily="34" charset="0"/>
                  <a:ea typeface="宋体" panose="02010600030101010101" pitchFamily="2" charset="-122"/>
                </a:rPr>
                <a:t>Earth ~300K, </a:t>
              </a:r>
              <a:endParaRPr lang="en-US" altLang="zh-CN" sz="1800" dirty="0">
                <a:solidFill>
                  <a:srgbClr val="009999"/>
                </a:solidFill>
                <a:latin typeface="Arial" panose="020B0604020202020204" pitchFamily="34" charset="0"/>
                <a:ea typeface="宋体" panose="02010600030101010101" pitchFamily="2" charset="-122"/>
              </a:endParaRPr>
            </a:p>
            <a:p>
              <a:pPr marL="0" lvl="0" indent="0" eaLnBrk="1" hangingPunct="1">
                <a:spcBef>
                  <a:spcPct val="0"/>
                </a:spcBef>
                <a:buClrTx/>
                <a:buFont typeface="Arial" panose="020B0604020202020204" pitchFamily="34" charset="0"/>
                <a:buNone/>
              </a:pPr>
              <a:r>
                <a:rPr lang="en-US" altLang="zh-CN" sz="1800" dirty="0">
                  <a:solidFill>
                    <a:srgbClr val="009999"/>
                  </a:solidFill>
                  <a:latin typeface="Arial" panose="020B0604020202020204" pitchFamily="34" charset="0"/>
                  <a:ea typeface="宋体" panose="02010600030101010101" pitchFamily="2" charset="-122"/>
                </a:rPr>
                <a:t>peak emission ~15 </a:t>
              </a:r>
              <a:r>
                <a:rPr lang="en-US" altLang="zh-CN" sz="1800" dirty="0">
                  <a:solidFill>
                    <a:srgbClr val="009999"/>
                  </a:solidFill>
                  <a:latin typeface="Symbol" panose="05050102010706020507" pitchFamily="18" charset="2"/>
                  <a:ea typeface="宋体" panose="02010600030101010101" pitchFamily="2" charset="-122"/>
                </a:rPr>
                <a:t>m</a:t>
              </a:r>
              <a:r>
                <a:rPr lang="en-US" altLang="zh-CN" sz="1800" dirty="0">
                  <a:solidFill>
                    <a:srgbClr val="009999"/>
                  </a:solidFill>
                  <a:latin typeface="Arial" panose="020B0604020202020204" pitchFamily="34" charset="0"/>
                  <a:ea typeface="宋体" panose="02010600030101010101" pitchFamily="2" charset="-122"/>
                </a:rPr>
                <a:t>m</a:t>
              </a:r>
              <a:endParaRPr lang="en-US" altLang="zh-CN" sz="1800" dirty="0">
                <a:solidFill>
                  <a:srgbClr val="009999"/>
                </a:solidFill>
                <a:latin typeface="Arial" panose="020B0604020202020204" pitchFamily="34" charset="0"/>
                <a:ea typeface="宋体" panose="02010600030101010101" pitchFamily="2" charset="-122"/>
              </a:endParaRPr>
            </a:p>
          </p:txBody>
        </p:sp>
      </p:grpSp>
      <p:sp>
        <p:nvSpPr>
          <p:cNvPr id="8196" name="Text Box 14"/>
          <p:cNvSpPr txBox="1"/>
          <p:nvPr/>
        </p:nvSpPr>
        <p:spPr>
          <a:xfrm>
            <a:off x="773113" y="5751513"/>
            <a:ext cx="8085137" cy="7016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zh-CN" altLang="en-US" sz="2000" dirty="0">
                <a:solidFill>
                  <a:srgbClr val="080808"/>
                </a:solidFill>
                <a:latin typeface="黑体" panose="02010609060101010101" pitchFamily="49" charset="-122"/>
                <a:ea typeface="黑体" panose="02010609060101010101" pitchFamily="49" charset="-122"/>
              </a:rPr>
              <a:t>实测谱的包络线很接近于温度约</a:t>
            </a:r>
            <a:r>
              <a:rPr lang="en-US" altLang="zh-CN" sz="2000" dirty="0">
                <a:solidFill>
                  <a:srgbClr val="080808"/>
                </a:solidFill>
                <a:latin typeface="黑体" panose="02010609060101010101" pitchFamily="49" charset="-122"/>
                <a:ea typeface="黑体" panose="02010609060101010101" pitchFamily="49" charset="-122"/>
              </a:rPr>
              <a:t>290K</a:t>
            </a:r>
            <a:r>
              <a:rPr lang="zh-CN" altLang="en-US" sz="2000" dirty="0">
                <a:solidFill>
                  <a:srgbClr val="080808"/>
                </a:solidFill>
                <a:latin typeface="黑体" panose="02010609060101010101" pitchFamily="49" charset="-122"/>
                <a:ea typeface="黑体" panose="02010609060101010101" pitchFamily="49" charset="-122"/>
              </a:rPr>
              <a:t>的黑体的发射谱，这一温度大致为地表的温度。相当一部分热红外辐射被大气中的各种气体捕获了。</a:t>
            </a:r>
            <a:endParaRPr lang="en-US" altLang="zh-CN" sz="2000" dirty="0">
              <a:solidFill>
                <a:srgbClr val="080808"/>
              </a:solidFill>
              <a:latin typeface="黑体" panose="02010609060101010101" pitchFamily="49" charset="-122"/>
              <a:ea typeface="黑体" panose="02010609060101010101" pitchFamily="49" charset="-122"/>
            </a:endParaRPr>
          </a:p>
        </p:txBody>
      </p:sp>
    </p:spTree>
  </p:cSld>
  <p:clrMapOvr>
    <a:masterClrMapping/>
  </p:clrMapOvr>
  <p:transition>
    <p:strips dir="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3"/>
          <p:cNvSpPr>
            <a:spLocks noGrp="1"/>
          </p:cNvSpPr>
          <p:nvPr>
            <p:ph idx="1"/>
          </p:nvPr>
        </p:nvSpPr>
        <p:spPr>
          <a:xfrm>
            <a:off x="625475" y="1420813"/>
            <a:ext cx="7981950" cy="1643062"/>
          </a:xfrm>
          <a:ln/>
        </p:spPr>
        <p:txBody>
          <a:bodyPr vert="horz" wrap="square" lIns="91440" tIns="45720" rIns="91440" bIns="45720" anchor="t" anchorCtr="0"/>
          <a:p>
            <a:pPr marL="0" indent="0">
              <a:lnSpc>
                <a:spcPct val="130000"/>
              </a:lnSpc>
              <a:buNone/>
            </a:pPr>
            <a:r>
              <a:rPr lang="zh-CN" altLang="en-US" sz="2400" dirty="0">
                <a:solidFill>
                  <a:srgbClr val="D60093"/>
                </a:solidFill>
                <a:latin typeface="华文细黑" panose="02010600040101010101" pitchFamily="2" charset="-122"/>
                <a:ea typeface="华文细黑" panose="02010600040101010101" pitchFamily="2" charset="-122"/>
              </a:rPr>
              <a:t>大气温室效应：</a:t>
            </a:r>
            <a:r>
              <a:rPr lang="zh-CN" altLang="en-US" sz="2400" dirty="0">
                <a:solidFill>
                  <a:srgbClr val="0000FF"/>
                </a:solidFill>
                <a:latin typeface="华文细黑" panose="02010600040101010101" pitchFamily="2" charset="-122"/>
                <a:ea typeface="华文细黑" panose="02010600040101010101" pitchFamily="2" charset="-122"/>
              </a:rPr>
              <a:t>大气层让太阳短波辐射通过，但对长波有吸收，使地面保持较高温度。</a:t>
            </a:r>
            <a:endParaRPr lang="en-US" altLang="zh-CN" sz="2400" dirty="0">
              <a:solidFill>
                <a:srgbClr val="0000FF"/>
              </a:solidFill>
              <a:latin typeface="华文细黑" panose="02010600040101010101" pitchFamily="2" charset="-122"/>
              <a:ea typeface="华文细黑" panose="02010600040101010101" pitchFamily="2" charset="-122"/>
            </a:endParaRPr>
          </a:p>
          <a:p>
            <a:pPr marL="0" indent="0">
              <a:lnSpc>
                <a:spcPct val="130000"/>
              </a:lnSpc>
              <a:buNone/>
            </a:pPr>
            <a:r>
              <a:rPr lang="zh-CN" altLang="en-US" sz="2400" dirty="0">
                <a:solidFill>
                  <a:srgbClr val="080800"/>
                </a:solidFill>
                <a:latin typeface="华文细黑" panose="02010600040101010101" pitchFamily="2" charset="-122"/>
                <a:ea typeface="华文细黑" panose="02010600040101010101" pitchFamily="2" charset="-122"/>
              </a:rPr>
              <a:t>温室效应的辐射平衡模式</a:t>
            </a:r>
            <a:endParaRPr lang="en-US" altLang="zh-CN" sz="2400" dirty="0">
              <a:solidFill>
                <a:srgbClr val="080800"/>
              </a:solidFill>
              <a:latin typeface="华文细黑" panose="02010600040101010101" pitchFamily="2" charset="-122"/>
              <a:ea typeface="华文细黑" panose="02010600040101010101" pitchFamily="2" charset="-122"/>
            </a:endParaRPr>
          </a:p>
          <a:p>
            <a:pPr marL="0" indent="0">
              <a:lnSpc>
                <a:spcPct val="130000"/>
              </a:lnSpc>
              <a:buNone/>
            </a:pPr>
            <a:endParaRPr lang="en-US" altLang="zh-CN" sz="2400" dirty="0">
              <a:solidFill>
                <a:srgbClr val="080800"/>
              </a:solidFill>
              <a:latin typeface="华文细黑" panose="02010600040101010101" pitchFamily="2" charset="-122"/>
              <a:ea typeface="华文细黑" panose="02010600040101010101" pitchFamily="2" charset="-122"/>
            </a:endParaRPr>
          </a:p>
        </p:txBody>
      </p:sp>
      <p:pic>
        <p:nvPicPr>
          <p:cNvPr id="9219" name="Picture 12"/>
          <p:cNvPicPr>
            <a:picLocks noChangeAspect="1"/>
          </p:cNvPicPr>
          <p:nvPr/>
        </p:nvPicPr>
        <p:blipFill>
          <a:blip r:embed="rId1"/>
          <a:stretch>
            <a:fillRect/>
          </a:stretch>
        </p:blipFill>
        <p:spPr>
          <a:xfrm>
            <a:off x="4660900" y="3136900"/>
            <a:ext cx="4087813" cy="3171825"/>
          </a:xfrm>
          <a:prstGeom prst="rect">
            <a:avLst/>
          </a:prstGeom>
          <a:noFill/>
          <a:ln w="9525" cap="flat" cmpd="sng">
            <a:solidFill>
              <a:srgbClr val="000000"/>
            </a:solidFill>
            <a:prstDash val="solid"/>
            <a:miter/>
            <a:headEnd type="none" w="med" len="med"/>
            <a:tailEnd type="none" w="med" len="med"/>
          </a:ln>
        </p:spPr>
      </p:pic>
      <p:cxnSp>
        <p:nvCxnSpPr>
          <p:cNvPr id="9220" name="AutoShape 15"/>
          <p:cNvCxnSpPr/>
          <p:nvPr/>
        </p:nvCxnSpPr>
        <p:spPr>
          <a:xfrm rot="10800000" flipH="1" flipV="1">
            <a:off x="666750" y="3887788"/>
            <a:ext cx="304800" cy="1770062"/>
          </a:xfrm>
          <a:prstGeom prst="bentConnector3">
            <a:avLst>
              <a:gd name="adj1" fmla="val -75000"/>
            </a:avLst>
          </a:prstGeom>
          <a:ln w="22225" cap="flat" cmpd="sng">
            <a:solidFill>
              <a:schemeClr val="tx1"/>
            </a:solidFill>
            <a:prstDash val="solid"/>
            <a:miter/>
            <a:headEnd type="none" w="med" len="med"/>
            <a:tailEnd type="triangle" w="med" len="med"/>
          </a:ln>
        </p:spPr>
      </p:cxnSp>
      <p:sp>
        <p:nvSpPr>
          <p:cNvPr id="9221" name="Rectangle 3"/>
          <p:cNvSpPr>
            <a:spLocks noGrp="1"/>
          </p:cNvSpPr>
          <p:nvPr>
            <p:ph type="title"/>
          </p:nvPr>
        </p:nvSpPr>
        <p:spPr>
          <a:xfrm>
            <a:off x="1428750" y="166688"/>
            <a:ext cx="7715250" cy="762000"/>
          </a:xfrm>
          <a:ln/>
        </p:spPr>
        <p:txBody>
          <a:bodyPr vert="horz" wrap="square" lIns="91440" tIns="45720" rIns="91440" bIns="45720" anchor="ctr" anchorCtr="0"/>
          <a:p>
            <a:pPr algn="ctr"/>
            <a:r>
              <a:rPr lang="zh-CN" altLang="en-US" sz="4000" dirty="0">
                <a:solidFill>
                  <a:srgbClr val="FFFF00"/>
                </a:solidFill>
                <a:latin typeface="黑体" panose="02010609060101010101" pitchFamily="49" charset="-122"/>
                <a:ea typeface="黑体" panose="02010609060101010101" pitchFamily="49" charset="-122"/>
              </a:rPr>
              <a:t>地气系统辐射平衡</a:t>
            </a:r>
            <a:endParaRPr lang="zh-CN" altLang="en-US" sz="4000" dirty="0">
              <a:solidFill>
                <a:srgbClr val="FFFF00"/>
              </a:solidFill>
              <a:latin typeface="黑体" panose="02010609060101010101" pitchFamily="49" charset="-122"/>
              <a:ea typeface="黑体" panose="02010609060101010101" pitchFamily="49" charset="-122"/>
            </a:endParaRPr>
          </a:p>
        </p:txBody>
      </p:sp>
      <p:sp>
        <p:nvSpPr>
          <p:cNvPr id="9222" name="文本框 3"/>
          <p:cNvSpPr txBox="1"/>
          <p:nvPr/>
        </p:nvSpPr>
        <p:spPr>
          <a:xfrm>
            <a:off x="4114800" y="2979738"/>
            <a:ext cx="0" cy="2762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a:spcBef>
                <a:spcPct val="0"/>
              </a:spcBef>
              <a:buClrTx/>
              <a:buFontTx/>
              <a:buNone/>
            </a:pPr>
            <a:endParaRPr lang="zh-CN" altLang="en-US" sz="1800" b="0" dirty="0">
              <a:latin typeface="Arial" panose="020B0604020202020204" pitchFamily="34" charset="0"/>
              <a:ea typeface="宋体" panose="02010600030101010101" pitchFamily="2" charset="-122"/>
            </a:endParaRPr>
          </a:p>
        </p:txBody>
      </p:sp>
      <p:sp>
        <p:nvSpPr>
          <p:cNvPr id="5" name="文本框 4"/>
          <p:cNvSpPr txBox="1">
            <a:spLocks noRot="1" noChangeAspect="1" noMove="1" noResize="1" noEditPoints="1" noAdjustHandles="1" noChangeArrowheads="1" noChangeShapeType="1" noTextEdit="1"/>
          </p:cNvSpPr>
          <p:nvPr/>
        </p:nvSpPr>
        <p:spPr>
          <a:xfrm>
            <a:off x="683568" y="3302441"/>
            <a:ext cx="3542314" cy="1134670"/>
          </a:xfrm>
          <a:prstGeom prst="rect">
            <a:avLst/>
          </a:prstGeom>
          <a:blipFill>
            <a:blip r:embed="rId2"/>
            <a:stretch>
              <a:fillRect/>
            </a:stretch>
          </a:blipFill>
        </p:spPr>
        <p:txBody>
          <a:bodyPr/>
          <a:lstStyle/>
          <a:p>
            <a:pPr marR="0" defTabSz="914400">
              <a:buClrTx/>
              <a:buSzTx/>
              <a:buFontTx/>
              <a:buNone/>
              <a:defRPr/>
            </a:pPr>
            <a:r>
              <a:rPr kumimoji="0" lang="zh-CN" altLang="en-US" kern="1200" cap="none" spc="0" normalizeH="0" baseline="0" noProof="0">
                <a:noFill/>
                <a:latin typeface="Arial" panose="020B0604020202020204" pitchFamily="34" charset="0"/>
                <a:ea typeface="+mn-ea"/>
                <a:cs typeface="+mn-cs"/>
              </a:rPr>
              <a:t> </a:t>
            </a:r>
            <a:endParaRPr kumimoji="0" lang="zh-CN" altLang="en-US" kern="1200" cap="none" spc="0" normalizeH="0" baseline="0" noProof="0">
              <a:noFill/>
              <a:latin typeface="Arial" panose="020B0604020202020204" pitchFamily="34" charset="0"/>
              <a:ea typeface="+mn-ea"/>
              <a:cs typeface="+mn-cs"/>
            </a:endParaRPr>
          </a:p>
        </p:txBody>
      </p:sp>
      <p:sp>
        <p:nvSpPr>
          <p:cNvPr id="6" name="文本框 5"/>
          <p:cNvSpPr txBox="1">
            <a:spLocks noRot="1" noChangeAspect="1" noMove="1" noResize="1" noEditPoints="1" noAdjustHandles="1" noChangeArrowheads="1" noChangeShapeType="1" noTextEdit="1"/>
          </p:cNvSpPr>
          <p:nvPr/>
        </p:nvSpPr>
        <p:spPr>
          <a:xfrm>
            <a:off x="992551" y="4725144"/>
            <a:ext cx="3075392" cy="1575560"/>
          </a:xfrm>
          <a:prstGeom prst="rect">
            <a:avLst/>
          </a:prstGeom>
          <a:blipFill>
            <a:blip r:embed="rId3"/>
            <a:stretch>
              <a:fillRect/>
            </a:stretch>
          </a:blipFill>
        </p:spPr>
        <p:txBody>
          <a:bodyPr/>
          <a:lstStyle/>
          <a:p>
            <a:pPr marR="0" defTabSz="914400">
              <a:buClrTx/>
              <a:buSzTx/>
              <a:buFontTx/>
              <a:buNone/>
              <a:defRPr/>
            </a:pPr>
            <a:r>
              <a:rPr kumimoji="0" lang="zh-CN" altLang="en-US" kern="1200" cap="none" spc="0" normalizeH="0" baseline="0" noProof="0">
                <a:noFill/>
                <a:latin typeface="Arial" panose="020B0604020202020204" pitchFamily="34" charset="0"/>
                <a:ea typeface="+mn-ea"/>
                <a:cs typeface="+mn-cs"/>
              </a:rPr>
              <a:t> </a:t>
            </a:r>
            <a:endParaRPr kumimoji="0" lang="zh-CN" altLang="en-US" kern="1200" cap="none" spc="0" normalizeH="0" baseline="0" noProof="0">
              <a:noFill/>
              <a:latin typeface="Arial" panose="020B0604020202020204" pitchFamily="34" charset="0"/>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a:xfrm>
            <a:off x="1365250" y="166688"/>
            <a:ext cx="7707313" cy="762000"/>
          </a:xfrm>
          <a:ln/>
        </p:spPr>
        <p:txBody>
          <a:bodyPr vert="horz" wrap="square" lIns="91440" tIns="45720" rIns="91440" bIns="45720" anchor="ctr" anchorCtr="0"/>
          <a:p>
            <a:pPr algn="ctr"/>
            <a:r>
              <a:rPr lang="zh-CN" altLang="en-US" sz="4400" dirty="0">
                <a:solidFill>
                  <a:srgbClr val="FFFF00"/>
                </a:solidFill>
                <a:latin typeface="黑体" panose="02010609060101010101" pitchFamily="49" charset="-122"/>
                <a:ea typeface="黑体" panose="02010609060101010101" pitchFamily="49" charset="-122"/>
              </a:rPr>
              <a:t>温室效应</a:t>
            </a:r>
            <a:endParaRPr lang="zh-CN" altLang="en-US" sz="4400" dirty="0">
              <a:solidFill>
                <a:srgbClr val="FFFF00"/>
              </a:solidFill>
              <a:latin typeface="黑体" panose="02010609060101010101" pitchFamily="49" charset="-122"/>
              <a:ea typeface="黑体" panose="02010609060101010101" pitchFamily="49" charset="-122"/>
            </a:endParaRPr>
          </a:p>
        </p:txBody>
      </p:sp>
      <p:sp>
        <p:nvSpPr>
          <p:cNvPr id="10243" name="Rectangle 3"/>
          <p:cNvSpPr>
            <a:spLocks noGrp="1"/>
          </p:cNvSpPr>
          <p:nvPr>
            <p:ph idx="1"/>
          </p:nvPr>
        </p:nvSpPr>
        <p:spPr>
          <a:xfrm>
            <a:off x="323850" y="1484313"/>
            <a:ext cx="8686800" cy="5040312"/>
          </a:xfrm>
          <a:ln/>
        </p:spPr>
        <p:txBody>
          <a:bodyPr vert="horz" wrap="square" lIns="91440" tIns="45720" rIns="91440" bIns="45720" anchor="t" anchorCtr="0"/>
          <a:p>
            <a:pPr>
              <a:lnSpc>
                <a:spcPct val="150000"/>
              </a:lnSpc>
              <a:buClr>
                <a:schemeClr val="folHlink"/>
              </a:buClr>
              <a:buNone/>
            </a:pPr>
            <a:r>
              <a:rPr lang="zh-CN" altLang="en-US" dirty="0">
                <a:solidFill>
                  <a:srgbClr val="0000FF"/>
                </a:solidFill>
                <a:latin typeface="宋体" panose="02010600030101010101" pitchFamily="2" charset="-122"/>
                <a:ea typeface="宋体" panose="02010600030101010101" pitchFamily="2" charset="-122"/>
              </a:rPr>
              <a:t>  </a:t>
            </a:r>
            <a:r>
              <a:rPr lang="zh-CN" altLang="en-US" dirty="0">
                <a:solidFill>
                  <a:srgbClr val="0000FF"/>
                </a:solidFill>
                <a:latin typeface="华文细黑" panose="02010600040101010101" pitchFamily="2" charset="-122"/>
                <a:ea typeface="华文细黑" panose="02010600040101010101" pitchFamily="2" charset="-122"/>
              </a:rPr>
              <a:t>例如：取</a:t>
            </a:r>
            <a:r>
              <a:rPr lang="en-US" altLang="zh-CN" i="1" dirty="0">
                <a:solidFill>
                  <a:srgbClr val="0000FF"/>
                </a:solidFill>
                <a:latin typeface="华文细黑" panose="02010600040101010101" pitchFamily="2" charset="-122"/>
                <a:ea typeface="华文细黑" panose="02010600040101010101" pitchFamily="2" charset="-122"/>
              </a:rPr>
              <a:t>A</a:t>
            </a:r>
            <a:r>
              <a:rPr lang="en-US" altLang="zh-CN" baseline="-30000" dirty="0">
                <a:solidFill>
                  <a:srgbClr val="0000FF"/>
                </a:solidFill>
                <a:latin typeface="华文细黑" panose="02010600040101010101" pitchFamily="2" charset="-122"/>
                <a:ea typeface="华文细黑" panose="02010600040101010101" pitchFamily="2" charset="-122"/>
              </a:rPr>
              <a:t>l </a:t>
            </a:r>
            <a:r>
              <a:rPr lang="en-US" altLang="zh-CN" dirty="0">
                <a:solidFill>
                  <a:srgbClr val="0000FF"/>
                </a:solidFill>
                <a:latin typeface="华文细黑" panose="02010600040101010101" pitchFamily="2" charset="-122"/>
                <a:ea typeface="华文细黑" panose="02010600040101010101" pitchFamily="2" charset="-122"/>
              </a:rPr>
              <a:t>= 0.8，</a:t>
            </a:r>
            <a:r>
              <a:rPr lang="en-US" altLang="zh-CN" i="1" dirty="0">
                <a:solidFill>
                  <a:srgbClr val="0000FF"/>
                </a:solidFill>
                <a:latin typeface="华文细黑" panose="02010600040101010101" pitchFamily="2" charset="-122"/>
                <a:ea typeface="华文细黑" panose="02010600040101010101" pitchFamily="2" charset="-122"/>
              </a:rPr>
              <a:t>A</a:t>
            </a:r>
            <a:r>
              <a:rPr lang="en-US" altLang="zh-CN" baseline="-30000" dirty="0">
                <a:solidFill>
                  <a:srgbClr val="0000FF"/>
                </a:solidFill>
                <a:latin typeface="华文细黑" panose="02010600040101010101" pitchFamily="2" charset="-122"/>
                <a:ea typeface="华文细黑" panose="02010600040101010101" pitchFamily="2" charset="-122"/>
              </a:rPr>
              <a:t>s</a:t>
            </a:r>
            <a:r>
              <a:rPr lang="en-US" altLang="zh-CN" dirty="0">
                <a:solidFill>
                  <a:srgbClr val="0000FF"/>
                </a:solidFill>
                <a:latin typeface="华文细黑" panose="02010600040101010101" pitchFamily="2" charset="-122"/>
                <a:ea typeface="华文细黑" panose="02010600040101010101" pitchFamily="2" charset="-122"/>
              </a:rPr>
              <a:t>=0.2，</a:t>
            </a:r>
            <a:r>
              <a:rPr lang="en-US" altLang="zh-CN" i="1" dirty="0">
                <a:solidFill>
                  <a:srgbClr val="0000FF"/>
                </a:solidFill>
                <a:latin typeface="华文细黑" panose="02010600040101010101" pitchFamily="2" charset="-122"/>
                <a:ea typeface="华文细黑" panose="02010600040101010101" pitchFamily="2" charset="-122"/>
              </a:rPr>
              <a:t>R</a:t>
            </a:r>
            <a:r>
              <a:rPr lang="en-US" altLang="zh-CN" dirty="0">
                <a:solidFill>
                  <a:srgbClr val="0000FF"/>
                </a:solidFill>
                <a:latin typeface="华文细黑" panose="02010600040101010101" pitchFamily="2" charset="-122"/>
                <a:ea typeface="华文细黑" panose="02010600040101010101" pitchFamily="2" charset="-122"/>
              </a:rPr>
              <a:t>=0.3 </a:t>
            </a:r>
            <a:r>
              <a:rPr lang="zh-CN" altLang="en-US" dirty="0">
                <a:solidFill>
                  <a:srgbClr val="0000FF"/>
                </a:solidFill>
                <a:latin typeface="华文细黑" panose="02010600040101010101" pitchFamily="2" charset="-122"/>
                <a:ea typeface="华文细黑" panose="02010600040101010101" pitchFamily="2" charset="-122"/>
              </a:rPr>
              <a:t>代入（5.6.4）后，有 </a:t>
            </a:r>
            <a:r>
              <a:rPr lang="en-US" altLang="zh-CN" i="1" dirty="0">
                <a:solidFill>
                  <a:srgbClr val="0000FF"/>
                </a:solidFill>
                <a:latin typeface="华文细黑" panose="02010600040101010101" pitchFamily="2" charset="-122"/>
                <a:ea typeface="华文细黑" panose="02010600040101010101" pitchFamily="2" charset="-122"/>
              </a:rPr>
              <a:t>T</a:t>
            </a:r>
            <a:r>
              <a:rPr lang="en-US" altLang="zh-CN" baseline="-30000" dirty="0">
                <a:solidFill>
                  <a:srgbClr val="0000FF"/>
                </a:solidFill>
                <a:latin typeface="华文细黑" panose="02010600040101010101" pitchFamily="2" charset="-122"/>
                <a:ea typeface="华文细黑" panose="02010600040101010101" pitchFamily="2" charset="-122"/>
              </a:rPr>
              <a:t>g</a:t>
            </a:r>
            <a:r>
              <a:rPr lang="en-US" altLang="zh-CN" i="1" dirty="0">
                <a:solidFill>
                  <a:srgbClr val="0000FF"/>
                </a:solidFill>
                <a:latin typeface="华文细黑" panose="02010600040101010101" pitchFamily="2" charset="-122"/>
                <a:ea typeface="华文细黑" panose="02010600040101010101" pitchFamily="2" charset="-122"/>
              </a:rPr>
              <a:t> </a:t>
            </a:r>
            <a:r>
              <a:rPr lang="en-US" altLang="zh-CN" dirty="0">
                <a:solidFill>
                  <a:srgbClr val="0000FF"/>
                </a:solidFill>
                <a:latin typeface="华文细黑" panose="02010600040101010101" pitchFamily="2" charset="-122"/>
                <a:ea typeface="华文细黑" panose="02010600040101010101" pitchFamily="2" charset="-122"/>
              </a:rPr>
              <a:t>= 278.6 K，</a:t>
            </a:r>
            <a:r>
              <a:rPr lang="en-US" altLang="zh-CN" i="1" dirty="0">
                <a:solidFill>
                  <a:srgbClr val="0000FF"/>
                </a:solidFill>
                <a:latin typeface="华文细黑" panose="02010600040101010101" pitchFamily="2" charset="-122"/>
                <a:ea typeface="华文细黑" panose="02010600040101010101" pitchFamily="2" charset="-122"/>
              </a:rPr>
              <a:t>T</a:t>
            </a:r>
            <a:r>
              <a:rPr lang="en-US" altLang="zh-CN" baseline="-30000" dirty="0">
                <a:solidFill>
                  <a:srgbClr val="0000FF"/>
                </a:solidFill>
                <a:latin typeface="华文细黑" panose="02010600040101010101" pitchFamily="2" charset="-122"/>
                <a:ea typeface="华文细黑" panose="02010600040101010101" pitchFamily="2" charset="-122"/>
              </a:rPr>
              <a:t>a</a:t>
            </a:r>
            <a:r>
              <a:rPr lang="en-US" altLang="zh-CN" dirty="0">
                <a:solidFill>
                  <a:srgbClr val="0000FF"/>
                </a:solidFill>
                <a:latin typeface="华文细黑" panose="02010600040101010101" pitchFamily="2" charset="-122"/>
                <a:ea typeface="华文细黑" panose="02010600040101010101" pitchFamily="2" charset="-122"/>
              </a:rPr>
              <a:t> = 247.7 K。</a:t>
            </a:r>
            <a:endParaRPr lang="en-US" altLang="zh-CN" dirty="0">
              <a:solidFill>
                <a:srgbClr val="0000FF"/>
              </a:solidFill>
              <a:latin typeface="华文细黑" panose="02010600040101010101" pitchFamily="2" charset="-122"/>
              <a:ea typeface="华文细黑" panose="02010600040101010101" pitchFamily="2" charset="-122"/>
            </a:endParaRPr>
          </a:p>
          <a:p>
            <a:pPr>
              <a:lnSpc>
                <a:spcPct val="150000"/>
              </a:lnSpc>
              <a:spcBef>
                <a:spcPts val="1800"/>
              </a:spcBef>
              <a:buClr>
                <a:schemeClr val="folHlink"/>
              </a:buClr>
              <a:buNone/>
            </a:pPr>
            <a:r>
              <a:rPr lang="zh-CN" altLang="en-US" dirty="0">
                <a:solidFill>
                  <a:srgbClr val="0000FF"/>
                </a:solidFill>
                <a:latin typeface="华文细黑" panose="02010600040101010101" pitchFamily="2" charset="-122"/>
                <a:ea typeface="华文细黑" panose="02010600040101010101" pitchFamily="2" charset="-122"/>
              </a:rPr>
              <a:t>    可见，大气层的存在使地面平衡温度高于全球的有效温度</a:t>
            </a:r>
            <a:r>
              <a:rPr lang="en-US" altLang="zh-CN" dirty="0">
                <a:solidFill>
                  <a:srgbClr val="0000FF"/>
                </a:solidFill>
                <a:latin typeface="华文细黑" panose="02010600040101010101" pitchFamily="2" charset="-122"/>
                <a:ea typeface="华文细黑" panose="02010600040101010101" pitchFamily="2" charset="-122"/>
              </a:rPr>
              <a:t>(255 K)</a:t>
            </a:r>
            <a:r>
              <a:rPr lang="zh-CN" altLang="en-US" dirty="0">
                <a:solidFill>
                  <a:srgbClr val="0000FF"/>
                </a:solidFill>
                <a:latin typeface="华文细黑" panose="02010600040101010101" pitchFamily="2" charset="-122"/>
                <a:ea typeface="华文细黑" panose="02010600040101010101" pitchFamily="2" charset="-122"/>
              </a:rPr>
              <a:t>，而大气层的平均温度却低于全球的有效温度。 </a:t>
            </a:r>
            <a:endParaRPr lang="en-US" altLang="zh-CN" dirty="0">
              <a:solidFill>
                <a:srgbClr val="0000FF"/>
              </a:solidFill>
              <a:latin typeface="华文细黑" panose="02010600040101010101" pitchFamily="2" charset="-122"/>
              <a:ea typeface="华文细黑" panose="0201060004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3"/>
          <p:cNvSpPr txBox="1"/>
          <p:nvPr/>
        </p:nvSpPr>
        <p:spPr>
          <a:xfrm>
            <a:off x="827088" y="1341438"/>
            <a:ext cx="8137525" cy="45529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lnSpc>
                <a:spcPct val="150000"/>
              </a:lnSpc>
              <a:spcBef>
                <a:spcPct val="0"/>
              </a:spcBef>
              <a:spcAft>
                <a:spcPts val="1800"/>
              </a:spcAft>
              <a:buClrTx/>
              <a:buFont typeface="Arial" panose="020B0604020202020204" pitchFamily="34" charset="0"/>
              <a:buNone/>
            </a:pPr>
            <a:r>
              <a:rPr lang="zh-CN" altLang="en-US" dirty="0">
                <a:solidFill>
                  <a:srgbClr val="FF0000"/>
                </a:solidFill>
                <a:latin typeface="华文细黑" panose="02010600040101010101" pitchFamily="2" charset="-122"/>
                <a:ea typeface="华文细黑" panose="02010600040101010101" pitchFamily="2" charset="-122"/>
              </a:rPr>
              <a:t>问题：大气中温室气体增加，地面温度如何变化？</a:t>
            </a:r>
            <a:endParaRPr lang="en-US" altLang="zh-CN" dirty="0">
              <a:solidFill>
                <a:srgbClr val="FF0000"/>
              </a:solidFill>
              <a:latin typeface="华文细黑" panose="02010600040101010101" pitchFamily="2" charset="-122"/>
              <a:ea typeface="华文细黑" panose="02010600040101010101" pitchFamily="2" charset="-122"/>
            </a:endParaRPr>
          </a:p>
          <a:p>
            <a:pPr marL="0" lvl="0" indent="0" eaLnBrk="1" hangingPunct="1">
              <a:lnSpc>
                <a:spcPct val="150000"/>
              </a:lnSpc>
              <a:spcBef>
                <a:spcPct val="0"/>
              </a:spcBef>
              <a:buClrTx/>
              <a:buFont typeface="Arial" panose="020B0604020202020204" pitchFamily="34" charset="0"/>
              <a:buNone/>
            </a:pPr>
            <a:r>
              <a:rPr lang="zh-CN" altLang="en-US" sz="2400" dirty="0">
                <a:solidFill>
                  <a:srgbClr val="0000FF"/>
                </a:solidFill>
                <a:latin typeface="华文细黑" panose="02010600040101010101" pitchFamily="2" charset="-122"/>
                <a:ea typeface="华文细黑" panose="02010600040101010101" pitchFamily="2" charset="-122"/>
              </a:rPr>
              <a:t>大气中的水汽、二氧化碳和臭氧是对长波辐射吸收的主要气体，这些气体的含量增加，将使</a:t>
            </a:r>
            <a:r>
              <a:rPr lang="en-US" altLang="zh-CN" sz="2400" i="1" dirty="0">
                <a:solidFill>
                  <a:srgbClr val="0000FF"/>
                </a:solidFill>
                <a:latin typeface="华文细黑" panose="02010600040101010101" pitchFamily="2" charset="-122"/>
                <a:ea typeface="华文细黑" panose="02010600040101010101" pitchFamily="2" charset="-122"/>
              </a:rPr>
              <a:t>A</a:t>
            </a:r>
            <a:r>
              <a:rPr lang="en-US" altLang="zh-CN" sz="2400" baseline="-30000" dirty="0">
                <a:solidFill>
                  <a:srgbClr val="0000FF"/>
                </a:solidFill>
                <a:latin typeface="华文细黑" panose="02010600040101010101" pitchFamily="2" charset="-122"/>
                <a:ea typeface="华文细黑" panose="02010600040101010101" pitchFamily="2" charset="-122"/>
              </a:rPr>
              <a:t>l </a:t>
            </a:r>
            <a:r>
              <a:rPr lang="zh-CN" altLang="en-US" sz="2400" dirty="0">
                <a:solidFill>
                  <a:srgbClr val="0000FF"/>
                </a:solidFill>
                <a:latin typeface="华文细黑" panose="02010600040101010101" pitchFamily="2" charset="-122"/>
                <a:ea typeface="华文细黑" panose="02010600040101010101" pitchFamily="2" charset="-122"/>
              </a:rPr>
              <a:t>加大，从而导致地面增温。目前已有足够的证据表明大气中</a:t>
            </a:r>
            <a:r>
              <a:rPr lang="en-US" altLang="zh-CN" sz="2400" dirty="0">
                <a:solidFill>
                  <a:srgbClr val="0000FF"/>
                </a:solidFill>
                <a:latin typeface="华文细黑" panose="02010600040101010101" pitchFamily="2" charset="-122"/>
                <a:ea typeface="华文细黑" panose="02010600040101010101" pitchFamily="2" charset="-122"/>
              </a:rPr>
              <a:t>CO</a:t>
            </a:r>
            <a:r>
              <a:rPr lang="en-US" altLang="zh-CN" sz="2400" baseline="-25000" dirty="0">
                <a:solidFill>
                  <a:srgbClr val="0000FF"/>
                </a:solidFill>
                <a:latin typeface="华文细黑" panose="02010600040101010101" pitchFamily="2" charset="-122"/>
                <a:ea typeface="华文细黑" panose="02010600040101010101" pitchFamily="2" charset="-122"/>
              </a:rPr>
              <a:t>2</a:t>
            </a:r>
            <a:r>
              <a:rPr lang="zh-CN" altLang="en-US" sz="2400" dirty="0">
                <a:solidFill>
                  <a:srgbClr val="0000FF"/>
                </a:solidFill>
                <a:latin typeface="华文细黑" panose="02010600040101010101" pitchFamily="2" charset="-122"/>
                <a:ea typeface="华文细黑" panose="02010600040101010101" pitchFamily="2" charset="-122"/>
              </a:rPr>
              <a:t>含量有增加的趋势，这将导致全球变暖。</a:t>
            </a:r>
            <a:endParaRPr lang="zh-CN" altLang="en-US" sz="2400" dirty="0">
              <a:solidFill>
                <a:srgbClr val="0000FF"/>
              </a:solidFill>
              <a:latin typeface="华文细黑" panose="02010600040101010101" pitchFamily="2" charset="-122"/>
              <a:ea typeface="华文细黑" panose="02010600040101010101" pitchFamily="2" charset="-122"/>
            </a:endParaRPr>
          </a:p>
          <a:p>
            <a:pPr marL="0" lvl="0" indent="0" eaLnBrk="1" hangingPunct="1">
              <a:lnSpc>
                <a:spcPct val="150000"/>
              </a:lnSpc>
              <a:spcBef>
                <a:spcPts val="1200"/>
              </a:spcBef>
              <a:buClrTx/>
              <a:buFont typeface="Arial" panose="020B0604020202020204" pitchFamily="34" charset="0"/>
              <a:buNone/>
            </a:pPr>
            <a:r>
              <a:rPr lang="zh-CN" altLang="en-US" dirty="0">
                <a:solidFill>
                  <a:srgbClr val="FF0000"/>
                </a:solidFill>
                <a:latin typeface="华文细黑" panose="02010600040101010101" pitchFamily="2" charset="-122"/>
                <a:ea typeface="华文细黑" panose="02010600040101010101" pitchFamily="2" charset="-122"/>
              </a:rPr>
              <a:t>问题：那么，云量的增加，以及大气对太阳辐射的吸收率增加，对地面温度分别有何影响？</a:t>
            </a:r>
            <a:endParaRPr lang="en-US" altLang="zh-CN" dirty="0">
              <a:solidFill>
                <a:srgbClr val="FF0000"/>
              </a:solidFill>
              <a:latin typeface="华文细黑" panose="02010600040101010101" pitchFamily="2" charset="-122"/>
              <a:ea typeface="华文细黑"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charRg st="23" end="11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charRg st="114" end="15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7" name="Rectangle 3"/>
          <p:cNvSpPr>
            <a:spLocks noGrp="1" noChangeArrowheads="1"/>
          </p:cNvSpPr>
          <p:nvPr>
            <p:ph idx="1"/>
          </p:nvPr>
        </p:nvSpPr>
        <p:spPr/>
        <p:txBody>
          <a:bodyPr vert="horz" wrap="square" lIns="91440" tIns="45720" rIns="91440" bIns="45720" numCol="1" anchor="t" anchorCtr="0" compatLnSpc="1"/>
          <a:lstStyle/>
          <a:p>
            <a:pPr marL="288290" marR="0" lvl="0" indent="-215900" algn="just" defTabSz="914400" rtl="0" eaLnBrk="0" fontAlgn="base" latinLnBrk="0" hangingPunct="0">
              <a:lnSpc>
                <a:spcPct val="150000"/>
              </a:lnSpc>
              <a:spcBef>
                <a:spcPct val="20000"/>
              </a:spcBef>
              <a:spcAft>
                <a:spcPct val="0"/>
              </a:spcAft>
              <a:buClr>
                <a:schemeClr val="hlink"/>
              </a:buClr>
              <a:buSzTx/>
              <a:buFont typeface="Wingdings" panose="05000000000000000000" pitchFamily="2" charset="2"/>
              <a:buChar char="u"/>
              <a:defRPr/>
            </a:pPr>
            <a:r>
              <a:rPr kumimoji="0" lang="zh-CN" altLang="en-US" sz="28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zh-CN" altLang="en-US" sz="2800" b="1" i="0" u="none" strike="noStrike" kern="0" cap="none" spc="0" normalizeH="0" baseline="0" noProof="0" dirty="0">
                <a:ln>
                  <a:noFill/>
                </a:ln>
                <a:solidFill>
                  <a:srgbClr val="FF0000"/>
                </a:solidFill>
                <a:effectLst/>
                <a:uLnTx/>
                <a:uFillTx/>
                <a:latin typeface="华文细黑" panose="02010600040101010101" pitchFamily="2" charset="-122"/>
                <a:ea typeface="华文细黑" panose="02010600040101010101" pitchFamily="2" charset="-122"/>
                <a:cs typeface="+mn-cs"/>
              </a:rPr>
              <a:t>理解以下概念：地面短波（长波）净辐射通量密  度（5.6.12）（5.6.18）、大气逆辐射、地面有效辐射（5.6.19）</a:t>
            </a:r>
            <a:endParaRPr kumimoji="0" lang="zh-CN" altLang="en-US" sz="2800" b="1" i="0" u="none" strike="noStrike" kern="0" cap="none" spc="0" normalizeH="0" baseline="0" noProof="0" dirty="0">
              <a:ln>
                <a:noFill/>
              </a:ln>
              <a:solidFill>
                <a:srgbClr val="FF0000"/>
              </a:solidFill>
              <a:effectLst/>
              <a:uLnTx/>
              <a:uFillTx/>
              <a:latin typeface="华文细黑" panose="02010600040101010101" pitchFamily="2" charset="-122"/>
              <a:ea typeface="华文细黑" panose="02010600040101010101" pitchFamily="2" charset="-122"/>
              <a:cs typeface="+mn-cs"/>
            </a:endParaRPr>
          </a:p>
          <a:p>
            <a:pPr marL="395605"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395605"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395605"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291" name="Rectangle 3"/>
          <p:cNvSpPr>
            <a:spLocks noGrp="1"/>
          </p:cNvSpPr>
          <p:nvPr>
            <p:ph type="title"/>
          </p:nvPr>
        </p:nvSpPr>
        <p:spPr>
          <a:xfrm>
            <a:off x="1428750" y="166688"/>
            <a:ext cx="7715250" cy="762000"/>
          </a:xfrm>
          <a:ln/>
        </p:spPr>
        <p:txBody>
          <a:bodyPr vert="horz" wrap="square" lIns="91440" tIns="45720" rIns="91440" bIns="45720" anchor="ctr" anchorCtr="0"/>
          <a:p>
            <a:pPr algn="ctr"/>
            <a:r>
              <a:rPr lang="zh-CN" altLang="en-US" sz="4000" dirty="0">
                <a:solidFill>
                  <a:srgbClr val="FFFF00"/>
                </a:solidFill>
                <a:latin typeface="黑体" panose="02010609060101010101" pitchFamily="49" charset="-122"/>
                <a:ea typeface="黑体" panose="02010609060101010101" pitchFamily="49" charset="-122"/>
              </a:rPr>
              <a:t>地气系统辐射差额</a:t>
            </a:r>
            <a:endParaRPr lang="zh-CN" altLang="en-US" sz="4000" dirty="0">
              <a:solidFill>
                <a:srgbClr val="FFFF00"/>
              </a:solidFill>
              <a:latin typeface="黑体" panose="02010609060101010101" pitchFamily="49" charset="-122"/>
              <a:ea typeface="黑体" panose="02010609060101010101" pitchFamily="49"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7" name="Rectangle 3"/>
          <p:cNvSpPr>
            <a:spLocks noGrp="1" noChangeArrowheads="1"/>
          </p:cNvSpPr>
          <p:nvPr>
            <p:ph idx="1"/>
          </p:nvPr>
        </p:nvSpPr>
        <p:spPr>
          <a:xfrm>
            <a:off x="250825" y="1428750"/>
            <a:ext cx="8785225" cy="3440113"/>
          </a:xfrm>
        </p:spPr>
        <p:txBody>
          <a:bodyPr vert="horz" wrap="square" lIns="91440" tIns="45720" rIns="91440" bIns="45720" numCol="1" anchor="t" anchorCtr="0" compatLnSpc="1"/>
          <a:lstStyle/>
          <a:p>
            <a:pPr marL="288290" marR="0" lvl="0" indent="-215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FF0000"/>
                </a:solidFill>
                <a:effectLst/>
                <a:uLnTx/>
                <a:uFillTx/>
                <a:latin typeface="华文细黑" panose="02010600040101010101" pitchFamily="2" charset="-122"/>
                <a:ea typeface="华文细黑" panose="02010600040101010101" pitchFamily="2" charset="-122"/>
                <a:cs typeface="+mn-cs"/>
              </a:rPr>
              <a:t>1. </a:t>
            </a:r>
            <a:r>
              <a:rPr kumimoji="0" lang="zh-CN" altLang="en-US" sz="2800" b="1" i="0" u="none" strike="noStrike" kern="0" cap="none" spc="0" normalizeH="0" baseline="0" noProof="0" dirty="0">
                <a:ln>
                  <a:noFill/>
                </a:ln>
                <a:solidFill>
                  <a:srgbClr val="FF0000"/>
                </a:solidFill>
                <a:effectLst/>
                <a:uLnTx/>
                <a:uFillTx/>
                <a:latin typeface="华文细黑" panose="02010600040101010101" pitchFamily="2" charset="-122"/>
                <a:ea typeface="华文细黑" panose="02010600040101010101" pitchFamily="2" charset="-122"/>
                <a:cs typeface="+mn-cs"/>
              </a:rPr>
              <a:t>地面的辐射差额</a:t>
            </a:r>
            <a:endParaRPr kumimoji="0" lang="zh-CN" altLang="en-US" sz="2800" b="1" i="0" u="none" strike="noStrike" kern="0" cap="none" spc="0" normalizeH="0" baseline="0" noProof="0" dirty="0">
              <a:ln>
                <a:noFill/>
              </a:ln>
              <a:solidFill>
                <a:srgbClr val="FF0000"/>
              </a:solidFill>
              <a:effectLst/>
              <a:uLnTx/>
              <a:uFillTx/>
              <a:latin typeface="华文细黑" panose="02010600040101010101" pitchFamily="2" charset="-122"/>
              <a:ea typeface="华文细黑" panose="02010600040101010101" pitchFamily="2" charset="-122"/>
              <a:cs typeface="+mn-cs"/>
            </a:endParaRPr>
          </a:p>
          <a:p>
            <a:pPr marL="395605"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509905" marR="0" lvl="0" indent="-457200" algn="l" defTabSz="914400" rtl="0" eaLnBrk="0" fontAlgn="base" latinLnBrk="0" hangingPunct="0">
              <a:lnSpc>
                <a:spcPct val="100000"/>
              </a:lnSpc>
              <a:spcBef>
                <a:spcPts val="3000"/>
              </a:spcBef>
              <a:spcAft>
                <a:spcPct val="0"/>
              </a:spcAft>
              <a:buClr>
                <a:schemeClr val="hlink"/>
              </a:buClr>
              <a:buSzTx/>
              <a:buFont typeface="Wingdings" panose="05000000000000000000" pitchFamily="2" charset="2"/>
              <a:buNone/>
              <a:defRPr/>
            </a:pPr>
            <a:endParaRPr kumimoji="0" lang="en-US" altLang="zh-CN" sz="2400" b="1" i="0" u="none" strike="noStrike" kern="0" cap="none" spc="0" normalizeH="0" baseline="0" noProof="0" dirty="0">
              <a:ln>
                <a:noFill/>
              </a:ln>
              <a:solidFill>
                <a:srgbClr val="0000FF"/>
              </a:solidFill>
              <a:effectLst/>
              <a:uLnTx/>
              <a:uFillTx/>
              <a:latin typeface="华文细黑" panose="02010600040101010101" pitchFamily="2" charset="-122"/>
              <a:ea typeface="华文细黑" panose="02010600040101010101" pitchFamily="2" charset="-122"/>
              <a:cs typeface="+mn-cs"/>
            </a:endParaRPr>
          </a:p>
          <a:p>
            <a:pPr marL="509905" marR="0" lvl="0" indent="-457200" algn="l" defTabSz="914400" rtl="0" eaLnBrk="0" fontAlgn="base" latinLnBrk="0" hangingPunct="0">
              <a:lnSpc>
                <a:spcPct val="150000"/>
              </a:lnSpc>
              <a:spcBef>
                <a:spcPts val="3000"/>
              </a:spcBef>
              <a:spcAft>
                <a:spcPct val="0"/>
              </a:spcAft>
              <a:buClr>
                <a:schemeClr val="hlink"/>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FF0066"/>
                </a:solidFill>
                <a:effectLst/>
                <a:uLnTx/>
                <a:uFillTx/>
                <a:latin typeface="华文细黑" panose="02010600040101010101" pitchFamily="2" charset="-122"/>
                <a:ea typeface="华文细黑" panose="02010600040101010101" pitchFamily="2" charset="-122"/>
                <a:cs typeface="+mn-cs"/>
              </a:rPr>
              <a:t>（</a:t>
            </a:r>
            <a:r>
              <a:rPr kumimoji="0" lang="en-US" altLang="zh-CN" sz="2400" b="1" i="0" u="none" strike="noStrike" kern="0" cap="none" spc="0" normalizeH="0" baseline="0" noProof="0" dirty="0">
                <a:ln>
                  <a:noFill/>
                </a:ln>
                <a:solidFill>
                  <a:srgbClr val="FF0066"/>
                </a:solidFill>
                <a:effectLst/>
                <a:uLnTx/>
                <a:uFillTx/>
                <a:latin typeface="华文细黑" panose="02010600040101010101" pitchFamily="2" charset="-122"/>
                <a:ea typeface="华文细黑" panose="02010600040101010101" pitchFamily="2" charset="-122"/>
                <a:cs typeface="+mn-cs"/>
              </a:rPr>
              <a:t>1</a:t>
            </a:r>
            <a:r>
              <a:rPr kumimoji="0" lang="zh-CN" altLang="en-US" sz="2400" b="1" i="0" u="none" strike="noStrike" kern="0" cap="none" spc="0" normalizeH="0" baseline="0" noProof="0" dirty="0">
                <a:ln>
                  <a:noFill/>
                </a:ln>
                <a:solidFill>
                  <a:srgbClr val="FF0066"/>
                </a:solidFill>
                <a:effectLst/>
                <a:uLnTx/>
                <a:uFillTx/>
                <a:latin typeface="华文细黑" panose="02010600040101010101" pitchFamily="2" charset="-122"/>
                <a:ea typeface="华文细黑" panose="02010600040101010101" pitchFamily="2" charset="-122"/>
                <a:cs typeface="+mn-cs"/>
              </a:rPr>
              <a:t>）短波净辐射通量密度：</a:t>
            </a:r>
            <a:r>
              <a:rPr kumimoji="0" lang="zh-CN" altLang="en-US" sz="2400" b="1" i="0" u="none" strike="noStrike" kern="0" cap="none" spc="0" normalizeH="0" baseline="0" noProof="0" dirty="0">
                <a:ln>
                  <a:noFill/>
                </a:ln>
                <a:solidFill>
                  <a:srgbClr val="0000FF"/>
                </a:solidFill>
                <a:effectLst/>
                <a:uLnTx/>
                <a:uFillTx/>
                <a:latin typeface="华文细黑" panose="02010600040101010101" pitchFamily="2" charset="-122"/>
                <a:ea typeface="华文细黑" panose="02010600040101010101" pitchFamily="2" charset="-122"/>
                <a:cs typeface="+mn-cs"/>
              </a:rPr>
              <a:t>入射到水平面的太阳短波辐射通量密度：太阳直接辐射</a:t>
            </a:r>
            <a:r>
              <a:rPr kumimoji="0" lang="en-US" altLang="zh-CN" sz="2400" b="1" i="0" u="none" strike="noStrike" kern="0" cap="none" spc="0" normalizeH="0" baseline="0" noProof="0" dirty="0">
                <a:ln>
                  <a:noFill/>
                </a:ln>
                <a:solidFill>
                  <a:srgbClr val="0000FF"/>
                </a:solidFill>
                <a:effectLst/>
                <a:uLnTx/>
                <a:uFillTx/>
                <a:latin typeface="华文细黑" panose="02010600040101010101" pitchFamily="2" charset="-122"/>
                <a:ea typeface="华文细黑" panose="02010600040101010101" pitchFamily="2" charset="-122"/>
                <a:cs typeface="+mn-cs"/>
              </a:rPr>
              <a:t>+</a:t>
            </a:r>
            <a:r>
              <a:rPr kumimoji="0" lang="zh-CN" altLang="en-US" sz="2400" b="1" i="0" u="none" strike="noStrike" kern="0" cap="none" spc="0" normalizeH="0" baseline="0" noProof="0" dirty="0">
                <a:ln>
                  <a:noFill/>
                </a:ln>
                <a:solidFill>
                  <a:srgbClr val="0000FF"/>
                </a:solidFill>
                <a:effectLst/>
                <a:uLnTx/>
                <a:uFillTx/>
                <a:latin typeface="华文细黑" panose="02010600040101010101" pitchFamily="2" charset="-122"/>
                <a:ea typeface="华文细黑" panose="02010600040101010101" pitchFamily="2" charset="-122"/>
                <a:cs typeface="+mn-cs"/>
              </a:rPr>
              <a:t>天空散射辐射</a:t>
            </a:r>
            <a:endParaRPr kumimoji="0" lang="en-US" altLang="zh-CN" sz="2400" b="1" i="0" u="none" strike="noStrike" kern="0" cap="none" spc="0" normalizeH="0" baseline="0" noProof="0" dirty="0">
              <a:ln>
                <a:noFill/>
              </a:ln>
              <a:solidFill>
                <a:srgbClr val="0000FF"/>
              </a:solidFill>
              <a:effectLst/>
              <a:uLnTx/>
              <a:uFillTx/>
              <a:latin typeface="华文细黑" panose="02010600040101010101" pitchFamily="2" charset="-122"/>
              <a:ea typeface="华文细黑" panose="02010600040101010101" pitchFamily="2" charset="-122"/>
              <a:cs typeface="+mn-cs"/>
            </a:endParaRPr>
          </a:p>
          <a:p>
            <a:pPr marL="509905" marR="0" lvl="0" indent="-457200" algn="l" defTabSz="914400" rtl="0" eaLnBrk="0" fontAlgn="base" latinLnBrk="0" hangingPunct="0">
              <a:lnSpc>
                <a:spcPct val="100000"/>
              </a:lnSpc>
              <a:spcBef>
                <a:spcPts val="1800"/>
              </a:spcBef>
              <a:spcAft>
                <a:spcPct val="0"/>
              </a:spcAft>
              <a:buClr>
                <a:schemeClr val="hlink"/>
              </a:buClr>
              <a:buSzTx/>
              <a:buFont typeface="Wingdings" panose="05000000000000000000" pitchFamily="2" charset="2"/>
              <a:buNone/>
              <a:defRPr/>
            </a:pPr>
            <a:endParaRPr kumimoji="0" lang="en-US" altLang="zh-CN"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endParaRPr>
          </a:p>
          <a:p>
            <a:pPr marL="509905" marR="0" lvl="0" indent="-457200" algn="l" defTabSz="914400" rtl="0" eaLnBrk="0" fontAlgn="base" latinLnBrk="0" hangingPunct="0">
              <a:lnSpc>
                <a:spcPct val="100000"/>
              </a:lnSpc>
              <a:spcBef>
                <a:spcPts val="3000"/>
              </a:spcBef>
              <a:spcAft>
                <a:spcPct val="0"/>
              </a:spcAft>
              <a:buClr>
                <a:schemeClr val="hlink"/>
              </a:buClr>
              <a:buSzTx/>
              <a:buFont typeface="Wingdings" panose="05000000000000000000" pitchFamily="2" charset="2"/>
              <a:buAutoNum type="arabicParenBoth"/>
              <a:defRPr/>
            </a:pPr>
            <a:endPar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aphicFrame>
        <p:nvGraphicFramePr>
          <p:cNvPr id="13315" name="Object 2"/>
          <p:cNvGraphicFramePr>
            <a:graphicFrameLocks noChangeAspect="1"/>
          </p:cNvGraphicFramePr>
          <p:nvPr/>
        </p:nvGraphicFramePr>
        <p:xfrm>
          <a:off x="3203575" y="2166938"/>
          <a:ext cx="2368550" cy="1047750"/>
        </p:xfrm>
        <a:graphic>
          <a:graphicData uri="http://schemas.openxmlformats.org/presentationml/2006/ole">
            <mc:AlternateContent xmlns:mc="http://schemas.openxmlformats.org/markup-compatibility/2006">
              <mc:Choice xmlns:v="urn:schemas-microsoft-com:vml" Requires="v">
                <p:oleObj spid="_x0000_s3079" name="" r:id="rId1" imgW="1205865" imgH="533400" progId="Equation.DSMT4">
                  <p:embed/>
                </p:oleObj>
              </mc:Choice>
              <mc:Fallback>
                <p:oleObj name="" r:id="rId1" imgW="1205865" imgH="533400" progId="Equation.DSMT4">
                  <p:embed/>
                  <p:pic>
                    <p:nvPicPr>
                      <p:cNvPr id="0" name="图片 3078"/>
                      <p:cNvPicPr/>
                      <p:nvPr/>
                    </p:nvPicPr>
                    <p:blipFill>
                      <a:blip r:embed="rId2"/>
                      <a:stretch>
                        <a:fillRect/>
                      </a:stretch>
                    </p:blipFill>
                    <p:spPr>
                      <a:xfrm>
                        <a:off x="3203575" y="2166938"/>
                        <a:ext cx="2368550" cy="1047750"/>
                      </a:xfrm>
                      <a:prstGeom prst="rect">
                        <a:avLst/>
                      </a:prstGeom>
                      <a:noFill/>
                      <a:ln w="38100">
                        <a:noFill/>
                        <a:miter/>
                      </a:ln>
                    </p:spPr>
                  </p:pic>
                </p:oleObj>
              </mc:Fallback>
            </mc:AlternateContent>
          </a:graphicData>
        </a:graphic>
      </p:graphicFrame>
      <p:sp>
        <p:nvSpPr>
          <p:cNvPr id="13316" name="AutoShape 7"/>
          <p:cNvSpPr/>
          <p:nvPr/>
        </p:nvSpPr>
        <p:spPr>
          <a:xfrm>
            <a:off x="2916238" y="2214563"/>
            <a:ext cx="152400" cy="914400"/>
          </a:xfrm>
          <a:prstGeom prst="leftBrace">
            <a:avLst>
              <a:gd name="adj1" fmla="val 50000"/>
              <a:gd name="adj2" fmla="val 50000"/>
            </a:avLst>
          </a:prstGeom>
          <a:noFill/>
          <a:ln w="19050" cap="flat" cmpd="sng">
            <a:solidFill>
              <a:srgbClr val="0000FF"/>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zh-CN" altLang="en-US" sz="1800" b="0" dirty="0">
              <a:solidFill>
                <a:srgbClr val="0000FF"/>
              </a:solidFill>
              <a:latin typeface="Arial" panose="020B0604020202020204" pitchFamily="34" charset="0"/>
              <a:ea typeface="宋体" panose="02010600030101010101" pitchFamily="2" charset="-122"/>
            </a:endParaRPr>
          </a:p>
        </p:txBody>
      </p:sp>
      <p:graphicFrame>
        <p:nvGraphicFramePr>
          <p:cNvPr id="13317" name="Object 3"/>
          <p:cNvGraphicFramePr>
            <a:graphicFrameLocks noChangeAspect="1"/>
          </p:cNvGraphicFramePr>
          <p:nvPr/>
        </p:nvGraphicFramePr>
        <p:xfrm>
          <a:off x="647700" y="2428875"/>
          <a:ext cx="2222500" cy="522288"/>
        </p:xfrm>
        <a:graphic>
          <a:graphicData uri="http://schemas.openxmlformats.org/presentationml/2006/ole">
            <mc:AlternateContent xmlns:mc="http://schemas.openxmlformats.org/markup-compatibility/2006">
              <mc:Choice xmlns:v="urn:schemas-microsoft-com:vml" Requires="v">
                <p:oleObj spid="_x0000_s3083" name="" r:id="rId3" imgW="1078865" imgH="254000" progId="Equation.DSMT4">
                  <p:embed/>
                </p:oleObj>
              </mc:Choice>
              <mc:Fallback>
                <p:oleObj name="" r:id="rId3" imgW="1078865" imgH="254000" progId="Equation.DSMT4">
                  <p:embed/>
                  <p:pic>
                    <p:nvPicPr>
                      <p:cNvPr id="0" name="图片 3082"/>
                      <p:cNvPicPr/>
                      <p:nvPr/>
                    </p:nvPicPr>
                    <p:blipFill>
                      <a:blip r:embed="rId4"/>
                      <a:stretch>
                        <a:fillRect/>
                      </a:stretch>
                    </p:blipFill>
                    <p:spPr>
                      <a:xfrm>
                        <a:off x="647700" y="2428875"/>
                        <a:ext cx="2222500" cy="522288"/>
                      </a:xfrm>
                      <a:prstGeom prst="rect">
                        <a:avLst/>
                      </a:prstGeom>
                      <a:noFill/>
                      <a:ln w="38100">
                        <a:noFill/>
                        <a:miter/>
                      </a:ln>
                    </p:spPr>
                  </p:pic>
                </p:oleObj>
              </mc:Fallback>
            </mc:AlternateContent>
          </a:graphicData>
        </a:graphic>
      </p:graphicFrame>
      <p:graphicFrame>
        <p:nvGraphicFramePr>
          <p:cNvPr id="13318" name="Object 4"/>
          <p:cNvGraphicFramePr>
            <a:graphicFrameLocks noChangeAspect="1"/>
          </p:cNvGraphicFramePr>
          <p:nvPr/>
        </p:nvGraphicFramePr>
        <p:xfrm>
          <a:off x="5114925" y="5448300"/>
          <a:ext cx="3201988" cy="717550"/>
        </p:xfrm>
        <a:graphic>
          <a:graphicData uri="http://schemas.openxmlformats.org/presentationml/2006/ole">
            <mc:AlternateContent xmlns:mc="http://schemas.openxmlformats.org/markup-compatibility/2006">
              <mc:Choice xmlns:v="urn:schemas-microsoft-com:vml" Requires="v">
                <p:oleObj spid="_x0000_s3082" name="" r:id="rId5" imgW="1244600" imgH="279400" progId="Equation.DSMT4">
                  <p:embed/>
                </p:oleObj>
              </mc:Choice>
              <mc:Fallback>
                <p:oleObj name="" r:id="rId5" imgW="1244600" imgH="279400" progId="Equation.DSMT4">
                  <p:embed/>
                  <p:pic>
                    <p:nvPicPr>
                      <p:cNvPr id="0" name="图片 3081"/>
                      <p:cNvPicPr/>
                      <p:nvPr/>
                    </p:nvPicPr>
                    <p:blipFill>
                      <a:blip r:embed="rId6"/>
                      <a:stretch>
                        <a:fillRect/>
                      </a:stretch>
                    </p:blipFill>
                    <p:spPr>
                      <a:xfrm>
                        <a:off x="5114925" y="5448300"/>
                        <a:ext cx="3201988" cy="717550"/>
                      </a:xfrm>
                      <a:prstGeom prst="rect">
                        <a:avLst/>
                      </a:prstGeom>
                      <a:noFill/>
                      <a:ln w="38100">
                        <a:noFill/>
                        <a:miter/>
                      </a:ln>
                    </p:spPr>
                  </p:pic>
                </p:oleObj>
              </mc:Fallback>
            </mc:AlternateContent>
          </a:graphicData>
        </a:graphic>
      </p:graphicFrame>
      <p:sp>
        <p:nvSpPr>
          <p:cNvPr id="13319" name="AutoShape 10"/>
          <p:cNvSpPr/>
          <p:nvPr/>
        </p:nvSpPr>
        <p:spPr>
          <a:xfrm>
            <a:off x="4394200" y="5607050"/>
            <a:ext cx="609600" cy="269875"/>
          </a:xfrm>
          <a:prstGeom prst="rightArrow">
            <a:avLst>
              <a:gd name="adj1" fmla="val 50000"/>
              <a:gd name="adj2" fmla="val 58321"/>
            </a:avLst>
          </a:prstGeom>
          <a:solidFill>
            <a:srgbClr val="339966"/>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zh-CN" altLang="en-US" sz="1800" b="0" dirty="0">
              <a:latin typeface="Arial" panose="020B0604020202020204" pitchFamily="34" charset="0"/>
              <a:ea typeface="宋体" panose="02010600030101010101" pitchFamily="2" charset="-122"/>
            </a:endParaRPr>
          </a:p>
        </p:txBody>
      </p:sp>
      <p:sp>
        <p:nvSpPr>
          <p:cNvPr id="13320" name="Rectangle 3"/>
          <p:cNvSpPr>
            <a:spLocks noGrp="1"/>
          </p:cNvSpPr>
          <p:nvPr>
            <p:ph type="title"/>
          </p:nvPr>
        </p:nvSpPr>
        <p:spPr>
          <a:xfrm>
            <a:off x="1428750" y="166688"/>
            <a:ext cx="7715250" cy="762000"/>
          </a:xfrm>
          <a:ln/>
        </p:spPr>
        <p:txBody>
          <a:bodyPr vert="horz" wrap="square" lIns="91440" tIns="45720" rIns="91440" bIns="45720" anchor="ctr" anchorCtr="0"/>
          <a:p>
            <a:pPr algn="ctr"/>
            <a:r>
              <a:rPr lang="en-US" altLang="zh-CN" sz="4000" dirty="0">
                <a:solidFill>
                  <a:srgbClr val="FFFF00"/>
                </a:solidFill>
                <a:latin typeface="黑体" panose="02010609060101010101" pitchFamily="49" charset="-122"/>
                <a:ea typeface="黑体" panose="02010609060101010101" pitchFamily="49" charset="-122"/>
              </a:rPr>
              <a:t>1.</a:t>
            </a:r>
            <a:r>
              <a:rPr lang="zh-CN" altLang="en-US" sz="4000" dirty="0">
                <a:solidFill>
                  <a:srgbClr val="FFFF00"/>
                </a:solidFill>
                <a:latin typeface="黑体" panose="02010609060101010101" pitchFamily="49" charset="-122"/>
                <a:ea typeface="黑体" panose="02010609060101010101" pitchFamily="49" charset="-122"/>
              </a:rPr>
              <a:t>地面的辐射差额</a:t>
            </a:r>
            <a:endParaRPr lang="zh-CN" altLang="en-US" sz="4000" dirty="0">
              <a:solidFill>
                <a:srgbClr val="FFFF00"/>
              </a:solidFill>
              <a:latin typeface="黑体" panose="02010609060101010101" pitchFamily="49" charset="-122"/>
              <a:ea typeface="黑体" panose="02010609060101010101" pitchFamily="49" charset="-122"/>
            </a:endParaRPr>
          </a:p>
        </p:txBody>
      </p:sp>
      <p:graphicFrame>
        <p:nvGraphicFramePr>
          <p:cNvPr id="13321" name="Object 5"/>
          <p:cNvGraphicFramePr>
            <a:graphicFrameLocks noChangeAspect="1"/>
          </p:cNvGraphicFramePr>
          <p:nvPr/>
        </p:nvGraphicFramePr>
        <p:xfrm>
          <a:off x="1292225" y="4941888"/>
          <a:ext cx="2992438" cy="685800"/>
        </p:xfrm>
        <a:graphic>
          <a:graphicData uri="http://schemas.openxmlformats.org/presentationml/2006/ole">
            <mc:AlternateContent xmlns:mc="http://schemas.openxmlformats.org/markup-compatibility/2006">
              <mc:Choice xmlns:v="urn:schemas-microsoft-com:vml" Requires="v">
                <p:oleObj spid="_x0000_s3086" name="" r:id="rId7" imgW="1219200" imgH="279400" progId="Equation.3">
                  <p:embed/>
                </p:oleObj>
              </mc:Choice>
              <mc:Fallback>
                <p:oleObj name="" r:id="rId7" imgW="1219200" imgH="279400" progId="Equation.3">
                  <p:embed/>
                  <p:pic>
                    <p:nvPicPr>
                      <p:cNvPr id="0" name="图片 3085"/>
                      <p:cNvPicPr/>
                      <p:nvPr/>
                    </p:nvPicPr>
                    <p:blipFill>
                      <a:blip r:embed="rId8"/>
                      <a:stretch>
                        <a:fillRect/>
                      </a:stretch>
                    </p:blipFill>
                    <p:spPr>
                      <a:xfrm>
                        <a:off x="1292225" y="4941888"/>
                        <a:ext cx="2992438" cy="685800"/>
                      </a:xfrm>
                      <a:prstGeom prst="rect">
                        <a:avLst/>
                      </a:prstGeom>
                      <a:noFill/>
                      <a:ln w="38100">
                        <a:noFill/>
                        <a:miter/>
                      </a:ln>
                    </p:spPr>
                  </p:pic>
                </p:oleObj>
              </mc:Fallback>
            </mc:AlternateContent>
          </a:graphicData>
        </a:graphic>
      </p:graphicFrame>
      <p:graphicFrame>
        <p:nvGraphicFramePr>
          <p:cNvPr id="13322" name="Object 6"/>
          <p:cNvGraphicFramePr>
            <a:graphicFrameLocks noChangeAspect="1"/>
          </p:cNvGraphicFramePr>
          <p:nvPr/>
        </p:nvGraphicFramePr>
        <p:xfrm>
          <a:off x="1331913" y="5780088"/>
          <a:ext cx="2232025" cy="673100"/>
        </p:xfrm>
        <a:graphic>
          <a:graphicData uri="http://schemas.openxmlformats.org/presentationml/2006/ole">
            <mc:AlternateContent xmlns:mc="http://schemas.openxmlformats.org/markup-compatibility/2006">
              <mc:Choice xmlns:v="urn:schemas-microsoft-com:vml" Requires="v">
                <p:oleObj spid="_x0000_s3081" name="" r:id="rId9" imgW="927100" imgH="279400" progId="Equation.3">
                  <p:embed/>
                </p:oleObj>
              </mc:Choice>
              <mc:Fallback>
                <p:oleObj name="" r:id="rId9" imgW="927100" imgH="279400" progId="Equation.3">
                  <p:embed/>
                  <p:pic>
                    <p:nvPicPr>
                      <p:cNvPr id="0" name="图片 3080"/>
                      <p:cNvPicPr/>
                      <p:nvPr/>
                    </p:nvPicPr>
                    <p:blipFill>
                      <a:blip r:embed="rId10"/>
                      <a:stretch>
                        <a:fillRect/>
                      </a:stretch>
                    </p:blipFill>
                    <p:spPr>
                      <a:xfrm>
                        <a:off x="1331913" y="5780088"/>
                        <a:ext cx="2232025" cy="673100"/>
                      </a:xfrm>
                      <a:prstGeom prst="rect">
                        <a:avLst/>
                      </a:prstGeom>
                      <a:noFill/>
                      <a:ln w="38100">
                        <a:noFill/>
                        <a:miter/>
                      </a:ln>
                    </p:spPr>
                  </p:pic>
                </p:oleObj>
              </mc:Fallback>
            </mc:AlternateContent>
          </a:graphicData>
        </a:graphic>
      </p:graphicFrame>
      <p:sp>
        <p:nvSpPr>
          <p:cNvPr id="13323" name="AutoShape 7"/>
          <p:cNvSpPr/>
          <p:nvPr/>
        </p:nvSpPr>
        <p:spPr>
          <a:xfrm>
            <a:off x="1042988" y="5180013"/>
            <a:ext cx="247650" cy="1057275"/>
          </a:xfrm>
          <a:prstGeom prst="leftBrace">
            <a:avLst>
              <a:gd name="adj1" fmla="val 49827"/>
              <a:gd name="adj2" fmla="val 50000"/>
            </a:avLst>
          </a:prstGeom>
          <a:noFill/>
          <a:ln w="38100" cap="flat" cmpd="sng">
            <a:solidFill>
              <a:srgbClr val="0000FF"/>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zh-CN" altLang="en-US" sz="1800" b="0" dirty="0">
              <a:solidFill>
                <a:srgbClr val="0000FF"/>
              </a:solidFill>
              <a:latin typeface="Arial" panose="020B0604020202020204" pitchFamily="34" charset="0"/>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7" name="Rectangle 3"/>
          <p:cNvSpPr>
            <a:spLocks noGrp="1" noChangeArrowheads="1"/>
          </p:cNvSpPr>
          <p:nvPr>
            <p:ph idx="1"/>
          </p:nvPr>
        </p:nvSpPr>
        <p:spPr>
          <a:xfrm>
            <a:off x="250825" y="1268413"/>
            <a:ext cx="8785225" cy="5040313"/>
          </a:xfrm>
        </p:spPr>
        <p:txBody>
          <a:bodyPr vert="horz" wrap="square" lIns="91440" tIns="45720" rIns="91440" bIns="45720" numCol="1" anchor="t" anchorCtr="0" compatLnSpc="1"/>
          <a:lstStyle/>
          <a:p>
            <a:pPr marL="0" marR="0" lvl="0" indent="-342900" algn="l" defTabSz="914400" rtl="0" eaLnBrk="0" fontAlgn="base" latinLnBrk="0" hangingPunct="0">
              <a:lnSpc>
                <a:spcPct val="100000"/>
              </a:lnSpc>
              <a:spcBef>
                <a:spcPts val="0"/>
              </a:spcBef>
              <a:spcAft>
                <a:spcPts val="600"/>
              </a:spcAft>
              <a:buClr>
                <a:schemeClr val="hlink"/>
              </a:buClr>
              <a:buSzTx/>
              <a:buFont typeface="Wingdings" panose="05000000000000000000" pitchFamily="2" charset="2"/>
              <a:buNone/>
              <a:defRPr/>
            </a:pPr>
            <a:r>
              <a:rPr kumimoji="0" lang="zh-CN" altLang="en-US" sz="2600" b="1" i="0" u="none" strike="noStrike" kern="0" cap="none" spc="0" normalizeH="0" baseline="0" noProof="0" dirty="0">
                <a:ln>
                  <a:noFill/>
                </a:ln>
                <a:solidFill>
                  <a:srgbClr val="FF0066"/>
                </a:solidFill>
                <a:effectLst/>
                <a:uLnTx/>
                <a:uFillTx/>
                <a:latin typeface="华文细黑" panose="02010600040101010101" pitchFamily="2" charset="-122"/>
                <a:ea typeface="华文细黑" panose="02010600040101010101" pitchFamily="2" charset="-122"/>
                <a:cs typeface="+mn-cs"/>
              </a:rPr>
              <a:t>（</a:t>
            </a:r>
            <a:r>
              <a:rPr kumimoji="0" lang="en-US" altLang="zh-CN" sz="2600" b="1" i="0" u="none" strike="noStrike" kern="0" cap="none" spc="0" normalizeH="0" baseline="0" noProof="0" dirty="0">
                <a:ln>
                  <a:noFill/>
                </a:ln>
                <a:solidFill>
                  <a:srgbClr val="FF0066"/>
                </a:solidFill>
                <a:effectLst/>
                <a:uLnTx/>
                <a:uFillTx/>
                <a:latin typeface="华文细黑" panose="02010600040101010101" pitchFamily="2" charset="-122"/>
                <a:ea typeface="华文细黑" panose="02010600040101010101" pitchFamily="2" charset="-122"/>
                <a:cs typeface="+mn-cs"/>
              </a:rPr>
              <a:t>2</a:t>
            </a:r>
            <a:r>
              <a:rPr kumimoji="0" lang="zh-CN" altLang="en-US" sz="2600" b="1" i="0" u="none" strike="noStrike" kern="0" cap="none" spc="0" normalizeH="0" baseline="0" noProof="0" dirty="0">
                <a:ln>
                  <a:noFill/>
                </a:ln>
                <a:solidFill>
                  <a:srgbClr val="FF0066"/>
                </a:solidFill>
                <a:effectLst/>
                <a:uLnTx/>
                <a:uFillTx/>
                <a:latin typeface="华文细黑" panose="02010600040101010101" pitchFamily="2" charset="-122"/>
                <a:ea typeface="华文细黑" panose="02010600040101010101" pitchFamily="2" charset="-122"/>
                <a:cs typeface="+mn-cs"/>
              </a:rPr>
              <a:t>）入射到地面的长波辐射</a:t>
            </a:r>
            <a:endParaRPr kumimoji="0" lang="zh-CN" altLang="en-US" sz="2600" b="1" i="0" u="none" strike="noStrike" kern="0" cap="none" spc="0" normalizeH="0" baseline="0" noProof="0" dirty="0">
              <a:ln>
                <a:noFill/>
              </a:ln>
              <a:solidFill>
                <a:srgbClr val="FF0066"/>
              </a:solidFill>
              <a:effectLst/>
              <a:uLnTx/>
              <a:uFillTx/>
              <a:latin typeface="华文细黑" panose="02010600040101010101" pitchFamily="2" charset="-122"/>
              <a:ea typeface="华文细黑" panose="02010600040101010101" pitchFamily="2" charset="-122"/>
              <a:cs typeface="+mn-cs"/>
            </a:endParaRPr>
          </a:p>
          <a:p>
            <a:pPr marL="0" marR="0" lvl="0" indent="-342900" algn="l" defTabSz="914400" rtl="0" eaLnBrk="0" fontAlgn="base" latinLnBrk="0" hangingPunct="0">
              <a:lnSpc>
                <a:spcPct val="130000"/>
              </a:lnSpc>
              <a:spcBef>
                <a:spcPct val="20000"/>
              </a:spcBef>
              <a:spcAft>
                <a:spcPct val="0"/>
              </a:spcAft>
              <a:buClr>
                <a:schemeClr val="hlink"/>
              </a:buClr>
              <a:buSzTx/>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a:t>
            </a:r>
            <a:r>
              <a:rPr kumimoji="0" lang="zh-CN" altLang="en-US" sz="2200" b="1" i="0" u="none" strike="noStrike" kern="0" cap="none" spc="0" normalizeH="0" baseline="0" noProof="0" dirty="0">
                <a:ln>
                  <a:noFill/>
                </a:ln>
                <a:solidFill>
                  <a:srgbClr val="D60093"/>
                </a:solidFill>
                <a:effectLst/>
                <a:uLnTx/>
                <a:uFillTx/>
                <a:latin typeface="华文细黑" panose="02010600040101010101" pitchFamily="2" charset="-122"/>
                <a:ea typeface="华文细黑" panose="02010600040101010101" pitchFamily="2" charset="-122"/>
                <a:cs typeface="+mn-cs"/>
              </a:rPr>
              <a:t>大气逆辐射 ：</a:t>
            </a:r>
            <a:r>
              <a:rPr kumimoji="0" lang="zh-CN" altLang="en-US" sz="22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入射到地面的长波辐射，来自整层大气的辐射。</a:t>
            </a:r>
            <a:endParaRPr kumimoji="0" lang="zh-CN" altLang="en-US" sz="22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342900" algn="l" defTabSz="914400" rtl="0" eaLnBrk="0" fontAlgn="base" latinLnBrk="0" hangingPunct="0">
              <a:lnSpc>
                <a:spcPct val="130000"/>
              </a:lnSpc>
              <a:spcBef>
                <a:spcPct val="20000"/>
              </a:spcBef>
              <a:spcAft>
                <a:spcPct val="0"/>
              </a:spcAft>
              <a:buClr>
                <a:schemeClr val="hlink"/>
              </a:buClr>
              <a:buSzTx/>
              <a:buFont typeface="Wingdings 2" pitchFamily="18" charset="2"/>
              <a:buNone/>
              <a:defRPr/>
            </a:pPr>
            <a:r>
              <a:rPr kumimoji="0" lang="zh-CN" altLang="en-US" sz="22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由两部分组成</a:t>
            </a:r>
            <a:r>
              <a:rPr kumimoji="0" lang="en-US" altLang="zh-CN" sz="22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1</a:t>
            </a:r>
            <a:r>
              <a:rPr kumimoji="0" lang="en-US" altLang="zh-CN" sz="22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a:t>
            </a:r>
            <a:r>
              <a:rPr kumimoji="0" lang="zh-CN" altLang="en-US" sz="22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大气本身的热辐射</a:t>
            </a:r>
            <a:r>
              <a:rPr kumimoji="0" lang="en-US" altLang="zh-CN" sz="22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endParaRPr kumimoji="0" lang="zh-CN" altLang="en-US" sz="22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395605" marR="0" lvl="0" indent="-342900" algn="l" defTabSz="914400" rtl="0" eaLnBrk="0" fontAlgn="base" latinLnBrk="0" hangingPunct="0">
              <a:lnSpc>
                <a:spcPct val="130000"/>
              </a:lnSpc>
              <a:spcBef>
                <a:spcPct val="20000"/>
              </a:spcBef>
              <a:spcAft>
                <a:spcPct val="0"/>
              </a:spcAft>
              <a:buClr>
                <a:schemeClr val="hlink"/>
              </a:buClr>
              <a:buSzTx/>
              <a:buFont typeface="Wingdings 2" pitchFamily="18" charset="2"/>
              <a:buNone/>
              <a:defRPr/>
            </a:pPr>
            <a:r>
              <a:rPr kumimoji="0" lang="zh-CN" altLang="en-US" sz="22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2</a:t>
            </a:r>
            <a:r>
              <a:rPr kumimoji="0" lang="en-US" altLang="zh-CN" sz="22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a:t>
            </a:r>
            <a:r>
              <a:rPr kumimoji="0" lang="zh-CN" altLang="en-US" sz="22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云的热辐射。</a:t>
            </a:r>
            <a:endParaRPr kumimoji="0" lang="en-US" altLang="zh-CN" sz="22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395605" marR="0" lvl="0" indent="-342900" algn="l" defTabSz="914400" rtl="0" eaLnBrk="0" fontAlgn="base" latinLnBrk="0" hangingPunct="0">
              <a:lnSpc>
                <a:spcPct val="130000"/>
              </a:lnSpc>
              <a:spcBef>
                <a:spcPct val="20000"/>
              </a:spcBef>
              <a:spcAft>
                <a:spcPct val="0"/>
              </a:spcAft>
              <a:buClr>
                <a:schemeClr val="hlink"/>
              </a:buClr>
              <a:buSzTx/>
              <a:buFont typeface="Wingdings 2" pitchFamily="18" charset="2"/>
              <a:buNone/>
              <a:defRPr/>
            </a:pPr>
            <a:r>
              <a:rPr kumimoji="0" lang="zh-CN" altLang="en-US" sz="22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晴天大气逆辐射通量密度：</a:t>
            </a:r>
            <a:endParaRPr kumimoji="0" lang="en-US" altLang="zh-CN" sz="22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395605" marR="0" lvl="0" indent="-342900" algn="l" defTabSz="914400" rtl="0" eaLnBrk="0" fontAlgn="base" latinLnBrk="0" hangingPunct="0">
              <a:lnSpc>
                <a:spcPct val="100000"/>
              </a:lnSpc>
              <a:spcBef>
                <a:spcPct val="20000"/>
              </a:spcBef>
              <a:spcAft>
                <a:spcPct val="0"/>
              </a:spcAft>
              <a:buClr>
                <a:schemeClr val="hlink"/>
              </a:buClr>
              <a:buSzTx/>
              <a:buFont typeface="Wingdings 2" pitchFamily="18" charset="2"/>
              <a:buNone/>
              <a:defRPr/>
            </a:pP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endPar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395605" marR="0" lvl="0" indent="-342900" algn="l" defTabSz="914400" rtl="0" eaLnBrk="0" fontAlgn="base" latinLnBrk="0" hangingPunct="0">
              <a:lnSpc>
                <a:spcPct val="100000"/>
              </a:lnSpc>
              <a:spcBef>
                <a:spcPct val="20000"/>
              </a:spcBef>
              <a:spcAft>
                <a:spcPct val="0"/>
              </a:spcAft>
              <a:buClr>
                <a:schemeClr val="hlink"/>
              </a:buClr>
              <a:buSzTx/>
              <a:buFont typeface="Wingdings 2" pitchFamily="18" charset="2"/>
              <a:buNone/>
              <a:defRPr/>
            </a:pPr>
            <a:endPar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395605" marR="0" lvl="0" indent="-342900" algn="l" defTabSz="914400" rtl="0" eaLnBrk="0" fontAlgn="base" latinLnBrk="0" hangingPunct="0">
              <a:lnSpc>
                <a:spcPct val="100000"/>
              </a:lnSpc>
              <a:spcBef>
                <a:spcPct val="20000"/>
              </a:spcBef>
              <a:spcAft>
                <a:spcPct val="0"/>
              </a:spcAft>
              <a:buClr>
                <a:schemeClr val="hlink"/>
              </a:buClr>
              <a:buSzTx/>
              <a:buFont typeface="Wingdings 2" pitchFamily="18" charset="2"/>
              <a:buNone/>
              <a:defRPr/>
            </a:pPr>
            <a:endPar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395605" marR="0" lvl="0" indent="-342900" algn="l" defTabSz="914400" rtl="0" eaLnBrk="0" fontAlgn="base" latinLnBrk="0" hangingPunct="0">
              <a:lnSpc>
                <a:spcPct val="100000"/>
              </a:lnSpc>
              <a:spcBef>
                <a:spcPct val="20000"/>
              </a:spcBef>
              <a:spcAft>
                <a:spcPct val="0"/>
              </a:spcAft>
              <a:buClr>
                <a:schemeClr val="hlink"/>
              </a:buClr>
              <a:buSzTx/>
              <a:buFont typeface="Wingdings 2" pitchFamily="18" charset="2"/>
              <a:buNone/>
              <a:defRPr/>
            </a:pPr>
            <a:r>
              <a:rPr kumimoji="0" lang="zh-CN" altLang="en-US" sz="22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考虑云层的影响：</a:t>
            </a:r>
            <a:endParaRPr kumimoji="0" lang="en-US" altLang="zh-CN" sz="22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graphicFrame>
        <p:nvGraphicFramePr>
          <p:cNvPr id="14339" name="Object 5"/>
          <p:cNvGraphicFramePr>
            <a:graphicFrameLocks noChangeAspect="1"/>
          </p:cNvGraphicFramePr>
          <p:nvPr/>
        </p:nvGraphicFramePr>
        <p:xfrm>
          <a:off x="1714500" y="3929063"/>
          <a:ext cx="1746250" cy="582612"/>
        </p:xfrm>
        <a:graphic>
          <a:graphicData uri="http://schemas.openxmlformats.org/presentationml/2006/ole">
            <mc:AlternateContent xmlns:mc="http://schemas.openxmlformats.org/markup-compatibility/2006">
              <mc:Choice xmlns:v="urn:schemas-microsoft-com:vml" Requires="v">
                <p:oleObj spid="_x0000_s3084" name="" r:id="rId1" imgW="838200" imgH="279400" progId="Equation.3">
                  <p:embed/>
                </p:oleObj>
              </mc:Choice>
              <mc:Fallback>
                <p:oleObj name="" r:id="rId1" imgW="838200" imgH="279400" progId="Equation.3">
                  <p:embed/>
                  <p:pic>
                    <p:nvPicPr>
                      <p:cNvPr id="0" name="图片 3083"/>
                      <p:cNvPicPr/>
                      <p:nvPr/>
                    </p:nvPicPr>
                    <p:blipFill>
                      <a:blip r:embed="rId2"/>
                      <a:stretch>
                        <a:fillRect/>
                      </a:stretch>
                    </p:blipFill>
                    <p:spPr>
                      <a:xfrm>
                        <a:off x="1714500" y="3929063"/>
                        <a:ext cx="1746250" cy="582612"/>
                      </a:xfrm>
                      <a:prstGeom prst="rect">
                        <a:avLst/>
                      </a:prstGeom>
                      <a:noFill/>
                      <a:ln w="38100">
                        <a:noFill/>
                        <a:miter/>
                      </a:ln>
                    </p:spPr>
                  </p:pic>
                </p:oleObj>
              </mc:Fallback>
            </mc:AlternateContent>
          </a:graphicData>
        </a:graphic>
      </p:graphicFrame>
      <p:graphicFrame>
        <p:nvGraphicFramePr>
          <p:cNvPr id="14340" name="Object 6"/>
          <p:cNvGraphicFramePr>
            <a:graphicFrameLocks noChangeAspect="1"/>
          </p:cNvGraphicFramePr>
          <p:nvPr/>
        </p:nvGraphicFramePr>
        <p:xfrm>
          <a:off x="1785938" y="4540250"/>
          <a:ext cx="1190625" cy="503238"/>
        </p:xfrm>
        <a:graphic>
          <a:graphicData uri="http://schemas.openxmlformats.org/presentationml/2006/ole">
            <mc:AlternateContent xmlns:mc="http://schemas.openxmlformats.org/markup-compatibility/2006">
              <mc:Choice xmlns:v="urn:schemas-microsoft-com:vml" Requires="v">
                <p:oleObj spid="_x0000_s3080" name="" r:id="rId3" imgW="571500" imgH="241300" progId="Equation.3">
                  <p:embed/>
                </p:oleObj>
              </mc:Choice>
              <mc:Fallback>
                <p:oleObj name="" r:id="rId3" imgW="571500" imgH="241300" progId="Equation.3">
                  <p:embed/>
                  <p:pic>
                    <p:nvPicPr>
                      <p:cNvPr id="0" name="图片 3079"/>
                      <p:cNvPicPr/>
                      <p:nvPr/>
                    </p:nvPicPr>
                    <p:blipFill>
                      <a:blip r:embed="rId4"/>
                      <a:stretch>
                        <a:fillRect/>
                      </a:stretch>
                    </p:blipFill>
                    <p:spPr>
                      <a:xfrm>
                        <a:off x="1785938" y="4540250"/>
                        <a:ext cx="1190625" cy="503238"/>
                      </a:xfrm>
                      <a:prstGeom prst="rect">
                        <a:avLst/>
                      </a:prstGeom>
                      <a:noFill/>
                      <a:ln w="38100">
                        <a:noFill/>
                        <a:miter/>
                      </a:ln>
                    </p:spPr>
                  </p:pic>
                </p:oleObj>
              </mc:Fallback>
            </mc:AlternateContent>
          </a:graphicData>
        </a:graphic>
      </p:graphicFrame>
      <p:sp>
        <p:nvSpPr>
          <p:cNvPr id="14341" name="AutoShape 7"/>
          <p:cNvSpPr/>
          <p:nvPr/>
        </p:nvSpPr>
        <p:spPr>
          <a:xfrm>
            <a:off x="1571625" y="4071938"/>
            <a:ext cx="152400" cy="914400"/>
          </a:xfrm>
          <a:prstGeom prst="leftBrace">
            <a:avLst>
              <a:gd name="adj1" fmla="val 50000"/>
              <a:gd name="adj2" fmla="val 50000"/>
            </a:avLst>
          </a:prstGeom>
          <a:noFill/>
          <a:ln w="19050" cap="flat" cmpd="sng">
            <a:solidFill>
              <a:srgbClr val="0000FF"/>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zh-CN" altLang="en-US" sz="1800" b="0" dirty="0">
              <a:solidFill>
                <a:srgbClr val="0000FF"/>
              </a:solidFill>
              <a:latin typeface="Arial" panose="020B0604020202020204" pitchFamily="34" charset="0"/>
              <a:ea typeface="宋体" panose="02010600030101010101" pitchFamily="2" charset="-122"/>
            </a:endParaRPr>
          </a:p>
        </p:txBody>
      </p:sp>
      <p:sp>
        <p:nvSpPr>
          <p:cNvPr id="14342" name="AutoShape 10"/>
          <p:cNvSpPr/>
          <p:nvPr/>
        </p:nvSpPr>
        <p:spPr>
          <a:xfrm>
            <a:off x="4000500" y="4500563"/>
            <a:ext cx="533400" cy="228600"/>
          </a:xfrm>
          <a:prstGeom prst="rightArrow">
            <a:avLst>
              <a:gd name="adj1" fmla="val 50000"/>
              <a:gd name="adj2" fmla="val 58311"/>
            </a:avLst>
          </a:prstGeom>
          <a:solidFill>
            <a:srgbClr val="339966"/>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zh-CN" altLang="en-US" sz="1800" b="0" dirty="0">
              <a:latin typeface="Arial" panose="020B0604020202020204" pitchFamily="34" charset="0"/>
              <a:ea typeface="宋体" panose="02010600030101010101" pitchFamily="2" charset="-122"/>
            </a:endParaRPr>
          </a:p>
        </p:txBody>
      </p:sp>
      <p:graphicFrame>
        <p:nvGraphicFramePr>
          <p:cNvPr id="14343" name="Object 7"/>
          <p:cNvGraphicFramePr>
            <a:graphicFrameLocks noChangeAspect="1"/>
          </p:cNvGraphicFramePr>
          <p:nvPr/>
        </p:nvGraphicFramePr>
        <p:xfrm>
          <a:off x="4765675" y="4251325"/>
          <a:ext cx="2806700" cy="617538"/>
        </p:xfrm>
        <a:graphic>
          <a:graphicData uri="http://schemas.openxmlformats.org/presentationml/2006/ole">
            <mc:AlternateContent xmlns:mc="http://schemas.openxmlformats.org/markup-compatibility/2006">
              <mc:Choice xmlns:v="urn:schemas-microsoft-com:vml" Requires="v">
                <p:oleObj spid="_x0000_s3085" name="" r:id="rId5" imgW="1270000" imgH="279400" progId="Equation.3">
                  <p:embed/>
                </p:oleObj>
              </mc:Choice>
              <mc:Fallback>
                <p:oleObj name="" r:id="rId5" imgW="1270000" imgH="279400" progId="Equation.3">
                  <p:embed/>
                  <p:pic>
                    <p:nvPicPr>
                      <p:cNvPr id="0" name="图片 3084"/>
                      <p:cNvPicPr/>
                      <p:nvPr/>
                    </p:nvPicPr>
                    <p:blipFill>
                      <a:blip r:embed="rId6"/>
                      <a:stretch>
                        <a:fillRect/>
                      </a:stretch>
                    </p:blipFill>
                    <p:spPr>
                      <a:xfrm>
                        <a:off x="4765675" y="4251325"/>
                        <a:ext cx="2806700" cy="617538"/>
                      </a:xfrm>
                      <a:prstGeom prst="rect">
                        <a:avLst/>
                      </a:prstGeom>
                      <a:noFill/>
                      <a:ln w="38100">
                        <a:noFill/>
                        <a:miter/>
                      </a:ln>
                    </p:spPr>
                  </p:pic>
                </p:oleObj>
              </mc:Fallback>
            </mc:AlternateContent>
          </a:graphicData>
        </a:graphic>
      </p:graphicFrame>
      <p:graphicFrame>
        <p:nvGraphicFramePr>
          <p:cNvPr id="14344" name="Object 8"/>
          <p:cNvGraphicFramePr>
            <a:graphicFrameLocks noChangeAspect="1"/>
          </p:cNvGraphicFramePr>
          <p:nvPr/>
        </p:nvGraphicFramePr>
        <p:xfrm>
          <a:off x="3481388" y="5572125"/>
          <a:ext cx="2590800" cy="661988"/>
        </p:xfrm>
        <a:graphic>
          <a:graphicData uri="http://schemas.openxmlformats.org/presentationml/2006/ole">
            <mc:AlternateContent xmlns:mc="http://schemas.openxmlformats.org/markup-compatibility/2006">
              <mc:Choice xmlns:v="urn:schemas-microsoft-com:vml" Requires="v">
                <p:oleObj spid="_x0000_s3087" name="" r:id="rId7" imgW="1091565" imgH="279400" progId="Equation.3">
                  <p:embed/>
                </p:oleObj>
              </mc:Choice>
              <mc:Fallback>
                <p:oleObj name="" r:id="rId7" imgW="1091565" imgH="279400" progId="Equation.3">
                  <p:embed/>
                  <p:pic>
                    <p:nvPicPr>
                      <p:cNvPr id="0" name="图片 3086"/>
                      <p:cNvPicPr/>
                      <p:nvPr/>
                    </p:nvPicPr>
                    <p:blipFill>
                      <a:blip r:embed="rId8"/>
                      <a:stretch>
                        <a:fillRect/>
                      </a:stretch>
                    </p:blipFill>
                    <p:spPr>
                      <a:xfrm>
                        <a:off x="3481388" y="5572125"/>
                        <a:ext cx="2590800" cy="661988"/>
                      </a:xfrm>
                      <a:prstGeom prst="rect">
                        <a:avLst/>
                      </a:prstGeom>
                      <a:noFill/>
                      <a:ln w="38100">
                        <a:noFill/>
                        <a:miter/>
                      </a:ln>
                    </p:spPr>
                  </p:pic>
                </p:oleObj>
              </mc:Fallback>
            </mc:AlternateContent>
          </a:graphicData>
        </a:graphic>
      </p:graphicFrame>
      <p:sp>
        <p:nvSpPr>
          <p:cNvPr id="14345" name="Rectangle 3"/>
          <p:cNvSpPr>
            <a:spLocks noGrp="1"/>
          </p:cNvSpPr>
          <p:nvPr>
            <p:ph type="title"/>
          </p:nvPr>
        </p:nvSpPr>
        <p:spPr>
          <a:xfrm>
            <a:off x="1428750" y="166688"/>
            <a:ext cx="7715250" cy="762000"/>
          </a:xfrm>
          <a:ln/>
        </p:spPr>
        <p:txBody>
          <a:bodyPr vert="horz" wrap="square" lIns="91440" tIns="45720" rIns="91440" bIns="45720" anchor="ctr" anchorCtr="0"/>
          <a:p>
            <a:pPr algn="ctr"/>
            <a:r>
              <a:rPr lang="en-US" altLang="zh-CN" sz="4000" dirty="0">
                <a:solidFill>
                  <a:srgbClr val="FFFF00"/>
                </a:solidFill>
                <a:latin typeface="黑体" panose="02010609060101010101" pitchFamily="49" charset="-122"/>
                <a:ea typeface="黑体" panose="02010609060101010101" pitchFamily="49" charset="-122"/>
              </a:rPr>
              <a:t>1.</a:t>
            </a:r>
            <a:r>
              <a:rPr lang="zh-CN" altLang="en-US" sz="4000" dirty="0">
                <a:solidFill>
                  <a:srgbClr val="FFFF00"/>
                </a:solidFill>
                <a:latin typeface="黑体" panose="02010609060101010101" pitchFamily="49" charset="-122"/>
                <a:ea typeface="黑体" panose="02010609060101010101" pitchFamily="49" charset="-122"/>
              </a:rPr>
              <a:t>地面的辐射差额</a:t>
            </a:r>
            <a:endParaRPr lang="zh-CN" altLang="en-US" sz="4000" dirty="0">
              <a:solidFill>
                <a:srgbClr val="FFFF00"/>
              </a:solidFill>
              <a:latin typeface="黑体" panose="02010609060101010101" pitchFamily="49" charset="-122"/>
              <a:ea typeface="黑体" panose="02010609060101010101"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1027"/>
          <p:cNvSpPr>
            <a:spLocks noGrp="1"/>
          </p:cNvSpPr>
          <p:nvPr>
            <p:ph idx="1"/>
          </p:nvPr>
        </p:nvSpPr>
        <p:spPr>
          <a:xfrm>
            <a:off x="457200" y="1357313"/>
            <a:ext cx="8229600" cy="1500187"/>
          </a:xfrm>
          <a:ln/>
        </p:spPr>
        <p:txBody>
          <a:bodyPr vert="horz" wrap="square" lIns="91440" tIns="45720" rIns="91440" bIns="45720" anchor="t" anchorCtr="0"/>
          <a:p>
            <a:pPr>
              <a:buNone/>
            </a:pPr>
            <a:r>
              <a:rPr lang="zh-CN" altLang="en-US" sz="2400" dirty="0">
                <a:solidFill>
                  <a:srgbClr val="FF0066"/>
                </a:solidFill>
                <a:latin typeface="华文细黑" panose="02010600040101010101" pitchFamily="2" charset="-122"/>
                <a:ea typeface="华文细黑" panose="02010600040101010101" pitchFamily="2" charset="-122"/>
              </a:rPr>
              <a:t>（</a:t>
            </a:r>
            <a:r>
              <a:rPr lang="en-US" altLang="zh-CN" sz="2400" dirty="0">
                <a:solidFill>
                  <a:srgbClr val="FF0066"/>
                </a:solidFill>
                <a:latin typeface="华文细黑" panose="02010600040101010101" pitchFamily="2" charset="-122"/>
                <a:ea typeface="华文细黑" panose="02010600040101010101" pitchFamily="2" charset="-122"/>
              </a:rPr>
              <a:t>3</a:t>
            </a:r>
            <a:r>
              <a:rPr lang="zh-CN" altLang="en-US" sz="2400" dirty="0">
                <a:solidFill>
                  <a:srgbClr val="FF0066"/>
                </a:solidFill>
                <a:latin typeface="华文细黑" panose="02010600040101010101" pitchFamily="2" charset="-122"/>
                <a:ea typeface="华文细黑" panose="02010600040101010101" pitchFamily="2" charset="-122"/>
              </a:rPr>
              <a:t>）地面向上的长波辐射 </a:t>
            </a:r>
            <a:endParaRPr lang="en-US" altLang="zh-CN" sz="2400" dirty="0">
              <a:solidFill>
                <a:srgbClr val="FF0066"/>
              </a:solidFill>
              <a:latin typeface="华文细黑" panose="02010600040101010101" pitchFamily="2" charset="-122"/>
              <a:ea typeface="华文细黑" panose="02010600040101010101" pitchFamily="2" charset="-122"/>
            </a:endParaRPr>
          </a:p>
          <a:p>
            <a:pPr>
              <a:buNone/>
            </a:pPr>
            <a:endParaRPr lang="en-US" altLang="zh-CN" sz="2400" dirty="0">
              <a:solidFill>
                <a:srgbClr val="FF0066"/>
              </a:solidFill>
              <a:latin typeface="华文细黑" panose="02010600040101010101" pitchFamily="2" charset="-122"/>
              <a:ea typeface="华文细黑" panose="02010600040101010101" pitchFamily="2" charset="-122"/>
            </a:endParaRPr>
          </a:p>
          <a:p>
            <a:pPr>
              <a:buNone/>
            </a:pPr>
            <a:r>
              <a:rPr lang="zh-CN" altLang="en-US" sz="2400" dirty="0">
                <a:solidFill>
                  <a:srgbClr val="0000FF"/>
                </a:solidFill>
                <a:latin typeface="华文细黑" panose="02010600040101010101" pitchFamily="2" charset="-122"/>
                <a:ea typeface="华文细黑" panose="02010600040101010101" pitchFamily="2" charset="-122"/>
              </a:rPr>
              <a:t>          地面发射的长波辐射</a:t>
            </a:r>
            <a:r>
              <a:rPr lang="en-US" altLang="zh-CN" sz="2400" dirty="0">
                <a:solidFill>
                  <a:srgbClr val="0000FF"/>
                </a:solidFill>
                <a:latin typeface="华文细黑" panose="02010600040101010101" pitchFamily="2" charset="-122"/>
                <a:ea typeface="华文细黑" panose="02010600040101010101" pitchFamily="2" charset="-122"/>
              </a:rPr>
              <a:t>+</a:t>
            </a:r>
            <a:r>
              <a:rPr lang="zh-CN" altLang="en-US" sz="2400" dirty="0">
                <a:solidFill>
                  <a:srgbClr val="0000FF"/>
                </a:solidFill>
                <a:latin typeface="华文细黑" panose="02010600040101010101" pitchFamily="2" charset="-122"/>
                <a:ea typeface="华文细黑" panose="02010600040101010101" pitchFamily="2" charset="-122"/>
              </a:rPr>
              <a:t>地面反射的部分大气逆辐射</a:t>
            </a:r>
            <a:endParaRPr lang="zh-CN" altLang="en-US" sz="2400" dirty="0">
              <a:solidFill>
                <a:srgbClr val="0000FF"/>
              </a:solidFill>
              <a:latin typeface="华文细黑" panose="02010600040101010101" pitchFamily="2" charset="-122"/>
              <a:ea typeface="华文细黑" panose="02010600040101010101" pitchFamily="2" charset="-122"/>
            </a:endParaRPr>
          </a:p>
          <a:p>
            <a:pPr>
              <a:buFont typeface="Wingdings 2" pitchFamily="18" charset="2"/>
              <a:buNone/>
            </a:pPr>
            <a:r>
              <a:rPr lang="zh-CN" altLang="en-US" dirty="0">
                <a:latin typeface="华文细黑" panose="02010600040101010101" pitchFamily="2" charset="-122"/>
                <a:ea typeface="华文细黑" panose="02010600040101010101" pitchFamily="2" charset="-122"/>
              </a:rPr>
              <a:t>                  </a:t>
            </a:r>
            <a:endParaRPr lang="en-US" altLang="zh-CN" dirty="0">
              <a:latin typeface="华文细黑" panose="02010600040101010101" pitchFamily="2" charset="-122"/>
              <a:ea typeface="华文细黑" panose="02010600040101010101" pitchFamily="2" charset="-122"/>
            </a:endParaRPr>
          </a:p>
          <a:p>
            <a:pPr>
              <a:buFont typeface="Wingdings 2" pitchFamily="18" charset="2"/>
              <a:buNone/>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a:t>
            </a:r>
            <a:endParaRPr lang="en-US" altLang="zh-CN" sz="3200" dirty="0">
              <a:solidFill>
                <a:srgbClr val="080808"/>
              </a:solidFill>
              <a:latin typeface="黑体" panose="02010609060101010101" pitchFamily="49" charset="-122"/>
              <a:ea typeface="黑体" panose="02010609060101010101" pitchFamily="49" charset="-122"/>
            </a:endParaRPr>
          </a:p>
          <a:p>
            <a:pPr>
              <a:buFont typeface="Wingdings 2" pitchFamily="18" charset="2"/>
              <a:buNone/>
            </a:pPr>
            <a:endParaRPr lang="en-US" altLang="zh-CN" sz="3200" dirty="0">
              <a:solidFill>
                <a:srgbClr val="080808"/>
              </a:solidFill>
              <a:latin typeface="黑体" panose="02010609060101010101" pitchFamily="49" charset="-122"/>
              <a:ea typeface="黑体" panose="02010609060101010101" pitchFamily="49" charset="-122"/>
            </a:endParaRPr>
          </a:p>
          <a:p>
            <a:pPr>
              <a:lnSpc>
                <a:spcPct val="80000"/>
              </a:lnSpc>
              <a:spcBef>
                <a:spcPts val="1200"/>
              </a:spcBef>
              <a:buFont typeface="Wingdings 2" pitchFamily="18" charset="2"/>
              <a:buNone/>
            </a:pPr>
            <a:r>
              <a:rPr lang="en-US" altLang="zh-CN" sz="2000" dirty="0">
                <a:latin typeface="华文细黑" panose="02010600040101010101" pitchFamily="2" charset="-122"/>
                <a:ea typeface="华文细黑" panose="02010600040101010101" pitchFamily="2" charset="-122"/>
              </a:rPr>
              <a:t>                                            </a:t>
            </a:r>
            <a:r>
              <a:rPr lang="zh-CN" altLang="en-US" sz="2400" dirty="0">
                <a:solidFill>
                  <a:srgbClr val="080808"/>
                </a:solidFill>
                <a:latin typeface="华文细黑" panose="02010600040101010101" pitchFamily="2" charset="-122"/>
                <a:ea typeface="华文细黑" panose="02010600040101010101" pitchFamily="2" charset="-122"/>
              </a:rPr>
              <a:t>地面发射          地面反射 </a:t>
            </a:r>
            <a:endParaRPr lang="zh-CN" altLang="en-US" sz="2400" dirty="0">
              <a:solidFill>
                <a:srgbClr val="080808"/>
              </a:solidFill>
              <a:latin typeface="华文细黑" panose="02010600040101010101" pitchFamily="2" charset="-122"/>
              <a:ea typeface="华文细黑" panose="02010600040101010101" pitchFamily="2" charset="-122"/>
            </a:endParaRPr>
          </a:p>
          <a:p>
            <a:pPr>
              <a:buFont typeface="Wingdings 2" pitchFamily="18" charset="2"/>
              <a:buNone/>
            </a:pPr>
            <a:endParaRPr lang="en-US" altLang="zh-CN" dirty="0">
              <a:latin typeface="Times New Roman" panose="02020603050405020304" pitchFamily="18" charset="0"/>
              <a:ea typeface="宋体" panose="02010600030101010101" pitchFamily="2" charset="-122"/>
            </a:endParaRPr>
          </a:p>
          <a:p>
            <a:pPr>
              <a:buFont typeface="Wingdings 2" pitchFamily="18" charset="2"/>
              <a:buNone/>
            </a:pPr>
            <a:endParaRPr lang="en-US" altLang="zh-CN" dirty="0">
              <a:latin typeface="Times New Roman" panose="02020603050405020304" pitchFamily="18" charset="0"/>
              <a:ea typeface="宋体" panose="02010600030101010101" pitchFamily="2" charset="-122"/>
            </a:endParaRPr>
          </a:p>
        </p:txBody>
      </p:sp>
      <p:graphicFrame>
        <p:nvGraphicFramePr>
          <p:cNvPr id="15363" name="Object 2"/>
          <p:cNvGraphicFramePr>
            <a:graphicFrameLocks noChangeAspect="1"/>
          </p:cNvGraphicFramePr>
          <p:nvPr/>
        </p:nvGraphicFramePr>
        <p:xfrm>
          <a:off x="2051050" y="3068638"/>
          <a:ext cx="919163" cy="739775"/>
        </p:xfrm>
        <a:graphic>
          <a:graphicData uri="http://schemas.openxmlformats.org/presentationml/2006/ole">
            <mc:AlternateContent xmlns:mc="http://schemas.openxmlformats.org/markup-compatibility/2006">
              <mc:Choice xmlns:v="urn:schemas-microsoft-com:vml" Requires="v">
                <p:oleObj spid="_x0000_s3081" name="" r:id="rId1" imgW="330200" imgH="266700" progId="Equation.DSMT4">
                  <p:embed/>
                </p:oleObj>
              </mc:Choice>
              <mc:Fallback>
                <p:oleObj name="" r:id="rId1" imgW="330200" imgH="266700" progId="Equation.DSMT4">
                  <p:embed/>
                  <p:pic>
                    <p:nvPicPr>
                      <p:cNvPr id="0" name="图片 3080"/>
                      <p:cNvPicPr/>
                      <p:nvPr/>
                    </p:nvPicPr>
                    <p:blipFill>
                      <a:blip r:embed="rId2"/>
                      <a:stretch>
                        <a:fillRect/>
                      </a:stretch>
                    </p:blipFill>
                    <p:spPr>
                      <a:xfrm>
                        <a:off x="2051050" y="3068638"/>
                        <a:ext cx="919163" cy="739775"/>
                      </a:xfrm>
                      <a:prstGeom prst="rect">
                        <a:avLst/>
                      </a:prstGeom>
                      <a:noFill/>
                      <a:ln w="38100">
                        <a:noFill/>
                        <a:miter/>
                      </a:ln>
                    </p:spPr>
                  </p:pic>
                </p:oleObj>
              </mc:Fallback>
            </mc:AlternateContent>
          </a:graphicData>
        </a:graphic>
      </p:graphicFrame>
      <p:graphicFrame>
        <p:nvGraphicFramePr>
          <p:cNvPr id="15364" name="Object 3"/>
          <p:cNvGraphicFramePr>
            <a:graphicFrameLocks noChangeAspect="1"/>
          </p:cNvGraphicFramePr>
          <p:nvPr/>
        </p:nvGraphicFramePr>
        <p:xfrm>
          <a:off x="3286125" y="3068638"/>
          <a:ext cx="1327150" cy="781050"/>
        </p:xfrm>
        <a:graphic>
          <a:graphicData uri="http://schemas.openxmlformats.org/presentationml/2006/ole">
            <mc:AlternateContent xmlns:mc="http://schemas.openxmlformats.org/markup-compatibility/2006">
              <mc:Choice xmlns:v="urn:schemas-microsoft-com:vml" Requires="v">
                <p:oleObj spid="_x0000_s3079" name="" r:id="rId3" imgW="431800" imgH="254000" progId="Equation.DSMT4">
                  <p:embed/>
                </p:oleObj>
              </mc:Choice>
              <mc:Fallback>
                <p:oleObj name="" r:id="rId3" imgW="431800" imgH="254000" progId="Equation.DSMT4">
                  <p:embed/>
                  <p:pic>
                    <p:nvPicPr>
                      <p:cNvPr id="0" name="图片 3078"/>
                      <p:cNvPicPr/>
                      <p:nvPr/>
                    </p:nvPicPr>
                    <p:blipFill>
                      <a:blip r:embed="rId4"/>
                      <a:stretch>
                        <a:fillRect/>
                      </a:stretch>
                    </p:blipFill>
                    <p:spPr>
                      <a:xfrm>
                        <a:off x="3286125" y="3068638"/>
                        <a:ext cx="1327150" cy="781050"/>
                      </a:xfrm>
                      <a:prstGeom prst="rect">
                        <a:avLst/>
                      </a:prstGeom>
                      <a:noFill/>
                      <a:ln w="38100">
                        <a:noFill/>
                        <a:miter/>
                      </a:ln>
                    </p:spPr>
                  </p:pic>
                </p:oleObj>
              </mc:Fallback>
            </mc:AlternateContent>
          </a:graphicData>
        </a:graphic>
      </p:graphicFrame>
      <p:graphicFrame>
        <p:nvGraphicFramePr>
          <p:cNvPr id="15365" name="Object 4"/>
          <p:cNvGraphicFramePr>
            <a:graphicFrameLocks noChangeAspect="1"/>
          </p:cNvGraphicFramePr>
          <p:nvPr/>
        </p:nvGraphicFramePr>
        <p:xfrm>
          <a:off x="4906963" y="3141663"/>
          <a:ext cx="2041525" cy="714375"/>
        </p:xfrm>
        <a:graphic>
          <a:graphicData uri="http://schemas.openxmlformats.org/presentationml/2006/ole">
            <mc:AlternateContent xmlns:mc="http://schemas.openxmlformats.org/markup-compatibility/2006">
              <mc:Choice xmlns:v="urn:schemas-microsoft-com:vml" Requires="v">
                <p:oleObj spid="_x0000_s3082" name="" r:id="rId5" imgW="761365" imgH="266700" progId="Equation.DSMT4">
                  <p:embed/>
                </p:oleObj>
              </mc:Choice>
              <mc:Fallback>
                <p:oleObj name="" r:id="rId5" imgW="761365" imgH="266700" progId="Equation.DSMT4">
                  <p:embed/>
                  <p:pic>
                    <p:nvPicPr>
                      <p:cNvPr id="0" name="图片 3081"/>
                      <p:cNvPicPr/>
                      <p:nvPr/>
                    </p:nvPicPr>
                    <p:blipFill>
                      <a:blip r:embed="rId6"/>
                      <a:stretch>
                        <a:fillRect/>
                      </a:stretch>
                    </p:blipFill>
                    <p:spPr>
                      <a:xfrm>
                        <a:off x="4906963" y="3141663"/>
                        <a:ext cx="2041525" cy="714375"/>
                      </a:xfrm>
                      <a:prstGeom prst="rect">
                        <a:avLst/>
                      </a:prstGeom>
                      <a:noFill/>
                      <a:ln w="38100">
                        <a:noFill/>
                        <a:miter/>
                      </a:ln>
                    </p:spPr>
                  </p:pic>
                </p:oleObj>
              </mc:Fallback>
            </mc:AlternateContent>
          </a:graphicData>
        </a:graphic>
      </p:graphicFrame>
      <p:sp>
        <p:nvSpPr>
          <p:cNvPr id="15366" name="TextBox 1"/>
          <p:cNvSpPr txBox="1"/>
          <p:nvPr/>
        </p:nvSpPr>
        <p:spPr>
          <a:xfrm>
            <a:off x="2987675" y="3203575"/>
            <a:ext cx="504825" cy="5857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en-US" altLang="zh-CN" sz="3200" dirty="0">
                <a:latin typeface="黑体" panose="02010609060101010101" pitchFamily="49" charset="-122"/>
                <a:ea typeface="黑体" panose="02010609060101010101" pitchFamily="49" charset="-122"/>
              </a:rPr>
              <a:t>=</a:t>
            </a:r>
            <a:endParaRPr lang="zh-CN" altLang="en-US" sz="3200" dirty="0">
              <a:latin typeface="黑体" panose="02010609060101010101" pitchFamily="49" charset="-122"/>
              <a:ea typeface="黑体" panose="02010609060101010101" pitchFamily="49" charset="-122"/>
            </a:endParaRPr>
          </a:p>
        </p:txBody>
      </p:sp>
      <p:sp>
        <p:nvSpPr>
          <p:cNvPr id="15367" name="TextBox 13"/>
          <p:cNvSpPr txBox="1"/>
          <p:nvPr/>
        </p:nvSpPr>
        <p:spPr>
          <a:xfrm>
            <a:off x="4572000" y="3213100"/>
            <a:ext cx="504825" cy="584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en-US" altLang="zh-CN" sz="3200" dirty="0">
                <a:latin typeface="黑体" panose="02010609060101010101" pitchFamily="49" charset="-122"/>
                <a:ea typeface="黑体" panose="02010609060101010101" pitchFamily="49" charset="-122"/>
              </a:rPr>
              <a:t>+</a:t>
            </a:r>
            <a:endParaRPr lang="zh-CN" altLang="en-US" sz="3200" dirty="0">
              <a:latin typeface="黑体" panose="02010609060101010101" pitchFamily="49" charset="-122"/>
              <a:ea typeface="黑体" panose="02010609060101010101" pitchFamily="49" charset="-122"/>
            </a:endParaRPr>
          </a:p>
        </p:txBody>
      </p:sp>
      <p:sp>
        <p:nvSpPr>
          <p:cNvPr id="15368" name="Rectangle 3"/>
          <p:cNvSpPr>
            <a:spLocks noGrp="1"/>
          </p:cNvSpPr>
          <p:nvPr>
            <p:ph type="title"/>
          </p:nvPr>
        </p:nvSpPr>
        <p:spPr>
          <a:ln/>
        </p:spPr>
        <p:txBody>
          <a:bodyPr vert="horz" wrap="square" lIns="91440" tIns="45720" rIns="91440" bIns="45720" anchor="ctr" anchorCtr="0"/>
          <a:p>
            <a:pPr algn="ctr"/>
            <a:r>
              <a:rPr lang="en-US" altLang="zh-CN" sz="4000" dirty="0">
                <a:solidFill>
                  <a:srgbClr val="FFFF00"/>
                </a:solidFill>
                <a:latin typeface="黑体" panose="02010609060101010101" pitchFamily="49" charset="-122"/>
                <a:ea typeface="黑体" panose="02010609060101010101" pitchFamily="49" charset="-122"/>
              </a:rPr>
              <a:t>1.</a:t>
            </a:r>
            <a:r>
              <a:rPr lang="zh-CN" altLang="en-US" sz="4000" dirty="0">
                <a:solidFill>
                  <a:srgbClr val="FFFF00"/>
                </a:solidFill>
                <a:latin typeface="黑体" panose="02010609060101010101" pitchFamily="49" charset="-122"/>
                <a:ea typeface="黑体" panose="02010609060101010101" pitchFamily="49" charset="-122"/>
              </a:rPr>
              <a:t>地面的辐射差额</a:t>
            </a:r>
            <a:endParaRPr lang="zh-CN" altLang="en-US" sz="4000" dirty="0">
              <a:solidFill>
                <a:srgbClr val="FFFF00"/>
              </a:solidFill>
              <a:latin typeface="黑体" panose="02010609060101010101" pitchFamily="49" charset="-122"/>
              <a:ea typeface="黑体" panose="02010609060101010101" pitchFamily="49" charset="-122"/>
            </a:endParaRPr>
          </a:p>
        </p:txBody>
      </p:sp>
      <p:sp>
        <p:nvSpPr>
          <p:cNvPr id="2" name="箭头: 下 1"/>
          <p:cNvSpPr/>
          <p:nvPr/>
        </p:nvSpPr>
        <p:spPr>
          <a:xfrm>
            <a:off x="3924300" y="3856038"/>
            <a:ext cx="142875" cy="4365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Verdana" panose="020B0604030504040204" pitchFamily="34" charset="0"/>
              <a:ea typeface="宋体" panose="02010600030101010101" pitchFamily="2" charset="-122"/>
              <a:cs typeface="+mn-cs"/>
            </a:endParaRPr>
          </a:p>
        </p:txBody>
      </p:sp>
      <p:sp>
        <p:nvSpPr>
          <p:cNvPr id="3" name="箭头: 下 2"/>
          <p:cNvSpPr/>
          <p:nvPr/>
        </p:nvSpPr>
        <p:spPr>
          <a:xfrm>
            <a:off x="5795963" y="3856038"/>
            <a:ext cx="144463" cy="4365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TextBox 12"/>
          <p:cNvSpPr txBox="1"/>
          <p:nvPr/>
        </p:nvSpPr>
        <p:spPr>
          <a:xfrm>
            <a:off x="428625" y="1412875"/>
            <a:ext cx="8143875" cy="54165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Wingdings 2" pitchFamily="18" charset="2"/>
              <a:buNone/>
            </a:pPr>
            <a:r>
              <a:rPr lang="zh-CN" altLang="en-US" sz="2400" dirty="0">
                <a:solidFill>
                  <a:srgbClr val="FF0066"/>
                </a:solidFill>
                <a:latin typeface="华文细黑" panose="02010600040101010101" pitchFamily="2" charset="-122"/>
                <a:ea typeface="华文细黑" panose="02010600040101010101" pitchFamily="2" charset="-122"/>
              </a:rPr>
              <a:t>（</a:t>
            </a:r>
            <a:r>
              <a:rPr lang="en-US" altLang="zh-CN" sz="2400" dirty="0">
                <a:solidFill>
                  <a:srgbClr val="FF0066"/>
                </a:solidFill>
                <a:latin typeface="华文细黑" panose="02010600040101010101" pitchFamily="2" charset="-122"/>
                <a:ea typeface="华文细黑" panose="02010600040101010101" pitchFamily="2" charset="-122"/>
              </a:rPr>
              <a:t>4</a:t>
            </a:r>
            <a:r>
              <a:rPr lang="zh-CN" altLang="en-US" sz="2400" dirty="0">
                <a:solidFill>
                  <a:srgbClr val="FF0066"/>
                </a:solidFill>
                <a:latin typeface="华文细黑" panose="02010600040101010101" pitchFamily="2" charset="-122"/>
                <a:ea typeface="华文细黑" panose="02010600040101010101" pitchFamily="2" charset="-122"/>
              </a:rPr>
              <a:t>）地面长波净辐射和地面有效辐射 </a:t>
            </a:r>
            <a:endParaRPr lang="en-US" altLang="zh-CN" sz="2400" dirty="0">
              <a:solidFill>
                <a:srgbClr val="FF0066"/>
              </a:solidFill>
              <a:latin typeface="华文细黑" panose="02010600040101010101" pitchFamily="2" charset="-122"/>
              <a:ea typeface="华文细黑" panose="02010600040101010101" pitchFamily="2" charset="-122"/>
            </a:endParaRPr>
          </a:p>
          <a:p>
            <a:pPr marL="0" lvl="0" indent="0" eaLnBrk="1" hangingPunct="1">
              <a:spcBef>
                <a:spcPct val="0"/>
              </a:spcBef>
              <a:buClrTx/>
              <a:buFont typeface="Wingdings 2" pitchFamily="18" charset="2"/>
              <a:buNone/>
            </a:pPr>
            <a:r>
              <a:rPr lang="zh-CN" altLang="en-US" sz="2400" dirty="0">
                <a:solidFill>
                  <a:srgbClr val="FF0066"/>
                </a:solidFill>
                <a:latin typeface="华文细黑" panose="02010600040101010101" pitchFamily="2" charset="-122"/>
                <a:ea typeface="华文细黑" panose="02010600040101010101" pitchFamily="2" charset="-122"/>
              </a:rPr>
              <a:t>      </a:t>
            </a:r>
            <a:endParaRPr lang="zh-CN" altLang="en-US" sz="1800" b="0" dirty="0">
              <a:solidFill>
                <a:srgbClr val="FF0066"/>
              </a:solidFill>
              <a:latin typeface="华文细黑" panose="02010600040101010101" pitchFamily="2" charset="-122"/>
              <a:ea typeface="华文细黑" panose="02010600040101010101" pitchFamily="2" charset="-122"/>
            </a:endParaRPr>
          </a:p>
          <a:p>
            <a:pPr marL="0" lvl="0" indent="0" eaLnBrk="1" hangingPunct="1">
              <a:spcBef>
                <a:spcPct val="0"/>
              </a:spcBef>
              <a:buClrTx/>
              <a:buFont typeface="Wingdings 2" pitchFamily="18" charset="2"/>
              <a:buNone/>
            </a:pPr>
            <a:r>
              <a:rPr lang="zh-CN" altLang="en-US" sz="1800" b="0" dirty="0">
                <a:latin typeface="华文细黑" panose="02010600040101010101" pitchFamily="2" charset="-122"/>
                <a:ea typeface="华文细黑" panose="02010600040101010101" pitchFamily="2" charset="-122"/>
              </a:rPr>
              <a:t> </a:t>
            </a:r>
            <a:endParaRPr lang="en-US" altLang="zh-CN" sz="1800" b="0" dirty="0">
              <a:latin typeface="华文细黑" panose="02010600040101010101" pitchFamily="2" charset="-122"/>
              <a:ea typeface="华文细黑" panose="02010600040101010101" pitchFamily="2" charset="-122"/>
            </a:endParaRPr>
          </a:p>
          <a:p>
            <a:pPr marL="0" lvl="0" indent="0" eaLnBrk="1" hangingPunct="1">
              <a:spcBef>
                <a:spcPct val="0"/>
              </a:spcBef>
              <a:buClrTx/>
              <a:buFont typeface="Wingdings 2" pitchFamily="18" charset="2"/>
              <a:buNone/>
            </a:pPr>
            <a:r>
              <a:rPr lang="en-US" altLang="zh-CN" sz="1800" b="0" dirty="0">
                <a:latin typeface="华文细黑" panose="02010600040101010101" pitchFamily="2" charset="-122"/>
                <a:ea typeface="华文细黑" panose="02010600040101010101" pitchFamily="2" charset="-122"/>
              </a:rPr>
              <a:t>                                            </a:t>
            </a:r>
            <a:r>
              <a:rPr lang="en-US" altLang="zh-CN" sz="2400" dirty="0">
                <a:latin typeface="华文细黑" panose="02010600040101010101" pitchFamily="2" charset="-122"/>
                <a:ea typeface="华文细黑" panose="02010600040101010101" pitchFamily="2" charset="-122"/>
              </a:rPr>
              <a:t>         </a:t>
            </a:r>
            <a:endParaRPr lang="en-US" altLang="zh-CN" sz="2400" dirty="0">
              <a:latin typeface="华文细黑" panose="02010600040101010101" pitchFamily="2" charset="-122"/>
              <a:ea typeface="华文细黑" panose="02010600040101010101" pitchFamily="2" charset="-122"/>
            </a:endParaRPr>
          </a:p>
          <a:p>
            <a:pPr marL="0" lvl="0" indent="0" eaLnBrk="1" hangingPunct="1">
              <a:spcBef>
                <a:spcPct val="0"/>
              </a:spcBef>
              <a:buClrTx/>
              <a:buFont typeface="Wingdings 2" pitchFamily="18" charset="2"/>
              <a:buNone/>
            </a:pPr>
            <a:endParaRPr lang="en-US" altLang="zh-CN" sz="1800" b="0" dirty="0">
              <a:solidFill>
                <a:srgbClr val="080800"/>
              </a:solidFill>
              <a:latin typeface="华文细黑" panose="02010600040101010101" pitchFamily="2" charset="-122"/>
              <a:ea typeface="华文细黑" panose="02010600040101010101" pitchFamily="2" charset="-122"/>
            </a:endParaRPr>
          </a:p>
          <a:p>
            <a:pPr marL="0" lvl="0" indent="0" eaLnBrk="1" hangingPunct="1">
              <a:spcBef>
                <a:spcPct val="0"/>
              </a:spcBef>
              <a:buClrTx/>
              <a:buFont typeface="Wingdings 2" pitchFamily="18" charset="2"/>
              <a:buNone/>
            </a:pPr>
            <a:r>
              <a:rPr lang="en-US" altLang="zh-CN" sz="2400" b="0" dirty="0">
                <a:solidFill>
                  <a:srgbClr val="080800"/>
                </a:solidFill>
                <a:latin typeface="华文细黑" panose="02010600040101010101" pitchFamily="2" charset="-122"/>
                <a:ea typeface="华文细黑" panose="02010600040101010101" pitchFamily="2" charset="-122"/>
              </a:rPr>
              <a:t>        </a:t>
            </a:r>
            <a:r>
              <a:rPr lang="zh-CN" altLang="en-US" sz="2400" dirty="0">
                <a:solidFill>
                  <a:srgbClr val="080800"/>
                </a:solidFill>
                <a:latin typeface="华文细黑" panose="02010600040101010101" pitchFamily="2" charset="-122"/>
                <a:ea typeface="华文细黑" panose="02010600040101010101" pitchFamily="2" charset="-122"/>
              </a:rPr>
              <a:t>一般情况，         &lt;         ，表明地面净长波辐射的作用是使地面冷却。</a:t>
            </a:r>
            <a:endParaRPr lang="en-US" altLang="zh-CN" sz="2400" dirty="0">
              <a:solidFill>
                <a:srgbClr val="080800"/>
              </a:solidFill>
              <a:latin typeface="华文细黑" panose="02010600040101010101" pitchFamily="2" charset="-122"/>
              <a:ea typeface="华文细黑" panose="02010600040101010101" pitchFamily="2" charset="-122"/>
            </a:endParaRPr>
          </a:p>
          <a:p>
            <a:pPr marL="0" lvl="0" indent="0" eaLnBrk="1" hangingPunct="1">
              <a:spcBef>
                <a:spcPct val="0"/>
              </a:spcBef>
              <a:buClrTx/>
              <a:buFont typeface="Wingdings 2" pitchFamily="18" charset="2"/>
              <a:buNone/>
            </a:pPr>
            <a:endParaRPr lang="en-US" altLang="zh-CN" sz="2400" dirty="0">
              <a:solidFill>
                <a:srgbClr val="080800"/>
              </a:solidFill>
              <a:latin typeface="华文细黑" panose="02010600040101010101" pitchFamily="2" charset="-122"/>
              <a:ea typeface="华文细黑" panose="02010600040101010101" pitchFamily="2" charset="-122"/>
            </a:endParaRPr>
          </a:p>
          <a:p>
            <a:pPr marL="0" lvl="0" indent="0" eaLnBrk="1" hangingPunct="1">
              <a:spcBef>
                <a:spcPts val="1200"/>
              </a:spcBef>
              <a:buClrTx/>
              <a:buFont typeface="Wingdings 2" pitchFamily="18" charset="2"/>
              <a:buNone/>
            </a:pPr>
            <a:r>
              <a:rPr lang="zh-CN" altLang="en-US" sz="2400" dirty="0">
                <a:solidFill>
                  <a:srgbClr val="080800"/>
                </a:solidFill>
                <a:latin typeface="华文细黑" panose="02010600040101010101" pitchFamily="2" charset="-122"/>
                <a:ea typeface="华文细黑" panose="02010600040101010101" pitchFamily="2" charset="-122"/>
              </a:rPr>
              <a:t>      地面有效辐射</a:t>
            </a:r>
            <a:r>
              <a:rPr lang="en-US" altLang="zh-CN" sz="2400" dirty="0">
                <a:solidFill>
                  <a:srgbClr val="080800"/>
                </a:solidFill>
                <a:latin typeface="华文细黑" panose="02010600040101010101" pitchFamily="2" charset="-122"/>
                <a:ea typeface="华文细黑" panose="02010600040101010101" pitchFamily="2" charset="-122"/>
              </a:rPr>
              <a:t>E</a:t>
            </a:r>
            <a:r>
              <a:rPr lang="en-US" altLang="zh-CN" sz="2400" baseline="-25000" dirty="0">
                <a:solidFill>
                  <a:srgbClr val="080800"/>
                </a:solidFill>
                <a:latin typeface="华文细黑" panose="02010600040101010101" pitchFamily="2" charset="-122"/>
                <a:ea typeface="华文细黑" panose="02010600040101010101" pitchFamily="2" charset="-122"/>
              </a:rPr>
              <a:t>0</a:t>
            </a:r>
            <a:r>
              <a:rPr lang="zh-CN" altLang="en-US" sz="2400" dirty="0">
                <a:solidFill>
                  <a:srgbClr val="080800"/>
                </a:solidFill>
                <a:latin typeface="华文细黑" panose="02010600040101010101" pitchFamily="2" charset="-122"/>
                <a:ea typeface="华文细黑" panose="02010600040101010101" pitchFamily="2" charset="-122"/>
              </a:rPr>
              <a:t>：地面向上的长波辐射和大气逆辐射之差。</a:t>
            </a:r>
            <a:endParaRPr lang="zh-CN" altLang="en-US" sz="2400" dirty="0">
              <a:solidFill>
                <a:srgbClr val="080800"/>
              </a:solidFill>
              <a:latin typeface="华文细黑" panose="02010600040101010101" pitchFamily="2" charset="-122"/>
              <a:ea typeface="华文细黑" panose="02010600040101010101" pitchFamily="2" charset="-122"/>
            </a:endParaRPr>
          </a:p>
          <a:p>
            <a:pPr marL="0" lvl="0" indent="0" eaLnBrk="1" hangingPunct="1">
              <a:spcBef>
                <a:spcPct val="0"/>
              </a:spcBef>
              <a:buClrTx/>
              <a:buFont typeface="Wingdings 2" pitchFamily="18" charset="2"/>
              <a:buNone/>
            </a:pPr>
            <a:endParaRPr lang="zh-CN" altLang="en-US" sz="1800" b="0" dirty="0">
              <a:latin typeface="Times New Roman" panose="02020603050405020304" pitchFamily="18" charset="0"/>
              <a:ea typeface="宋体" panose="02010600030101010101" pitchFamily="2" charset="-122"/>
            </a:endParaRPr>
          </a:p>
          <a:p>
            <a:pPr marL="0" lvl="0" indent="0" eaLnBrk="1" hangingPunct="1">
              <a:spcBef>
                <a:spcPct val="0"/>
              </a:spcBef>
              <a:buClrTx/>
              <a:buFont typeface="Wingdings 2" pitchFamily="18" charset="2"/>
              <a:buNone/>
            </a:pPr>
            <a:endParaRPr lang="zh-CN" altLang="en-US" sz="1800" b="0" dirty="0">
              <a:latin typeface="Times New Roman" panose="02020603050405020304" pitchFamily="18" charset="0"/>
              <a:ea typeface="宋体" panose="02010600030101010101" pitchFamily="2" charset="-122"/>
            </a:endParaRPr>
          </a:p>
          <a:p>
            <a:pPr marL="0" lvl="0" indent="0" eaLnBrk="1" hangingPunct="1">
              <a:spcBef>
                <a:spcPct val="0"/>
              </a:spcBef>
              <a:buClrTx/>
              <a:buFont typeface="Wingdings 2" pitchFamily="18" charset="2"/>
              <a:buNone/>
            </a:pPr>
            <a:endParaRPr lang="zh-CN" altLang="en-US" sz="1800" b="0" dirty="0">
              <a:latin typeface="Times New Roman" panose="02020603050405020304" pitchFamily="18" charset="0"/>
              <a:ea typeface="宋体" panose="02010600030101010101" pitchFamily="2" charset="-122"/>
            </a:endParaRPr>
          </a:p>
          <a:p>
            <a:pPr marL="0" lvl="0" indent="0" eaLnBrk="1" hangingPunct="1">
              <a:spcBef>
                <a:spcPct val="0"/>
              </a:spcBef>
              <a:buClrTx/>
              <a:buFont typeface="Wingdings 2" pitchFamily="18" charset="2"/>
              <a:buNone/>
            </a:pPr>
            <a:r>
              <a:rPr lang="zh-CN" altLang="en-US" sz="1800" b="0" dirty="0">
                <a:latin typeface="Times New Roman" panose="02020603050405020304" pitchFamily="18" charset="0"/>
                <a:ea typeface="宋体" panose="02010600030101010101" pitchFamily="2" charset="-122"/>
              </a:rPr>
              <a:t>    </a:t>
            </a:r>
            <a:endParaRPr lang="zh-CN" altLang="en-US" sz="1800" b="0" dirty="0">
              <a:latin typeface="Times New Roman" panose="02020603050405020304" pitchFamily="18" charset="0"/>
              <a:ea typeface="宋体" panose="02010600030101010101" pitchFamily="2" charset="-122"/>
            </a:endParaRPr>
          </a:p>
          <a:p>
            <a:pPr marL="0" lvl="0" indent="0" eaLnBrk="1" hangingPunct="1">
              <a:spcBef>
                <a:spcPct val="0"/>
              </a:spcBef>
              <a:buClrTx/>
              <a:buFont typeface="Wingdings 2" pitchFamily="18" charset="2"/>
              <a:buNone/>
            </a:pPr>
            <a:r>
              <a:rPr lang="zh-CN" altLang="en-US" sz="1800" b="0" dirty="0">
                <a:latin typeface="Times New Roman" panose="02020603050405020304" pitchFamily="18" charset="0"/>
                <a:ea typeface="宋体" panose="02010600030101010101" pitchFamily="2" charset="-122"/>
              </a:rPr>
              <a:t>   </a:t>
            </a:r>
            <a:endParaRPr lang="en-US" altLang="zh-CN" sz="1800" b="0" dirty="0">
              <a:latin typeface="Times New Roman" panose="02020603050405020304" pitchFamily="18" charset="0"/>
              <a:ea typeface="宋体" panose="02010600030101010101" pitchFamily="2" charset="-122"/>
            </a:endParaRPr>
          </a:p>
          <a:p>
            <a:pPr marL="0" lvl="0" indent="0" eaLnBrk="1" hangingPunct="1">
              <a:spcBef>
                <a:spcPct val="0"/>
              </a:spcBef>
              <a:buClrTx/>
              <a:buFont typeface="Arial" panose="020B0604020202020204" pitchFamily="34" charset="0"/>
              <a:buNone/>
            </a:pPr>
            <a:endParaRPr lang="zh-CN" altLang="en-US" sz="1800" b="0" dirty="0">
              <a:latin typeface="Arial" panose="020B0604020202020204" pitchFamily="34" charset="0"/>
              <a:ea typeface="宋体" panose="02010600030101010101" pitchFamily="2" charset="-122"/>
            </a:endParaRPr>
          </a:p>
        </p:txBody>
      </p:sp>
      <p:graphicFrame>
        <p:nvGraphicFramePr>
          <p:cNvPr id="16387" name="Object 5"/>
          <p:cNvGraphicFramePr>
            <a:graphicFrameLocks noChangeAspect="1"/>
          </p:cNvGraphicFramePr>
          <p:nvPr/>
        </p:nvGraphicFramePr>
        <p:xfrm>
          <a:off x="2124075" y="2079625"/>
          <a:ext cx="1008063" cy="841375"/>
        </p:xfrm>
        <a:graphic>
          <a:graphicData uri="http://schemas.openxmlformats.org/presentationml/2006/ole">
            <mc:AlternateContent xmlns:mc="http://schemas.openxmlformats.org/markup-compatibility/2006">
              <mc:Choice xmlns:v="urn:schemas-microsoft-com:vml" Requires="v">
                <p:oleObj spid="_x0000_s3083" name="" r:id="rId1" imgW="304800" imgH="254000" progId="Equation.DSMT4">
                  <p:embed/>
                </p:oleObj>
              </mc:Choice>
              <mc:Fallback>
                <p:oleObj name="" r:id="rId1" imgW="304800" imgH="254000" progId="Equation.DSMT4">
                  <p:embed/>
                  <p:pic>
                    <p:nvPicPr>
                      <p:cNvPr id="0" name="图片 3082"/>
                      <p:cNvPicPr/>
                      <p:nvPr/>
                    </p:nvPicPr>
                    <p:blipFill>
                      <a:blip r:embed="rId2"/>
                      <a:stretch>
                        <a:fillRect/>
                      </a:stretch>
                    </p:blipFill>
                    <p:spPr>
                      <a:xfrm>
                        <a:off x="2124075" y="2079625"/>
                        <a:ext cx="1008063" cy="841375"/>
                      </a:xfrm>
                      <a:prstGeom prst="rect">
                        <a:avLst/>
                      </a:prstGeom>
                      <a:noFill/>
                      <a:ln w="38100">
                        <a:noFill/>
                        <a:miter/>
                      </a:ln>
                    </p:spPr>
                  </p:pic>
                </p:oleObj>
              </mc:Fallback>
            </mc:AlternateContent>
          </a:graphicData>
        </a:graphic>
      </p:graphicFrame>
      <p:graphicFrame>
        <p:nvGraphicFramePr>
          <p:cNvPr id="16388" name="Object 6"/>
          <p:cNvGraphicFramePr>
            <a:graphicFrameLocks noChangeAspect="1"/>
          </p:cNvGraphicFramePr>
          <p:nvPr/>
        </p:nvGraphicFramePr>
        <p:xfrm>
          <a:off x="3573463" y="2103438"/>
          <a:ext cx="3302000" cy="817562"/>
        </p:xfrm>
        <a:graphic>
          <a:graphicData uri="http://schemas.openxmlformats.org/presentationml/2006/ole">
            <mc:AlternateContent xmlns:mc="http://schemas.openxmlformats.org/markup-compatibility/2006">
              <mc:Choice xmlns:v="urn:schemas-microsoft-com:vml" Requires="v">
                <p:oleObj spid="_x0000_s3080" name="" r:id="rId3" imgW="1078865" imgH="266700" progId="Equation.DSMT4">
                  <p:embed/>
                </p:oleObj>
              </mc:Choice>
              <mc:Fallback>
                <p:oleObj name="" r:id="rId3" imgW="1078865" imgH="266700" progId="Equation.DSMT4">
                  <p:embed/>
                  <p:pic>
                    <p:nvPicPr>
                      <p:cNvPr id="0" name="图片 3079"/>
                      <p:cNvPicPr/>
                      <p:nvPr/>
                    </p:nvPicPr>
                    <p:blipFill>
                      <a:blip r:embed="rId4"/>
                      <a:stretch>
                        <a:fillRect/>
                      </a:stretch>
                    </p:blipFill>
                    <p:spPr>
                      <a:xfrm>
                        <a:off x="3573463" y="2103438"/>
                        <a:ext cx="3302000" cy="817562"/>
                      </a:xfrm>
                      <a:prstGeom prst="rect">
                        <a:avLst/>
                      </a:prstGeom>
                      <a:noFill/>
                      <a:ln w="38100">
                        <a:noFill/>
                        <a:miter/>
                      </a:ln>
                    </p:spPr>
                  </p:pic>
                </p:oleObj>
              </mc:Fallback>
            </mc:AlternateContent>
          </a:graphicData>
        </a:graphic>
      </p:graphicFrame>
      <p:graphicFrame>
        <p:nvGraphicFramePr>
          <p:cNvPr id="16389" name="Object 8"/>
          <p:cNvGraphicFramePr>
            <a:graphicFrameLocks noChangeAspect="1"/>
          </p:cNvGraphicFramePr>
          <p:nvPr/>
        </p:nvGraphicFramePr>
        <p:xfrm>
          <a:off x="3678238" y="2997200"/>
          <a:ext cx="533400" cy="533400"/>
        </p:xfrm>
        <a:graphic>
          <a:graphicData uri="http://schemas.openxmlformats.org/presentationml/2006/ole">
            <mc:AlternateContent xmlns:mc="http://schemas.openxmlformats.org/markup-compatibility/2006">
              <mc:Choice xmlns:v="urn:schemas-microsoft-com:vml" Requires="v">
                <p:oleObj spid="_x0000_s3076" name="" r:id="rId5" imgW="330200" imgH="266700" progId="Equation.DSMT4">
                  <p:embed/>
                </p:oleObj>
              </mc:Choice>
              <mc:Fallback>
                <p:oleObj name="" r:id="rId5" imgW="330200" imgH="266700" progId="Equation.DSMT4">
                  <p:embed/>
                  <p:pic>
                    <p:nvPicPr>
                      <p:cNvPr id="0" name="图片 3075"/>
                      <p:cNvPicPr/>
                      <p:nvPr/>
                    </p:nvPicPr>
                    <p:blipFill>
                      <a:blip r:embed="rId6"/>
                      <a:stretch>
                        <a:fillRect/>
                      </a:stretch>
                    </p:blipFill>
                    <p:spPr>
                      <a:xfrm>
                        <a:off x="3678238" y="2997200"/>
                        <a:ext cx="533400" cy="533400"/>
                      </a:xfrm>
                      <a:prstGeom prst="rect">
                        <a:avLst/>
                      </a:prstGeom>
                      <a:noFill/>
                      <a:ln w="38100">
                        <a:noFill/>
                        <a:miter/>
                      </a:ln>
                    </p:spPr>
                  </p:pic>
                </p:oleObj>
              </mc:Fallback>
            </mc:AlternateContent>
          </a:graphicData>
        </a:graphic>
      </p:graphicFrame>
      <p:graphicFrame>
        <p:nvGraphicFramePr>
          <p:cNvPr id="16390" name="Object 9"/>
          <p:cNvGraphicFramePr>
            <a:graphicFrameLocks noChangeAspect="1"/>
          </p:cNvGraphicFramePr>
          <p:nvPr/>
        </p:nvGraphicFramePr>
        <p:xfrm>
          <a:off x="1763713" y="5157788"/>
          <a:ext cx="5727700" cy="804862"/>
        </p:xfrm>
        <a:graphic>
          <a:graphicData uri="http://schemas.openxmlformats.org/presentationml/2006/ole">
            <mc:AlternateContent xmlns:mc="http://schemas.openxmlformats.org/markup-compatibility/2006">
              <mc:Choice xmlns:v="urn:schemas-microsoft-com:vml" Requires="v">
                <p:oleObj spid="_x0000_s3077" name="" r:id="rId7" imgW="1711960" imgH="266065" progId="Equation.DSMT4">
                  <p:embed/>
                </p:oleObj>
              </mc:Choice>
              <mc:Fallback>
                <p:oleObj name="" r:id="rId7" imgW="1711960" imgH="266065" progId="Equation.DSMT4">
                  <p:embed/>
                  <p:pic>
                    <p:nvPicPr>
                      <p:cNvPr id="0" name="图片 3076"/>
                      <p:cNvPicPr/>
                      <p:nvPr/>
                    </p:nvPicPr>
                    <p:blipFill>
                      <a:blip r:embed="rId8"/>
                      <a:stretch>
                        <a:fillRect/>
                      </a:stretch>
                    </p:blipFill>
                    <p:spPr>
                      <a:xfrm>
                        <a:off x="1763713" y="5157788"/>
                        <a:ext cx="5727700" cy="804862"/>
                      </a:xfrm>
                      <a:prstGeom prst="rect">
                        <a:avLst/>
                      </a:prstGeom>
                      <a:solidFill>
                        <a:srgbClr val="CCFFCC"/>
                      </a:solidFill>
                      <a:ln w="38100">
                        <a:noFill/>
                        <a:miter/>
                      </a:ln>
                    </p:spPr>
                  </p:pic>
                </p:oleObj>
              </mc:Fallback>
            </mc:AlternateContent>
          </a:graphicData>
        </a:graphic>
      </p:graphicFrame>
      <p:graphicFrame>
        <p:nvGraphicFramePr>
          <p:cNvPr id="16391" name="Object 7"/>
          <p:cNvGraphicFramePr>
            <a:graphicFrameLocks noChangeAspect="1"/>
          </p:cNvGraphicFramePr>
          <p:nvPr/>
        </p:nvGraphicFramePr>
        <p:xfrm>
          <a:off x="2635250" y="2997200"/>
          <a:ext cx="671513" cy="541338"/>
        </p:xfrm>
        <a:graphic>
          <a:graphicData uri="http://schemas.openxmlformats.org/presentationml/2006/ole">
            <mc:AlternateContent xmlns:mc="http://schemas.openxmlformats.org/markup-compatibility/2006">
              <mc:Choice xmlns:v="urn:schemas-microsoft-com:vml" Requires="v">
                <p:oleObj spid="_x0000_s3078" name="" r:id="rId9" imgW="330200" imgH="266700" progId="Equation.DSMT4">
                  <p:embed/>
                </p:oleObj>
              </mc:Choice>
              <mc:Fallback>
                <p:oleObj name="" r:id="rId9" imgW="330200" imgH="266700" progId="Equation.DSMT4">
                  <p:embed/>
                  <p:pic>
                    <p:nvPicPr>
                      <p:cNvPr id="0" name="图片 3077"/>
                      <p:cNvPicPr/>
                      <p:nvPr/>
                    </p:nvPicPr>
                    <p:blipFill>
                      <a:blip r:embed="rId10"/>
                      <a:stretch>
                        <a:fillRect/>
                      </a:stretch>
                    </p:blipFill>
                    <p:spPr>
                      <a:xfrm>
                        <a:off x="2635250" y="2997200"/>
                        <a:ext cx="671513" cy="541338"/>
                      </a:xfrm>
                      <a:prstGeom prst="rect">
                        <a:avLst/>
                      </a:prstGeom>
                      <a:noFill/>
                      <a:ln w="38100">
                        <a:noFill/>
                        <a:miter/>
                      </a:ln>
                    </p:spPr>
                  </p:pic>
                </p:oleObj>
              </mc:Fallback>
            </mc:AlternateContent>
          </a:graphicData>
        </a:graphic>
      </p:graphicFrame>
      <p:sp>
        <p:nvSpPr>
          <p:cNvPr id="16392" name="TextBox 2"/>
          <p:cNvSpPr txBox="1"/>
          <p:nvPr/>
        </p:nvSpPr>
        <p:spPr>
          <a:xfrm>
            <a:off x="3132138" y="2276475"/>
            <a:ext cx="431800" cy="523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en-US" altLang="zh-CN" b="0" dirty="0">
                <a:solidFill>
                  <a:srgbClr val="080808"/>
                </a:solidFill>
                <a:latin typeface="Arial" panose="020B0604020202020204" pitchFamily="34" charset="0"/>
                <a:ea typeface="宋体" panose="02010600030101010101" pitchFamily="2" charset="-122"/>
              </a:rPr>
              <a:t>=</a:t>
            </a:r>
            <a:endParaRPr lang="zh-CN" altLang="en-US" b="0" dirty="0">
              <a:solidFill>
                <a:srgbClr val="080808"/>
              </a:solidFill>
              <a:latin typeface="Arial" panose="020B0604020202020204" pitchFamily="34" charset="0"/>
              <a:ea typeface="宋体" panose="02010600030101010101" pitchFamily="2" charset="-122"/>
            </a:endParaRPr>
          </a:p>
        </p:txBody>
      </p:sp>
      <p:sp>
        <p:nvSpPr>
          <p:cNvPr id="16393" name="Rectangle 3"/>
          <p:cNvSpPr>
            <a:spLocks noGrp="1"/>
          </p:cNvSpPr>
          <p:nvPr>
            <p:ph type="title"/>
          </p:nvPr>
        </p:nvSpPr>
        <p:spPr>
          <a:xfrm>
            <a:off x="1258888" y="233363"/>
            <a:ext cx="7862887" cy="563562"/>
          </a:xfrm>
          <a:ln/>
        </p:spPr>
        <p:txBody>
          <a:bodyPr vert="horz" wrap="square" lIns="91440" tIns="45720" rIns="91440" bIns="45720" anchor="ctr" anchorCtr="0"/>
          <a:p>
            <a:pPr algn="ctr"/>
            <a:r>
              <a:rPr lang="en-US" altLang="zh-CN" sz="4000" dirty="0">
                <a:solidFill>
                  <a:srgbClr val="FFFF00"/>
                </a:solidFill>
                <a:latin typeface="黑体" panose="02010609060101010101" pitchFamily="49" charset="-122"/>
                <a:ea typeface="黑体" panose="02010609060101010101" pitchFamily="49" charset="-122"/>
              </a:rPr>
              <a:t>1.</a:t>
            </a:r>
            <a:r>
              <a:rPr lang="zh-CN" altLang="en-US" sz="4000" dirty="0">
                <a:solidFill>
                  <a:srgbClr val="FFFF00"/>
                </a:solidFill>
                <a:latin typeface="黑体" panose="02010609060101010101" pitchFamily="49" charset="-122"/>
                <a:ea typeface="黑体" panose="02010609060101010101" pitchFamily="49" charset="-122"/>
              </a:rPr>
              <a:t>地面的辐射差额</a:t>
            </a:r>
            <a:endParaRPr lang="zh-CN" altLang="en-US" sz="4000" dirty="0">
              <a:solidFill>
                <a:srgbClr val="FFFF00"/>
              </a:solidFill>
              <a:latin typeface="黑体" panose="02010609060101010101" pitchFamily="49" charset="-122"/>
              <a:ea typeface="黑体" panose="02010609060101010101"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1027"/>
          <p:cNvSpPr>
            <a:spLocks noGrp="1"/>
          </p:cNvSpPr>
          <p:nvPr>
            <p:ph idx="1"/>
          </p:nvPr>
        </p:nvSpPr>
        <p:spPr>
          <a:xfrm>
            <a:off x="457200" y="3789363"/>
            <a:ext cx="8229600" cy="2303462"/>
          </a:xfrm>
          <a:ln/>
        </p:spPr>
        <p:txBody>
          <a:bodyPr vert="horz" wrap="square" lIns="91440" tIns="45720" rIns="91440" bIns="45720" anchor="t" anchorCtr="0"/>
          <a:p>
            <a:pPr marL="0" indent="342900" algn="just">
              <a:lnSpc>
                <a:spcPct val="150000"/>
              </a:lnSpc>
              <a:buFont typeface="Wingdings 2" pitchFamily="18" charset="2"/>
              <a:buNone/>
            </a:pPr>
            <a:r>
              <a:rPr lang="zh-CN" altLang="en-US" sz="2400" dirty="0">
                <a:solidFill>
                  <a:srgbClr val="0000FF"/>
                </a:solidFill>
                <a:latin typeface="华文细黑" panose="02010600040101010101" pitchFamily="2" charset="-122"/>
                <a:ea typeface="华文细黑" panose="02010600040101010101" pitchFamily="2" charset="-122"/>
              </a:rPr>
              <a:t>  地球表面的辐射差额（净辐射）：就是地面所吸收的太阳短波辐射和地面放出的有效辐射（长波）之差。</a:t>
            </a:r>
            <a:endParaRPr lang="en-US" altLang="zh-CN" sz="2400" dirty="0">
              <a:solidFill>
                <a:srgbClr val="0000FF"/>
              </a:solidFill>
              <a:latin typeface="华文细黑" panose="02010600040101010101" pitchFamily="2" charset="-122"/>
              <a:ea typeface="华文细黑" panose="02010600040101010101" pitchFamily="2" charset="-122"/>
            </a:endParaRPr>
          </a:p>
          <a:p>
            <a:pPr marL="0" indent="342900" algn="just">
              <a:lnSpc>
                <a:spcPct val="150000"/>
              </a:lnSpc>
              <a:buFont typeface="Wingdings 2" pitchFamily="18" charset="2"/>
              <a:buNone/>
            </a:pPr>
            <a:r>
              <a:rPr lang="zh-CN" altLang="en-US" sz="2400" dirty="0">
                <a:solidFill>
                  <a:srgbClr val="0000FF"/>
                </a:solidFill>
                <a:latin typeface="华文细黑" panose="02010600040101010101" pitchFamily="2" charset="-122"/>
                <a:ea typeface="华文细黑" panose="02010600040101010101" pitchFamily="2" charset="-122"/>
              </a:rPr>
              <a:t>  在白天无云条件下，</a:t>
            </a:r>
            <a:r>
              <a:rPr lang="en-US" altLang="zh-CN" sz="2400" i="1" dirty="0">
                <a:solidFill>
                  <a:srgbClr val="0000FF"/>
                </a:solidFill>
                <a:latin typeface="华文细黑" panose="02010600040101010101" pitchFamily="2" charset="-122"/>
                <a:ea typeface="华文细黑" panose="02010600040101010101" pitchFamily="2" charset="-122"/>
              </a:rPr>
              <a:t>E</a:t>
            </a:r>
            <a:r>
              <a:rPr lang="en-US" altLang="zh-CN" sz="2400" baseline="-30000" dirty="0">
                <a:solidFill>
                  <a:srgbClr val="0000FF"/>
                </a:solidFill>
                <a:latin typeface="华文细黑" panose="02010600040101010101" pitchFamily="2" charset="-122"/>
                <a:ea typeface="华文细黑" panose="02010600040101010101" pitchFamily="2" charset="-122"/>
              </a:rPr>
              <a:t>0</a:t>
            </a:r>
            <a:r>
              <a:rPr lang="en-US" altLang="zh-CN" sz="2400" baseline="30000" dirty="0">
                <a:solidFill>
                  <a:srgbClr val="0000FF"/>
                </a:solidFill>
                <a:latin typeface="华文细黑" panose="02010600040101010101" pitchFamily="2" charset="-122"/>
                <a:ea typeface="华文细黑" panose="02010600040101010101" pitchFamily="2" charset="-122"/>
              </a:rPr>
              <a:t>*</a:t>
            </a:r>
            <a:r>
              <a:rPr lang="zh-CN" altLang="en-US" sz="2400" dirty="0">
                <a:solidFill>
                  <a:srgbClr val="0000FF"/>
                </a:solidFill>
                <a:latin typeface="华文细黑" panose="02010600040101010101" pitchFamily="2" charset="-122"/>
                <a:ea typeface="华文细黑" panose="02010600040101010101" pitchFamily="2" charset="-122"/>
              </a:rPr>
              <a:t>是正值，地面升温；而在夜间，因无太阳辐射，</a:t>
            </a:r>
            <a:r>
              <a:rPr lang="en-US" altLang="zh-CN" sz="2400" i="1" dirty="0">
                <a:solidFill>
                  <a:srgbClr val="0000FF"/>
                </a:solidFill>
                <a:latin typeface="华文细黑" panose="02010600040101010101" pitchFamily="2" charset="-122"/>
                <a:ea typeface="华文细黑" panose="02010600040101010101" pitchFamily="2" charset="-122"/>
              </a:rPr>
              <a:t>E</a:t>
            </a:r>
            <a:r>
              <a:rPr lang="en-US" altLang="zh-CN" sz="2400" baseline="-30000" dirty="0">
                <a:solidFill>
                  <a:srgbClr val="0000FF"/>
                </a:solidFill>
                <a:latin typeface="华文细黑" panose="02010600040101010101" pitchFamily="2" charset="-122"/>
                <a:ea typeface="华文细黑" panose="02010600040101010101" pitchFamily="2" charset="-122"/>
              </a:rPr>
              <a:t>0</a:t>
            </a:r>
            <a:r>
              <a:rPr lang="en-US" altLang="zh-CN" sz="2400" baseline="30000" dirty="0">
                <a:solidFill>
                  <a:srgbClr val="0000FF"/>
                </a:solidFill>
                <a:latin typeface="华文细黑" panose="02010600040101010101" pitchFamily="2" charset="-122"/>
                <a:ea typeface="华文细黑" panose="02010600040101010101" pitchFamily="2" charset="-122"/>
              </a:rPr>
              <a:t>*</a:t>
            </a:r>
            <a:r>
              <a:rPr lang="zh-CN" altLang="en-US" sz="2400" dirty="0">
                <a:solidFill>
                  <a:srgbClr val="0000FF"/>
                </a:solidFill>
                <a:latin typeface="华文细黑" panose="02010600040101010101" pitchFamily="2" charset="-122"/>
                <a:ea typeface="华文细黑" panose="02010600040101010101" pitchFamily="2" charset="-122"/>
              </a:rPr>
              <a:t>是负值，则地面降温。</a:t>
            </a:r>
            <a:endParaRPr lang="en-US" altLang="zh-CN" sz="2400" dirty="0">
              <a:solidFill>
                <a:srgbClr val="0000FF"/>
              </a:solidFill>
              <a:latin typeface="华文细黑" panose="02010600040101010101" pitchFamily="2" charset="-122"/>
              <a:ea typeface="华文细黑" panose="02010600040101010101" pitchFamily="2" charset="-122"/>
            </a:endParaRPr>
          </a:p>
        </p:txBody>
      </p:sp>
      <p:pic>
        <p:nvPicPr>
          <p:cNvPr id="17411" name="Picture 1040"/>
          <p:cNvPicPr>
            <a:picLocks noChangeAspect="1"/>
          </p:cNvPicPr>
          <p:nvPr/>
        </p:nvPicPr>
        <p:blipFill>
          <a:blip r:embed="rId1"/>
          <a:stretch>
            <a:fillRect/>
          </a:stretch>
        </p:blipFill>
        <p:spPr>
          <a:xfrm>
            <a:off x="304800" y="1557338"/>
            <a:ext cx="8624888" cy="1958975"/>
          </a:xfrm>
          <a:prstGeom prst="rect">
            <a:avLst/>
          </a:prstGeom>
          <a:noFill/>
          <a:ln w="9525">
            <a:noFill/>
          </a:ln>
        </p:spPr>
      </p:pic>
      <p:sp>
        <p:nvSpPr>
          <p:cNvPr id="17412" name="Rectangle 3"/>
          <p:cNvSpPr>
            <a:spLocks noGrp="1"/>
          </p:cNvSpPr>
          <p:nvPr>
            <p:ph type="title"/>
          </p:nvPr>
        </p:nvSpPr>
        <p:spPr>
          <a:xfrm>
            <a:off x="1428750" y="166688"/>
            <a:ext cx="7715250" cy="762000"/>
          </a:xfrm>
          <a:ln/>
        </p:spPr>
        <p:txBody>
          <a:bodyPr vert="horz" wrap="square" lIns="91440" tIns="45720" rIns="91440" bIns="45720" anchor="ctr" anchorCtr="0"/>
          <a:p>
            <a:pPr algn="ctr"/>
            <a:r>
              <a:rPr lang="en-US" altLang="zh-CN" sz="4000" dirty="0">
                <a:solidFill>
                  <a:srgbClr val="FFFF00"/>
                </a:solidFill>
                <a:latin typeface="黑体" panose="02010609060101010101" pitchFamily="49" charset="-122"/>
                <a:ea typeface="黑体" panose="02010609060101010101" pitchFamily="49" charset="-122"/>
              </a:rPr>
              <a:t>1.</a:t>
            </a:r>
            <a:r>
              <a:rPr lang="zh-CN" altLang="en-US" sz="4000" dirty="0">
                <a:solidFill>
                  <a:srgbClr val="FFFF00"/>
                </a:solidFill>
                <a:latin typeface="黑体" panose="02010609060101010101" pitchFamily="49" charset="-122"/>
                <a:ea typeface="黑体" panose="02010609060101010101" pitchFamily="49" charset="-122"/>
              </a:rPr>
              <a:t>地面的辐射差额</a:t>
            </a:r>
            <a:endParaRPr lang="zh-CN" altLang="en-US" sz="4000" dirty="0">
              <a:solidFill>
                <a:srgbClr val="FFFF00"/>
              </a:solidFill>
              <a:latin typeface="黑体" panose="02010609060101010101" pitchFamily="49" charset="-122"/>
              <a:ea typeface="黑体" panose="02010609060101010101"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3"/>
          <p:cNvSpPr>
            <a:spLocks noGrp="1"/>
          </p:cNvSpPr>
          <p:nvPr>
            <p:ph idx="1"/>
          </p:nvPr>
        </p:nvSpPr>
        <p:spPr>
          <a:xfrm>
            <a:off x="1128713" y="1484313"/>
            <a:ext cx="7729537" cy="5040312"/>
          </a:xfrm>
          <a:ln/>
        </p:spPr>
        <p:txBody>
          <a:bodyPr vert="horz" wrap="square" lIns="91440" tIns="45720" rIns="91440" bIns="45720" anchor="t" anchorCtr="0"/>
          <a:p>
            <a:pPr>
              <a:spcBef>
                <a:spcPct val="25000"/>
              </a:spcBef>
              <a:spcAft>
                <a:spcPct val="25000"/>
              </a:spcAft>
              <a:buFont typeface="Wingdings 2" pitchFamily="18" charset="2"/>
              <a:buNone/>
            </a:pPr>
            <a:endParaRPr lang="en-US" altLang="zh-CN" dirty="0">
              <a:latin typeface="Times New Roman" panose="02020603050405020304" pitchFamily="18" charset="0"/>
              <a:ea typeface="宋体" panose="02010600030101010101" pitchFamily="2" charset="-122"/>
            </a:endParaRPr>
          </a:p>
          <a:p>
            <a:pPr>
              <a:spcBef>
                <a:spcPct val="25000"/>
              </a:spcBef>
              <a:spcAft>
                <a:spcPct val="25000"/>
              </a:spcAft>
              <a:buFont typeface="Wingdings 2" pitchFamily="18" charset="2"/>
              <a:buNone/>
            </a:pPr>
            <a:endParaRPr lang="zh-CN" altLang="en-US" sz="2000" dirty="0">
              <a:latin typeface="Times New Roman" panose="02020603050405020304" pitchFamily="18" charset="0"/>
              <a:ea typeface="宋体" panose="02010600030101010101" pitchFamily="2" charset="-122"/>
            </a:endParaRPr>
          </a:p>
          <a:p>
            <a:pPr>
              <a:spcBef>
                <a:spcPct val="25000"/>
              </a:spcBef>
              <a:spcAft>
                <a:spcPct val="25000"/>
              </a:spcAft>
              <a:buFont typeface="Wingdings 2" pitchFamily="18" charset="2"/>
              <a:buNone/>
            </a:pPr>
            <a:endParaRPr lang="zh-CN" altLang="en-US" sz="2000" dirty="0">
              <a:latin typeface="Times New Roman" panose="02020603050405020304" pitchFamily="18" charset="0"/>
              <a:ea typeface="宋体" panose="02010600030101010101" pitchFamily="2" charset="-122"/>
            </a:endParaRPr>
          </a:p>
          <a:p>
            <a:pPr>
              <a:spcBef>
                <a:spcPct val="25000"/>
              </a:spcBef>
              <a:spcAft>
                <a:spcPct val="25000"/>
              </a:spcAft>
              <a:buFont typeface="Wingdings 2" pitchFamily="18" charset="2"/>
              <a:buNone/>
            </a:pPr>
            <a:endParaRPr lang="zh-CN" altLang="en-US" sz="2000" dirty="0">
              <a:latin typeface="Times New Roman" panose="02020603050405020304" pitchFamily="18" charset="0"/>
              <a:ea typeface="宋体" panose="02010600030101010101" pitchFamily="2" charset="-122"/>
            </a:endParaRPr>
          </a:p>
          <a:p>
            <a:pPr>
              <a:spcBef>
                <a:spcPct val="25000"/>
              </a:spcBef>
              <a:spcAft>
                <a:spcPct val="25000"/>
              </a:spcAft>
              <a:buFont typeface="Wingdings 2" pitchFamily="18" charset="2"/>
              <a:buNone/>
            </a:pPr>
            <a:endParaRPr lang="zh-CN" altLang="en-US" sz="2000" dirty="0">
              <a:latin typeface="Times New Roman" panose="02020603050405020304" pitchFamily="18" charset="0"/>
              <a:ea typeface="宋体" panose="02010600030101010101" pitchFamily="2" charset="-122"/>
            </a:endParaRPr>
          </a:p>
          <a:p>
            <a:pPr>
              <a:spcBef>
                <a:spcPct val="25000"/>
              </a:spcBef>
              <a:spcAft>
                <a:spcPct val="25000"/>
              </a:spcAft>
              <a:buFont typeface="Wingdings 2" pitchFamily="18" charset="2"/>
              <a:buNone/>
            </a:pPr>
            <a:endParaRPr lang="zh-CN" altLang="en-US" sz="2000" dirty="0">
              <a:latin typeface="Times New Roman" panose="02020603050405020304" pitchFamily="18" charset="0"/>
              <a:ea typeface="宋体" panose="02010600030101010101" pitchFamily="2" charset="-122"/>
            </a:endParaRPr>
          </a:p>
          <a:p>
            <a:pPr>
              <a:spcBef>
                <a:spcPct val="25000"/>
              </a:spcBef>
              <a:spcAft>
                <a:spcPct val="25000"/>
              </a:spcAft>
              <a:buFont typeface="Wingdings 2" pitchFamily="18" charset="2"/>
              <a:buNone/>
            </a:pPr>
            <a:endParaRPr lang="zh-CN" altLang="en-US" sz="2000" dirty="0">
              <a:latin typeface="Times New Roman" panose="02020603050405020304" pitchFamily="18" charset="0"/>
              <a:ea typeface="宋体" panose="02010600030101010101" pitchFamily="2" charset="-122"/>
            </a:endParaRPr>
          </a:p>
          <a:p>
            <a:pPr>
              <a:spcBef>
                <a:spcPct val="25000"/>
              </a:spcBef>
              <a:spcAft>
                <a:spcPct val="25000"/>
              </a:spcAft>
              <a:buFont typeface="Wingdings 2" pitchFamily="18" charset="2"/>
              <a:buNone/>
            </a:pPr>
            <a:r>
              <a:rPr lang="zh-CN" altLang="en-US" sz="2400" dirty="0">
                <a:solidFill>
                  <a:srgbClr val="0000FF"/>
                </a:solidFill>
                <a:latin typeface="华文细黑" panose="02010600040101010101" pitchFamily="2" charset="-122"/>
                <a:ea typeface="华文细黑" panose="02010600040101010101" pitchFamily="2" charset="-122"/>
              </a:rPr>
              <a:t>内陆和海洋比较：</a:t>
            </a:r>
            <a:endParaRPr lang="zh-CN" altLang="en-US" sz="2400" dirty="0">
              <a:solidFill>
                <a:srgbClr val="0000FF"/>
              </a:solidFill>
              <a:latin typeface="华文细黑" panose="02010600040101010101" pitchFamily="2" charset="-122"/>
              <a:ea typeface="华文细黑" panose="02010600040101010101" pitchFamily="2" charset="-122"/>
            </a:endParaRPr>
          </a:p>
          <a:p>
            <a:pPr>
              <a:spcBef>
                <a:spcPct val="25000"/>
              </a:spcBef>
              <a:spcAft>
                <a:spcPct val="25000"/>
              </a:spcAft>
              <a:buFont typeface="Wingdings 2" pitchFamily="18" charset="2"/>
              <a:buNone/>
            </a:pPr>
            <a:r>
              <a:rPr lang="zh-CN" altLang="en-US" sz="2400" dirty="0">
                <a:solidFill>
                  <a:srgbClr val="0000FF"/>
                </a:solidFill>
                <a:latin typeface="华文细黑" panose="02010600040101010101" pitchFamily="2" charset="-122"/>
                <a:ea typeface="华文细黑" panose="02010600040101010101" pitchFamily="2" charset="-122"/>
              </a:rPr>
              <a:t>（1）洋面反射小⟶有效辐射小⟶辐射差额大；</a:t>
            </a:r>
            <a:endParaRPr lang="zh-CN" altLang="en-US" sz="2400" dirty="0">
              <a:solidFill>
                <a:srgbClr val="0000FF"/>
              </a:solidFill>
              <a:latin typeface="华文细黑" panose="02010600040101010101" pitchFamily="2" charset="-122"/>
              <a:ea typeface="华文细黑" panose="02010600040101010101" pitchFamily="2" charset="-122"/>
            </a:endParaRPr>
          </a:p>
          <a:p>
            <a:pPr>
              <a:spcBef>
                <a:spcPct val="25000"/>
              </a:spcBef>
              <a:spcAft>
                <a:spcPct val="25000"/>
              </a:spcAft>
              <a:buFont typeface="Wingdings 2" pitchFamily="18" charset="2"/>
              <a:buNone/>
            </a:pPr>
            <a:r>
              <a:rPr lang="zh-CN" altLang="en-US" sz="2400" dirty="0">
                <a:solidFill>
                  <a:srgbClr val="0000FF"/>
                </a:solidFill>
                <a:latin typeface="华文细黑" panose="02010600040101010101" pitchFamily="2" charset="-122"/>
                <a:ea typeface="华文细黑" panose="02010600040101010101" pitchFamily="2" charset="-122"/>
              </a:rPr>
              <a:t>（2）内陆温度变化大⟶有效辐射变化大。</a:t>
            </a:r>
            <a:endParaRPr lang="zh-CN" altLang="en-US" sz="2400" dirty="0">
              <a:solidFill>
                <a:srgbClr val="0000FF"/>
              </a:solidFill>
              <a:latin typeface="华文细黑" panose="02010600040101010101" pitchFamily="2" charset="-122"/>
              <a:ea typeface="华文细黑" panose="02010600040101010101" pitchFamily="2" charset="-122"/>
            </a:endParaRPr>
          </a:p>
        </p:txBody>
      </p:sp>
      <p:pic>
        <p:nvPicPr>
          <p:cNvPr id="18435" name="Picture 4"/>
          <p:cNvPicPr>
            <a:picLocks noChangeAspect="1"/>
          </p:cNvPicPr>
          <p:nvPr/>
        </p:nvPicPr>
        <p:blipFill>
          <a:blip r:embed="rId1"/>
          <a:stretch>
            <a:fillRect/>
          </a:stretch>
        </p:blipFill>
        <p:spPr>
          <a:xfrm>
            <a:off x="215900" y="1676400"/>
            <a:ext cx="8710613" cy="3128963"/>
          </a:xfrm>
          <a:prstGeom prst="rect">
            <a:avLst/>
          </a:prstGeom>
          <a:noFill/>
          <a:ln w="9525">
            <a:noFill/>
          </a:ln>
        </p:spPr>
      </p:pic>
      <p:sp>
        <p:nvSpPr>
          <p:cNvPr id="18436" name="Rectangle 3"/>
          <p:cNvSpPr>
            <a:spLocks noGrp="1"/>
          </p:cNvSpPr>
          <p:nvPr>
            <p:ph type="title"/>
          </p:nvPr>
        </p:nvSpPr>
        <p:spPr>
          <a:ln/>
        </p:spPr>
        <p:txBody>
          <a:bodyPr vert="horz" wrap="square" lIns="91440" tIns="45720" rIns="91440" bIns="45720" anchor="ctr" anchorCtr="0"/>
          <a:p>
            <a:pPr algn="ctr"/>
            <a:r>
              <a:rPr lang="en-US" altLang="zh-CN" sz="4000" dirty="0">
                <a:solidFill>
                  <a:srgbClr val="FFFF00"/>
                </a:solidFill>
                <a:latin typeface="黑体" panose="02010609060101010101" pitchFamily="49" charset="-122"/>
                <a:ea typeface="黑体" panose="02010609060101010101" pitchFamily="49" charset="-122"/>
              </a:rPr>
              <a:t>1.</a:t>
            </a:r>
            <a:r>
              <a:rPr lang="zh-CN" altLang="en-US" sz="4000" dirty="0">
                <a:solidFill>
                  <a:srgbClr val="FFFF00"/>
                </a:solidFill>
                <a:latin typeface="黑体" panose="02010609060101010101" pitchFamily="49" charset="-122"/>
                <a:ea typeface="黑体" panose="02010609060101010101" pitchFamily="49" charset="-122"/>
              </a:rPr>
              <a:t>地面的辐射差额</a:t>
            </a:r>
            <a:endParaRPr lang="zh-CN" altLang="en-US" sz="4000" dirty="0">
              <a:solidFill>
                <a:srgbClr val="FFFF00"/>
              </a:solidFill>
              <a:latin typeface="黑体" panose="02010609060101010101" pitchFamily="49" charset="-122"/>
              <a:ea typeface="黑体" panose="02010609060101010101"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TextBox 7"/>
          <p:cNvSpPr txBox="1"/>
          <p:nvPr/>
        </p:nvSpPr>
        <p:spPr>
          <a:xfrm>
            <a:off x="357188" y="6357938"/>
            <a:ext cx="8643937" cy="369887"/>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zh-CN" altLang="en-US" sz="1800" b="0" dirty="0">
              <a:latin typeface="Arial" panose="020B0604020202020204" pitchFamily="34" charset="0"/>
              <a:ea typeface="宋体" panose="02010600030101010101" pitchFamily="2" charset="-122"/>
            </a:endParaRPr>
          </a:p>
        </p:txBody>
      </p:sp>
      <p:sp>
        <p:nvSpPr>
          <p:cNvPr id="11270" name="Rectangle 2"/>
          <p:cNvSpPr>
            <a:spLocks noGrp="1" noChangeArrowheads="1"/>
          </p:cNvSpPr>
          <p:nvPr>
            <p:ph idx="1"/>
          </p:nvPr>
        </p:nvSpPr>
        <p:spPr>
          <a:xfrm>
            <a:off x="357188" y="1214438"/>
            <a:ext cx="9144000" cy="57150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5000"/>
              </a:spcBef>
              <a:spcAft>
                <a:spcPct val="25000"/>
              </a:spcAft>
              <a:buClr>
                <a:schemeClr val="hlink"/>
              </a:buClr>
              <a:buSzTx/>
              <a:buFont typeface="Wingdings" panose="05000000000000000000" pitchFamily="2" charset="2"/>
              <a:buNone/>
              <a:defRPr/>
            </a:pPr>
            <a:r>
              <a:rPr kumimoji="0" lang="zh-CN" altLang="en-US" sz="2800" b="1" i="0" u="none" strike="noStrike" kern="0" cap="none" spc="0" normalizeH="0" baseline="0" noProof="0" dirty="0">
                <a:ln>
                  <a:noFill/>
                </a:ln>
                <a:solidFill>
                  <a:srgbClr val="FF0000"/>
                </a:solidFill>
                <a:effectLst/>
                <a:uLnTx/>
                <a:uFillTx/>
                <a:latin typeface="华文细黑" panose="02010600040101010101" pitchFamily="2" charset="-122"/>
                <a:ea typeface="华文细黑" panose="02010600040101010101" pitchFamily="2" charset="-122"/>
                <a:cs typeface="+mn-cs"/>
              </a:rPr>
              <a:t>（</a:t>
            </a:r>
            <a:r>
              <a:rPr kumimoji="0" lang="en-US" altLang="zh-CN" sz="2800" b="1" i="0" u="none" strike="noStrike" kern="0" cap="none" spc="0" normalizeH="0" baseline="0" noProof="0" dirty="0">
                <a:ln>
                  <a:noFill/>
                </a:ln>
                <a:solidFill>
                  <a:srgbClr val="FF0000"/>
                </a:solidFill>
                <a:effectLst/>
                <a:uLnTx/>
                <a:uFillTx/>
                <a:latin typeface="华文细黑" panose="02010600040101010101" pitchFamily="2" charset="-122"/>
                <a:ea typeface="华文细黑" panose="02010600040101010101" pitchFamily="2" charset="-122"/>
                <a:cs typeface="+mn-cs"/>
              </a:rPr>
              <a:t>1</a:t>
            </a:r>
            <a:r>
              <a:rPr kumimoji="0" lang="zh-CN" altLang="en-US" sz="2800" b="1" i="0" u="none" strike="noStrike" kern="0" cap="none" spc="0" normalizeH="0" baseline="0" noProof="0" dirty="0">
                <a:ln>
                  <a:noFill/>
                </a:ln>
                <a:solidFill>
                  <a:srgbClr val="FF0000"/>
                </a:solidFill>
                <a:effectLst/>
                <a:uLnTx/>
                <a:uFillTx/>
                <a:latin typeface="华文细黑" panose="02010600040101010101" pitchFamily="2" charset="-122"/>
                <a:ea typeface="华文细黑" panose="02010600040101010101" pitchFamily="2" charset="-122"/>
                <a:cs typeface="+mn-cs"/>
              </a:rPr>
              <a:t>）某一层大气的辐射差额</a:t>
            </a:r>
            <a:endParaRPr kumimoji="0" lang="en-US" altLang="zh-CN" sz="2800" b="1" i="0" u="none" strike="noStrike" kern="0" cap="none" spc="0" normalizeH="0" baseline="0" noProof="0" dirty="0">
              <a:ln>
                <a:noFill/>
              </a:ln>
              <a:solidFill>
                <a:srgbClr val="FF0000"/>
              </a:solidFill>
              <a:effectLst/>
              <a:uLnTx/>
              <a:uFillTx/>
              <a:latin typeface="华文细黑" panose="02010600040101010101" pitchFamily="2" charset="-122"/>
              <a:ea typeface="华文细黑" panose="02010600040101010101" pitchFamily="2" charset="-122"/>
              <a:cs typeface="+mn-cs"/>
            </a:endParaRPr>
          </a:p>
          <a:p>
            <a:pPr marL="342900" marR="0" lvl="0" indent="-34290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defRPr/>
            </a:pPr>
            <a:r>
              <a:rPr kumimoji="0" lang="zh-CN" altLang="en-US" sz="2800" b="1" i="0" u="none" strike="noStrike" kern="0" cap="none" spc="0" normalizeH="0" baseline="0" noProof="0" dirty="0">
                <a:ln>
                  <a:noFill/>
                </a:ln>
                <a:solidFill>
                  <a:srgbClr val="0000FF"/>
                </a:solidFill>
                <a:effectLst/>
                <a:uLnTx/>
                <a:uFillTx/>
                <a:latin typeface="华文细黑" panose="02010600040101010101" pitchFamily="2" charset="-122"/>
                <a:ea typeface="华文细黑" panose="02010600040101010101" pitchFamily="2" charset="-122"/>
                <a:cs typeface="+mn-cs"/>
              </a:rPr>
              <a:t>   </a:t>
            </a:r>
            <a:r>
              <a:rPr kumimoji="0" lang="zh-CN" altLang="en-US" sz="2400" b="1" i="0" u="none" strike="noStrike" kern="0" cap="none" spc="0" normalizeH="0" baseline="0" noProof="0" dirty="0">
                <a:ln>
                  <a:noFill/>
                </a:ln>
                <a:solidFill>
                  <a:srgbClr val="0000FF"/>
                </a:solidFill>
                <a:effectLst/>
                <a:uLnTx/>
                <a:uFillTx/>
                <a:latin typeface="华文细黑" panose="02010600040101010101" pitchFamily="2" charset="-122"/>
                <a:ea typeface="华文细黑" panose="02010600040101010101" pitchFamily="2" charset="-122"/>
                <a:cs typeface="+mn-cs"/>
              </a:rPr>
              <a:t>大气变温率的计算</a:t>
            </a:r>
            <a:endParaRPr kumimoji="0" lang="zh-CN" altLang="en-US" sz="2400" b="1" i="0" u="none" strike="noStrike" kern="0" cap="none" spc="0" normalizeH="0" baseline="0" noProof="0" dirty="0">
              <a:ln>
                <a:noFill/>
              </a:ln>
              <a:solidFill>
                <a:srgbClr val="0000FF"/>
              </a:solidFill>
              <a:effectLst/>
              <a:uLnTx/>
              <a:uFillTx/>
              <a:latin typeface="华文细黑" panose="02010600040101010101" pitchFamily="2" charset="-122"/>
              <a:ea typeface="华文细黑" panose="02010600040101010101" pitchFamily="2" charset="-122"/>
              <a:cs typeface="+mn-cs"/>
            </a:endParaRPr>
          </a:p>
          <a:p>
            <a:pPr marL="742950" marR="0" lvl="1" indent="-285750" algn="l" defTabSz="914400" rtl="0" eaLnBrk="0" fontAlgn="base" latinLnBrk="0" hangingPunct="0">
              <a:lnSpc>
                <a:spcPct val="100000"/>
              </a:lnSpc>
              <a:spcBef>
                <a:spcPts val="6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对于光学薄层</a:t>
            </a:r>
            <a:endParaRPr kumimoji="0" lang="zh-CN" altLang="en-US" sz="24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endParaRPr>
          </a:p>
          <a:p>
            <a:pPr marL="742950" marR="0" lvl="1" indent="-285750" algn="l" defTabSz="914400" rtl="0" eaLnBrk="0" fontAlgn="base" latinLnBrk="0" hangingPunct="0">
              <a:lnSpc>
                <a:spcPct val="100000"/>
              </a:lnSpc>
              <a:spcBef>
                <a:spcPct val="25000"/>
              </a:spcBef>
              <a:spcAft>
                <a:spcPct val="25000"/>
              </a:spcAft>
              <a:buClr>
                <a:schemeClr val="accent1"/>
              </a:buClr>
              <a:buSzTx/>
              <a:buFont typeface="Wingdings" panose="05000000000000000000" pitchFamily="2" charset="2"/>
              <a:buChar char="§"/>
              <a:defRPr/>
            </a:pPr>
            <a:endParaRPr kumimoji="0" lang="zh-CN" altLang="en-US" sz="28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endParaRPr>
          </a:p>
          <a:p>
            <a:pPr marL="742950" marR="0" lvl="1" indent="-285750" algn="l" defTabSz="914400" rtl="0" eaLnBrk="0" fontAlgn="base" latinLnBrk="0" hangingPunct="0">
              <a:lnSpc>
                <a:spcPct val="100000"/>
              </a:lnSpc>
              <a:spcBef>
                <a:spcPct val="25000"/>
              </a:spcBef>
              <a:spcAft>
                <a:spcPct val="25000"/>
              </a:spcAft>
              <a:buClr>
                <a:schemeClr val="accent1"/>
              </a:buClr>
              <a:buSzTx/>
              <a:buFont typeface="Wingdings" panose="05000000000000000000" pitchFamily="2" charset="2"/>
              <a:buChar char="§"/>
              <a:defRPr/>
            </a:pPr>
            <a:endParaRPr kumimoji="0" lang="zh-CN" altLang="en-US" sz="16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薄层辐射差额（净辐射）</a:t>
            </a:r>
            <a:endParaRPr kumimoji="0" lang="zh-CN" altLang="en-US" sz="24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endParaRPr>
          </a:p>
          <a:p>
            <a:pPr marL="742950" marR="0" lvl="1" indent="-285750" algn="l" defTabSz="914400" rtl="0" eaLnBrk="0" fontAlgn="base" latinLnBrk="0" hangingPunct="0">
              <a:lnSpc>
                <a:spcPct val="100000"/>
              </a:lnSpc>
              <a:spcBef>
                <a:spcPct val="25000"/>
              </a:spcBef>
              <a:spcAft>
                <a:spcPct val="25000"/>
              </a:spcAft>
              <a:buClr>
                <a:schemeClr val="accent1"/>
              </a:buClr>
              <a:buSzTx/>
              <a:buFont typeface="Wingdings" panose="05000000000000000000" pitchFamily="2" charset="2"/>
              <a:buChar char="§"/>
              <a:defRPr/>
            </a:pPr>
            <a:endParaRPr kumimoji="0" lang="zh-CN" altLang="en-US" sz="28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endParaRPr>
          </a:p>
          <a:p>
            <a:pPr marL="742950" marR="0" lvl="1" indent="-285750" algn="l" defTabSz="914400" rtl="0" eaLnBrk="0" fontAlgn="base" latinLnBrk="0" hangingPunct="0">
              <a:lnSpc>
                <a:spcPct val="100000"/>
              </a:lnSpc>
              <a:spcBef>
                <a:spcPts val="18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变温率</a:t>
            </a:r>
            <a:endParaRPr kumimoji="0" lang="zh-CN" altLang="en-US" sz="24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endParaRPr>
          </a:p>
        </p:txBody>
      </p:sp>
      <p:pic>
        <p:nvPicPr>
          <p:cNvPr id="19460" name="Picture 4"/>
          <p:cNvPicPr>
            <a:picLocks noChangeAspect="1"/>
          </p:cNvPicPr>
          <p:nvPr/>
        </p:nvPicPr>
        <p:blipFill>
          <a:blip r:embed="rId1"/>
          <a:srcRect t="17282"/>
          <a:stretch>
            <a:fillRect/>
          </a:stretch>
        </p:blipFill>
        <p:spPr>
          <a:xfrm>
            <a:off x="4699000" y="1878013"/>
            <a:ext cx="4445000" cy="2127250"/>
          </a:xfrm>
          <a:prstGeom prst="rect">
            <a:avLst/>
          </a:prstGeom>
          <a:noFill/>
          <a:ln w="9525">
            <a:noFill/>
          </a:ln>
        </p:spPr>
      </p:pic>
      <p:graphicFrame>
        <p:nvGraphicFramePr>
          <p:cNvPr id="19461" name="Object 2"/>
          <p:cNvGraphicFramePr>
            <a:graphicFrameLocks noChangeAspect="1"/>
          </p:cNvGraphicFramePr>
          <p:nvPr/>
        </p:nvGraphicFramePr>
        <p:xfrm>
          <a:off x="1071563" y="5456238"/>
          <a:ext cx="6953250" cy="1330325"/>
        </p:xfrm>
        <a:graphic>
          <a:graphicData uri="http://schemas.openxmlformats.org/presentationml/2006/ole">
            <mc:AlternateContent xmlns:mc="http://schemas.openxmlformats.org/markup-compatibility/2006">
              <mc:Choice xmlns:v="urn:schemas-microsoft-com:vml" Requires="v">
                <p:oleObj spid="_x0000_s3094" name="" r:id="rId2" imgW="2425700" imgH="469900" progId="Equation.DSMT4">
                  <p:embed/>
                </p:oleObj>
              </mc:Choice>
              <mc:Fallback>
                <p:oleObj name="" r:id="rId2" imgW="2425700" imgH="469900" progId="Equation.DSMT4">
                  <p:embed/>
                  <p:pic>
                    <p:nvPicPr>
                      <p:cNvPr id="0" name="图片 3093"/>
                      <p:cNvPicPr/>
                      <p:nvPr/>
                    </p:nvPicPr>
                    <p:blipFill>
                      <a:blip r:embed="rId3"/>
                      <a:stretch>
                        <a:fillRect/>
                      </a:stretch>
                    </p:blipFill>
                    <p:spPr>
                      <a:xfrm>
                        <a:off x="1071563" y="5456238"/>
                        <a:ext cx="6953250" cy="1330325"/>
                      </a:xfrm>
                      <a:prstGeom prst="rect">
                        <a:avLst/>
                      </a:prstGeom>
                      <a:solidFill>
                        <a:srgbClr val="CCFFCC"/>
                      </a:solidFill>
                      <a:ln w="38100">
                        <a:noFill/>
                        <a:miter/>
                      </a:ln>
                    </p:spPr>
                  </p:pic>
                </p:oleObj>
              </mc:Fallback>
            </mc:AlternateContent>
          </a:graphicData>
        </a:graphic>
      </p:graphicFrame>
      <p:graphicFrame>
        <p:nvGraphicFramePr>
          <p:cNvPr id="19462" name="Object 3"/>
          <p:cNvGraphicFramePr>
            <a:graphicFrameLocks noChangeAspect="1"/>
          </p:cNvGraphicFramePr>
          <p:nvPr/>
        </p:nvGraphicFramePr>
        <p:xfrm>
          <a:off x="428625" y="2714625"/>
          <a:ext cx="4214813" cy="1020763"/>
        </p:xfrm>
        <a:graphic>
          <a:graphicData uri="http://schemas.openxmlformats.org/presentationml/2006/ole">
            <mc:AlternateContent xmlns:mc="http://schemas.openxmlformats.org/markup-compatibility/2006">
              <mc:Choice xmlns:v="urn:schemas-microsoft-com:vml" Requires="v">
                <p:oleObj spid="_x0000_s3093" name="" r:id="rId4" imgW="2387600" imgH="584200" progId="Equation.DSMT4">
                  <p:embed/>
                </p:oleObj>
              </mc:Choice>
              <mc:Fallback>
                <p:oleObj name="" r:id="rId4" imgW="2387600" imgH="584200" progId="Equation.DSMT4">
                  <p:embed/>
                  <p:pic>
                    <p:nvPicPr>
                      <p:cNvPr id="0" name="图片 3092"/>
                      <p:cNvPicPr/>
                      <p:nvPr/>
                    </p:nvPicPr>
                    <p:blipFill>
                      <a:blip r:embed="rId5"/>
                      <a:stretch>
                        <a:fillRect/>
                      </a:stretch>
                    </p:blipFill>
                    <p:spPr>
                      <a:xfrm>
                        <a:off x="428625" y="2714625"/>
                        <a:ext cx="4214813" cy="1020763"/>
                      </a:xfrm>
                      <a:prstGeom prst="rect">
                        <a:avLst/>
                      </a:prstGeom>
                      <a:solidFill>
                        <a:srgbClr val="CCFFCC"/>
                      </a:solidFill>
                      <a:ln w="38100">
                        <a:noFill/>
                        <a:miter/>
                      </a:ln>
                    </p:spPr>
                  </p:pic>
                </p:oleObj>
              </mc:Fallback>
            </mc:AlternateContent>
          </a:graphicData>
        </a:graphic>
      </p:graphicFrame>
      <p:graphicFrame>
        <p:nvGraphicFramePr>
          <p:cNvPr id="19463" name="Object 4"/>
          <p:cNvGraphicFramePr>
            <a:graphicFrameLocks noChangeAspect="1"/>
          </p:cNvGraphicFramePr>
          <p:nvPr/>
        </p:nvGraphicFramePr>
        <p:xfrm>
          <a:off x="928688" y="4286250"/>
          <a:ext cx="5229225" cy="779463"/>
        </p:xfrm>
        <a:graphic>
          <a:graphicData uri="http://schemas.openxmlformats.org/presentationml/2006/ole">
            <mc:AlternateContent xmlns:mc="http://schemas.openxmlformats.org/markup-compatibility/2006">
              <mc:Choice xmlns:v="urn:schemas-microsoft-com:vml" Requires="v">
                <p:oleObj spid="_x0000_s3095" name="" r:id="rId6" imgW="1688465" imgH="254000" progId="Equation.DSMT4">
                  <p:embed/>
                </p:oleObj>
              </mc:Choice>
              <mc:Fallback>
                <p:oleObj name="" r:id="rId6" imgW="1688465" imgH="254000" progId="Equation.DSMT4">
                  <p:embed/>
                  <p:pic>
                    <p:nvPicPr>
                      <p:cNvPr id="0" name="图片 3094"/>
                      <p:cNvPicPr/>
                      <p:nvPr/>
                    </p:nvPicPr>
                    <p:blipFill>
                      <a:blip r:embed="rId7"/>
                      <a:stretch>
                        <a:fillRect/>
                      </a:stretch>
                    </p:blipFill>
                    <p:spPr>
                      <a:xfrm>
                        <a:off x="928688" y="4286250"/>
                        <a:ext cx="5229225" cy="779463"/>
                      </a:xfrm>
                      <a:prstGeom prst="rect">
                        <a:avLst/>
                      </a:prstGeom>
                      <a:solidFill>
                        <a:srgbClr val="CCFFCC"/>
                      </a:solidFill>
                      <a:ln w="38100">
                        <a:noFill/>
                        <a:miter/>
                      </a:ln>
                    </p:spPr>
                  </p:pic>
                </p:oleObj>
              </mc:Fallback>
            </mc:AlternateContent>
          </a:graphicData>
        </a:graphic>
      </p:graphicFrame>
      <p:sp>
        <p:nvSpPr>
          <p:cNvPr id="19464" name="Rectangle 3"/>
          <p:cNvSpPr txBox="1"/>
          <p:nvPr/>
        </p:nvSpPr>
        <p:spPr>
          <a:xfrm>
            <a:off x="1428750" y="166688"/>
            <a:ext cx="7715250" cy="762000"/>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algn="ctr">
              <a:spcBef>
                <a:spcPct val="0"/>
              </a:spcBef>
              <a:buClrTx/>
              <a:buFont typeface="Arial" panose="020B0604020202020204" pitchFamily="34" charset="0"/>
              <a:buNone/>
            </a:pPr>
            <a:r>
              <a:rPr lang="en-US" altLang="zh-CN" sz="4000" dirty="0">
                <a:solidFill>
                  <a:srgbClr val="FFFF00"/>
                </a:solidFill>
                <a:latin typeface="黑体" panose="02010609060101010101" pitchFamily="49" charset="-122"/>
                <a:ea typeface="黑体" panose="02010609060101010101" pitchFamily="49" charset="-122"/>
              </a:rPr>
              <a:t>2.</a:t>
            </a:r>
            <a:r>
              <a:rPr lang="zh-CN" altLang="en-US" sz="4000" dirty="0">
                <a:solidFill>
                  <a:srgbClr val="FFFF00"/>
                </a:solidFill>
                <a:latin typeface="黑体" panose="02010609060101010101" pitchFamily="49" charset="-122"/>
                <a:ea typeface="黑体" panose="02010609060101010101" pitchFamily="49" charset="-122"/>
              </a:rPr>
              <a:t>大气的辐射差额</a:t>
            </a:r>
            <a:endParaRPr lang="zh-CN" altLang="en-US" sz="4000" dirty="0">
              <a:solidFill>
                <a:srgbClr val="FFFF00"/>
              </a:solidFill>
              <a:latin typeface="黑体" panose="02010609060101010101" pitchFamily="49" charset="-122"/>
              <a:ea typeface="黑体" panose="02010609060101010101" pitchFamily="49"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TextBox 3"/>
          <p:cNvSpPr txBox="1"/>
          <p:nvPr/>
        </p:nvSpPr>
        <p:spPr>
          <a:xfrm>
            <a:off x="755650" y="1773238"/>
            <a:ext cx="7993063" cy="3416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lnSpc>
                <a:spcPct val="150000"/>
              </a:lnSpc>
              <a:spcBef>
                <a:spcPct val="0"/>
              </a:spcBef>
              <a:buClrTx/>
              <a:buFont typeface="Arial" panose="020B0604020202020204" pitchFamily="34" charset="0"/>
              <a:buNone/>
            </a:pPr>
            <a:r>
              <a:rPr lang="zh-CN" altLang="en-US" sz="2400" dirty="0">
                <a:solidFill>
                  <a:srgbClr val="FF0000"/>
                </a:solidFill>
                <a:latin typeface="华文细黑" panose="02010600040101010101" pitchFamily="2" charset="-122"/>
                <a:ea typeface="华文细黑" panose="02010600040101010101" pitchFamily="2" charset="-122"/>
              </a:rPr>
              <a:t>净辐射通量密度</a:t>
            </a:r>
            <a:r>
              <a:rPr lang="zh-CN" altLang="en-US" sz="2400" dirty="0">
                <a:solidFill>
                  <a:srgbClr val="FF0000"/>
                </a:solidFill>
                <a:latin typeface="Cambria Math" panose="02040503050406030204" pitchFamily="18" charset="0"/>
                <a:ea typeface="华文细黑" panose="02010600040101010101" pitchFamily="2" charset="-122"/>
              </a:rPr>
              <a:t>∆</a:t>
            </a:r>
            <a:r>
              <a:rPr lang="en-US" altLang="zh-CN" sz="2400" dirty="0">
                <a:solidFill>
                  <a:srgbClr val="FF0000"/>
                </a:solidFill>
                <a:latin typeface="华文细黑" panose="02010600040101010101" pitchFamily="2" charset="-122"/>
                <a:ea typeface="华文细黑" panose="02010600040101010101" pitchFamily="2" charset="-122"/>
              </a:rPr>
              <a:t>E</a:t>
            </a:r>
            <a:r>
              <a:rPr lang="zh-CN" altLang="en-US" sz="2400" dirty="0">
                <a:solidFill>
                  <a:srgbClr val="FF0000"/>
                </a:solidFill>
                <a:latin typeface="华文细黑" panose="02010600040101010101" pitchFamily="2" charset="-122"/>
                <a:ea typeface="华文细黑" panose="02010600040101010101" pitchFamily="2" charset="-122"/>
              </a:rPr>
              <a:t>*：</a:t>
            </a:r>
            <a:r>
              <a:rPr lang="zh-CN" altLang="en-US" sz="2400" dirty="0">
                <a:solidFill>
                  <a:srgbClr val="0000FF"/>
                </a:solidFill>
                <a:latin typeface="华文细黑" panose="02010600040101010101" pitchFamily="2" charset="-122"/>
                <a:ea typeface="华文细黑" panose="02010600040101010101" pitchFamily="2" charset="-122"/>
              </a:rPr>
              <a:t>包括短波辐射和长波辐射的净辐射通量密度。</a:t>
            </a:r>
            <a:endParaRPr lang="en-US" altLang="zh-CN" sz="2400" dirty="0">
              <a:solidFill>
                <a:srgbClr val="0000FF"/>
              </a:solidFill>
              <a:latin typeface="华文细黑" panose="02010600040101010101" pitchFamily="2" charset="-122"/>
              <a:ea typeface="华文细黑" panose="02010600040101010101" pitchFamily="2" charset="-122"/>
            </a:endParaRPr>
          </a:p>
          <a:p>
            <a:pPr marL="0" lvl="0" indent="0" eaLnBrk="1" hangingPunct="1">
              <a:lnSpc>
                <a:spcPct val="150000"/>
              </a:lnSpc>
              <a:spcBef>
                <a:spcPct val="0"/>
              </a:spcBef>
              <a:buClrTx/>
              <a:buFont typeface="Arial" panose="020B0604020202020204" pitchFamily="34" charset="0"/>
              <a:buNone/>
            </a:pPr>
            <a:r>
              <a:rPr lang="zh-CN" altLang="en-US" sz="2400" dirty="0">
                <a:solidFill>
                  <a:srgbClr val="D60093"/>
                </a:solidFill>
                <a:latin typeface="华文细黑" panose="02010600040101010101" pitchFamily="2" charset="-122"/>
                <a:ea typeface="华文细黑" panose="02010600040101010101" pitchFamily="2" charset="-122"/>
              </a:rPr>
              <a:t>短波</a:t>
            </a:r>
            <a:r>
              <a:rPr lang="zh-CN" altLang="en-US" sz="2400" dirty="0">
                <a:solidFill>
                  <a:srgbClr val="0000FF"/>
                </a:solidFill>
                <a:latin typeface="华文细黑" panose="02010600040101010101" pitchFamily="2" charset="-122"/>
                <a:ea typeface="华文细黑" panose="02010600040101010101" pitchFamily="2" charset="-122"/>
              </a:rPr>
              <a:t>辐射的净辐射通量密度：取决于这一层大气对太阳辐射的吸收能力；</a:t>
            </a:r>
            <a:endParaRPr lang="en-US" altLang="zh-CN" sz="2400" dirty="0">
              <a:solidFill>
                <a:srgbClr val="0000FF"/>
              </a:solidFill>
              <a:latin typeface="华文细黑" panose="02010600040101010101" pitchFamily="2" charset="-122"/>
              <a:ea typeface="华文细黑" panose="02010600040101010101" pitchFamily="2" charset="-122"/>
            </a:endParaRPr>
          </a:p>
          <a:p>
            <a:pPr marL="0" lvl="0" indent="0" eaLnBrk="1" hangingPunct="1">
              <a:lnSpc>
                <a:spcPct val="150000"/>
              </a:lnSpc>
              <a:spcBef>
                <a:spcPct val="0"/>
              </a:spcBef>
              <a:buClrTx/>
              <a:buFont typeface="Arial" panose="020B0604020202020204" pitchFamily="34" charset="0"/>
              <a:buNone/>
            </a:pPr>
            <a:r>
              <a:rPr lang="zh-CN" altLang="en-US" sz="2400" dirty="0">
                <a:solidFill>
                  <a:srgbClr val="D60093"/>
                </a:solidFill>
                <a:latin typeface="华文细黑" panose="02010600040101010101" pitchFamily="2" charset="-122"/>
                <a:ea typeface="华文细黑" panose="02010600040101010101" pitchFamily="2" charset="-122"/>
              </a:rPr>
              <a:t>长波</a:t>
            </a:r>
            <a:r>
              <a:rPr lang="zh-CN" altLang="en-US" sz="2400" dirty="0">
                <a:solidFill>
                  <a:srgbClr val="0000FF"/>
                </a:solidFill>
                <a:latin typeface="华文细黑" panose="02010600040101010101" pitchFamily="2" charset="-122"/>
                <a:ea typeface="华文细黑" panose="02010600040101010101" pitchFamily="2" charset="-122"/>
              </a:rPr>
              <a:t>辐射引起的变温率：取决于这层大气中对长波辐射吸收物质的多少及气层本身的温度。</a:t>
            </a:r>
            <a:endParaRPr lang="en-US" altLang="zh-CN" sz="2400" dirty="0">
              <a:solidFill>
                <a:srgbClr val="0000FF"/>
              </a:solidFill>
              <a:latin typeface="华文细黑" panose="02010600040101010101" pitchFamily="2" charset="-122"/>
              <a:ea typeface="华文细黑" panose="02010600040101010101" pitchFamily="2" charset="-122"/>
            </a:endParaRPr>
          </a:p>
        </p:txBody>
      </p:sp>
      <p:sp>
        <p:nvSpPr>
          <p:cNvPr id="21507" name="Rectangle 3"/>
          <p:cNvSpPr txBox="1"/>
          <p:nvPr/>
        </p:nvSpPr>
        <p:spPr>
          <a:xfrm>
            <a:off x="1428750" y="166688"/>
            <a:ext cx="7715250" cy="762000"/>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algn="ctr">
              <a:spcBef>
                <a:spcPct val="0"/>
              </a:spcBef>
              <a:buClrTx/>
              <a:buFont typeface="Arial" panose="020B0604020202020204" pitchFamily="34" charset="0"/>
              <a:buNone/>
            </a:pPr>
            <a:r>
              <a:rPr lang="en-US" altLang="zh-CN" sz="4000" dirty="0">
                <a:solidFill>
                  <a:srgbClr val="FFFF00"/>
                </a:solidFill>
                <a:latin typeface="黑体" panose="02010609060101010101" pitchFamily="49" charset="-122"/>
                <a:ea typeface="黑体" panose="02010609060101010101" pitchFamily="49" charset="-122"/>
              </a:rPr>
              <a:t>2.</a:t>
            </a:r>
            <a:r>
              <a:rPr lang="zh-CN" altLang="en-US" sz="4000" dirty="0">
                <a:solidFill>
                  <a:srgbClr val="FFFF00"/>
                </a:solidFill>
                <a:latin typeface="黑体" panose="02010609060101010101" pitchFamily="49" charset="-122"/>
                <a:ea typeface="黑体" panose="02010609060101010101" pitchFamily="49" charset="-122"/>
              </a:rPr>
              <a:t>大气的辐射差额</a:t>
            </a:r>
            <a:endParaRPr lang="zh-CN" altLang="en-US" sz="4000" dirty="0">
              <a:solidFill>
                <a:srgbClr val="FFFF00"/>
              </a:solidFill>
              <a:latin typeface="黑体" panose="02010609060101010101" pitchFamily="49" charset="-122"/>
              <a:ea typeface="黑体" panose="02010609060101010101"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2530" name="Picture 2"/>
          <p:cNvPicPr>
            <a:picLocks noChangeAspect="1"/>
          </p:cNvPicPr>
          <p:nvPr/>
        </p:nvPicPr>
        <p:blipFill>
          <a:blip r:embed="rId1"/>
          <a:stretch>
            <a:fillRect/>
          </a:stretch>
        </p:blipFill>
        <p:spPr>
          <a:xfrm>
            <a:off x="1692275" y="2060575"/>
            <a:ext cx="5810250" cy="4352925"/>
          </a:xfrm>
          <a:prstGeom prst="rect">
            <a:avLst/>
          </a:prstGeom>
          <a:noFill/>
          <a:ln w="9525">
            <a:noFill/>
          </a:ln>
        </p:spPr>
      </p:pic>
      <p:sp>
        <p:nvSpPr>
          <p:cNvPr id="22531" name="TextBox 4"/>
          <p:cNvSpPr txBox="1"/>
          <p:nvPr/>
        </p:nvSpPr>
        <p:spPr>
          <a:xfrm>
            <a:off x="1331913" y="1457325"/>
            <a:ext cx="6602412"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zh-CN" altLang="en-US" sz="2400" dirty="0">
                <a:solidFill>
                  <a:srgbClr val="0000FF"/>
                </a:solidFill>
                <a:latin typeface="华文细黑" panose="02010600040101010101" pitchFamily="2" charset="-122"/>
                <a:ea typeface="华文细黑" panose="02010600040101010101" pitchFamily="2" charset="-122"/>
              </a:rPr>
              <a:t>不同吸收气体所引起的大气温度变化的垂直分布</a:t>
            </a:r>
            <a:endParaRPr lang="zh-CN" altLang="en-US" sz="2400" dirty="0">
              <a:solidFill>
                <a:srgbClr val="0000FF"/>
              </a:solidFill>
              <a:latin typeface="华文细黑" panose="02010600040101010101" pitchFamily="2" charset="-122"/>
              <a:ea typeface="华文细黑" panose="02010600040101010101" pitchFamily="2" charset="-122"/>
            </a:endParaRPr>
          </a:p>
        </p:txBody>
      </p:sp>
      <p:sp>
        <p:nvSpPr>
          <p:cNvPr id="22532" name="Rectangle 3"/>
          <p:cNvSpPr txBox="1"/>
          <p:nvPr/>
        </p:nvSpPr>
        <p:spPr>
          <a:xfrm>
            <a:off x="1428750" y="166688"/>
            <a:ext cx="7715250" cy="762000"/>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algn="ctr">
              <a:spcBef>
                <a:spcPct val="0"/>
              </a:spcBef>
              <a:buClrTx/>
              <a:buFont typeface="Arial" panose="020B0604020202020204" pitchFamily="34" charset="0"/>
              <a:buNone/>
            </a:pPr>
            <a:r>
              <a:rPr lang="en-US" altLang="zh-CN" sz="4000" dirty="0">
                <a:solidFill>
                  <a:srgbClr val="FFFF00"/>
                </a:solidFill>
                <a:latin typeface="黑体" panose="02010609060101010101" pitchFamily="49" charset="-122"/>
                <a:ea typeface="黑体" panose="02010609060101010101" pitchFamily="49" charset="-122"/>
              </a:rPr>
              <a:t>2.</a:t>
            </a:r>
            <a:r>
              <a:rPr lang="zh-CN" altLang="en-US" sz="4000" dirty="0">
                <a:solidFill>
                  <a:srgbClr val="FFFF00"/>
                </a:solidFill>
                <a:latin typeface="黑体" panose="02010609060101010101" pitchFamily="49" charset="-122"/>
                <a:ea typeface="黑体" panose="02010609060101010101" pitchFamily="49" charset="-122"/>
              </a:rPr>
              <a:t>大气的辐射差额</a:t>
            </a:r>
            <a:endParaRPr lang="zh-CN" altLang="en-US" sz="4000" dirty="0">
              <a:solidFill>
                <a:srgbClr val="FFFF00"/>
              </a:solidFill>
              <a:latin typeface="黑体" panose="02010609060101010101" pitchFamily="49" charset="-122"/>
              <a:ea typeface="黑体" panose="02010609060101010101" pitchFamily="49"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TextBox 2"/>
          <p:cNvSpPr txBox="1"/>
          <p:nvPr/>
        </p:nvSpPr>
        <p:spPr>
          <a:xfrm>
            <a:off x="395288" y="6308725"/>
            <a:ext cx="8569325" cy="369888"/>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zh-CN" altLang="en-US" sz="1800" b="0" dirty="0">
              <a:latin typeface="Arial" panose="020B0604020202020204" pitchFamily="34" charset="0"/>
              <a:ea typeface="宋体" panose="02010600030101010101" pitchFamily="2" charset="-122"/>
            </a:endParaRPr>
          </a:p>
        </p:txBody>
      </p:sp>
      <p:sp>
        <p:nvSpPr>
          <p:cNvPr id="23555" name="TextBox 6"/>
          <p:cNvSpPr txBox="1"/>
          <p:nvPr/>
        </p:nvSpPr>
        <p:spPr>
          <a:xfrm>
            <a:off x="611188" y="1341438"/>
            <a:ext cx="6858000" cy="4603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zh-CN" altLang="en-US" sz="2400" dirty="0">
                <a:solidFill>
                  <a:srgbClr val="0000FF"/>
                </a:solidFill>
                <a:latin typeface="华文细黑" panose="02010600040101010101" pitchFamily="2" charset="-122"/>
                <a:ea typeface="华文细黑" panose="02010600040101010101" pitchFamily="2" charset="-122"/>
              </a:rPr>
              <a:t>（</a:t>
            </a:r>
            <a:r>
              <a:rPr lang="en-US" altLang="zh-CN" sz="2400" dirty="0">
                <a:solidFill>
                  <a:srgbClr val="0000FF"/>
                </a:solidFill>
                <a:latin typeface="华文细黑" panose="02010600040101010101" pitchFamily="2" charset="-122"/>
                <a:ea typeface="华文细黑" panose="02010600040101010101" pitchFamily="2" charset="-122"/>
              </a:rPr>
              <a:t>2</a:t>
            </a:r>
            <a:r>
              <a:rPr lang="zh-CN" altLang="en-US" sz="2400" dirty="0">
                <a:solidFill>
                  <a:srgbClr val="0000FF"/>
                </a:solidFill>
                <a:latin typeface="华文细黑" panose="02010600040101010101" pitchFamily="2" charset="-122"/>
                <a:ea typeface="华文细黑" panose="02010600040101010101" pitchFamily="2" charset="-122"/>
              </a:rPr>
              <a:t>）整层大气的辐射差额</a:t>
            </a:r>
            <a:endParaRPr lang="zh-CN" altLang="en-US" sz="2400" dirty="0">
              <a:solidFill>
                <a:srgbClr val="0000FF"/>
              </a:solidFill>
              <a:latin typeface="华文细黑" panose="02010600040101010101" pitchFamily="2" charset="-122"/>
              <a:ea typeface="华文细黑" panose="02010600040101010101" pitchFamily="2" charset="-122"/>
            </a:endParaRPr>
          </a:p>
        </p:txBody>
      </p:sp>
      <p:graphicFrame>
        <p:nvGraphicFramePr>
          <p:cNvPr id="23556" name="Object 2"/>
          <p:cNvGraphicFramePr>
            <a:graphicFrameLocks noChangeAspect="1"/>
          </p:cNvGraphicFramePr>
          <p:nvPr/>
        </p:nvGraphicFramePr>
        <p:xfrm>
          <a:off x="3008313" y="1916113"/>
          <a:ext cx="2373312" cy="693737"/>
        </p:xfrm>
        <a:graphic>
          <a:graphicData uri="http://schemas.openxmlformats.org/presentationml/2006/ole">
            <mc:AlternateContent xmlns:mc="http://schemas.openxmlformats.org/markup-compatibility/2006">
              <mc:Choice xmlns:v="urn:schemas-microsoft-com:vml" Requires="v">
                <p:oleObj spid="_x0000_s3086" name="" r:id="rId1" imgW="825500" imgH="241300" progId="Equation.3">
                  <p:embed/>
                </p:oleObj>
              </mc:Choice>
              <mc:Fallback>
                <p:oleObj name="" r:id="rId1" imgW="825500" imgH="241300" progId="Equation.3">
                  <p:embed/>
                  <p:pic>
                    <p:nvPicPr>
                      <p:cNvPr id="0" name="图片 3085"/>
                      <p:cNvPicPr/>
                      <p:nvPr/>
                    </p:nvPicPr>
                    <p:blipFill>
                      <a:blip r:embed="rId2"/>
                      <a:stretch>
                        <a:fillRect/>
                      </a:stretch>
                    </p:blipFill>
                    <p:spPr>
                      <a:xfrm>
                        <a:off x="3008313" y="1916113"/>
                        <a:ext cx="2373312" cy="693737"/>
                      </a:xfrm>
                      <a:prstGeom prst="rect">
                        <a:avLst/>
                      </a:prstGeom>
                      <a:noFill/>
                      <a:ln w="38100">
                        <a:noFill/>
                        <a:miter/>
                      </a:ln>
                    </p:spPr>
                  </p:pic>
                </p:oleObj>
              </mc:Fallback>
            </mc:AlternateContent>
          </a:graphicData>
        </a:graphic>
      </p:graphicFrame>
      <p:sp>
        <p:nvSpPr>
          <p:cNvPr id="23557" name="TextBox 8"/>
          <p:cNvSpPr txBox="1"/>
          <p:nvPr/>
        </p:nvSpPr>
        <p:spPr>
          <a:xfrm>
            <a:off x="1042988" y="2708275"/>
            <a:ext cx="7235825" cy="1412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lnSpc>
                <a:spcPct val="130000"/>
              </a:lnSpc>
              <a:spcBef>
                <a:spcPct val="0"/>
              </a:spcBef>
              <a:buClrTx/>
              <a:buFont typeface="Arial" panose="020B0604020202020204" pitchFamily="34" charset="0"/>
              <a:buNone/>
            </a:pPr>
            <a:r>
              <a:rPr lang="zh-CN" altLang="en-US" sz="2200" dirty="0">
                <a:solidFill>
                  <a:srgbClr val="0000FF"/>
                </a:solidFill>
                <a:latin typeface="华文细黑" panose="02010600040101010101" pitchFamily="2" charset="-122"/>
                <a:ea typeface="华文细黑" panose="02010600040101010101" pitchFamily="2" charset="-122"/>
              </a:rPr>
              <a:t>在大气上界净辐射为零，            。而        一般为正。</a:t>
            </a:r>
            <a:endParaRPr lang="en-US" altLang="zh-CN" sz="2200" dirty="0">
              <a:solidFill>
                <a:srgbClr val="0000FF"/>
              </a:solidFill>
              <a:latin typeface="华文细黑" panose="02010600040101010101" pitchFamily="2" charset="-122"/>
              <a:ea typeface="华文细黑" panose="02010600040101010101" pitchFamily="2" charset="-122"/>
            </a:endParaRPr>
          </a:p>
          <a:p>
            <a:pPr marL="0" lvl="0" indent="0" eaLnBrk="1" hangingPunct="1">
              <a:lnSpc>
                <a:spcPct val="130000"/>
              </a:lnSpc>
              <a:spcBef>
                <a:spcPct val="0"/>
              </a:spcBef>
              <a:buClrTx/>
              <a:buFont typeface="Arial" panose="020B0604020202020204" pitchFamily="34" charset="0"/>
              <a:buNone/>
            </a:pPr>
            <a:r>
              <a:rPr lang="zh-CN" altLang="en-US" sz="2200" dirty="0">
                <a:solidFill>
                  <a:srgbClr val="0000FF"/>
                </a:solidFill>
                <a:latin typeface="华文细黑" panose="02010600040101010101" pitchFamily="2" charset="-122"/>
                <a:ea typeface="华文细黑" panose="02010600040101010101" pitchFamily="2" charset="-122"/>
              </a:rPr>
              <a:t>因此整层大气的辐射差额为负值，缺少那部分的能量通过地面提供的显热和潜热得到补偿。</a:t>
            </a:r>
            <a:endParaRPr lang="zh-CN" altLang="en-US" sz="2200" dirty="0">
              <a:solidFill>
                <a:srgbClr val="0000FF"/>
              </a:solidFill>
              <a:latin typeface="华文细黑" panose="02010600040101010101" pitchFamily="2" charset="-122"/>
              <a:ea typeface="华文细黑" panose="02010600040101010101" pitchFamily="2" charset="-122"/>
            </a:endParaRPr>
          </a:p>
        </p:txBody>
      </p:sp>
      <p:graphicFrame>
        <p:nvGraphicFramePr>
          <p:cNvPr id="23558" name="Object 3"/>
          <p:cNvGraphicFramePr>
            <a:graphicFrameLocks noChangeAspect="1"/>
          </p:cNvGraphicFramePr>
          <p:nvPr/>
        </p:nvGraphicFramePr>
        <p:xfrm>
          <a:off x="4168775" y="2781300"/>
          <a:ext cx="835025" cy="417513"/>
        </p:xfrm>
        <a:graphic>
          <a:graphicData uri="http://schemas.openxmlformats.org/presentationml/2006/ole">
            <mc:AlternateContent xmlns:mc="http://schemas.openxmlformats.org/markup-compatibility/2006">
              <mc:Choice xmlns:v="urn:schemas-microsoft-com:vml" Requires="v">
                <p:oleObj spid="_x0000_s3084" name="" r:id="rId3" imgW="457200" imgH="228600" progId="Equation.3">
                  <p:embed/>
                </p:oleObj>
              </mc:Choice>
              <mc:Fallback>
                <p:oleObj name="" r:id="rId3" imgW="457200" imgH="228600" progId="Equation.3">
                  <p:embed/>
                  <p:pic>
                    <p:nvPicPr>
                      <p:cNvPr id="0" name="图片 3083"/>
                      <p:cNvPicPr/>
                      <p:nvPr/>
                    </p:nvPicPr>
                    <p:blipFill>
                      <a:blip r:embed="rId4"/>
                      <a:stretch>
                        <a:fillRect/>
                      </a:stretch>
                    </p:blipFill>
                    <p:spPr>
                      <a:xfrm>
                        <a:off x="4168775" y="2781300"/>
                        <a:ext cx="835025" cy="417513"/>
                      </a:xfrm>
                      <a:prstGeom prst="rect">
                        <a:avLst/>
                      </a:prstGeom>
                      <a:noFill/>
                      <a:ln w="38100">
                        <a:noFill/>
                        <a:miter/>
                      </a:ln>
                    </p:spPr>
                  </p:pic>
                </p:oleObj>
              </mc:Fallback>
            </mc:AlternateContent>
          </a:graphicData>
        </a:graphic>
      </p:graphicFrame>
      <p:graphicFrame>
        <p:nvGraphicFramePr>
          <p:cNvPr id="23559" name="Object 4"/>
          <p:cNvGraphicFramePr>
            <a:graphicFrameLocks noChangeAspect="1"/>
          </p:cNvGraphicFramePr>
          <p:nvPr/>
        </p:nvGraphicFramePr>
        <p:xfrm>
          <a:off x="5795963" y="2708275"/>
          <a:ext cx="430212" cy="511175"/>
        </p:xfrm>
        <a:graphic>
          <a:graphicData uri="http://schemas.openxmlformats.org/presentationml/2006/ole">
            <mc:AlternateContent xmlns:mc="http://schemas.openxmlformats.org/markup-compatibility/2006">
              <mc:Choice xmlns:v="urn:schemas-microsoft-com:vml" Requires="v">
                <p:oleObj spid="_x0000_s3085" name="" r:id="rId5" imgW="203200" imgH="241300" progId="Equation.3">
                  <p:embed/>
                </p:oleObj>
              </mc:Choice>
              <mc:Fallback>
                <p:oleObj name="" r:id="rId5" imgW="203200" imgH="241300" progId="Equation.3">
                  <p:embed/>
                  <p:pic>
                    <p:nvPicPr>
                      <p:cNvPr id="0" name="图片 3084"/>
                      <p:cNvPicPr/>
                      <p:nvPr/>
                    </p:nvPicPr>
                    <p:blipFill>
                      <a:blip r:embed="rId6"/>
                      <a:stretch>
                        <a:fillRect/>
                      </a:stretch>
                    </p:blipFill>
                    <p:spPr>
                      <a:xfrm>
                        <a:off x="5795963" y="2708275"/>
                        <a:ext cx="430212" cy="511175"/>
                      </a:xfrm>
                      <a:prstGeom prst="rect">
                        <a:avLst/>
                      </a:prstGeom>
                      <a:noFill/>
                      <a:ln w="38100">
                        <a:noFill/>
                        <a:miter/>
                      </a:ln>
                    </p:spPr>
                  </p:pic>
                </p:oleObj>
              </mc:Fallback>
            </mc:AlternateContent>
          </a:graphicData>
        </a:graphic>
      </p:graphicFrame>
      <p:sp>
        <p:nvSpPr>
          <p:cNvPr id="23560" name="TextBox 9"/>
          <p:cNvSpPr txBox="1"/>
          <p:nvPr/>
        </p:nvSpPr>
        <p:spPr>
          <a:xfrm>
            <a:off x="1000125" y="4191000"/>
            <a:ext cx="6858000"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zh-CN" altLang="en-US" sz="2400" dirty="0">
                <a:solidFill>
                  <a:srgbClr val="FF0000"/>
                </a:solidFill>
                <a:latin typeface="黑体" panose="02010609060101010101" pitchFamily="49" charset="-122"/>
                <a:ea typeface="黑体" panose="02010609060101010101" pitchFamily="49" charset="-122"/>
              </a:rPr>
              <a:t>若分别考虑短波和长波辐射能量的收支关系，有</a:t>
            </a:r>
            <a:endParaRPr lang="zh-CN" altLang="en-US" sz="2400" dirty="0">
              <a:solidFill>
                <a:srgbClr val="FF0000"/>
              </a:solidFill>
              <a:latin typeface="黑体" panose="02010609060101010101" pitchFamily="49" charset="-122"/>
              <a:ea typeface="黑体" panose="02010609060101010101" pitchFamily="49" charset="-122"/>
            </a:endParaRPr>
          </a:p>
        </p:txBody>
      </p:sp>
      <p:graphicFrame>
        <p:nvGraphicFramePr>
          <p:cNvPr id="23561" name="对象 1"/>
          <p:cNvGraphicFramePr>
            <a:graphicFrameLocks noChangeAspect="1"/>
          </p:cNvGraphicFramePr>
          <p:nvPr/>
        </p:nvGraphicFramePr>
        <p:xfrm>
          <a:off x="2339975" y="4657725"/>
          <a:ext cx="4319588" cy="804863"/>
        </p:xfrm>
        <a:graphic>
          <a:graphicData uri="http://schemas.openxmlformats.org/presentationml/2006/ole">
            <mc:AlternateContent xmlns:mc="http://schemas.openxmlformats.org/markup-compatibility/2006">
              <mc:Choice xmlns:v="urn:schemas-microsoft-com:vml" Requires="v">
                <p:oleObj spid="_x0000_s3087" name="" r:id="rId7" imgW="1357630" imgH="254000" progId="Equation.3">
                  <p:embed/>
                </p:oleObj>
              </mc:Choice>
              <mc:Fallback>
                <p:oleObj name="" r:id="rId7" imgW="1357630" imgH="254000" progId="Equation.3">
                  <p:embed/>
                  <p:pic>
                    <p:nvPicPr>
                      <p:cNvPr id="0" name="图片 3086"/>
                      <p:cNvPicPr/>
                      <p:nvPr/>
                    </p:nvPicPr>
                    <p:blipFill>
                      <a:blip r:embed="rId8"/>
                      <a:stretch>
                        <a:fillRect/>
                      </a:stretch>
                    </p:blipFill>
                    <p:spPr>
                      <a:xfrm>
                        <a:off x="2339975" y="4657725"/>
                        <a:ext cx="4319588" cy="804863"/>
                      </a:xfrm>
                      <a:prstGeom prst="rect">
                        <a:avLst/>
                      </a:prstGeom>
                      <a:noFill/>
                      <a:ln w="38100">
                        <a:noFill/>
                        <a:miter/>
                      </a:ln>
                    </p:spPr>
                  </p:pic>
                </p:oleObj>
              </mc:Fallback>
            </mc:AlternateContent>
          </a:graphicData>
        </a:graphic>
      </p:graphicFrame>
      <p:sp>
        <p:nvSpPr>
          <p:cNvPr id="23562" name="Rectangle 3"/>
          <p:cNvSpPr txBox="1"/>
          <p:nvPr/>
        </p:nvSpPr>
        <p:spPr>
          <a:xfrm>
            <a:off x="1428750" y="166688"/>
            <a:ext cx="7715250" cy="762000"/>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algn="ctr">
              <a:spcBef>
                <a:spcPct val="0"/>
              </a:spcBef>
              <a:buClrTx/>
              <a:buFont typeface="Arial" panose="020B0604020202020204" pitchFamily="34" charset="0"/>
              <a:buNone/>
            </a:pPr>
            <a:r>
              <a:rPr lang="en-US" altLang="zh-CN" sz="4000" dirty="0">
                <a:solidFill>
                  <a:srgbClr val="FFFF00"/>
                </a:solidFill>
                <a:latin typeface="黑体" panose="02010609060101010101" pitchFamily="49" charset="-122"/>
                <a:ea typeface="黑体" panose="02010609060101010101" pitchFamily="49" charset="-122"/>
              </a:rPr>
              <a:t>2.</a:t>
            </a:r>
            <a:r>
              <a:rPr lang="zh-CN" altLang="en-US" sz="4000" dirty="0">
                <a:solidFill>
                  <a:srgbClr val="FFFF00"/>
                </a:solidFill>
                <a:latin typeface="黑体" panose="02010609060101010101" pitchFamily="49" charset="-122"/>
                <a:ea typeface="黑体" panose="02010609060101010101" pitchFamily="49" charset="-122"/>
              </a:rPr>
              <a:t>大气的辐射差额</a:t>
            </a:r>
            <a:endParaRPr lang="zh-CN" altLang="en-US" sz="4000" dirty="0">
              <a:solidFill>
                <a:srgbClr val="FFFF00"/>
              </a:solidFill>
              <a:latin typeface="黑体" panose="02010609060101010101" pitchFamily="49" charset="-122"/>
              <a:ea typeface="黑体" panose="02010609060101010101" pitchFamily="49" charset="-122"/>
            </a:endParaRPr>
          </a:p>
        </p:txBody>
      </p:sp>
      <p:sp>
        <p:nvSpPr>
          <p:cNvPr id="23563" name="TextBox 1"/>
          <p:cNvSpPr txBox="1"/>
          <p:nvPr/>
        </p:nvSpPr>
        <p:spPr>
          <a:xfrm>
            <a:off x="2411413" y="5661025"/>
            <a:ext cx="1655762" cy="873125"/>
          </a:xfrm>
          <a:prstGeom prst="rect">
            <a:avLst/>
          </a:prstGeom>
          <a:solidFill>
            <a:srgbClr val="FFFF00"/>
          </a:solidFill>
          <a:ln w="9525" cap="flat" cmpd="sng">
            <a:solidFill>
              <a:schemeClr val="bg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lnSpc>
                <a:spcPct val="150000"/>
              </a:lnSpc>
              <a:spcBef>
                <a:spcPct val="0"/>
              </a:spcBef>
              <a:buClrTx/>
              <a:buFont typeface="Arial" panose="020B0604020202020204" pitchFamily="34" charset="0"/>
              <a:buNone/>
            </a:pPr>
            <a:r>
              <a:rPr lang="zh-CN" altLang="en-US" sz="1800" dirty="0">
                <a:solidFill>
                  <a:srgbClr val="080808"/>
                </a:solidFill>
                <a:latin typeface="华文细黑" panose="02010600040101010101" pitchFamily="2" charset="-122"/>
                <a:ea typeface="华文细黑" panose="02010600040101010101" pitchFamily="2" charset="-122"/>
              </a:rPr>
              <a:t>大气吸收的太阳短波辐射</a:t>
            </a:r>
            <a:endParaRPr lang="zh-CN" altLang="en-US" sz="1800" dirty="0">
              <a:solidFill>
                <a:srgbClr val="080808"/>
              </a:solidFill>
              <a:latin typeface="华文细黑" panose="02010600040101010101" pitchFamily="2" charset="-122"/>
              <a:ea typeface="华文细黑" panose="02010600040101010101" pitchFamily="2" charset="-122"/>
            </a:endParaRPr>
          </a:p>
        </p:txBody>
      </p:sp>
      <p:sp>
        <p:nvSpPr>
          <p:cNvPr id="23564" name="TextBox 12"/>
          <p:cNvSpPr txBox="1"/>
          <p:nvPr/>
        </p:nvSpPr>
        <p:spPr>
          <a:xfrm>
            <a:off x="4284663" y="5662613"/>
            <a:ext cx="1296987" cy="884237"/>
          </a:xfrm>
          <a:prstGeom prst="rect">
            <a:avLst/>
          </a:prstGeom>
          <a:solidFill>
            <a:srgbClr val="00B0F0"/>
          </a:solid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lnSpc>
                <a:spcPct val="150000"/>
              </a:lnSpc>
              <a:spcBef>
                <a:spcPct val="0"/>
              </a:spcBef>
              <a:buClrTx/>
              <a:buFont typeface="Arial" panose="020B0604020202020204" pitchFamily="34" charset="0"/>
              <a:buNone/>
            </a:pPr>
            <a:r>
              <a:rPr lang="zh-CN" altLang="en-US" sz="1800" dirty="0">
                <a:solidFill>
                  <a:srgbClr val="080808"/>
                </a:solidFill>
                <a:latin typeface="华文细黑" panose="02010600040101010101" pitchFamily="2" charset="-122"/>
                <a:ea typeface="华文细黑" panose="02010600040101010101" pitchFamily="2" charset="-122"/>
              </a:rPr>
              <a:t>地面有效长波辐射</a:t>
            </a:r>
            <a:endParaRPr lang="zh-CN" altLang="en-US" sz="1800" dirty="0">
              <a:solidFill>
                <a:srgbClr val="080808"/>
              </a:solidFill>
              <a:latin typeface="华文细黑" panose="02010600040101010101" pitchFamily="2" charset="-122"/>
              <a:ea typeface="华文细黑" panose="02010600040101010101" pitchFamily="2" charset="-122"/>
            </a:endParaRPr>
          </a:p>
        </p:txBody>
      </p:sp>
      <p:sp>
        <p:nvSpPr>
          <p:cNvPr id="23565" name="TextBox 13"/>
          <p:cNvSpPr txBox="1"/>
          <p:nvPr/>
        </p:nvSpPr>
        <p:spPr>
          <a:xfrm>
            <a:off x="5867400" y="5673725"/>
            <a:ext cx="2160588" cy="873125"/>
          </a:xfrm>
          <a:prstGeom prst="rect">
            <a:avLst/>
          </a:prstGeom>
          <a:solidFill>
            <a:srgbClr val="FF66FF"/>
          </a:solidFill>
          <a:ln w="9525" cap="flat" cmpd="sng">
            <a:solidFill>
              <a:srgbClr val="FF66FF"/>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lnSpc>
                <a:spcPct val="150000"/>
              </a:lnSpc>
              <a:spcBef>
                <a:spcPct val="0"/>
              </a:spcBef>
              <a:buClrTx/>
              <a:buFont typeface="Arial" panose="020B0604020202020204" pitchFamily="34" charset="0"/>
              <a:buNone/>
            </a:pPr>
            <a:r>
              <a:rPr lang="zh-CN" altLang="en-US" sz="1800" dirty="0">
                <a:solidFill>
                  <a:srgbClr val="080808"/>
                </a:solidFill>
                <a:latin typeface="华文细黑" panose="02010600040101010101" pitchFamily="2" charset="-122"/>
                <a:ea typeface="华文细黑" panose="02010600040101010101" pitchFamily="2" charset="-122"/>
              </a:rPr>
              <a:t>透过大气上界射向空间的长波辐射</a:t>
            </a:r>
            <a:endParaRPr lang="zh-CN" altLang="en-US" sz="1800" dirty="0">
              <a:solidFill>
                <a:srgbClr val="080808"/>
              </a:solidFill>
              <a:latin typeface="华文细黑" panose="02010600040101010101" pitchFamily="2" charset="-122"/>
              <a:ea typeface="华文细黑" panose="02010600040101010101" pitchFamily="2" charset="-122"/>
            </a:endParaRPr>
          </a:p>
        </p:txBody>
      </p:sp>
      <p:cxnSp>
        <p:nvCxnSpPr>
          <p:cNvPr id="5" name="直接箭头连接符 4"/>
          <p:cNvCxnSpPr/>
          <p:nvPr/>
        </p:nvCxnSpPr>
        <p:spPr>
          <a:xfrm flipH="1">
            <a:off x="3455988" y="5229225"/>
            <a:ext cx="252413" cy="444500"/>
          </a:xfrm>
          <a:prstGeom prst="straightConnector1">
            <a:avLst/>
          </a:prstGeom>
          <a:ln w="76200">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endCxn id="23564" idx="0"/>
          </p:cNvCxnSpPr>
          <p:nvPr/>
        </p:nvCxnSpPr>
        <p:spPr>
          <a:xfrm>
            <a:off x="4932363" y="5229225"/>
            <a:ext cx="1588" cy="433388"/>
          </a:xfrm>
          <a:prstGeom prst="straightConnector1">
            <a:avLst/>
          </a:prstGeom>
          <a:ln w="76200">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a:off x="6084888" y="5300663"/>
            <a:ext cx="720725" cy="360363"/>
          </a:xfrm>
          <a:prstGeom prst="straightConnector1">
            <a:avLst/>
          </a:prstGeom>
          <a:ln w="76200">
            <a:solidFill>
              <a:srgbClr val="0000FF"/>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TextBox 2"/>
          <p:cNvSpPr txBox="1"/>
          <p:nvPr/>
        </p:nvSpPr>
        <p:spPr>
          <a:xfrm>
            <a:off x="395288" y="6308725"/>
            <a:ext cx="8569325" cy="369888"/>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zh-CN" altLang="en-US" sz="1800" b="0" dirty="0">
              <a:latin typeface="Arial" panose="020B0604020202020204" pitchFamily="34" charset="0"/>
              <a:ea typeface="宋体" panose="02010600030101010101" pitchFamily="2" charset="-122"/>
            </a:endParaRPr>
          </a:p>
        </p:txBody>
      </p:sp>
      <p:graphicFrame>
        <p:nvGraphicFramePr>
          <p:cNvPr id="24579" name="对象 1"/>
          <p:cNvGraphicFramePr>
            <a:graphicFrameLocks noChangeAspect="1"/>
          </p:cNvGraphicFramePr>
          <p:nvPr/>
        </p:nvGraphicFramePr>
        <p:xfrm>
          <a:off x="912813" y="2708275"/>
          <a:ext cx="7691437" cy="720725"/>
        </p:xfrm>
        <a:graphic>
          <a:graphicData uri="http://schemas.openxmlformats.org/presentationml/2006/ole">
            <mc:AlternateContent xmlns:mc="http://schemas.openxmlformats.org/markup-compatibility/2006">
              <mc:Choice xmlns:v="urn:schemas-microsoft-com:vml" Requires="v">
                <p:oleObj spid="_x0000_s3092" name="" r:id="rId1" imgW="2705100" imgH="254000" progId="Equation.3">
                  <p:embed/>
                </p:oleObj>
              </mc:Choice>
              <mc:Fallback>
                <p:oleObj name="" r:id="rId1" imgW="2705100" imgH="254000" progId="Equation.3">
                  <p:embed/>
                  <p:pic>
                    <p:nvPicPr>
                      <p:cNvPr id="0" name="图片 3091"/>
                      <p:cNvPicPr/>
                      <p:nvPr/>
                    </p:nvPicPr>
                    <p:blipFill>
                      <a:blip r:embed="rId2"/>
                      <a:stretch>
                        <a:fillRect/>
                      </a:stretch>
                    </p:blipFill>
                    <p:spPr>
                      <a:xfrm>
                        <a:off x="912813" y="2708275"/>
                        <a:ext cx="7691437" cy="720725"/>
                      </a:xfrm>
                      <a:prstGeom prst="rect">
                        <a:avLst/>
                      </a:prstGeom>
                      <a:noFill/>
                      <a:ln w="38100">
                        <a:noFill/>
                        <a:miter/>
                      </a:ln>
                    </p:spPr>
                  </p:pic>
                </p:oleObj>
              </mc:Fallback>
            </mc:AlternateContent>
          </a:graphicData>
        </a:graphic>
      </p:graphicFrame>
      <p:sp>
        <p:nvSpPr>
          <p:cNvPr id="24580" name="TextBox 6"/>
          <p:cNvSpPr txBox="1"/>
          <p:nvPr/>
        </p:nvSpPr>
        <p:spPr>
          <a:xfrm>
            <a:off x="827088" y="3671888"/>
            <a:ext cx="7939087" cy="1412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lnSpc>
                <a:spcPct val="130000"/>
              </a:lnSpc>
              <a:spcBef>
                <a:spcPct val="0"/>
              </a:spcBef>
              <a:buClrTx/>
              <a:buFont typeface="Arial" panose="020B0604020202020204" pitchFamily="34" charset="0"/>
              <a:buNone/>
            </a:pPr>
            <a:r>
              <a:rPr lang="zh-CN" altLang="en-US" sz="2200" dirty="0">
                <a:solidFill>
                  <a:srgbClr val="FF0000"/>
                </a:solidFill>
                <a:latin typeface="华文细黑" panose="02010600040101010101" pitchFamily="2" charset="-122"/>
                <a:ea typeface="华文细黑" panose="02010600040101010101" pitchFamily="2" charset="-122"/>
              </a:rPr>
              <a:t>地气系统的辐射差额：</a:t>
            </a:r>
            <a:r>
              <a:rPr lang="zh-CN" altLang="en-US" sz="2200" dirty="0">
                <a:solidFill>
                  <a:srgbClr val="0000FF"/>
                </a:solidFill>
                <a:latin typeface="华文细黑" panose="02010600040101010101" pitchFamily="2" charset="-122"/>
                <a:ea typeface="华文细黑" panose="02010600040101010101" pitchFamily="2" charset="-122"/>
              </a:rPr>
              <a:t>以地面为下底，以大气上界为顶的整个垂直气柱内接收到的太阳短波辐射与大气上界向太空放出的长波辐射之差。</a:t>
            </a:r>
            <a:endParaRPr lang="zh-CN" altLang="en-US" sz="2200" dirty="0">
              <a:solidFill>
                <a:srgbClr val="0000FF"/>
              </a:solidFill>
              <a:latin typeface="华文细黑" panose="02010600040101010101" pitchFamily="2" charset="-122"/>
              <a:ea typeface="华文细黑" panose="02010600040101010101" pitchFamily="2" charset="-122"/>
            </a:endParaRPr>
          </a:p>
        </p:txBody>
      </p:sp>
      <p:sp>
        <p:nvSpPr>
          <p:cNvPr id="24581" name="Rectangle 3"/>
          <p:cNvSpPr txBox="1"/>
          <p:nvPr/>
        </p:nvSpPr>
        <p:spPr>
          <a:xfrm>
            <a:off x="1428750" y="166688"/>
            <a:ext cx="7715250" cy="762000"/>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algn="ctr">
              <a:spcBef>
                <a:spcPct val="0"/>
              </a:spcBef>
              <a:buClrTx/>
              <a:buFont typeface="Arial" panose="020B0604020202020204" pitchFamily="34" charset="0"/>
              <a:buNone/>
            </a:pPr>
            <a:r>
              <a:rPr lang="en-US" altLang="zh-CN" sz="4000" dirty="0">
                <a:solidFill>
                  <a:srgbClr val="FFFF00"/>
                </a:solidFill>
                <a:latin typeface="黑体" panose="02010609060101010101" pitchFamily="49" charset="-122"/>
                <a:ea typeface="黑体" panose="02010609060101010101" pitchFamily="49" charset="-122"/>
              </a:rPr>
              <a:t>3.</a:t>
            </a:r>
            <a:r>
              <a:rPr lang="zh-CN" altLang="en-US" sz="4000" dirty="0">
                <a:solidFill>
                  <a:srgbClr val="FFFF00"/>
                </a:solidFill>
                <a:latin typeface="黑体" panose="02010609060101010101" pitchFamily="49" charset="-122"/>
                <a:ea typeface="黑体" panose="02010609060101010101" pitchFamily="49" charset="-122"/>
              </a:rPr>
              <a:t>地</a:t>
            </a:r>
            <a:r>
              <a:rPr lang="en-US" altLang="zh-CN" sz="4000" dirty="0">
                <a:solidFill>
                  <a:srgbClr val="FFFF00"/>
                </a:solidFill>
                <a:latin typeface="黑体" panose="02010609060101010101" pitchFamily="49" charset="-122"/>
                <a:ea typeface="黑体" panose="02010609060101010101" pitchFamily="49" charset="-122"/>
              </a:rPr>
              <a:t>-</a:t>
            </a:r>
            <a:r>
              <a:rPr lang="zh-CN" altLang="en-US" sz="4000" dirty="0">
                <a:solidFill>
                  <a:srgbClr val="FFFF00"/>
                </a:solidFill>
                <a:latin typeface="黑体" panose="02010609060101010101" pitchFamily="49" charset="-122"/>
                <a:ea typeface="黑体" panose="02010609060101010101" pitchFamily="49" charset="-122"/>
              </a:rPr>
              <a:t>气系统的辐射差额</a:t>
            </a:r>
            <a:endParaRPr lang="zh-CN" altLang="en-US" sz="4000" dirty="0">
              <a:solidFill>
                <a:srgbClr val="FFFF00"/>
              </a:solidFill>
              <a:latin typeface="黑体" panose="02010609060101010101" pitchFamily="49" charset="-122"/>
              <a:ea typeface="黑体" panose="02010609060101010101" pitchFamily="49" charset="-122"/>
            </a:endParaRPr>
          </a:p>
        </p:txBody>
      </p:sp>
      <p:sp>
        <p:nvSpPr>
          <p:cNvPr id="24582" name="TextBox 1"/>
          <p:cNvSpPr txBox="1"/>
          <p:nvPr/>
        </p:nvSpPr>
        <p:spPr>
          <a:xfrm>
            <a:off x="827088" y="1484313"/>
            <a:ext cx="8010525" cy="10429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lnSpc>
                <a:spcPct val="150000"/>
              </a:lnSpc>
              <a:spcBef>
                <a:spcPct val="0"/>
              </a:spcBef>
              <a:buClrTx/>
              <a:buFont typeface="Arial" panose="020B0604020202020204" pitchFamily="34" charset="0"/>
              <a:buNone/>
            </a:pPr>
            <a:r>
              <a:rPr lang="zh-CN" altLang="en-US" sz="2200" dirty="0">
                <a:solidFill>
                  <a:srgbClr val="0000FF"/>
                </a:solidFill>
                <a:latin typeface="华文细黑" panose="02010600040101010101" pitchFamily="2" charset="-122"/>
                <a:ea typeface="华文细黑" panose="02010600040101010101" pitchFamily="2" charset="-122"/>
              </a:rPr>
              <a:t>把地面直到大气上界作为一个整体，其辐射能净收入就是地</a:t>
            </a:r>
            <a:r>
              <a:rPr lang="en-US" altLang="zh-CN" sz="2200" dirty="0">
                <a:solidFill>
                  <a:srgbClr val="0000FF"/>
                </a:solidFill>
                <a:latin typeface="华文细黑" panose="02010600040101010101" pitchFamily="2" charset="-122"/>
                <a:ea typeface="华文细黑" panose="02010600040101010101" pitchFamily="2" charset="-122"/>
              </a:rPr>
              <a:t>-</a:t>
            </a:r>
            <a:r>
              <a:rPr lang="zh-CN" altLang="en-US" sz="2200" dirty="0">
                <a:solidFill>
                  <a:srgbClr val="0000FF"/>
                </a:solidFill>
                <a:latin typeface="华文细黑" panose="02010600040101010101" pitchFamily="2" charset="-122"/>
                <a:ea typeface="华文细黑" panose="02010600040101010101" pitchFamily="2" charset="-122"/>
              </a:rPr>
              <a:t>气系统的辐射差额，表示为：</a:t>
            </a:r>
            <a:endParaRPr lang="zh-CN" altLang="en-US" sz="2200" dirty="0">
              <a:solidFill>
                <a:srgbClr val="0000FF"/>
              </a:solidFill>
              <a:latin typeface="华文细黑" panose="02010600040101010101" pitchFamily="2" charset="-122"/>
              <a:ea typeface="华文细黑" panose="02010600040101010101" pitchFamily="2" charset="-122"/>
            </a:endParaRPr>
          </a:p>
        </p:txBody>
      </p:sp>
      <p:graphicFrame>
        <p:nvGraphicFramePr>
          <p:cNvPr id="24583" name="对象 2"/>
          <p:cNvGraphicFramePr>
            <a:graphicFrameLocks noChangeAspect="1"/>
          </p:cNvGraphicFramePr>
          <p:nvPr/>
        </p:nvGraphicFramePr>
        <p:xfrm>
          <a:off x="1116013" y="5084763"/>
          <a:ext cx="7185025" cy="720725"/>
        </p:xfrm>
        <a:graphic>
          <a:graphicData uri="http://schemas.openxmlformats.org/presentationml/2006/ole">
            <mc:AlternateContent xmlns:mc="http://schemas.openxmlformats.org/markup-compatibility/2006">
              <mc:Choice xmlns:v="urn:schemas-microsoft-com:vml" Requires="v">
                <p:oleObj spid="_x0000_s3089" name="" r:id="rId3" imgW="2525395" imgH="254000" progId="Equation.3">
                  <p:embed/>
                </p:oleObj>
              </mc:Choice>
              <mc:Fallback>
                <p:oleObj name="" r:id="rId3" imgW="2525395" imgH="254000" progId="Equation.3">
                  <p:embed/>
                  <p:pic>
                    <p:nvPicPr>
                      <p:cNvPr id="0" name="图片 3088"/>
                      <p:cNvPicPr/>
                      <p:nvPr/>
                    </p:nvPicPr>
                    <p:blipFill>
                      <a:blip r:embed="rId4"/>
                      <a:stretch>
                        <a:fillRect/>
                      </a:stretch>
                    </p:blipFill>
                    <p:spPr>
                      <a:xfrm>
                        <a:off x="1116013" y="5084763"/>
                        <a:ext cx="7185025" cy="720725"/>
                      </a:xfrm>
                      <a:prstGeom prst="rect">
                        <a:avLst/>
                      </a:prstGeom>
                      <a:noFill/>
                      <a:ln w="38100">
                        <a:noFill/>
                        <a:miter/>
                      </a:ln>
                    </p:spPr>
                  </p:pic>
                </p:oleObj>
              </mc:Fallback>
            </mc:AlternateContent>
          </a:graphicData>
        </a:graphic>
      </p:graphicFrame>
      <p:sp>
        <p:nvSpPr>
          <p:cNvPr id="24584" name="TextBox 14"/>
          <p:cNvSpPr txBox="1"/>
          <p:nvPr/>
        </p:nvSpPr>
        <p:spPr>
          <a:xfrm>
            <a:off x="1116013" y="5949950"/>
            <a:ext cx="8010525" cy="5746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lnSpc>
                <a:spcPct val="150000"/>
              </a:lnSpc>
              <a:spcBef>
                <a:spcPct val="0"/>
              </a:spcBef>
              <a:buClrTx/>
              <a:buFont typeface="Arial" panose="020B0604020202020204" pitchFamily="34" charset="0"/>
              <a:buNone/>
            </a:pPr>
            <a:r>
              <a:rPr lang="zh-CN" altLang="en-US" sz="2400" dirty="0">
                <a:solidFill>
                  <a:srgbClr val="0000FF"/>
                </a:solidFill>
                <a:latin typeface="华文细黑" panose="02010600040101010101" pitchFamily="2" charset="-122"/>
                <a:ea typeface="华文细黑" panose="02010600040101010101" pitchFamily="2" charset="-122"/>
              </a:rPr>
              <a:t>即大气顶部的净辐射就是地</a:t>
            </a:r>
            <a:r>
              <a:rPr lang="en-US" altLang="zh-CN" sz="2400" dirty="0">
                <a:solidFill>
                  <a:srgbClr val="0000FF"/>
                </a:solidFill>
                <a:latin typeface="华文细黑" panose="02010600040101010101" pitchFamily="2" charset="-122"/>
                <a:ea typeface="华文细黑" panose="02010600040101010101" pitchFamily="2" charset="-122"/>
              </a:rPr>
              <a:t>-</a:t>
            </a:r>
            <a:r>
              <a:rPr lang="zh-CN" altLang="en-US" sz="2400" dirty="0">
                <a:solidFill>
                  <a:srgbClr val="0000FF"/>
                </a:solidFill>
                <a:latin typeface="华文细黑" panose="02010600040101010101" pitchFamily="2" charset="-122"/>
                <a:ea typeface="华文细黑" panose="02010600040101010101" pitchFamily="2" charset="-122"/>
              </a:rPr>
              <a:t>气系统的辐射差额。</a:t>
            </a:r>
            <a:endParaRPr lang="zh-CN" altLang="en-US" sz="2400" dirty="0">
              <a:solidFill>
                <a:srgbClr val="0000FF"/>
              </a:solidFill>
              <a:latin typeface="华文细黑" panose="02010600040101010101" pitchFamily="2" charset="-122"/>
              <a:ea typeface="华文细黑" panose="0201060004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TextBox 8"/>
          <p:cNvSpPr txBox="1"/>
          <p:nvPr/>
        </p:nvSpPr>
        <p:spPr>
          <a:xfrm>
            <a:off x="250825" y="6165850"/>
            <a:ext cx="8642350" cy="36830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zh-CN" altLang="en-US" sz="1800" b="0" dirty="0">
              <a:latin typeface="Arial" panose="020B0604020202020204" pitchFamily="34" charset="0"/>
              <a:ea typeface="宋体" panose="02010600030101010101" pitchFamily="2" charset="-122"/>
            </a:endParaRPr>
          </a:p>
        </p:txBody>
      </p:sp>
      <p:sp>
        <p:nvSpPr>
          <p:cNvPr id="3" name="Rectangle 3"/>
          <p:cNvSpPr txBox="1">
            <a:spLocks noChangeArrowheads="1"/>
          </p:cNvSpPr>
          <p:nvPr/>
        </p:nvSpPr>
        <p:spPr>
          <a:xfrm>
            <a:off x="1428750" y="166688"/>
            <a:ext cx="7715250" cy="762000"/>
          </a:xfrm>
          <a:prstGeom prst="rect">
            <a:avLst/>
          </a:prstGeom>
          <a:noFill/>
        </p:spPr>
        <p:txBody>
          <a:bodyPr/>
          <a:lstStyle/>
          <a:p>
            <a:pPr marR="0" algn="ctr" defTabSz="914400">
              <a:buClrTx/>
              <a:buSzTx/>
              <a:buFontTx/>
              <a:buNone/>
              <a:defRPr/>
            </a:pPr>
            <a:r>
              <a:rPr kumimoji="0" lang="en-US" altLang="zh-CN" sz="4000" b="1" kern="0" cap="none" spc="0" normalizeH="0" baseline="0" noProof="0" dirty="0">
                <a:solidFill>
                  <a:srgbClr val="FFFF00"/>
                </a:solidFill>
                <a:latin typeface="黑体" panose="02010609060101010101" pitchFamily="49" charset="-122"/>
                <a:ea typeface="黑体" panose="02010609060101010101" pitchFamily="49" charset="-122"/>
                <a:cs typeface="+mj-cs"/>
              </a:rPr>
              <a:t>4.</a:t>
            </a:r>
            <a:r>
              <a:rPr kumimoji="0" lang="zh-CN" altLang="en-US" sz="4000" b="1" kern="0" cap="none" spc="0" normalizeH="0" baseline="0" noProof="0" dirty="0">
                <a:solidFill>
                  <a:srgbClr val="FFFF00"/>
                </a:solidFill>
                <a:latin typeface="黑体" panose="02010609060101010101" pitchFamily="49" charset="-122"/>
                <a:ea typeface="黑体" panose="02010609060101010101" pitchFamily="49" charset="-122"/>
                <a:cs typeface="+mj-cs"/>
              </a:rPr>
              <a:t>观测到的辐射平衡</a:t>
            </a:r>
            <a:endParaRPr kumimoji="0" lang="zh-CN" altLang="en-US" sz="4000" b="1" kern="0" cap="none" spc="0" normalizeH="0" baseline="0" noProof="0" dirty="0">
              <a:solidFill>
                <a:srgbClr val="FFFF00"/>
              </a:solidFill>
              <a:latin typeface="黑体" panose="02010609060101010101" pitchFamily="49" charset="-122"/>
              <a:ea typeface="黑体" panose="02010609060101010101" pitchFamily="49" charset="-122"/>
              <a:cs typeface="+mj-cs"/>
            </a:endParaRPr>
          </a:p>
        </p:txBody>
      </p:sp>
      <p:sp>
        <p:nvSpPr>
          <p:cNvPr id="25604" name="TextBox 1"/>
          <p:cNvSpPr txBox="1"/>
          <p:nvPr/>
        </p:nvSpPr>
        <p:spPr>
          <a:xfrm>
            <a:off x="606425" y="1412875"/>
            <a:ext cx="7775575" cy="523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en-US" altLang="zh-CN" dirty="0">
                <a:solidFill>
                  <a:srgbClr val="0000FF"/>
                </a:solidFill>
                <a:latin typeface="黑体" panose="02010609060101010101" pitchFamily="49" charset="-122"/>
                <a:ea typeface="黑体" panose="02010609060101010101" pitchFamily="49" charset="-122"/>
              </a:rPr>
              <a:t>1</a:t>
            </a:r>
            <a:r>
              <a:rPr lang="zh-CN" altLang="en-US" dirty="0">
                <a:solidFill>
                  <a:srgbClr val="0000FF"/>
                </a:solidFill>
                <a:latin typeface="黑体" panose="02010609060101010101" pitchFamily="49" charset="-122"/>
                <a:ea typeface="黑体" panose="02010609060101010101" pitchFamily="49" charset="-122"/>
              </a:rPr>
              <a:t>）</a:t>
            </a:r>
            <a:r>
              <a:rPr lang="en-US" altLang="zh-CN" dirty="0">
                <a:solidFill>
                  <a:srgbClr val="0000FF"/>
                </a:solidFill>
                <a:latin typeface="黑体" panose="02010609060101010101" pitchFamily="49" charset="-122"/>
                <a:ea typeface="黑体" panose="02010609060101010101" pitchFamily="49" charset="-122"/>
              </a:rPr>
              <a:t> </a:t>
            </a:r>
            <a:r>
              <a:rPr lang="zh-CN" altLang="en-US" dirty="0">
                <a:solidFill>
                  <a:srgbClr val="0000FF"/>
                </a:solidFill>
                <a:latin typeface="黑体" panose="02010609060101010101" pitchFamily="49" charset="-122"/>
                <a:ea typeface="黑体" panose="02010609060101010101" pitchFamily="49" charset="-122"/>
              </a:rPr>
              <a:t>大气顶部观测到的辐射平衡</a:t>
            </a:r>
            <a:endParaRPr lang="zh-CN" altLang="en-US" dirty="0">
              <a:solidFill>
                <a:srgbClr val="0000FF"/>
              </a:solidFill>
              <a:latin typeface="黑体" panose="02010609060101010101" pitchFamily="49" charset="-122"/>
              <a:ea typeface="黑体" panose="02010609060101010101" pitchFamily="49" charset="-122"/>
            </a:endParaRPr>
          </a:p>
        </p:txBody>
      </p:sp>
      <p:sp>
        <p:nvSpPr>
          <p:cNvPr id="25605" name="TextBox 3"/>
          <p:cNvSpPr txBox="1"/>
          <p:nvPr/>
        </p:nvSpPr>
        <p:spPr>
          <a:xfrm>
            <a:off x="827088" y="2205038"/>
            <a:ext cx="7777162" cy="13636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lnSpc>
                <a:spcPct val="130000"/>
              </a:lnSpc>
              <a:spcBef>
                <a:spcPct val="0"/>
              </a:spcBef>
              <a:buClrTx/>
              <a:buFont typeface="Arial" panose="020B0604020202020204" pitchFamily="34" charset="0"/>
              <a:buNone/>
            </a:pPr>
            <a:r>
              <a:rPr lang="zh-CN" altLang="en-US" sz="2200" dirty="0">
                <a:solidFill>
                  <a:srgbClr val="080800"/>
                </a:solidFill>
                <a:latin typeface="华文细黑" panose="02010600040101010101" pitchFamily="2" charset="-122"/>
                <a:ea typeface="华文细黑" panose="02010600040101010101" pitchFamily="2" charset="-122"/>
              </a:rPr>
              <a:t>在几年的时间尺度上，地球作为一个整体是处于辐射平衡的。当能量以短波辐射形式进入地球大气系统时，必须有相同数量的能量以长波辐射的形式离去。</a:t>
            </a:r>
            <a:endParaRPr lang="zh-CN" altLang="en-US" sz="2200" dirty="0">
              <a:solidFill>
                <a:srgbClr val="080800"/>
              </a:solidFill>
              <a:latin typeface="华文细黑" panose="02010600040101010101" pitchFamily="2" charset="-122"/>
              <a:ea typeface="华文细黑" panose="02010600040101010101" pitchFamily="2" charset="-122"/>
            </a:endParaRPr>
          </a:p>
        </p:txBody>
      </p:sp>
      <p:sp>
        <p:nvSpPr>
          <p:cNvPr id="25606" name="TextBox 4"/>
          <p:cNvSpPr txBox="1"/>
          <p:nvPr/>
        </p:nvSpPr>
        <p:spPr>
          <a:xfrm>
            <a:off x="827088" y="3860800"/>
            <a:ext cx="7777162"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zh-CN" altLang="en-US" sz="2400" dirty="0">
                <a:solidFill>
                  <a:srgbClr val="080800"/>
                </a:solidFill>
                <a:latin typeface="华文细黑" panose="02010600040101010101" pitchFamily="2" charset="-122"/>
                <a:ea typeface="华文细黑" panose="02010600040101010101" pitchFamily="2" charset="-122"/>
              </a:rPr>
              <a:t>大气顶部的净辐射通量密度为：</a:t>
            </a:r>
            <a:endParaRPr lang="zh-CN" altLang="en-US" sz="2400" dirty="0">
              <a:solidFill>
                <a:srgbClr val="080800"/>
              </a:solidFill>
              <a:latin typeface="华文细黑" panose="02010600040101010101" pitchFamily="2" charset="-122"/>
              <a:ea typeface="华文细黑" panose="02010600040101010101" pitchFamily="2" charset="-122"/>
            </a:endParaRPr>
          </a:p>
        </p:txBody>
      </p:sp>
      <p:graphicFrame>
        <p:nvGraphicFramePr>
          <p:cNvPr id="25607" name="对象 5"/>
          <p:cNvGraphicFramePr>
            <a:graphicFrameLocks noChangeAspect="1"/>
          </p:cNvGraphicFramePr>
          <p:nvPr/>
        </p:nvGraphicFramePr>
        <p:xfrm>
          <a:off x="1476375" y="4437063"/>
          <a:ext cx="6824663" cy="865187"/>
        </p:xfrm>
        <a:graphic>
          <a:graphicData uri="http://schemas.openxmlformats.org/presentationml/2006/ole">
            <mc:AlternateContent xmlns:mc="http://schemas.openxmlformats.org/markup-compatibility/2006">
              <mc:Choice xmlns:v="urn:schemas-microsoft-com:vml" Requires="v">
                <p:oleObj spid="_x0000_s3090" name="" r:id="rId1" imgW="2398395" imgH="304800" progId="Equation.3">
                  <p:embed/>
                </p:oleObj>
              </mc:Choice>
              <mc:Fallback>
                <p:oleObj name="" r:id="rId1" imgW="2398395" imgH="304800" progId="Equation.3">
                  <p:embed/>
                  <p:pic>
                    <p:nvPicPr>
                      <p:cNvPr id="0" name="图片 3089"/>
                      <p:cNvPicPr/>
                      <p:nvPr/>
                    </p:nvPicPr>
                    <p:blipFill>
                      <a:blip r:embed="rId2"/>
                      <a:stretch>
                        <a:fillRect/>
                      </a:stretch>
                    </p:blipFill>
                    <p:spPr>
                      <a:xfrm>
                        <a:off x="1476375" y="4437063"/>
                        <a:ext cx="6824663" cy="865187"/>
                      </a:xfrm>
                      <a:prstGeom prst="rect">
                        <a:avLst/>
                      </a:prstGeom>
                      <a:noFill/>
                      <a:ln w="38100">
                        <a:noFill/>
                        <a:miter/>
                      </a:ln>
                    </p:spPr>
                  </p:pic>
                </p:oleObj>
              </mc:Fallback>
            </mc:AlternateContent>
          </a:graphicData>
        </a:graphic>
      </p:graphicFrame>
      <p:graphicFrame>
        <p:nvGraphicFramePr>
          <p:cNvPr id="25608" name="对象 6"/>
          <p:cNvGraphicFramePr>
            <a:graphicFrameLocks noChangeAspect="1"/>
          </p:cNvGraphicFramePr>
          <p:nvPr/>
        </p:nvGraphicFramePr>
        <p:xfrm>
          <a:off x="1042988" y="5300663"/>
          <a:ext cx="793750" cy="720725"/>
        </p:xfrm>
        <a:graphic>
          <a:graphicData uri="http://schemas.openxmlformats.org/presentationml/2006/ole">
            <mc:AlternateContent xmlns:mc="http://schemas.openxmlformats.org/markup-compatibility/2006">
              <mc:Choice xmlns:v="urn:schemas-microsoft-com:vml" Requires="v">
                <p:oleObj spid="_x0000_s3088" name="" r:id="rId3" imgW="279400" imgH="254000" progId="Equation.3">
                  <p:embed/>
                </p:oleObj>
              </mc:Choice>
              <mc:Fallback>
                <p:oleObj name="" r:id="rId3" imgW="279400" imgH="254000" progId="Equation.3">
                  <p:embed/>
                  <p:pic>
                    <p:nvPicPr>
                      <p:cNvPr id="0" name="图片 3087"/>
                      <p:cNvPicPr/>
                      <p:nvPr/>
                    </p:nvPicPr>
                    <p:blipFill>
                      <a:blip r:embed="rId4"/>
                      <a:stretch>
                        <a:fillRect/>
                      </a:stretch>
                    </p:blipFill>
                    <p:spPr>
                      <a:xfrm>
                        <a:off x="1042988" y="5300663"/>
                        <a:ext cx="793750" cy="720725"/>
                      </a:xfrm>
                      <a:prstGeom prst="rect">
                        <a:avLst/>
                      </a:prstGeom>
                      <a:noFill/>
                      <a:ln w="38100">
                        <a:noFill/>
                        <a:miter/>
                      </a:ln>
                    </p:spPr>
                  </p:pic>
                </p:oleObj>
              </mc:Fallback>
            </mc:AlternateContent>
          </a:graphicData>
        </a:graphic>
      </p:graphicFrame>
      <p:sp>
        <p:nvSpPr>
          <p:cNvPr id="25609" name="TextBox 10"/>
          <p:cNvSpPr txBox="1"/>
          <p:nvPr/>
        </p:nvSpPr>
        <p:spPr>
          <a:xfrm>
            <a:off x="1835150" y="5445125"/>
            <a:ext cx="6985000"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zh-CN" altLang="en-US" sz="2400" dirty="0">
                <a:solidFill>
                  <a:srgbClr val="080800"/>
                </a:solidFill>
                <a:latin typeface="华文细黑" panose="02010600040101010101" pitchFamily="2" charset="-122"/>
                <a:ea typeface="华文细黑" panose="02010600040101010101" pitchFamily="2" charset="-122"/>
              </a:rPr>
              <a:t>是入射到大气顶部的太阳短波辐射通量密度；</a:t>
            </a:r>
            <a:endParaRPr lang="zh-CN" altLang="en-US" sz="2400" dirty="0">
              <a:solidFill>
                <a:srgbClr val="080800"/>
              </a:solidFill>
              <a:latin typeface="华文细黑" panose="02010600040101010101" pitchFamily="2" charset="-122"/>
              <a:ea typeface="华文细黑" panose="02010600040101010101" pitchFamily="2" charset="-122"/>
            </a:endParaRPr>
          </a:p>
        </p:txBody>
      </p:sp>
      <p:graphicFrame>
        <p:nvGraphicFramePr>
          <p:cNvPr id="25610" name="对象 7"/>
          <p:cNvGraphicFramePr>
            <a:graphicFrameLocks noChangeAspect="1"/>
          </p:cNvGraphicFramePr>
          <p:nvPr/>
        </p:nvGraphicFramePr>
        <p:xfrm>
          <a:off x="1058863" y="6021388"/>
          <a:ext cx="757237" cy="720725"/>
        </p:xfrm>
        <a:graphic>
          <a:graphicData uri="http://schemas.openxmlformats.org/presentationml/2006/ole">
            <mc:AlternateContent xmlns:mc="http://schemas.openxmlformats.org/markup-compatibility/2006">
              <mc:Choice xmlns:v="urn:schemas-microsoft-com:vml" Requires="v">
                <p:oleObj spid="_x0000_s3091" name="" r:id="rId5" imgW="266065" imgH="253365" progId="Equation.3">
                  <p:embed/>
                </p:oleObj>
              </mc:Choice>
              <mc:Fallback>
                <p:oleObj name="" r:id="rId5" imgW="266065" imgH="253365" progId="Equation.3">
                  <p:embed/>
                  <p:pic>
                    <p:nvPicPr>
                      <p:cNvPr id="0" name="图片 3090"/>
                      <p:cNvPicPr/>
                      <p:nvPr/>
                    </p:nvPicPr>
                    <p:blipFill>
                      <a:blip r:embed="rId6"/>
                      <a:stretch>
                        <a:fillRect/>
                      </a:stretch>
                    </p:blipFill>
                    <p:spPr>
                      <a:xfrm>
                        <a:off x="1058863" y="6021388"/>
                        <a:ext cx="757237" cy="720725"/>
                      </a:xfrm>
                      <a:prstGeom prst="rect">
                        <a:avLst/>
                      </a:prstGeom>
                      <a:noFill/>
                      <a:ln w="38100">
                        <a:noFill/>
                        <a:miter/>
                      </a:ln>
                    </p:spPr>
                  </p:pic>
                </p:oleObj>
              </mc:Fallback>
            </mc:AlternateContent>
          </a:graphicData>
        </a:graphic>
      </p:graphicFrame>
      <p:sp>
        <p:nvSpPr>
          <p:cNvPr id="25611" name="TextBox 13"/>
          <p:cNvSpPr txBox="1"/>
          <p:nvPr/>
        </p:nvSpPr>
        <p:spPr>
          <a:xfrm>
            <a:off x="1835150" y="6207125"/>
            <a:ext cx="6913563"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zh-CN" altLang="en-US" sz="2400" dirty="0">
                <a:solidFill>
                  <a:srgbClr val="080800"/>
                </a:solidFill>
                <a:latin typeface="华文细黑" panose="02010600040101010101" pitchFamily="2" charset="-122"/>
                <a:ea typeface="华文细黑" panose="02010600040101010101" pitchFamily="2" charset="-122"/>
              </a:rPr>
              <a:t>是透过大气顶部向外射出的长波辐射通量密度。</a:t>
            </a:r>
            <a:endParaRPr lang="zh-CN" altLang="en-US" sz="2400" dirty="0">
              <a:solidFill>
                <a:srgbClr val="080800"/>
              </a:solidFill>
              <a:latin typeface="华文细黑" panose="02010600040101010101" pitchFamily="2" charset="-122"/>
              <a:ea typeface="华文细黑" panose="0201060004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6626" name="Picture 2"/>
          <p:cNvPicPr>
            <a:picLocks noChangeAspect="1"/>
          </p:cNvPicPr>
          <p:nvPr/>
        </p:nvPicPr>
        <p:blipFill>
          <a:blip r:embed="rId1"/>
          <a:srcRect l="4829" t="6345" r="5821"/>
          <a:stretch>
            <a:fillRect/>
          </a:stretch>
        </p:blipFill>
        <p:spPr>
          <a:xfrm>
            <a:off x="274638" y="1341438"/>
            <a:ext cx="4495800" cy="3497262"/>
          </a:xfrm>
          <a:prstGeom prst="rect">
            <a:avLst/>
          </a:prstGeom>
          <a:noFill/>
          <a:ln w="9525">
            <a:noFill/>
          </a:ln>
        </p:spPr>
      </p:pic>
      <p:sp>
        <p:nvSpPr>
          <p:cNvPr id="3" name="Rectangle 3"/>
          <p:cNvSpPr txBox="1">
            <a:spLocks noChangeArrowheads="1"/>
          </p:cNvSpPr>
          <p:nvPr/>
        </p:nvSpPr>
        <p:spPr>
          <a:xfrm>
            <a:off x="1428750" y="166688"/>
            <a:ext cx="7715250" cy="762000"/>
          </a:xfrm>
          <a:prstGeom prst="rect">
            <a:avLst/>
          </a:prstGeom>
          <a:noFill/>
        </p:spPr>
        <p:txBody>
          <a:bodyPr/>
          <a:lstStyle/>
          <a:p>
            <a:pPr marR="0" algn="ctr" defTabSz="914400">
              <a:buClrTx/>
              <a:buSzTx/>
              <a:buFontTx/>
              <a:buNone/>
              <a:defRPr/>
            </a:pPr>
            <a:r>
              <a:rPr kumimoji="0" lang="en-US" altLang="zh-CN" sz="4000" b="1" kern="0" cap="none" spc="0" normalizeH="0" baseline="0" noProof="0" dirty="0">
                <a:solidFill>
                  <a:srgbClr val="FFFF00"/>
                </a:solidFill>
                <a:latin typeface="黑体" panose="02010609060101010101" pitchFamily="49" charset="-122"/>
                <a:ea typeface="黑体" panose="02010609060101010101" pitchFamily="49" charset="-122"/>
                <a:cs typeface="+mj-cs"/>
              </a:rPr>
              <a:t>4.</a:t>
            </a:r>
            <a:r>
              <a:rPr kumimoji="0" lang="zh-CN" altLang="en-US" sz="4000" b="1" kern="0" cap="none" spc="0" normalizeH="0" baseline="0" noProof="0" dirty="0">
                <a:solidFill>
                  <a:srgbClr val="FFFF00"/>
                </a:solidFill>
                <a:latin typeface="黑体" panose="02010609060101010101" pitchFamily="49" charset="-122"/>
                <a:ea typeface="黑体" panose="02010609060101010101" pitchFamily="49" charset="-122"/>
                <a:cs typeface="+mj-cs"/>
              </a:rPr>
              <a:t>观测到的辐射平衡</a:t>
            </a:r>
            <a:endParaRPr kumimoji="0" lang="zh-CN" altLang="en-US" sz="4000" b="1" kern="0" cap="none" spc="0" normalizeH="0" baseline="0" noProof="0" dirty="0">
              <a:solidFill>
                <a:srgbClr val="FFFF00"/>
              </a:solidFill>
              <a:latin typeface="黑体" panose="02010609060101010101" pitchFamily="49" charset="-122"/>
              <a:ea typeface="黑体" panose="02010609060101010101" pitchFamily="49" charset="-122"/>
              <a:cs typeface="+mj-cs"/>
            </a:endParaRPr>
          </a:p>
        </p:txBody>
      </p:sp>
      <p:pic>
        <p:nvPicPr>
          <p:cNvPr id="26628" name="Picture 1"/>
          <p:cNvPicPr>
            <a:picLocks noChangeAspect="1"/>
          </p:cNvPicPr>
          <p:nvPr/>
        </p:nvPicPr>
        <p:blipFill>
          <a:blip r:embed="rId2"/>
          <a:srcRect r="3719"/>
          <a:stretch>
            <a:fillRect/>
          </a:stretch>
        </p:blipFill>
        <p:spPr>
          <a:xfrm>
            <a:off x="4211638" y="2962275"/>
            <a:ext cx="4838700" cy="3752850"/>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7650" name="Picture 2"/>
          <p:cNvPicPr>
            <a:picLocks noChangeAspect="1"/>
          </p:cNvPicPr>
          <p:nvPr/>
        </p:nvPicPr>
        <p:blipFill>
          <a:blip r:embed="rId1"/>
          <a:stretch>
            <a:fillRect/>
          </a:stretch>
        </p:blipFill>
        <p:spPr>
          <a:xfrm>
            <a:off x="250825" y="1773238"/>
            <a:ext cx="4341813" cy="4092575"/>
          </a:xfrm>
          <a:prstGeom prst="rect">
            <a:avLst/>
          </a:prstGeom>
          <a:noFill/>
          <a:ln w="9525">
            <a:noFill/>
          </a:ln>
        </p:spPr>
      </p:pic>
      <p:pic>
        <p:nvPicPr>
          <p:cNvPr id="27651" name="Picture 3"/>
          <p:cNvPicPr>
            <a:picLocks noChangeAspect="1"/>
          </p:cNvPicPr>
          <p:nvPr/>
        </p:nvPicPr>
        <p:blipFill>
          <a:blip r:embed="rId2"/>
          <a:stretch>
            <a:fillRect/>
          </a:stretch>
        </p:blipFill>
        <p:spPr>
          <a:xfrm>
            <a:off x="4592638" y="1857375"/>
            <a:ext cx="4448175" cy="4008438"/>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8674" name="Picture 1"/>
          <p:cNvPicPr>
            <a:picLocks noChangeAspect="1"/>
          </p:cNvPicPr>
          <p:nvPr/>
        </p:nvPicPr>
        <p:blipFill>
          <a:blip r:embed="rId1"/>
          <a:stretch>
            <a:fillRect/>
          </a:stretch>
        </p:blipFill>
        <p:spPr>
          <a:xfrm>
            <a:off x="1619250" y="2008188"/>
            <a:ext cx="6332538" cy="3868737"/>
          </a:xfrm>
          <a:prstGeom prst="rect">
            <a:avLst/>
          </a:prstGeom>
          <a:noFill/>
          <a:ln w="9525">
            <a:noFill/>
          </a:ln>
        </p:spPr>
      </p:pic>
      <p:sp>
        <p:nvSpPr>
          <p:cNvPr id="28675" name="TextBox 2"/>
          <p:cNvSpPr txBox="1"/>
          <p:nvPr/>
        </p:nvSpPr>
        <p:spPr>
          <a:xfrm>
            <a:off x="606425" y="1412875"/>
            <a:ext cx="7775575" cy="523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en-US" altLang="zh-CN" dirty="0">
                <a:solidFill>
                  <a:srgbClr val="0000FF"/>
                </a:solidFill>
                <a:latin typeface="华文细黑" panose="02010600040101010101" pitchFamily="2" charset="-122"/>
                <a:ea typeface="华文细黑" panose="02010600040101010101" pitchFamily="2" charset="-122"/>
              </a:rPr>
              <a:t>2</a:t>
            </a:r>
            <a:r>
              <a:rPr lang="zh-CN" altLang="en-US" dirty="0">
                <a:solidFill>
                  <a:srgbClr val="0000FF"/>
                </a:solidFill>
                <a:latin typeface="华文细黑" panose="02010600040101010101" pitchFamily="2" charset="-122"/>
                <a:ea typeface="华文细黑" panose="02010600040101010101" pitchFamily="2" charset="-122"/>
              </a:rPr>
              <a:t>）地球表面观测到的辐射平衡</a:t>
            </a:r>
            <a:endParaRPr lang="zh-CN" altLang="en-US" dirty="0">
              <a:solidFill>
                <a:srgbClr val="0000FF"/>
              </a:solidFill>
              <a:latin typeface="华文细黑" panose="02010600040101010101" pitchFamily="2" charset="-122"/>
              <a:ea typeface="华文细黑" panose="02010600040101010101" pitchFamily="2" charset="-122"/>
            </a:endParaRPr>
          </a:p>
        </p:txBody>
      </p:sp>
      <p:sp>
        <p:nvSpPr>
          <p:cNvPr id="28676" name="TextBox 3"/>
          <p:cNvSpPr txBox="1"/>
          <p:nvPr/>
        </p:nvSpPr>
        <p:spPr>
          <a:xfrm>
            <a:off x="2051050" y="5876925"/>
            <a:ext cx="5834063"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zh-CN" altLang="en-US" sz="2400" dirty="0">
                <a:solidFill>
                  <a:srgbClr val="080808"/>
                </a:solidFill>
                <a:latin typeface="华文细黑" panose="02010600040101010101" pitchFamily="2" charset="-122"/>
                <a:ea typeface="华文细黑" panose="02010600040101010101" pitchFamily="2" charset="-122"/>
              </a:rPr>
              <a:t>全球地表面的年平均净辐射通量密度</a:t>
            </a:r>
            <a:endParaRPr lang="zh-CN" altLang="en-US" sz="2400" dirty="0">
              <a:solidFill>
                <a:srgbClr val="080808"/>
              </a:solidFill>
              <a:latin typeface="华文细黑" panose="02010600040101010101" pitchFamily="2" charset="-122"/>
              <a:ea typeface="华文细黑" panose="0201060004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WordArt 3"/>
          <p:cNvSpPr>
            <a:spLocks noTextEdit="1"/>
          </p:cNvSpPr>
          <p:nvPr/>
        </p:nvSpPr>
        <p:spPr>
          <a:xfrm>
            <a:off x="3995738" y="1989138"/>
            <a:ext cx="1173162" cy="1008062"/>
          </a:xfrm>
          <a:prstGeom prst="rect">
            <a:avLst/>
          </a:prstGeom>
        </p:spPr>
        <p:txBody>
          <a:bodyPr wrap="none" fromWordArt="1">
            <a:prstTxWarp prst="textDeflate">
              <a:avLst>
                <a:gd name="adj" fmla="val 0"/>
              </a:avLst>
            </a:prstTxWarp>
            <a:normAutofit/>
          </a:bodyPr>
          <a:p>
            <a:pPr algn="ctr"/>
            <a:r>
              <a:rPr lang="zh-CN" altLang="en-US" sz="3600" b="1">
                <a:ln w="28575" cap="flat" cmpd="sng">
                  <a:solidFill>
                    <a:schemeClr val="bg1"/>
                  </a:solidFill>
                  <a:prstDash val="solid"/>
                  <a:headEnd type="none" w="med" len="med"/>
                  <a:tailEnd type="none" w="med" len="med"/>
                </a:ln>
                <a:solidFill>
                  <a:schemeClr val="folHlink">
                    <a:alpha val="76862"/>
                  </a:schemeClr>
                </a:solidFill>
                <a:effectLst>
                  <a:outerShdw dist="89803" dir="2699999" algn="ctr" rotWithShape="0">
                    <a:schemeClr val="tx2">
                      <a:alpha val="50000"/>
                    </a:schemeClr>
                  </a:outerShdw>
                </a:effectLst>
                <a:latin typeface="+mn-ea" charset="0"/>
                <a:ea typeface="+mn-ea" charset="0"/>
              </a:rPr>
              <a:t>完</a:t>
            </a:r>
            <a:endParaRPr lang="zh-CN" altLang="en-US" sz="3600" b="1">
              <a:ln w="28575" cap="flat" cmpd="sng">
                <a:solidFill>
                  <a:schemeClr val="bg1"/>
                </a:solidFill>
                <a:prstDash val="solid"/>
                <a:headEnd type="none" w="med" len="med"/>
                <a:tailEnd type="none" w="med" len="med"/>
              </a:ln>
              <a:solidFill>
                <a:schemeClr val="folHlink">
                  <a:alpha val="76862"/>
                </a:schemeClr>
              </a:solidFill>
              <a:effectLst>
                <a:outerShdw dist="89803" dir="2699999" algn="ctr" rotWithShape="0">
                  <a:schemeClr val="tx2">
                    <a:alpha val="50000"/>
                  </a:schemeClr>
                </a:outerShdw>
              </a:effectLst>
              <a:latin typeface="+mn-ea" charset="0"/>
              <a:ea typeface="+mn-ea"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9698"/>
                                        </p:tgtEl>
                                        <p:attrNameLst>
                                          <p:attrName>style.visibility</p:attrName>
                                        </p:attrNameLst>
                                      </p:cBhvr>
                                      <p:to>
                                        <p:strVal val="visible"/>
                                      </p:to>
                                    </p:set>
                                    <p:anim calcmode="lin" valueType="num">
                                      <p:cBhvr>
                                        <p:cTn id="7" dur="500" fill="hold"/>
                                        <p:tgtEl>
                                          <p:spTgt spid="29698"/>
                                        </p:tgtEl>
                                        <p:attrNameLst>
                                          <p:attrName>ppt_w</p:attrName>
                                        </p:attrNameLst>
                                      </p:cBhvr>
                                      <p:tavLst>
                                        <p:tav tm="0">
                                          <p:val>
                                            <p:fltVal val="0.000000"/>
                                          </p:val>
                                        </p:tav>
                                        <p:tav tm="100000">
                                          <p:val>
                                            <p:strVal val="#ppt_w"/>
                                          </p:val>
                                        </p:tav>
                                      </p:tavLst>
                                    </p:anim>
                                    <p:anim calcmode="lin" valueType="num">
                                      <p:cBhvr>
                                        <p:cTn id="8" dur="500" fill="hold"/>
                                        <p:tgtEl>
                                          <p:spTgt spid="29698"/>
                                        </p:tgtEl>
                                        <p:attrNameLst>
                                          <p:attrName>ppt_h</p:attrName>
                                        </p:attrNameLst>
                                      </p:cBhvr>
                                      <p:tavLst>
                                        <p:tav tm="0">
                                          <p:val>
                                            <p:fltVal val="0.000000"/>
                                          </p:val>
                                        </p:tav>
                                        <p:tav tm="100000">
                                          <p:val>
                                            <p:strVal val="#ppt_h"/>
                                          </p:val>
                                        </p:tav>
                                      </p:tavLst>
                                    </p:anim>
                                    <p:animEffect transition="in" filter="fade">
                                      <p:cBhvr>
                                        <p:cTn id="9" dur="500"/>
                                        <p:tgtEl>
                                          <p:spTgt spid="296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db2004132l">
  <a:themeElements>
    <a:clrScheme name="cdb2004132l 3">
      <a:dk1>
        <a:srgbClr val="1A1A70"/>
      </a:dk1>
      <a:lt1>
        <a:srgbClr val="FFFFFF"/>
      </a:lt1>
      <a:dk2>
        <a:srgbClr val="243D8C"/>
      </a:dk2>
      <a:lt2>
        <a:srgbClr val="DDDDDD"/>
      </a:lt2>
      <a:accent1>
        <a:srgbClr val="3E78C6"/>
      </a:accent1>
      <a:accent2>
        <a:srgbClr val="84A1E8"/>
      </a:accent2>
      <a:accent3>
        <a:srgbClr val="FFFFFF"/>
      </a:accent3>
      <a:accent4>
        <a:srgbClr val="14145F"/>
      </a:accent4>
      <a:accent5>
        <a:srgbClr val="AFBEDF"/>
      </a:accent5>
      <a:accent6>
        <a:srgbClr val="7791D2"/>
      </a:accent6>
      <a:hlink>
        <a:srgbClr val="90B54D"/>
      </a:hlink>
      <a:folHlink>
        <a:srgbClr val="F3C43F"/>
      </a:folHlink>
    </a:clrScheme>
    <a:fontScheme name="cdb2004132l">
      <a:majorFont>
        <a:latin typeface="楷体_GB2312"/>
        <a:ea typeface="楷体_GB2312"/>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cdb2004132l 1">
        <a:dk1>
          <a:srgbClr val="1D4940"/>
        </a:dk1>
        <a:lt1>
          <a:srgbClr val="FFFFFF"/>
        </a:lt1>
        <a:dk2>
          <a:srgbClr val="3F716F"/>
        </a:dk2>
        <a:lt2>
          <a:srgbClr val="DDDDDD"/>
        </a:lt2>
        <a:accent1>
          <a:srgbClr val="669E86"/>
        </a:accent1>
        <a:accent2>
          <a:srgbClr val="A2CAB4"/>
        </a:accent2>
        <a:accent3>
          <a:srgbClr val="FFFFFF"/>
        </a:accent3>
        <a:accent4>
          <a:srgbClr val="173D35"/>
        </a:accent4>
        <a:accent5>
          <a:srgbClr val="B8CCC3"/>
        </a:accent5>
        <a:accent6>
          <a:srgbClr val="92B7A3"/>
        </a:accent6>
        <a:hlink>
          <a:srgbClr val="8CA35F"/>
        </a:hlink>
        <a:folHlink>
          <a:srgbClr val="C1B05D"/>
        </a:folHlink>
      </a:clrScheme>
      <a:clrMap bg1="lt1" tx1="dk1" bg2="lt2" tx2="dk2" accent1="accent1" accent2="accent2" accent3="accent3" accent4="accent4" accent5="accent5" accent6="accent6" hlink="hlink" folHlink="folHlink"/>
    </a:extraClrScheme>
    <a:extraClrScheme>
      <a:clrScheme name="cdb2004132l 2">
        <a:dk1>
          <a:srgbClr val="2D4473"/>
        </a:dk1>
        <a:lt1>
          <a:srgbClr val="FFFFFF"/>
        </a:lt1>
        <a:dk2>
          <a:srgbClr val="2B6185"/>
        </a:dk2>
        <a:lt2>
          <a:srgbClr val="D3D9DD"/>
        </a:lt2>
        <a:accent1>
          <a:srgbClr val="638AA1"/>
        </a:accent1>
        <a:accent2>
          <a:srgbClr val="8CA8B5"/>
        </a:accent2>
        <a:accent3>
          <a:srgbClr val="FFFFFF"/>
        </a:accent3>
        <a:accent4>
          <a:srgbClr val="253961"/>
        </a:accent4>
        <a:accent5>
          <a:srgbClr val="B7C4CD"/>
        </a:accent5>
        <a:accent6>
          <a:srgbClr val="7E98A4"/>
        </a:accent6>
        <a:hlink>
          <a:srgbClr val="6FA2E7"/>
        </a:hlink>
        <a:folHlink>
          <a:srgbClr val="99C25C"/>
        </a:folHlink>
      </a:clrScheme>
      <a:clrMap bg1="lt1" tx1="dk1" bg2="lt2" tx2="dk2" accent1="accent1" accent2="accent2" accent3="accent3" accent4="accent4" accent5="accent5" accent6="accent6" hlink="hlink" folHlink="folHlink"/>
    </a:extraClrScheme>
    <a:extraClrScheme>
      <a:clrScheme name="cdb2004132l 3">
        <a:dk1>
          <a:srgbClr val="1A1A70"/>
        </a:dk1>
        <a:lt1>
          <a:srgbClr val="FFFFFF"/>
        </a:lt1>
        <a:dk2>
          <a:srgbClr val="243D8C"/>
        </a:dk2>
        <a:lt2>
          <a:srgbClr val="DDDDDD"/>
        </a:lt2>
        <a:accent1>
          <a:srgbClr val="3E78C6"/>
        </a:accent1>
        <a:accent2>
          <a:srgbClr val="84A1E8"/>
        </a:accent2>
        <a:accent3>
          <a:srgbClr val="FFFFFF"/>
        </a:accent3>
        <a:accent4>
          <a:srgbClr val="14145F"/>
        </a:accent4>
        <a:accent5>
          <a:srgbClr val="AFBEDF"/>
        </a:accent5>
        <a:accent6>
          <a:srgbClr val="7791D2"/>
        </a:accent6>
        <a:hlink>
          <a:srgbClr val="90B54D"/>
        </a:hlink>
        <a:folHlink>
          <a:srgbClr val="F3C43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cdb2004132l</Template>
  <TotalTime>0</TotalTime>
  <Words>2118</Words>
  <Application>WPS 演示</Application>
  <PresentationFormat>全屏显示(4:3)</PresentationFormat>
  <Paragraphs>196</Paragraphs>
  <Slides>24</Slides>
  <Notes>2</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32</vt:i4>
      </vt:variant>
      <vt:variant>
        <vt:lpstr>幻灯片标题</vt:lpstr>
      </vt:variant>
      <vt:variant>
        <vt:i4>24</vt:i4>
      </vt:variant>
    </vt:vector>
  </HeadingPairs>
  <TitlesOfParts>
    <vt:vector size="75" baseType="lpstr">
      <vt:lpstr>Arial</vt:lpstr>
      <vt:lpstr>宋体</vt:lpstr>
      <vt:lpstr>Wingdings</vt:lpstr>
      <vt:lpstr>楷体_GB2312</vt:lpstr>
      <vt:lpstr>新宋体</vt:lpstr>
      <vt:lpstr>Verdana</vt:lpstr>
      <vt:lpstr>Calibri</vt:lpstr>
      <vt:lpstr>黑体</vt:lpstr>
      <vt:lpstr>Times New Roman</vt:lpstr>
      <vt:lpstr>华文细黑</vt:lpstr>
      <vt:lpstr>Wingdings 2</vt:lpstr>
      <vt:lpstr>Wingdings</vt:lpstr>
      <vt:lpstr>Symbol</vt:lpstr>
      <vt:lpstr>Cambria Math</vt:lpstr>
      <vt:lpstr>微软雅黑</vt:lpstr>
      <vt:lpstr>+mn-ea</vt:lpstr>
      <vt:lpstr>Arial Unicode MS</vt:lpstr>
      <vt:lpstr>Segoe Print</vt:lpstr>
      <vt:lpstr>cdb2004132l</vt:lpstr>
      <vt:lpstr>Photoshop.Image.6</vt:lpstr>
      <vt:lpstr>Equation.3</vt:lpstr>
      <vt:lpstr>Equation.3</vt:lpstr>
      <vt:lpstr>Equation.3</vt:lpstr>
      <vt:lpstr>Equation.DSMT4</vt:lpstr>
      <vt:lpstr>Equation.DSMT4</vt:lpstr>
      <vt:lpstr>Equation.DSMT4</vt:lpstr>
      <vt:lpstr>Equation.DSMT4</vt:lpstr>
      <vt:lpstr>Equation.DSMT4</vt:lpstr>
      <vt:lpstr>Equation.DSMT4</vt:lpstr>
      <vt:lpstr>Equation.DSMT4</vt:lpstr>
      <vt:lpstr>Photoshop.Image.6</vt:lpstr>
      <vt:lpstr>Equation.DSMT4</vt:lpstr>
      <vt:lpstr>Equation.DSMT4</vt:lpstr>
      <vt:lpstr>Equation.DSMT4</vt:lpstr>
      <vt:lpstr>Equation.DSMT4</vt:lpstr>
      <vt:lpstr>Equation.3</vt:lpstr>
      <vt:lpstr>Equation.3</vt:lpstr>
      <vt:lpstr>Equation.3</vt:lpstr>
      <vt:lpstr>Equation.3</vt:lpstr>
      <vt:lpstr>Equation.3</vt:lpstr>
      <vt:lpstr>Equation.3</vt:lpstr>
      <vt:lpstr>Photoshop.Image.6</vt:lpstr>
      <vt:lpstr>Equation.3</vt:lpstr>
      <vt:lpstr>Equation.3</vt:lpstr>
      <vt:lpstr>Equation.3</vt:lpstr>
      <vt:lpstr>Equation.DSMT4</vt:lpstr>
      <vt:lpstr>Equation.DSMT4</vt:lpstr>
      <vt:lpstr>Equation.DSMT4</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气象统计分析与预报方法 复习概要</dc:title>
  <dc:creator>User</dc:creator>
  <cp:lastModifiedBy>赵元丞</cp:lastModifiedBy>
  <cp:revision>518</cp:revision>
  <dcterms:created xsi:type="dcterms:W3CDTF">2008-12-05T07:55:53Z</dcterms:created>
  <dcterms:modified xsi:type="dcterms:W3CDTF">2026-10-10T00:50:59Z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2052-12.1.0.28802</vt:lpwstr>
  </property>
  <property fmtid="{D5CDD505-2E9C-101B-9397-08002B2CF9AE}" pid="3" name="ICV">
    <vt:lpwstr>2ECB179FF54F408DB1D2A5CE4A0426A7_13</vt:lpwstr>
  </property>
</Properties>
</file>