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6"/>
  </p:notesMasterIdLst>
  <p:sldIdLst>
    <p:sldId id="256" r:id="rId4"/>
    <p:sldId id="390" r:id="rId5"/>
    <p:sldId id="391" r:id="rId7"/>
    <p:sldId id="392" r:id="rId8"/>
    <p:sldId id="414" r:id="rId9"/>
    <p:sldId id="393" r:id="rId10"/>
    <p:sldId id="423" r:id="rId11"/>
    <p:sldId id="424" r:id="rId12"/>
    <p:sldId id="425" r:id="rId13"/>
    <p:sldId id="426" r:id="rId14"/>
    <p:sldId id="427" r:id="rId15"/>
    <p:sldId id="407" r:id="rId16"/>
    <p:sldId id="394" r:id="rId17"/>
    <p:sldId id="395" r:id="rId18"/>
    <p:sldId id="396" r:id="rId19"/>
    <p:sldId id="412" r:id="rId20"/>
    <p:sldId id="410" r:id="rId21"/>
    <p:sldId id="398" r:id="rId22"/>
    <p:sldId id="429" r:id="rId23"/>
    <p:sldId id="430" r:id="rId24"/>
    <p:sldId id="413" r:id="rId25"/>
    <p:sldId id="411" r:id="rId26"/>
    <p:sldId id="400" r:id="rId27"/>
    <p:sldId id="401" r:id="rId28"/>
    <p:sldId id="422" r:id="rId29"/>
    <p:sldId id="402" r:id="rId30"/>
    <p:sldId id="399" r:id="rId31"/>
    <p:sldId id="403" r:id="rId32"/>
    <p:sldId id="323" r:id="rId33"/>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CC"/>
    <a:srgbClr val="0000FF"/>
    <a:srgbClr val="080808"/>
    <a:srgbClr val="FF66FF"/>
    <a:srgbClr val="008000"/>
    <a:srgbClr val="FF3300"/>
    <a:srgbClr val="FF0000"/>
    <a:srgbClr val="99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9742"/>
    <p:restoredTop sz="98807"/>
  </p:normalViewPr>
  <p:slideViewPr>
    <p:cSldViewPr showGuides="1">
      <p:cViewPr varScale="1">
        <p:scale>
          <a:sx n="95" d="100"/>
          <a:sy n="95" d="100"/>
        </p:scale>
        <p:origin x="64" y="30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 Type="http://schemas.openxmlformats.org/officeDocument/2006/relationships/slide" Target="slides/slide2.xml"/><Relationship Id="rId4" Type="http://schemas.openxmlformats.org/officeDocument/2006/relationships/slide" Target="slides/slide1.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image" Target="../media/image2.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image" Target="../media/image6.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4.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页眉占位符 1"/>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075" name="日期占位符 2"/>
          <p:cNvSpPr>
            <a:spLocks noGrp="1" noChangeArrowheads="1"/>
          </p:cNvSpPr>
          <p:nvPr>
            <p:ph type="dt" idx="1"/>
          </p:nvPr>
        </p:nvSpPr>
        <p:spPr bwMode="auto">
          <a:xfrm>
            <a:off x="3884613" y="0"/>
            <a:ext cx="2971800" cy="457200"/>
          </a:xfrm>
          <a:prstGeom prst="rect">
            <a:avLst/>
          </a:prstGeom>
          <a:noFill/>
          <a:ln w="9525">
            <a:noFill/>
            <a:miter lim="800000"/>
          </a:ln>
        </p:spPr>
        <p:txBody>
          <a:bodyPr vert="horz" wrap="square" lIns="91440" tIns="45720" rIns="91440" bIns="45720" numCol="1" anchor="t" anchorCtr="0" compatLnSpc="1"/>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777AF0F-BDE1-461F-8646-D1639388862A}"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076" name="幻灯片图像占位符 3"/>
          <p:cNvSpPr>
            <a:spLocks noGrp="1"/>
          </p:cNvSpPr>
          <p:nvPr>
            <p:ph type="sldImg" idx="2"/>
          </p:nvPr>
        </p:nvSpPr>
        <p:spPr>
          <a:xfrm>
            <a:off x="1143000" y="685800"/>
            <a:ext cx="4572000" cy="3429000"/>
          </a:xfrm>
          <a:prstGeom prst="rect">
            <a:avLst/>
          </a:prstGeom>
          <a:noFill/>
          <a:ln w="12700">
            <a:noFill/>
          </a:ln>
        </p:spPr>
      </p:sp>
      <p:sp>
        <p:nvSpPr>
          <p:cNvPr id="3077" name="备注占位符 4"/>
          <p:cNvSpPr>
            <a:spLocks noGrp="1" noChangeArrowheads="1"/>
          </p:cNvSpPr>
          <p:nvPr>
            <p:ph type="body" sz="quarter" idx="3"/>
          </p:nvPr>
        </p:nvSpPr>
        <p:spPr bwMode="auto">
          <a:xfrm>
            <a:off x="685800" y="4343400"/>
            <a:ext cx="5486400" cy="4114800"/>
          </a:xfrm>
          <a:prstGeom prst="rect">
            <a:avLst/>
          </a:prstGeom>
          <a:noFill/>
          <a:ln w="12700" cmpd="sng">
            <a:noFill/>
            <a:miter lim="800000"/>
          </a:ln>
        </p:spPr>
        <p:txBody>
          <a:bodyPr vert="horz" wrap="square" lIns="91440" tIns="45720" rIns="91440" bIns="45720" numCol="1" anchor="ctr" anchorCtr="0" compatLnSpc="1"/>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078" name="页脚占位符 5"/>
          <p:cNvSpPr>
            <a:spLocks noGrp="1" noChangeArrowheads="1"/>
          </p:cNvSpPr>
          <p:nvPr>
            <p:ph type="ftr" sz="quarter" idx="4"/>
          </p:nvPr>
        </p:nvSpPr>
        <p:spPr bwMode="auto">
          <a:xfrm>
            <a:off x="0" y="8685213"/>
            <a:ext cx="2971800" cy="457200"/>
          </a:xfrm>
          <a:prstGeom prst="rect">
            <a:avLst/>
          </a:prstGeom>
          <a:noFill/>
          <a:ln w="9525">
            <a:noFill/>
            <a:miter lim="800000"/>
          </a:ln>
        </p:spPr>
        <p:txBody>
          <a:bodyPr vert="horz" wrap="square" lIns="91440" tIns="45720" rIns="91440" bIns="45720" numCol="1" anchor="b" anchorCtr="0" compatLnSpc="1"/>
          <a:lstStyle>
            <a:lvl1pPr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079" name="灯片编号占位符 6"/>
          <p:cNvSpPr>
            <a:spLocks noGrp="1" noChangeArrowheads="1"/>
          </p:cNvSpPr>
          <p:nvPr>
            <p:ph type="sldNum" sz="quarter" idx="5"/>
          </p:nvPr>
        </p:nvSpPr>
        <p:spPr bwMode="auto">
          <a:xfrm>
            <a:off x="3884613" y="8685213"/>
            <a:ext cx="2971800" cy="457200"/>
          </a:xfrm>
          <a:prstGeom prst="rect">
            <a:avLst/>
          </a:prstGeom>
          <a:noFill/>
          <a:ln w="9525">
            <a:noFill/>
            <a:miter lim="800000"/>
          </a:ln>
        </p:spPr>
        <p:txBody>
          <a:bodyPr vert="horz" wrap="square" lIns="91440" tIns="45720" rIns="91440" bIns="45720" numCol="1" anchor="b" anchorCtr="0" compatLnSpc="1"/>
          <a:p>
            <a:pPr lvl="0" algn="r" eaLnBrk="1" hangingPunct="1">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CA" dirty="0">
                <a:latin typeface="Arial" panose="020B0604020202020204" pitchFamily="34" charset="0"/>
                <a:ea typeface="宋体" panose="02010600030101010101" pitchFamily="2" charset="-122"/>
              </a:rPr>
            </a:fld>
            <a:endParaRPr lang="zh-CN" altLang="en-CA" dirty="0">
              <a:latin typeface="Arial" panose="020B0604020202020204" pitchFamily="34" charset="0"/>
              <a:ea typeface="宋体" panose="02010600030101010101" pitchFamily="2" charset="-122"/>
            </a:endParaRPr>
          </a:p>
        </p:txBody>
      </p:sp>
      <p:sp>
        <p:nvSpPr>
          <p:cNvPr id="6147" name="Rectangle 2"/>
          <p:cNvSpPr>
            <a:spLocks noTextEdit="1"/>
          </p:cNvSpPr>
          <p:nvPr>
            <p:ph type="sldImg"/>
          </p:nvPr>
        </p:nvSpPr>
        <p:spPr>
          <a:ln/>
        </p:spPr>
      </p:sp>
      <p:sp>
        <p:nvSpPr>
          <p:cNvPr id="6148"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CA" dirty="0">
                <a:latin typeface="Arial" panose="020B0604020202020204" pitchFamily="34" charset="0"/>
                <a:ea typeface="宋体" panose="02010600030101010101" pitchFamily="2" charset="-122"/>
              </a:rPr>
            </a:fld>
            <a:endParaRPr lang="zh-CN" altLang="en-CA" dirty="0">
              <a:latin typeface="Arial" panose="020B0604020202020204" pitchFamily="34" charset="0"/>
              <a:ea typeface="宋体" panose="02010600030101010101" pitchFamily="2" charset="-122"/>
            </a:endParaRPr>
          </a:p>
        </p:txBody>
      </p:sp>
      <p:sp>
        <p:nvSpPr>
          <p:cNvPr id="8195" name="Rectangle 2"/>
          <p:cNvSpPr>
            <a:spLocks noTextEdit="1"/>
          </p:cNvSpPr>
          <p:nvPr>
            <p:ph type="sldImg"/>
          </p:nvPr>
        </p:nvSpPr>
        <p:spPr>
          <a:ln/>
        </p:spPr>
      </p:sp>
      <p:sp>
        <p:nvSpPr>
          <p:cNvPr id="8196"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CA" dirty="0">
                <a:latin typeface="Arial" panose="020B0604020202020204" pitchFamily="34" charset="0"/>
                <a:ea typeface="宋体" panose="02010600030101010101" pitchFamily="2" charset="-122"/>
              </a:rPr>
            </a:fld>
            <a:endParaRPr lang="zh-CN" altLang="en-CA" dirty="0">
              <a:latin typeface="Arial" panose="020B0604020202020204" pitchFamily="34" charset="0"/>
              <a:ea typeface="宋体" panose="02010600030101010101" pitchFamily="2" charset="-122"/>
            </a:endParaRPr>
          </a:p>
        </p:txBody>
      </p:sp>
      <p:sp>
        <p:nvSpPr>
          <p:cNvPr id="10243" name="Rectangle 2"/>
          <p:cNvSpPr>
            <a:spLocks noTextEdit="1"/>
          </p:cNvSpPr>
          <p:nvPr>
            <p:ph type="sldImg"/>
          </p:nvPr>
        </p:nvSpPr>
        <p:spPr>
          <a:ln/>
        </p:spPr>
      </p:sp>
      <p:sp>
        <p:nvSpPr>
          <p:cNvPr id="10244"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latin typeface="Arial" panose="020B0604020202020204" pitchFamily="34" charset="0"/>
                <a:ea typeface="宋体" panose="02010600030101010101" pitchFamily="2" charset="-122"/>
              </a:rPr>
            </a:fld>
            <a:endParaRPr lang="en-US" altLang="zh-CN" dirty="0">
              <a:latin typeface="Arial" panose="020B0604020202020204" pitchFamily="34" charset="0"/>
              <a:ea typeface="宋体" panose="02010600030101010101" pitchFamily="2" charset="-122"/>
            </a:endParaRPr>
          </a:p>
        </p:txBody>
      </p:sp>
      <p:sp>
        <p:nvSpPr>
          <p:cNvPr id="12291" name="Rectangle 2"/>
          <p:cNvSpPr>
            <a:spLocks noRot="1" noTextEdit="1"/>
          </p:cNvSpPr>
          <p:nvPr>
            <p:ph type="sldImg"/>
          </p:nvPr>
        </p:nvSpPr>
        <p:spPr>
          <a:ln/>
        </p:spPr>
      </p:sp>
      <p:sp>
        <p:nvSpPr>
          <p:cNvPr id="12292" name="Rectangle 3"/>
          <p:cNvSpPr>
            <a:spLocks noGrp="1"/>
          </p:cNvSpPr>
          <p:nvPr>
            <p:ph type="body" idx="1"/>
          </p:nvPr>
        </p:nvSpPr>
        <p:spPr>
          <a:xfrm>
            <a:off x="914400" y="4343400"/>
            <a:ext cx="5029200" cy="4114800"/>
          </a:xfrm>
          <a:ln w="9525"/>
        </p:spPr>
        <p:txBody>
          <a:bodyPr wrap="square" lIns="91440" tIns="45720" rIns="91440" bIns="45720" anchor="ctr" anchorCtr="0"/>
          <a:p>
            <a:pPr lvl="0"/>
            <a:endParaRPr lang="zh-CN" altLang="zh-CN" dirty="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latin typeface="Arial" panose="020B0604020202020204" pitchFamily="34" charset="0"/>
                <a:ea typeface="宋体" panose="02010600030101010101" pitchFamily="2" charset="-122"/>
              </a:rPr>
            </a:fld>
            <a:endParaRPr lang="en-US" altLang="zh-CN" dirty="0">
              <a:latin typeface="Arial" panose="020B0604020202020204" pitchFamily="34" charset="0"/>
              <a:ea typeface="宋体" panose="02010600030101010101" pitchFamily="2" charset="-122"/>
            </a:endParaRPr>
          </a:p>
        </p:txBody>
      </p:sp>
      <p:sp>
        <p:nvSpPr>
          <p:cNvPr id="20483" name="Rectangle 2"/>
          <p:cNvSpPr>
            <a:spLocks noRot="1" noTextEdit="1"/>
          </p:cNvSpPr>
          <p:nvPr>
            <p:ph type="sldImg"/>
          </p:nvPr>
        </p:nvSpPr>
        <p:spPr>
          <a:ln/>
        </p:spPr>
      </p:sp>
      <p:sp>
        <p:nvSpPr>
          <p:cNvPr id="20484" name="Rectangle 3"/>
          <p:cNvSpPr>
            <a:spLocks noGrp="1"/>
          </p:cNvSpPr>
          <p:nvPr>
            <p:ph type="body" idx="1"/>
          </p:nvPr>
        </p:nvSpPr>
        <p:spPr>
          <a:xfrm>
            <a:off x="914400" y="4343400"/>
            <a:ext cx="5029200" cy="4114800"/>
          </a:xfrm>
          <a:ln w="9525"/>
        </p:spPr>
        <p:txBody>
          <a:bodyPr wrap="square" lIns="91440" tIns="45720" rIns="91440" bIns="45720" anchor="ctr" anchorCtr="0"/>
          <a:p>
            <a:pPr lvl="0"/>
            <a:r>
              <a:rPr lang="zh-CN" altLang="en-US" sz="2400" dirty="0">
                <a:latin typeface="宋体" panose="02010600030101010101" pitchFamily="2" charset="-122"/>
                <a:ea typeface="宋体" panose="02010600030101010101" pitchFamily="2" charset="-122"/>
              </a:rPr>
              <a:t>德国物理学家，赫姆霍兹和基尔霍夫的学生，</a:t>
            </a:r>
            <a:r>
              <a:rPr lang="en-US" altLang="zh-CN" sz="2400" dirty="0">
                <a:latin typeface="Times New Roman" panose="02020603050405020304" pitchFamily="18" charset="0"/>
                <a:ea typeface="宋体" panose="02010600030101010101" pitchFamily="2" charset="-122"/>
              </a:rPr>
              <a:t>27</a:t>
            </a:r>
            <a:r>
              <a:rPr lang="zh-CN" altLang="en-US" sz="2400" dirty="0">
                <a:latin typeface="宋体" panose="02010600030101010101" pitchFamily="2" charset="-122"/>
                <a:ea typeface="宋体" panose="02010600030101010101" pitchFamily="2" charset="-122"/>
              </a:rPr>
              <a:t>岁和</a:t>
            </a:r>
            <a:r>
              <a:rPr lang="en-US" altLang="zh-CN" sz="2400" dirty="0">
                <a:latin typeface="Times New Roman" panose="02020603050405020304" pitchFamily="18" charset="0"/>
                <a:ea typeface="宋体" panose="02010600030101010101" pitchFamily="2" charset="-122"/>
              </a:rPr>
              <a:t>31</a:t>
            </a:r>
            <a:r>
              <a:rPr lang="zh-CN" altLang="en-US" sz="2400" dirty="0">
                <a:latin typeface="宋体" panose="02010600030101010101" pitchFamily="2" charset="-122"/>
                <a:ea typeface="宋体" panose="02010600030101010101" pitchFamily="2" charset="-122"/>
              </a:rPr>
              <a:t>岁时分别在基尔（</a:t>
            </a:r>
            <a:r>
              <a:rPr lang="en-US" altLang="zh-CN" sz="2400" dirty="0">
                <a:latin typeface="Times New Roman" panose="02020603050405020304" pitchFamily="18" charset="0"/>
                <a:ea typeface="宋体" panose="02010600030101010101" pitchFamily="2" charset="-122"/>
              </a:rPr>
              <a:t>Kiel</a:t>
            </a:r>
            <a:r>
              <a:rPr lang="zh-CN" altLang="en-US" sz="2400" dirty="0">
                <a:latin typeface="宋体" panose="02010600030101010101" pitchFamily="2" charset="-122"/>
                <a:ea typeface="宋体" panose="02010600030101010101" pitchFamily="2" charset="-122"/>
              </a:rPr>
              <a:t>）大学和柏林大学当物理学教授。在发展量子理论方面起过重大作用，</a:t>
            </a:r>
            <a:r>
              <a:rPr lang="en-US" altLang="zh-CN" sz="2400" dirty="0">
                <a:latin typeface="Times New Roman" panose="02020603050405020304" pitchFamily="18" charset="0"/>
                <a:ea typeface="宋体" panose="02010600030101010101" pitchFamily="2" charset="-122"/>
              </a:rPr>
              <a:t>1918</a:t>
            </a:r>
            <a:r>
              <a:rPr lang="zh-CN" altLang="en-US" sz="2400" dirty="0">
                <a:latin typeface="宋体" panose="02010600030101010101" pitchFamily="2" charset="-122"/>
                <a:ea typeface="宋体" panose="02010600030101010101" pitchFamily="2" charset="-122"/>
              </a:rPr>
              <a:t>年获诺贝尔奖。（</a:t>
            </a:r>
            <a:r>
              <a:rPr lang="en-US" altLang="zh-CN" sz="2400" dirty="0">
                <a:latin typeface="Times New Roman" panose="02020603050405020304" pitchFamily="18" charset="0"/>
                <a:ea typeface="宋体" panose="02010600030101010101" pitchFamily="2" charset="-122"/>
              </a:rPr>
              <a:t>Herman Von Helmholtz (1821-1894)</a:t>
            </a:r>
            <a:r>
              <a:rPr lang="zh-CN" altLang="en-US" sz="2400" dirty="0">
                <a:latin typeface="宋体" panose="02010600030101010101" pitchFamily="2" charset="-122"/>
                <a:ea typeface="宋体" panose="02010600030101010101" pitchFamily="2" charset="-122"/>
              </a:rPr>
              <a:t>：德国生理学家和物理学家。曾研究视觉和听觉。是把能量守恒归纳成公式的三个人之一。还研究电的振荡，指出光的电磁理论的可能性，而且研究了涡旋运动。）</a:t>
            </a:r>
            <a:r>
              <a:rPr lang="zh-CN" altLang="en-US" sz="2400" dirty="0">
                <a:latin typeface="dcr10" charset="0"/>
                <a:ea typeface="宋体" panose="02010600030101010101" pitchFamily="2" charset="-122"/>
              </a:rPr>
              <a:t> </a:t>
            </a:r>
            <a:endParaRPr lang="zh-CN" altLang="en-US" sz="2400" dirty="0">
              <a:latin typeface="dcr10" charset="0"/>
              <a:ea typeface="宋体" panose="02010600030101010101" pitchFamily="2" charset="-122"/>
            </a:endParaRPr>
          </a:p>
          <a:p>
            <a:pPr lvl="0"/>
            <a:endParaRPr lang="en-US" altLang="zh-CN" sz="2400" dirty="0">
              <a:ea typeface="宋体" panose="02010600030101010101" pitchFamily="2" charset="-122"/>
            </a:endParaRPr>
          </a:p>
          <a:p>
            <a:pPr lvl="0"/>
            <a:endParaRPr lang="en-US" altLang="zh-CN" sz="2400" dirty="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CA" dirty="0">
                <a:latin typeface="Arial" panose="020B0604020202020204" pitchFamily="34" charset="0"/>
                <a:ea typeface="宋体" panose="02010600030101010101" pitchFamily="2" charset="-122"/>
              </a:rPr>
            </a:fld>
            <a:endParaRPr lang="zh-CN" altLang="en-CA" dirty="0">
              <a:latin typeface="Arial" panose="020B0604020202020204" pitchFamily="34" charset="0"/>
              <a:ea typeface="宋体" panose="02010600030101010101" pitchFamily="2" charset="-122"/>
            </a:endParaRPr>
          </a:p>
        </p:txBody>
      </p:sp>
      <p:sp>
        <p:nvSpPr>
          <p:cNvPr id="22531" name="Rectangle 2"/>
          <p:cNvSpPr>
            <a:spLocks noTextEdit="1"/>
          </p:cNvSpPr>
          <p:nvPr>
            <p:ph type="sldImg"/>
          </p:nvPr>
        </p:nvSpPr>
        <p:spPr>
          <a:ln/>
        </p:spPr>
      </p:sp>
      <p:sp>
        <p:nvSpPr>
          <p:cNvPr id="22532"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CA" dirty="0">
                <a:latin typeface="Arial" panose="020B0604020202020204" pitchFamily="34" charset="0"/>
                <a:ea typeface="宋体" panose="02010600030101010101" pitchFamily="2" charset="-122"/>
              </a:rPr>
            </a:fld>
            <a:endParaRPr lang="zh-CN" altLang="en-CA" dirty="0">
              <a:latin typeface="Arial" panose="020B0604020202020204" pitchFamily="34" charset="0"/>
              <a:ea typeface="宋体" panose="02010600030101010101" pitchFamily="2" charset="-122"/>
            </a:endParaRPr>
          </a:p>
        </p:txBody>
      </p:sp>
      <p:sp>
        <p:nvSpPr>
          <p:cNvPr id="24579" name="Rectangle 2"/>
          <p:cNvSpPr>
            <a:spLocks noTextEdit="1"/>
          </p:cNvSpPr>
          <p:nvPr>
            <p:ph type="sldImg"/>
          </p:nvPr>
        </p:nvSpPr>
        <p:spPr>
          <a:ln/>
        </p:spPr>
      </p:sp>
      <p:sp>
        <p:nvSpPr>
          <p:cNvPr id="24580"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CA" dirty="0">
                <a:latin typeface="Arial" panose="020B0604020202020204" pitchFamily="34" charset="0"/>
                <a:ea typeface="宋体" panose="02010600030101010101" pitchFamily="2" charset="-122"/>
              </a:rPr>
            </a:fld>
            <a:endParaRPr lang="zh-CN" altLang="en-CA" dirty="0">
              <a:latin typeface="Arial" panose="020B0604020202020204" pitchFamily="34" charset="0"/>
              <a:ea typeface="宋体" panose="02010600030101010101" pitchFamily="2" charset="-122"/>
            </a:endParaRPr>
          </a:p>
        </p:txBody>
      </p:sp>
      <p:sp>
        <p:nvSpPr>
          <p:cNvPr id="26627" name="Rectangle 2"/>
          <p:cNvSpPr>
            <a:spLocks noTextEdit="1"/>
          </p:cNvSpPr>
          <p:nvPr>
            <p:ph type="sldImg"/>
          </p:nvPr>
        </p:nvSpPr>
        <p:spPr>
          <a:ln/>
        </p:spPr>
      </p:sp>
      <p:sp>
        <p:nvSpPr>
          <p:cNvPr id="26628"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latin typeface="Arial" panose="020B0604020202020204" pitchFamily="34" charset="0"/>
                <a:ea typeface="宋体" panose="02010600030101010101" pitchFamily="2" charset="-122"/>
              </a:rPr>
            </a:fld>
            <a:endParaRPr lang="en-US" altLang="zh-CN" dirty="0">
              <a:latin typeface="Arial" panose="020B0604020202020204" pitchFamily="34" charset="0"/>
              <a:ea typeface="宋体" panose="02010600030101010101" pitchFamily="2" charset="-122"/>
            </a:endParaRPr>
          </a:p>
        </p:txBody>
      </p:sp>
      <p:sp>
        <p:nvSpPr>
          <p:cNvPr id="28675" name="Rectangle 2"/>
          <p:cNvSpPr>
            <a:spLocks noRot="1" noTextEdit="1"/>
          </p:cNvSpPr>
          <p:nvPr>
            <p:ph type="sldImg"/>
          </p:nvPr>
        </p:nvSpPr>
        <p:spPr>
          <a:ln/>
        </p:spPr>
      </p:sp>
      <p:sp>
        <p:nvSpPr>
          <p:cNvPr id="28676" name="Rectangle 3"/>
          <p:cNvSpPr>
            <a:spLocks noGrp="1"/>
          </p:cNvSpPr>
          <p:nvPr>
            <p:ph type="body" idx="1"/>
          </p:nvPr>
        </p:nvSpPr>
        <p:spPr>
          <a:xfrm>
            <a:off x="914400" y="4343400"/>
            <a:ext cx="5029200" cy="4114800"/>
          </a:xfrm>
          <a:ln w="9525"/>
        </p:spPr>
        <p:txBody>
          <a:bodyPr wrap="square" lIns="91440" tIns="45720" rIns="91440" bIns="45720" anchor="ctr" anchorCtr="0"/>
          <a:p>
            <a:pPr lvl="0"/>
            <a:r>
              <a:rPr lang="en-US" altLang="zh-CN" dirty="0">
                <a:latin typeface="Times New Roman" panose="02020603050405020304" pitchFamily="18" charset="0"/>
                <a:ea typeface="宋体" panose="02010600030101010101" pitchFamily="2" charset="-122"/>
              </a:rPr>
              <a:t>28</a:t>
            </a:r>
            <a:r>
              <a:rPr lang="zh-CN" altLang="en-US" dirty="0">
                <a:latin typeface="宋体" panose="02010600030101010101" pitchFamily="2" charset="-122"/>
                <a:ea typeface="宋体" panose="02010600030101010101" pitchFamily="2" charset="-122"/>
              </a:rPr>
              <a:t>岁成为维也纳大学的物理学教授，开创了气体扩散理论，同时从事辐射方面的研究。</a:t>
            </a:r>
            <a:r>
              <a:rPr lang="zh-CN" altLang="en-US" dirty="0">
                <a:latin typeface="dcr10" charset="0"/>
                <a:ea typeface="宋体" panose="02010600030101010101" pitchFamily="2" charset="-122"/>
              </a:rPr>
              <a:t> </a:t>
            </a:r>
            <a:endParaRPr lang="zh-CN" altLang="en-US" dirty="0">
              <a:latin typeface="dcr10" charset="0"/>
              <a:ea typeface="宋体" panose="02010600030101010101" pitchFamily="2" charset="-122"/>
            </a:endParaRPr>
          </a:p>
          <a:p>
            <a:pPr lvl="0"/>
            <a:r>
              <a:rPr lang="en-US" altLang="zh-CN" dirty="0">
                <a:latin typeface="dcr10" charset="0"/>
                <a:ea typeface="宋体" panose="02010600030101010101" pitchFamily="2" charset="-122"/>
              </a:rPr>
              <a:t>Joseph Stefan (1835-1893) Austrian physicist. Became professor of physics at the university</a:t>
            </a:r>
            <a:endParaRPr lang="en-US" altLang="zh-CN" dirty="0">
              <a:latin typeface="dcr10" charset="0"/>
              <a:ea typeface="宋体" panose="02010600030101010101" pitchFamily="2" charset="-122"/>
            </a:endParaRPr>
          </a:p>
          <a:p>
            <a:pPr lvl="0"/>
            <a:r>
              <a:rPr lang="en-US" altLang="zh-CN" dirty="0">
                <a:latin typeface="dcr10" charset="0"/>
                <a:ea typeface="宋体" panose="02010600030101010101" pitchFamily="2" charset="-122"/>
              </a:rPr>
              <a:t>of Vienna at age 28. Originated the theory of the diffusion of gases as well as carrying</a:t>
            </a:r>
            <a:endParaRPr lang="en-US" altLang="zh-CN" dirty="0">
              <a:latin typeface="dcr10" charset="0"/>
              <a:ea typeface="宋体" panose="02010600030101010101" pitchFamily="2" charset="-122"/>
            </a:endParaRPr>
          </a:p>
          <a:p>
            <a:pPr lvl="0"/>
            <a:r>
              <a:rPr lang="en-US" altLang="zh-CN" dirty="0">
                <a:latin typeface="dcr10" charset="0"/>
                <a:ea typeface="宋体" panose="02010600030101010101" pitchFamily="2" charset="-122"/>
              </a:rPr>
              <a:t>out fundamental work on the theory of radiation.</a:t>
            </a:r>
            <a:endParaRPr lang="en-US" altLang="zh-CN" dirty="0">
              <a:latin typeface="dcr10" charset="0"/>
              <a:ea typeface="宋体" panose="02010600030101010101" pitchFamily="2" charset="-122"/>
            </a:endParaRPr>
          </a:p>
          <a:p>
            <a:pPr lvl="0"/>
            <a:endParaRPr lang="en-US" altLang="zh-CN" dirty="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latin typeface="Arial" panose="020B0604020202020204" pitchFamily="34" charset="0"/>
                <a:ea typeface="宋体" panose="02010600030101010101" pitchFamily="2" charset="-122"/>
              </a:rPr>
            </a:fld>
            <a:endParaRPr lang="en-US" altLang="zh-CN" dirty="0">
              <a:latin typeface="Arial" panose="020B0604020202020204" pitchFamily="34" charset="0"/>
              <a:ea typeface="宋体" panose="02010600030101010101" pitchFamily="2" charset="-122"/>
            </a:endParaRPr>
          </a:p>
        </p:txBody>
      </p:sp>
      <p:sp>
        <p:nvSpPr>
          <p:cNvPr id="30723" name="Rectangle 2"/>
          <p:cNvSpPr>
            <a:spLocks noRot="1" noTextEdit="1"/>
          </p:cNvSpPr>
          <p:nvPr>
            <p:ph type="sldImg"/>
          </p:nvPr>
        </p:nvSpPr>
        <p:spPr>
          <a:ln/>
        </p:spPr>
      </p:sp>
      <p:sp>
        <p:nvSpPr>
          <p:cNvPr id="30724" name="Rectangle 3"/>
          <p:cNvSpPr>
            <a:spLocks noGrp="1"/>
          </p:cNvSpPr>
          <p:nvPr>
            <p:ph type="body" idx="1"/>
          </p:nvPr>
        </p:nvSpPr>
        <p:spPr>
          <a:xfrm>
            <a:off x="914400" y="4343400"/>
            <a:ext cx="5029200" cy="4114800"/>
          </a:xfrm>
          <a:ln w="9525"/>
        </p:spPr>
        <p:txBody>
          <a:bodyPr wrap="square" lIns="91440" tIns="45720" rIns="91440" bIns="45720" anchor="ctr" anchorCtr="0"/>
          <a:p>
            <a:pPr lvl="0"/>
            <a:r>
              <a:rPr lang="zh-CN" altLang="en-US" dirty="0">
                <a:latin typeface="宋体" panose="02010600030101010101" pitchFamily="2" charset="-122"/>
                <a:ea typeface="宋体" panose="02010600030101010101" pitchFamily="2" charset="-122"/>
              </a:rPr>
              <a:t>他对气体运动论作出了奠基性的贡献，当原子和分子的概念还有争论时，他坚持认为存在原子和分子。后因故自杀。</a:t>
            </a:r>
            <a:endParaRPr lang="zh-CN" altLang="en-US" dirty="0">
              <a:latin typeface="宋体" panose="02010600030101010101" pitchFamily="2" charset="-122"/>
              <a:ea typeface="宋体" panose="02010600030101010101" pitchFamily="2" charset="-122"/>
            </a:endParaRPr>
          </a:p>
          <a:p>
            <a:pPr lvl="0"/>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He became an assistant to his teacher Josef Stefan. Boltzmann taught at Graz, moved to Heidelberg and then to Berlin. In these places he studied under Bunsen, Kirchhoff and Helmholtz.</a:t>
            </a:r>
            <a:r>
              <a:rPr lang="en-US" altLang="zh-CN" dirty="0">
                <a:latin typeface="dcr10" charset="0"/>
                <a:ea typeface="宋体" panose="02010600030101010101" pitchFamily="2" charset="-122"/>
              </a:rPr>
              <a:t> </a:t>
            </a:r>
            <a:endParaRPr lang="en-US" altLang="zh-CN" dirty="0">
              <a:latin typeface="dcr10" charset="0"/>
              <a:ea typeface="宋体" panose="02010600030101010101" pitchFamily="2" charset="-122"/>
            </a:endParaRPr>
          </a:p>
          <a:p>
            <a:pPr lvl="0"/>
            <a:endParaRPr lang="en-US" altLang="zh-CN" dirty="0">
              <a:latin typeface="dcr10" charset="0"/>
              <a:ea typeface="宋体" panose="02010600030101010101" pitchFamily="2" charset="-122"/>
            </a:endParaRPr>
          </a:p>
          <a:p>
            <a:pPr lvl="0"/>
            <a:r>
              <a:rPr lang="en-US" altLang="zh-CN" dirty="0">
                <a:latin typeface="dcr10" charset="0"/>
                <a:ea typeface="宋体" panose="02010600030101010101" pitchFamily="2" charset="-122"/>
              </a:rPr>
              <a:t>10</a:t>
            </a:r>
            <a:r>
              <a:rPr lang="en-US" altLang="zh-CN" dirty="0">
                <a:latin typeface="dcbx10" charset="0"/>
                <a:ea typeface="宋体" panose="02010600030101010101" pitchFamily="2" charset="-122"/>
              </a:rPr>
              <a:t>Ludwig Boltzmann </a:t>
            </a:r>
            <a:r>
              <a:rPr lang="en-US" altLang="zh-CN" dirty="0">
                <a:latin typeface="dcr10" charset="0"/>
                <a:ea typeface="宋体" panose="02010600030101010101" pitchFamily="2" charset="-122"/>
              </a:rPr>
              <a:t>(1844—1906) Austrian physicist. Made fundamental contributions</a:t>
            </a:r>
            <a:endParaRPr lang="en-US" altLang="zh-CN" dirty="0">
              <a:latin typeface="dcr10" charset="0"/>
              <a:ea typeface="宋体" panose="02010600030101010101" pitchFamily="2" charset="-122"/>
            </a:endParaRPr>
          </a:p>
          <a:p>
            <a:pPr lvl="0"/>
            <a:r>
              <a:rPr lang="en-US" altLang="zh-CN" dirty="0">
                <a:latin typeface="dcr10" charset="0"/>
                <a:ea typeface="宋体" panose="02010600030101010101" pitchFamily="2" charset="-122"/>
              </a:rPr>
              <a:t>to the kinetic theory of gases. Adhered to the view that atoms and molecules are</a:t>
            </a:r>
            <a:endParaRPr lang="en-US" altLang="zh-CN" dirty="0">
              <a:latin typeface="dcr10" charset="0"/>
              <a:ea typeface="宋体" panose="02010600030101010101" pitchFamily="2" charset="-122"/>
            </a:endParaRPr>
          </a:p>
          <a:p>
            <a:pPr lvl="0"/>
            <a:r>
              <a:rPr lang="en-US" altLang="zh-CN" dirty="0">
                <a:latin typeface="dcr10" charset="0"/>
                <a:ea typeface="宋体" panose="02010600030101010101" pitchFamily="2" charset="-122"/>
              </a:rPr>
              <a:t>real at a time when these concepts were in dispute. Committed suicide.</a:t>
            </a:r>
            <a:endParaRPr lang="en-US" altLang="zh-CN" dirty="0">
              <a:latin typeface="dcr10" charset="0"/>
              <a:ea typeface="宋体" panose="02010600030101010101" pitchFamily="2" charset="-122"/>
            </a:endParaRPr>
          </a:p>
          <a:p>
            <a:pPr lvl="0"/>
            <a:endParaRPr lang="en-US" altLang="zh-CN" dirty="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CA" dirty="0">
                <a:latin typeface="Arial" panose="020B0604020202020204" pitchFamily="34" charset="0"/>
                <a:ea typeface="宋体" panose="02010600030101010101" pitchFamily="2" charset="-122"/>
              </a:rPr>
            </a:fld>
            <a:endParaRPr lang="zh-CN" altLang="en-CA" dirty="0">
              <a:latin typeface="Arial" panose="020B0604020202020204" pitchFamily="34" charset="0"/>
              <a:ea typeface="宋体" panose="02010600030101010101" pitchFamily="2" charset="-122"/>
            </a:endParaRPr>
          </a:p>
        </p:txBody>
      </p:sp>
      <p:sp>
        <p:nvSpPr>
          <p:cNvPr id="32771" name="Rectangle 2"/>
          <p:cNvSpPr>
            <a:spLocks noTextEdit="1"/>
          </p:cNvSpPr>
          <p:nvPr>
            <p:ph type="sldImg"/>
          </p:nvPr>
        </p:nvSpPr>
        <p:spPr>
          <a:ln/>
        </p:spPr>
      </p:sp>
      <p:sp>
        <p:nvSpPr>
          <p:cNvPr id="32772"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latin typeface="Arial" panose="020B0604020202020204" pitchFamily="34" charset="0"/>
                <a:ea typeface="宋体" panose="02010600030101010101" pitchFamily="2" charset="-122"/>
              </a:rPr>
            </a:fld>
            <a:endParaRPr lang="en-US" altLang="zh-CN" dirty="0">
              <a:latin typeface="Arial" panose="020B0604020202020204" pitchFamily="34" charset="0"/>
              <a:ea typeface="宋体" panose="02010600030101010101" pitchFamily="2" charset="-122"/>
            </a:endParaRPr>
          </a:p>
        </p:txBody>
      </p:sp>
      <p:sp>
        <p:nvSpPr>
          <p:cNvPr id="34819" name="Rectangle 2"/>
          <p:cNvSpPr>
            <a:spLocks noRot="1" noTextEdit="1"/>
          </p:cNvSpPr>
          <p:nvPr>
            <p:ph type="sldImg"/>
          </p:nvPr>
        </p:nvSpPr>
        <p:spPr>
          <a:ln/>
        </p:spPr>
      </p:sp>
      <p:sp>
        <p:nvSpPr>
          <p:cNvPr id="34820" name="Rectangle 3"/>
          <p:cNvSpPr>
            <a:spLocks noGrp="1"/>
          </p:cNvSpPr>
          <p:nvPr>
            <p:ph type="body" idx="1"/>
          </p:nvPr>
        </p:nvSpPr>
        <p:spPr>
          <a:xfrm>
            <a:off x="914400" y="4343400"/>
            <a:ext cx="5029200" cy="4114800"/>
          </a:xfrm>
          <a:ln w="9525"/>
        </p:spPr>
        <p:txBody>
          <a:bodyPr wrap="square" lIns="91440" tIns="45720" rIns="91440" bIns="45720" anchor="ctr" anchorCtr="0"/>
          <a:p>
            <a:pPr lvl="0"/>
            <a:r>
              <a:rPr lang="zh-CN" altLang="en-US" dirty="0">
                <a:latin typeface="宋体" panose="02010600030101010101" pitchFamily="2" charset="-122"/>
                <a:ea typeface="宋体" panose="02010600030101010101" pitchFamily="2" charset="-122"/>
              </a:rPr>
              <a:t>德国物理学家</a:t>
            </a:r>
            <a:r>
              <a:rPr lang="en-US" altLang="zh-CN" dirty="0">
                <a:latin typeface="Times New Roman" panose="02020603050405020304" pitchFamily="18" charset="0"/>
                <a:ea typeface="宋体" panose="02010600030101010101" pitchFamily="2" charset="-122"/>
              </a:rPr>
              <a:t>Wilhelm Wien (1864-1928)</a:t>
            </a:r>
            <a:r>
              <a:rPr lang="zh-CN" altLang="en-US" dirty="0">
                <a:latin typeface="宋体" panose="02010600030101010101" pitchFamily="2" charset="-122"/>
                <a:ea typeface="宋体" panose="02010600030101010101" pitchFamily="2" charset="-122"/>
              </a:rPr>
              <a:t>因此获得</a:t>
            </a:r>
            <a:r>
              <a:rPr lang="en-US" altLang="zh-CN" dirty="0">
                <a:latin typeface="Times New Roman" panose="02020603050405020304" pitchFamily="18" charset="0"/>
                <a:ea typeface="宋体" panose="02010600030101010101" pitchFamily="2" charset="-122"/>
              </a:rPr>
              <a:t>1911</a:t>
            </a:r>
            <a:r>
              <a:rPr lang="zh-CN" altLang="en-US" dirty="0">
                <a:latin typeface="宋体" panose="02010600030101010101" pitchFamily="2" charset="-122"/>
                <a:ea typeface="宋体" panose="02010600030101010101" pitchFamily="2" charset="-122"/>
              </a:rPr>
              <a:t>年诺贝尔物理奖，他还首先（</a:t>
            </a:r>
            <a:r>
              <a:rPr lang="en-US" altLang="zh-CN" dirty="0">
                <a:latin typeface="Times New Roman" panose="02020603050405020304" pitchFamily="18" charset="0"/>
                <a:ea typeface="宋体" panose="02010600030101010101" pitchFamily="2" charset="-122"/>
              </a:rPr>
              <a:t>1905</a:t>
            </a:r>
            <a:r>
              <a:rPr lang="zh-CN" altLang="en-US" dirty="0">
                <a:latin typeface="宋体" panose="02010600030101010101" pitchFamily="2" charset="-122"/>
                <a:ea typeface="宋体" panose="02010600030101010101" pitchFamily="2" charset="-122"/>
              </a:rPr>
              <a:t>）确定了</a:t>
            </a:r>
            <a:r>
              <a:rPr lang="en-US" altLang="zh-CN" dirty="0">
                <a:latin typeface="Times New Roman" panose="02020603050405020304" pitchFamily="18" charset="0"/>
                <a:ea typeface="宋体" panose="02010600030101010101" pitchFamily="2" charset="-122"/>
              </a:rPr>
              <a:t>X</a:t>
            </a:r>
            <a:r>
              <a:rPr lang="zh-CN" altLang="en-US" dirty="0">
                <a:latin typeface="宋体" panose="02010600030101010101" pitchFamily="2" charset="-122"/>
                <a:ea typeface="宋体" panose="02010600030101010101" pitchFamily="2" charset="-122"/>
              </a:rPr>
              <a:t>射线的大体波长。</a:t>
            </a:r>
            <a:r>
              <a:rPr lang="zh-CN" altLang="en-US" dirty="0">
                <a:latin typeface="dcr10" charset="0"/>
                <a:ea typeface="宋体" panose="02010600030101010101" pitchFamily="2" charset="-122"/>
              </a:rPr>
              <a:t> </a:t>
            </a:r>
            <a:endParaRPr lang="zh-CN" altLang="en-US" dirty="0">
              <a:latin typeface="dcr10" charset="0"/>
              <a:ea typeface="宋体" panose="02010600030101010101" pitchFamily="2" charset="-122"/>
            </a:endParaRPr>
          </a:p>
          <a:p>
            <a:pPr lvl="0"/>
            <a:r>
              <a:rPr lang="en-US" altLang="zh-CN" dirty="0">
                <a:latin typeface="dcr10" charset="0"/>
                <a:ea typeface="宋体" panose="02010600030101010101" pitchFamily="2" charset="-122"/>
              </a:rPr>
              <a:t>6</a:t>
            </a:r>
            <a:r>
              <a:rPr lang="en-US" altLang="zh-CN" dirty="0">
                <a:latin typeface="dcbx10" charset="0"/>
                <a:ea typeface="宋体" panose="02010600030101010101" pitchFamily="2" charset="-122"/>
              </a:rPr>
              <a:t>Wilhelm Wien </a:t>
            </a:r>
            <a:r>
              <a:rPr lang="en-US" altLang="zh-CN" dirty="0">
                <a:latin typeface="dcr10" charset="0"/>
                <a:ea typeface="宋体" panose="02010600030101010101" pitchFamily="2" charset="-122"/>
              </a:rPr>
              <a:t>(1864-1925) German physicist. Received the Nobel Prize in 1911 for</a:t>
            </a:r>
            <a:endParaRPr lang="en-US" altLang="zh-CN" dirty="0">
              <a:latin typeface="dcr10" charset="0"/>
              <a:ea typeface="宋体" panose="02010600030101010101" pitchFamily="2" charset="-122"/>
            </a:endParaRPr>
          </a:p>
          <a:p>
            <a:pPr lvl="0"/>
            <a:r>
              <a:rPr lang="en-US" altLang="zh-CN" dirty="0">
                <a:latin typeface="dcr10" charset="0"/>
                <a:ea typeface="宋体" panose="02010600030101010101" pitchFamily="2" charset="-122"/>
              </a:rPr>
              <a:t>the discovery (in 1893) of the displacement law named after him. Also made the first rough</a:t>
            </a:r>
            <a:endParaRPr lang="en-US" altLang="zh-CN" dirty="0">
              <a:latin typeface="dcr10" charset="0"/>
              <a:ea typeface="宋体" panose="02010600030101010101" pitchFamily="2" charset="-122"/>
            </a:endParaRPr>
          </a:p>
          <a:p>
            <a:pPr lvl="0"/>
            <a:r>
              <a:rPr lang="en-US" altLang="zh-CN" dirty="0">
                <a:latin typeface="dcr10" charset="0"/>
                <a:ea typeface="宋体" panose="02010600030101010101" pitchFamily="2" charset="-122"/>
              </a:rPr>
              <a:t>determination of the wavelength of x-rays.</a:t>
            </a:r>
            <a:endParaRPr lang="en-US" altLang="zh-CN" dirty="0">
              <a:latin typeface="dcr10" charset="0"/>
              <a:ea typeface="宋体" panose="02010600030101010101" pitchFamily="2" charset="-122"/>
            </a:endParaRPr>
          </a:p>
          <a:p>
            <a:pPr lvl="0"/>
            <a:endParaRPr lang="en-US" altLang="zh-CN" dirty="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CA" dirty="0">
                <a:latin typeface="Arial" panose="020B0604020202020204" pitchFamily="34" charset="0"/>
                <a:ea typeface="宋体" panose="02010600030101010101" pitchFamily="2" charset="-122"/>
              </a:rPr>
            </a:fld>
            <a:endParaRPr lang="zh-CN" altLang="en-CA" dirty="0">
              <a:latin typeface="Arial" panose="020B0604020202020204" pitchFamily="34" charset="0"/>
              <a:ea typeface="宋体" panose="02010600030101010101" pitchFamily="2" charset="-122"/>
            </a:endParaRPr>
          </a:p>
        </p:txBody>
      </p:sp>
      <p:sp>
        <p:nvSpPr>
          <p:cNvPr id="36867" name="Rectangle 2"/>
          <p:cNvSpPr>
            <a:spLocks noTextEdit="1"/>
          </p:cNvSpPr>
          <p:nvPr>
            <p:ph type="sldImg"/>
          </p:nvPr>
        </p:nvSpPr>
        <p:spPr>
          <a:ln/>
        </p:spPr>
      </p:sp>
      <p:sp>
        <p:nvSpPr>
          <p:cNvPr id="36868" name="Rectangle 3"/>
          <p:cNvSpPr>
            <a:spLocks noGrp="1"/>
          </p:cNvSpPr>
          <p:nvPr>
            <p:ph type="body" idx="1"/>
          </p:nvPr>
        </p:nvSpPr>
        <p:spPr>
          <a:ln w="9525"/>
        </p:spPr>
        <p:txBody>
          <a:bodyPr wrap="square" lIns="91440" tIns="45720" rIns="91440" bIns="45720" anchor="ctr" anchorCtr="0"/>
          <a:p>
            <a:pPr lvl="0"/>
            <a:endParaRPr lang="zh-CN" altLang="en-US" dirty="0">
              <a:latin typeface="dcr10" charset="0"/>
              <a:ea typeface="宋体" panose="02010600030101010101" pitchFamily="2" charset="-122"/>
            </a:endParaRPr>
          </a:p>
          <a:p>
            <a:pPr lvl="0"/>
            <a:endParaRPr lang="zh-CN" altLang="en-US" dirty="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latin typeface="Arial" panose="020B0604020202020204" pitchFamily="34" charset="0"/>
                <a:ea typeface="宋体" panose="02010600030101010101" pitchFamily="2" charset="-122"/>
              </a:rPr>
            </a:fld>
            <a:endParaRPr lang="en-US" altLang="zh-CN" dirty="0">
              <a:latin typeface="Arial" panose="020B0604020202020204" pitchFamily="34" charset="0"/>
              <a:ea typeface="宋体" panose="02010600030101010101" pitchFamily="2" charset="-122"/>
            </a:endParaRPr>
          </a:p>
        </p:txBody>
      </p:sp>
      <p:sp>
        <p:nvSpPr>
          <p:cNvPr id="39939" name="Rectangle 2"/>
          <p:cNvSpPr>
            <a:spLocks noRot="1" noTextEdit="1"/>
          </p:cNvSpPr>
          <p:nvPr>
            <p:ph type="sldImg"/>
          </p:nvPr>
        </p:nvSpPr>
        <p:spPr>
          <a:ln/>
        </p:spPr>
      </p:sp>
      <p:sp>
        <p:nvSpPr>
          <p:cNvPr id="39940" name="Rectangle 3"/>
          <p:cNvSpPr>
            <a:spLocks noGrp="1"/>
          </p:cNvSpPr>
          <p:nvPr>
            <p:ph type="body" idx="1"/>
          </p:nvPr>
        </p:nvSpPr>
        <p:spPr>
          <a:xfrm>
            <a:off x="914400" y="4343400"/>
            <a:ext cx="5029200" cy="4114800"/>
          </a:xfrm>
          <a:ln w="9525"/>
        </p:spPr>
        <p:txBody>
          <a:bodyPr wrap="square" lIns="91440" tIns="45720" rIns="91440" bIns="45720" anchor="ctr" anchorCtr="0"/>
          <a:p>
            <a:pPr lvl="0"/>
            <a:r>
              <a:rPr lang="zh-CN" altLang="en-US" dirty="0">
                <a:latin typeface="宋体" panose="02010600030101010101" pitchFamily="2" charset="-122"/>
                <a:ea typeface="宋体" panose="02010600030101010101" pitchFamily="2" charset="-122"/>
              </a:rPr>
              <a:t>他</a:t>
            </a:r>
            <a:r>
              <a:rPr lang="en-US" altLang="zh-CN" dirty="0">
                <a:latin typeface="Times New Roman" panose="02020603050405020304" pitchFamily="18" charset="0"/>
                <a:ea typeface="宋体" panose="02010600030101010101" pitchFamily="2" charset="-122"/>
              </a:rPr>
              <a:t>26</a:t>
            </a:r>
            <a:r>
              <a:rPr lang="zh-CN" altLang="en-US" dirty="0">
                <a:latin typeface="宋体" panose="02010600030101010101" pitchFamily="2" charset="-122"/>
                <a:ea typeface="宋体" panose="02010600030101010101" pitchFamily="2" charset="-122"/>
              </a:rPr>
              <a:t>岁成为布雷斯劳（</a:t>
            </a:r>
            <a:r>
              <a:rPr lang="en-US" altLang="zh-CN" dirty="0">
                <a:latin typeface="Times New Roman" panose="02020603050405020304" pitchFamily="18" charset="0"/>
                <a:ea typeface="宋体" panose="02010600030101010101" pitchFamily="2" charset="-122"/>
              </a:rPr>
              <a:t>Breslau</a:t>
            </a:r>
            <a:r>
              <a:rPr lang="zh-CN" altLang="en-US" dirty="0">
                <a:latin typeface="宋体" panose="02010600030101010101" pitchFamily="2" charset="-122"/>
                <a:ea typeface="宋体" panose="02010600030101010101" pitchFamily="2" charset="-122"/>
              </a:rPr>
              <a:t>）大学物理学教授，除了辐射方面的工作外，在电学和光谱学中都有基本的发现，与邦森（</a:t>
            </a:r>
            <a:r>
              <a:rPr lang="en-US" altLang="zh-CN" dirty="0">
                <a:latin typeface="Times New Roman" panose="02020603050405020304" pitchFamily="18" charset="0"/>
                <a:ea typeface="宋体" panose="02010600030101010101" pitchFamily="2" charset="-122"/>
              </a:rPr>
              <a:t>Bunsen</a:t>
            </a:r>
            <a:r>
              <a:rPr lang="zh-CN" altLang="en-US" dirty="0">
                <a:latin typeface="宋体" panose="02010600030101010101" pitchFamily="2" charset="-122"/>
                <a:ea typeface="宋体" panose="02010600030101010101" pitchFamily="2" charset="-122"/>
              </a:rPr>
              <a:t>）一起发展了光谱分析，他还发现了铯和铷。</a:t>
            </a:r>
            <a:r>
              <a:rPr lang="zh-CN" altLang="en-US" dirty="0">
                <a:latin typeface="dcr10" charset="0"/>
                <a:ea typeface="宋体" panose="02010600030101010101" pitchFamily="2" charset="-122"/>
              </a:rPr>
              <a:t> </a:t>
            </a:r>
            <a:endParaRPr lang="zh-CN" altLang="en-US" dirty="0">
              <a:latin typeface="dcr10" charset="0"/>
              <a:ea typeface="宋体" panose="02010600030101010101" pitchFamily="2" charset="-122"/>
            </a:endParaRPr>
          </a:p>
          <a:p>
            <a:pPr lvl="0"/>
            <a:r>
              <a:rPr lang="en-US" altLang="zh-CN" dirty="0">
                <a:latin typeface="dcr10" charset="0"/>
                <a:ea typeface="宋体" panose="02010600030101010101" pitchFamily="2" charset="-122"/>
              </a:rPr>
              <a:t>8</a:t>
            </a:r>
            <a:r>
              <a:rPr lang="en-US" altLang="zh-CN" dirty="0">
                <a:latin typeface="dcbx10" charset="0"/>
                <a:ea typeface="宋体" panose="02010600030101010101" pitchFamily="2" charset="-122"/>
              </a:rPr>
              <a:t>Gustav Kirchhoff </a:t>
            </a:r>
            <a:r>
              <a:rPr lang="en-US" altLang="zh-CN" dirty="0">
                <a:latin typeface="dcr10" charset="0"/>
                <a:ea typeface="宋体" panose="02010600030101010101" pitchFamily="2" charset="-122"/>
              </a:rPr>
              <a:t>(1924-1887) German physicist; professor at the University of Breslau.</a:t>
            </a:r>
            <a:endParaRPr lang="en-US" altLang="zh-CN" dirty="0">
              <a:latin typeface="dcr10" charset="0"/>
              <a:ea typeface="宋体" panose="02010600030101010101" pitchFamily="2" charset="-122"/>
            </a:endParaRPr>
          </a:p>
          <a:p>
            <a:pPr lvl="0"/>
            <a:r>
              <a:rPr lang="en-US" altLang="zh-CN" dirty="0">
                <a:latin typeface="dcr10" charset="0"/>
                <a:ea typeface="宋体" panose="02010600030101010101" pitchFamily="2" charset="-122"/>
              </a:rPr>
              <a:t>In addition to his work in radiation he made fundamental discoveries in electricity and</a:t>
            </a:r>
            <a:endParaRPr lang="en-US" altLang="zh-CN" dirty="0">
              <a:latin typeface="dcr10" charset="0"/>
              <a:ea typeface="宋体" panose="02010600030101010101" pitchFamily="2" charset="-122"/>
            </a:endParaRPr>
          </a:p>
          <a:p>
            <a:pPr lvl="0"/>
            <a:r>
              <a:rPr lang="en-US" altLang="zh-CN" dirty="0">
                <a:latin typeface="dcr10" charset="0"/>
                <a:ea typeface="宋体" panose="02010600030101010101" pitchFamily="2" charset="-122"/>
              </a:rPr>
              <a:t>spectroscopy. Discovered cesium and iridium.</a:t>
            </a:r>
            <a:endParaRPr lang="en-US" altLang="zh-CN" dirty="0">
              <a:latin typeface="dcr10" charset="0"/>
              <a:ea typeface="宋体" panose="02010600030101010101" pitchFamily="2" charset="-122"/>
            </a:endParaRPr>
          </a:p>
          <a:p>
            <a:pPr lvl="0"/>
            <a:endParaRPr lang="en-US" altLang="zh-CN" dirty="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CA" dirty="0">
                <a:latin typeface="Arial" panose="020B0604020202020204" pitchFamily="34" charset="0"/>
                <a:ea typeface="宋体" panose="02010600030101010101" pitchFamily="2" charset="-122"/>
              </a:rPr>
            </a:fld>
            <a:endParaRPr lang="zh-CN" altLang="en-CA" dirty="0">
              <a:latin typeface="Arial" panose="020B0604020202020204" pitchFamily="34" charset="0"/>
              <a:ea typeface="宋体" panose="02010600030101010101" pitchFamily="2" charset="-122"/>
            </a:endParaRPr>
          </a:p>
        </p:txBody>
      </p:sp>
      <p:sp>
        <p:nvSpPr>
          <p:cNvPr id="41987" name="Rectangle 2"/>
          <p:cNvSpPr>
            <a:spLocks noTextEdit="1"/>
          </p:cNvSpPr>
          <p:nvPr>
            <p:ph type="sldImg"/>
          </p:nvPr>
        </p:nvSpPr>
        <p:spPr>
          <a:ln/>
        </p:spPr>
      </p:sp>
      <p:sp>
        <p:nvSpPr>
          <p:cNvPr id="41988"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CA" dirty="0">
                <a:latin typeface="Arial" panose="020B0604020202020204" pitchFamily="34" charset="0"/>
                <a:ea typeface="宋体" panose="02010600030101010101" pitchFamily="2" charset="-122"/>
              </a:rPr>
            </a:fld>
            <a:endParaRPr lang="zh-CN" altLang="en-CA" dirty="0">
              <a:latin typeface="Arial" panose="020B0604020202020204" pitchFamily="34" charset="0"/>
              <a:ea typeface="宋体" panose="02010600030101010101" pitchFamily="2" charset="-122"/>
            </a:endParaRPr>
          </a:p>
        </p:txBody>
      </p:sp>
      <p:sp>
        <p:nvSpPr>
          <p:cNvPr id="44035" name="Rectangle 2"/>
          <p:cNvSpPr>
            <a:spLocks noTextEdit="1"/>
          </p:cNvSpPr>
          <p:nvPr>
            <p:ph type="sldImg"/>
          </p:nvPr>
        </p:nvSpPr>
        <p:spPr>
          <a:ln/>
        </p:spPr>
      </p:sp>
      <p:sp>
        <p:nvSpPr>
          <p:cNvPr id="44036"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CA" dirty="0">
                <a:latin typeface="Arial" panose="020B0604020202020204" pitchFamily="34" charset="0"/>
                <a:ea typeface="宋体" panose="02010600030101010101" pitchFamily="2" charset="-122"/>
              </a:rPr>
            </a:fld>
            <a:endParaRPr lang="zh-CN" altLang="en-CA" dirty="0">
              <a:latin typeface="Arial" panose="020B0604020202020204" pitchFamily="34" charset="0"/>
              <a:ea typeface="宋体" panose="02010600030101010101" pitchFamily="2" charset="-122"/>
            </a:endParaRPr>
          </a:p>
        </p:txBody>
      </p:sp>
      <p:sp>
        <p:nvSpPr>
          <p:cNvPr id="47107" name="Rectangle 2"/>
          <p:cNvSpPr>
            <a:spLocks noTextEdit="1"/>
          </p:cNvSpPr>
          <p:nvPr>
            <p:ph type="sldImg"/>
          </p:nvPr>
        </p:nvSpPr>
        <p:spPr>
          <a:ln/>
        </p:spPr>
      </p:sp>
      <p:sp>
        <p:nvSpPr>
          <p:cNvPr id="47108"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CA" dirty="0">
                <a:latin typeface="Arial" panose="020B0604020202020204" pitchFamily="34" charset="0"/>
                <a:ea typeface="宋体" panose="02010600030101010101" pitchFamily="2" charset="-122"/>
              </a:rPr>
            </a:fld>
            <a:endParaRPr lang="zh-CN" altLang="en-CA" dirty="0">
              <a:latin typeface="Arial" panose="020B0604020202020204" pitchFamily="34" charset="0"/>
              <a:ea typeface="宋体" panose="02010600030101010101" pitchFamily="2" charset="-122"/>
            </a:endParaRPr>
          </a:p>
        </p:txBody>
      </p:sp>
      <p:sp>
        <p:nvSpPr>
          <p:cNvPr id="49155" name="Rectangle 2"/>
          <p:cNvSpPr>
            <a:spLocks noTextEdit="1"/>
          </p:cNvSpPr>
          <p:nvPr>
            <p:ph type="sldImg"/>
          </p:nvPr>
        </p:nvSpPr>
        <p:spPr>
          <a:ln/>
        </p:spPr>
      </p:sp>
      <p:sp>
        <p:nvSpPr>
          <p:cNvPr id="49156"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CA" dirty="0">
                <a:latin typeface="Arial" panose="020B0604020202020204" pitchFamily="34" charset="0"/>
                <a:ea typeface="宋体" panose="02010600030101010101" pitchFamily="2" charset="-122"/>
              </a:rPr>
            </a:fld>
            <a:endParaRPr lang="zh-CN" altLang="en-CA" dirty="0">
              <a:latin typeface="Arial" panose="020B0604020202020204" pitchFamily="34" charset="0"/>
              <a:ea typeface="宋体" panose="02010600030101010101" pitchFamily="2" charset="-122"/>
            </a:endParaRPr>
          </a:p>
        </p:txBody>
      </p:sp>
      <p:sp>
        <p:nvSpPr>
          <p:cNvPr id="51203" name="Rectangle 2"/>
          <p:cNvSpPr>
            <a:spLocks noTextEdit="1"/>
          </p:cNvSpPr>
          <p:nvPr>
            <p:ph type="sldImg"/>
          </p:nvPr>
        </p:nvSpPr>
        <p:spPr>
          <a:ln/>
        </p:spPr>
      </p:sp>
      <p:sp>
        <p:nvSpPr>
          <p:cNvPr id="51204"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sz="1400" b="1" i="0" u="none" strike="noStrike" kern="1200" cap="none" spc="0" normalizeH="0" baseline="0" noProof="0">
                <a:ln>
                  <a:noFill/>
                </a:ln>
                <a:solidFill>
                  <a:schemeClr val="tx2"/>
                </a:solidFill>
                <a:effectLst/>
                <a:uLnTx/>
                <a:uFillTx/>
                <a:latin typeface="+mn-lt"/>
                <a:ea typeface="+mj-ea"/>
                <a:cs typeface="+mn-cs"/>
              </a:rPr>
              <a:t>·</a:t>
            </a: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5" name="页脚占位符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sz="1400" b="1" i="0" u="none" strike="noStrike" kern="1200" cap="none" spc="0" normalizeH="0" baseline="0" noProof="0">
                <a:ln>
                  <a:noFill/>
                </a:ln>
                <a:solidFill>
                  <a:schemeClr val="tx2"/>
                </a:solidFill>
                <a:effectLst/>
                <a:uLnTx/>
                <a:uFillTx/>
                <a:latin typeface="+mj-lt"/>
                <a:ea typeface="+mj-ea"/>
                <a:cs typeface="+mn-cs"/>
              </a:rPr>
              <a:t>》</a:t>
            </a:r>
            <a:endParaRPr kumimoji="0" 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sz="1400" b="1" i="0" u="none" strike="noStrike" kern="1200" cap="none" spc="0" normalizeH="0" baseline="0" noProof="0">
                <a:ln>
                  <a:noFill/>
                </a:ln>
                <a:solidFill>
                  <a:schemeClr val="tx2"/>
                </a:solidFill>
                <a:effectLst/>
                <a:uLnTx/>
                <a:uFillTx/>
                <a:latin typeface="+mn-lt"/>
                <a:ea typeface="+mj-ea"/>
                <a:cs typeface="+mn-cs"/>
              </a:rPr>
              <a:t>·</a:t>
            </a: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5" name="页脚占位符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sz="1400" b="1" i="0" u="none" strike="noStrike" kern="1200" cap="none" spc="0" normalizeH="0" baseline="0" noProof="0">
                <a:ln>
                  <a:noFill/>
                </a:ln>
                <a:solidFill>
                  <a:schemeClr val="tx2"/>
                </a:solidFill>
                <a:effectLst/>
                <a:uLnTx/>
                <a:uFillTx/>
                <a:latin typeface="+mj-lt"/>
                <a:ea typeface="+mj-ea"/>
                <a:cs typeface="+mn-cs"/>
              </a:rPr>
              <a:t>》</a:t>
            </a:r>
            <a:endParaRPr kumimoji="0" 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sz="1400" b="1" i="0" u="none" strike="noStrike" kern="1200" cap="none" spc="0" normalizeH="0" baseline="0" noProof="0">
                <a:ln>
                  <a:noFill/>
                </a:ln>
                <a:solidFill>
                  <a:schemeClr val="tx2"/>
                </a:solidFill>
                <a:effectLst/>
                <a:uLnTx/>
                <a:uFillTx/>
                <a:latin typeface="+mn-lt"/>
                <a:ea typeface="+mj-ea"/>
                <a:cs typeface="+mn-cs"/>
              </a:rPr>
              <a:t>·</a:t>
            </a: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5" name="页脚占位符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sz="1400" b="1" i="0" u="none" strike="noStrike" kern="1200" cap="none" spc="0" normalizeH="0" baseline="0" noProof="0">
                <a:ln>
                  <a:noFill/>
                </a:ln>
                <a:solidFill>
                  <a:schemeClr val="tx2"/>
                </a:solidFill>
                <a:effectLst/>
                <a:uLnTx/>
                <a:uFillTx/>
                <a:latin typeface="+mj-lt"/>
                <a:ea typeface="+mj-ea"/>
                <a:cs typeface="+mn-cs"/>
              </a:rPr>
              <a:t>》</a:t>
            </a:r>
            <a:endParaRPr kumimoji="0" 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412875"/>
            <a:ext cx="4038600" cy="50403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412875"/>
            <a:ext cx="4038600" cy="50403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sz="1400" b="1" i="0" u="none" strike="noStrike" kern="1200" cap="none" spc="0" normalizeH="0" baseline="0" noProof="0">
                <a:ln>
                  <a:noFill/>
                </a:ln>
                <a:solidFill>
                  <a:schemeClr val="tx2"/>
                </a:solidFill>
                <a:effectLst/>
                <a:uLnTx/>
                <a:uFillTx/>
                <a:latin typeface="+mn-lt"/>
                <a:ea typeface="+mj-ea"/>
                <a:cs typeface="+mn-cs"/>
              </a:rPr>
              <a:t>·</a:t>
            </a: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6" name="页脚占位符 5"/>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sz="1400" b="1" i="0" u="none" strike="noStrike" kern="1200" cap="none" spc="0" normalizeH="0" baseline="0" noProof="0">
                <a:ln>
                  <a:noFill/>
                </a:ln>
                <a:solidFill>
                  <a:schemeClr val="tx2"/>
                </a:solidFill>
                <a:effectLst/>
                <a:uLnTx/>
                <a:uFillTx/>
                <a:latin typeface="+mj-lt"/>
                <a:ea typeface="+mj-ea"/>
                <a:cs typeface="+mn-cs"/>
              </a:rPr>
              <a:t>》</a:t>
            </a:r>
            <a:endParaRPr kumimoji="0" 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sz="1400" b="1" i="0" u="none" strike="noStrike" kern="1200" cap="none" spc="0" normalizeH="0" baseline="0" noProof="0">
                <a:ln>
                  <a:noFill/>
                </a:ln>
                <a:solidFill>
                  <a:schemeClr val="tx2"/>
                </a:solidFill>
                <a:effectLst/>
                <a:uLnTx/>
                <a:uFillTx/>
                <a:latin typeface="+mn-lt"/>
                <a:ea typeface="+mj-ea"/>
                <a:cs typeface="+mn-cs"/>
              </a:rPr>
              <a:t>·</a:t>
            </a: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8" name="页脚占位符 7"/>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sz="1400" b="1" i="0" u="none" strike="noStrike" kern="1200" cap="none" spc="0" normalizeH="0" baseline="0" noProof="0">
                <a:ln>
                  <a:noFill/>
                </a:ln>
                <a:solidFill>
                  <a:schemeClr val="tx2"/>
                </a:solidFill>
                <a:effectLst/>
                <a:uLnTx/>
                <a:uFillTx/>
                <a:latin typeface="+mj-lt"/>
                <a:ea typeface="+mj-ea"/>
                <a:cs typeface="+mn-cs"/>
              </a:rPr>
              <a:t>》</a:t>
            </a:r>
            <a:endParaRPr kumimoji="0" 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sz="1400" b="1" i="0" u="none" strike="noStrike" kern="1200" cap="none" spc="0" normalizeH="0" baseline="0" noProof="0">
                <a:ln>
                  <a:noFill/>
                </a:ln>
                <a:solidFill>
                  <a:schemeClr val="tx2"/>
                </a:solidFill>
                <a:effectLst/>
                <a:uLnTx/>
                <a:uFillTx/>
                <a:latin typeface="+mn-lt"/>
                <a:ea typeface="+mj-ea"/>
                <a:cs typeface="+mn-cs"/>
              </a:rPr>
              <a:t>·</a:t>
            </a: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4" name="页脚占位符 3"/>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sz="1400" b="1" i="0" u="none" strike="noStrike" kern="1200" cap="none" spc="0" normalizeH="0" baseline="0" noProof="0">
                <a:ln>
                  <a:noFill/>
                </a:ln>
                <a:solidFill>
                  <a:schemeClr val="tx2"/>
                </a:solidFill>
                <a:effectLst/>
                <a:uLnTx/>
                <a:uFillTx/>
                <a:latin typeface="+mj-lt"/>
                <a:ea typeface="+mj-ea"/>
                <a:cs typeface="+mn-cs"/>
              </a:rPr>
              <a:t>》</a:t>
            </a:r>
            <a:endParaRPr kumimoji="0" 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sz="1400" b="1" i="0" u="none" strike="noStrike" kern="1200" cap="none" spc="0" normalizeH="0" baseline="0" noProof="0">
                <a:ln>
                  <a:noFill/>
                </a:ln>
                <a:solidFill>
                  <a:schemeClr val="tx2"/>
                </a:solidFill>
                <a:effectLst/>
                <a:uLnTx/>
                <a:uFillTx/>
                <a:latin typeface="+mn-lt"/>
                <a:ea typeface="+mj-ea"/>
                <a:cs typeface="+mn-cs"/>
              </a:rPr>
              <a:t>·</a:t>
            </a: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3" name="页脚占位符 2"/>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sz="1400" b="1" i="0" u="none" strike="noStrike" kern="1200" cap="none" spc="0" normalizeH="0" baseline="0" noProof="0">
                <a:ln>
                  <a:noFill/>
                </a:ln>
                <a:solidFill>
                  <a:schemeClr val="tx2"/>
                </a:solidFill>
                <a:effectLst/>
                <a:uLnTx/>
                <a:uFillTx/>
                <a:latin typeface="+mj-lt"/>
                <a:ea typeface="+mj-ea"/>
                <a:cs typeface="+mn-cs"/>
              </a:rPr>
              <a:t>》</a:t>
            </a:r>
            <a:endParaRPr kumimoji="0" 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sz="1400" b="1" i="0" u="none" strike="noStrike" kern="1200" cap="none" spc="0" normalizeH="0" baseline="0" noProof="0">
                <a:ln>
                  <a:noFill/>
                </a:ln>
                <a:solidFill>
                  <a:schemeClr val="tx2"/>
                </a:solidFill>
                <a:effectLst/>
                <a:uLnTx/>
                <a:uFillTx/>
                <a:latin typeface="+mn-lt"/>
                <a:ea typeface="+mj-ea"/>
                <a:cs typeface="+mn-cs"/>
              </a:rPr>
              <a:t>·</a:t>
            </a: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6" name="页脚占位符 5"/>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sz="1400" b="1" i="0" u="none" strike="noStrike" kern="1200" cap="none" spc="0" normalizeH="0" baseline="0" noProof="0">
                <a:ln>
                  <a:noFill/>
                </a:ln>
                <a:solidFill>
                  <a:schemeClr val="tx2"/>
                </a:solidFill>
                <a:effectLst/>
                <a:uLnTx/>
                <a:uFillTx/>
                <a:latin typeface="+mj-lt"/>
                <a:ea typeface="+mj-ea"/>
                <a:cs typeface="+mn-cs"/>
              </a:rPr>
              <a:t>》</a:t>
            </a:r>
            <a:endParaRPr kumimoji="0" 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endParaRPr kumimoji="0"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sz="1400" b="1" i="0" u="none" strike="noStrike" kern="1200" cap="none" spc="0" normalizeH="0" baseline="0" noProof="0">
                <a:ln>
                  <a:noFill/>
                </a:ln>
                <a:solidFill>
                  <a:schemeClr val="tx2"/>
                </a:solidFill>
                <a:effectLst/>
                <a:uLnTx/>
                <a:uFillTx/>
                <a:latin typeface="+mn-lt"/>
                <a:ea typeface="+mj-ea"/>
                <a:cs typeface="+mn-cs"/>
              </a:rPr>
              <a:t>·</a:t>
            </a: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6" name="页脚占位符 5"/>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sz="1400" b="1" i="0" u="none" strike="noStrike" kern="1200" cap="none" spc="0" normalizeH="0" baseline="0" noProof="0">
                <a:ln>
                  <a:noFill/>
                </a:ln>
                <a:solidFill>
                  <a:schemeClr val="tx2"/>
                </a:solidFill>
                <a:effectLst/>
                <a:uLnTx/>
                <a:uFillTx/>
                <a:latin typeface="+mj-lt"/>
                <a:ea typeface="+mj-ea"/>
                <a:cs typeface="+mn-cs"/>
              </a:rPr>
              <a:t>》</a:t>
            </a:r>
            <a:endParaRPr kumimoji="0" 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sz="1400" b="1" i="0" u="none" strike="noStrike" kern="1200" cap="none" spc="0" normalizeH="0" baseline="0" noProof="0">
                <a:ln>
                  <a:noFill/>
                </a:ln>
                <a:solidFill>
                  <a:schemeClr val="tx2"/>
                </a:solidFill>
                <a:effectLst/>
                <a:uLnTx/>
                <a:uFillTx/>
                <a:latin typeface="+mn-lt"/>
                <a:ea typeface="+mj-ea"/>
                <a:cs typeface="+mn-cs"/>
              </a:rPr>
              <a:t>·</a:t>
            </a: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5" name="页脚占位符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sz="1400" b="1" i="0" u="none" strike="noStrike" kern="1200" cap="none" spc="0" normalizeH="0" baseline="0" noProof="0">
                <a:ln>
                  <a:noFill/>
                </a:ln>
                <a:solidFill>
                  <a:schemeClr val="tx2"/>
                </a:solidFill>
                <a:effectLst/>
                <a:uLnTx/>
                <a:uFillTx/>
                <a:latin typeface="+mj-lt"/>
                <a:ea typeface="+mj-ea"/>
                <a:cs typeface="+mn-cs"/>
              </a:rPr>
              <a:t>》</a:t>
            </a:r>
            <a:endParaRPr kumimoji="0" 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33363"/>
            <a:ext cx="2057400" cy="62198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33363"/>
            <a:ext cx="6019800" cy="62198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sz="1400" b="1" i="0" u="none" strike="noStrike" kern="1200" cap="none" spc="0" normalizeH="0" baseline="0" noProof="0">
                <a:ln>
                  <a:noFill/>
                </a:ln>
                <a:solidFill>
                  <a:schemeClr val="tx2"/>
                </a:solidFill>
                <a:effectLst/>
                <a:uLnTx/>
                <a:uFillTx/>
                <a:latin typeface="+mn-lt"/>
                <a:ea typeface="+mj-ea"/>
                <a:cs typeface="+mn-cs"/>
              </a:rPr>
              <a:t>·</a:t>
            </a: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5" name="页脚占位符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sz="1400" b="1" i="0" u="none" strike="noStrike" kern="1200" cap="none" spc="0" normalizeH="0" baseline="0" noProof="0">
                <a:ln>
                  <a:noFill/>
                </a:ln>
                <a:solidFill>
                  <a:schemeClr val="tx2"/>
                </a:solidFill>
                <a:effectLst/>
                <a:uLnTx/>
                <a:uFillTx/>
                <a:latin typeface="+mj-lt"/>
                <a:ea typeface="+mj-ea"/>
                <a:cs typeface="+mn-cs"/>
              </a:rPr>
              <a:t>》</a:t>
            </a:r>
            <a:endParaRPr kumimoji="0" 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412875"/>
            <a:ext cx="4038600" cy="50403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412875"/>
            <a:ext cx="4038600" cy="50403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endParaRPr kumimoji="0"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33363"/>
            <a:ext cx="2057400" cy="62198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33363"/>
            <a:ext cx="6019800" cy="62198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vmlDrawing" Target="../drawings/vmlDrawing1.vml"/><Relationship Id="rId13" Type="http://schemas.openxmlformats.org/officeDocument/2006/relationships/image" Target="../media/image1.png"/><Relationship Id="rId12" Type="http://schemas.openxmlformats.org/officeDocument/2006/relationships/oleObject" Target="../embeddings/oleObject1.bin"/><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7" Type="http://schemas.openxmlformats.org/officeDocument/2006/relationships/theme" Target="../theme/theme2.xml"/><Relationship Id="rId16" Type="http://schemas.openxmlformats.org/officeDocument/2006/relationships/vmlDrawing" Target="../drawings/vmlDrawing2.vml"/><Relationship Id="rId15" Type="http://schemas.openxmlformats.org/officeDocument/2006/relationships/image" Target="../media/image1.png"/><Relationship Id="rId14" Type="http://schemas.openxmlformats.org/officeDocument/2006/relationships/oleObject" Target="../embeddings/oleObject3.bin"/><Relationship Id="rId13" Type="http://schemas.openxmlformats.org/officeDocument/2006/relationships/image" Target="../media/image2.png"/><Relationship Id="rId12" Type="http://schemas.openxmlformats.org/officeDocument/2006/relationships/oleObject" Target="../embeddings/oleObject2.bin"/><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15"/>
          <p:cNvSpPr>
            <a:spLocks noChangeArrowheads="1"/>
          </p:cNvSpPr>
          <p:nvPr/>
        </p:nvSpPr>
        <p:spPr bwMode="auto">
          <a:xfrm>
            <a:off x="0" y="981075"/>
            <a:ext cx="250825" cy="5891213"/>
          </a:xfrm>
          <a:prstGeom prst="rect">
            <a:avLst/>
          </a:prstGeom>
          <a:solidFill>
            <a:schemeClr val="hlink"/>
          </a:solidFill>
          <a:ln>
            <a:noFill/>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7" name="Rectangle 16"/>
          <p:cNvSpPr>
            <a:spLocks noChangeArrowheads="1"/>
          </p:cNvSpPr>
          <p:nvPr/>
        </p:nvSpPr>
        <p:spPr bwMode="auto">
          <a:xfrm>
            <a:off x="0" y="0"/>
            <a:ext cx="1403350" cy="1247775"/>
          </a:xfrm>
          <a:prstGeom prst="rect">
            <a:avLst/>
          </a:prstGeom>
          <a:solidFill>
            <a:schemeClr val="accent1"/>
          </a:solidFill>
          <a:ln>
            <a:noFill/>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8" name="Rectangle 17"/>
          <p:cNvSpPr>
            <a:spLocks noChangeArrowheads="1"/>
          </p:cNvSpPr>
          <p:nvPr/>
        </p:nvSpPr>
        <p:spPr bwMode="auto">
          <a:xfrm>
            <a:off x="1403350" y="0"/>
            <a:ext cx="7740650" cy="1052513"/>
          </a:xfrm>
          <a:prstGeom prst="rect">
            <a:avLst/>
          </a:prstGeom>
          <a:solidFill>
            <a:schemeClr val="tx2"/>
          </a:solidFill>
          <a:ln>
            <a:noFill/>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Rectangle 18"/>
          <p:cNvSpPr>
            <a:spLocks noChangeArrowheads="1"/>
          </p:cNvSpPr>
          <p:nvPr/>
        </p:nvSpPr>
        <p:spPr bwMode="auto">
          <a:xfrm>
            <a:off x="8820150" y="0"/>
            <a:ext cx="73025" cy="765175"/>
          </a:xfrm>
          <a:prstGeom prst="rect">
            <a:avLst/>
          </a:prstGeom>
          <a:solidFill>
            <a:schemeClr val="accent1"/>
          </a:solidFill>
          <a:ln>
            <a:noFill/>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0" name="Rectangle 19"/>
          <p:cNvSpPr>
            <a:spLocks noChangeArrowheads="1"/>
          </p:cNvSpPr>
          <p:nvPr/>
        </p:nvSpPr>
        <p:spPr bwMode="auto">
          <a:xfrm>
            <a:off x="179388" y="134938"/>
            <a:ext cx="8785225" cy="773113"/>
          </a:xfrm>
          <a:prstGeom prst="rect">
            <a:avLst/>
          </a:prstGeom>
          <a:noFill/>
          <a:ln w="0">
            <a:solidFill>
              <a:schemeClr val="accent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1" name="Line 20"/>
          <p:cNvSpPr/>
          <p:nvPr/>
        </p:nvSpPr>
        <p:spPr>
          <a:xfrm>
            <a:off x="468313" y="6481763"/>
            <a:ext cx="8424862" cy="0"/>
          </a:xfrm>
          <a:prstGeom prst="line">
            <a:avLst/>
          </a:prstGeom>
          <a:ln w="0" cap="flat" cmpd="sng">
            <a:solidFill>
              <a:schemeClr val="tx2"/>
            </a:solidFill>
            <a:prstDash val="solid"/>
            <a:headEnd type="none" w="med" len="med"/>
            <a:tailEnd type="none" w="med" len="med"/>
          </a:ln>
        </p:spPr>
      </p:sp>
      <p:sp>
        <p:nvSpPr>
          <p:cNvPr id="1032" name="Rectangle 3"/>
          <p:cNvSpPr>
            <a:spLocks noGrp="1"/>
          </p:cNvSpPr>
          <p:nvPr>
            <p:ph type="body" idx="1"/>
          </p:nvPr>
        </p:nvSpPr>
        <p:spPr>
          <a:xfrm>
            <a:off x="457200" y="1412875"/>
            <a:ext cx="8229600" cy="5040313"/>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33" name="Rectangle 4"/>
          <p:cNvSpPr>
            <a:spLocks noGrp="1" noChangeArrowheads="1"/>
          </p:cNvSpPr>
          <p:nvPr>
            <p:ph type="dt" sz="half" idx="2"/>
          </p:nvPr>
        </p:nvSpPr>
        <p:spPr bwMode="auto">
          <a:xfrm>
            <a:off x="-106362" y="6505575"/>
            <a:ext cx="5126038" cy="352425"/>
          </a:xfrm>
          <a:prstGeom prst="rect">
            <a:avLst/>
          </a:prstGeom>
          <a:noFill/>
          <a:ln w="9525">
            <a:noFill/>
            <a:miter lim="800000"/>
          </a:ln>
        </p:spPr>
        <p:txBody>
          <a:bodyPr vert="horz" wrap="square" lIns="91440" tIns="45720" rIns="91440" bIns="45720" numCol="1" anchor="t" anchorCtr="0" compatLnSpc="1"/>
          <a:lstStyle>
            <a:lvl1pPr algn="ctr" eaLnBrk="1" hangingPunct="1">
              <a:buFont typeface="Arial" panose="020B0604020202020204" pitchFamily="34" charset="0"/>
              <a:buNone/>
              <a:defRPr sz="1400" b="1">
                <a:solidFill>
                  <a:schemeClr val="tx2"/>
                </a:solidFill>
                <a:latin typeface="+mj-lt"/>
                <a:ea typeface="+mj-ea"/>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sz="1400" b="1" i="0" u="none" strike="noStrike" kern="1200" cap="none" spc="0" normalizeH="0" baseline="0" noProof="0">
                <a:ln>
                  <a:noFill/>
                </a:ln>
                <a:solidFill>
                  <a:schemeClr val="tx2"/>
                </a:solidFill>
                <a:effectLst/>
                <a:uLnTx/>
                <a:uFillTx/>
                <a:latin typeface="+mn-lt"/>
                <a:ea typeface="+mj-ea"/>
                <a:cs typeface="+mn-cs"/>
              </a:rPr>
              <a:t>·</a:t>
            </a: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2" name="Rectangle 5"/>
          <p:cNvSpPr>
            <a:spLocks noGrp="1" noChangeArrowheads="1"/>
          </p:cNvSpPr>
          <p:nvPr>
            <p:ph type="ftr" sz="quarter" idx="3"/>
          </p:nvPr>
        </p:nvSpPr>
        <p:spPr bwMode="auto">
          <a:xfrm>
            <a:off x="7135813" y="6477000"/>
            <a:ext cx="1828800" cy="227013"/>
          </a:xfrm>
          <a:prstGeom prst="rect">
            <a:avLst/>
          </a:prstGeom>
          <a:noFill/>
          <a:ln w="9525">
            <a:noFill/>
            <a:miter lim="800000"/>
          </a:ln>
        </p:spPr>
        <p:txBody>
          <a:bodyPr vert="horz" wrap="square" lIns="91440" tIns="45720" rIns="91440" bIns="45720" numCol="1" anchor="t" anchorCtr="0" compatLnSpc="1"/>
          <a:lstStyle>
            <a:lvl1pPr algn="r" eaLnBrk="1" hangingPunct="1">
              <a:buFont typeface="Arial" panose="020B0604020202020204" pitchFamily="34" charset="0"/>
              <a:buNone/>
              <a:defRPr sz="1400" b="1">
                <a:solidFill>
                  <a:schemeClr val="tx2"/>
                </a:solidFill>
                <a:latin typeface="+mj-lt"/>
                <a:ea typeface="+mj-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sz="1400" b="1" i="0" u="none" strike="noStrike" kern="1200" cap="none" spc="0" normalizeH="0" baseline="0" noProof="0">
                <a:ln>
                  <a:noFill/>
                </a:ln>
                <a:solidFill>
                  <a:schemeClr val="tx2"/>
                </a:solidFill>
                <a:effectLst/>
                <a:uLnTx/>
                <a:uFillTx/>
                <a:latin typeface="+mj-lt"/>
                <a:ea typeface="+mj-ea"/>
                <a:cs typeface="+mn-cs"/>
              </a:rPr>
              <a:t>》</a:t>
            </a:r>
            <a:endParaRPr kumimoji="0" 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1035" name="Rectangle 6"/>
          <p:cNvSpPr>
            <a:spLocks noGrp="1" noChangeArrowheads="1"/>
          </p:cNvSpPr>
          <p:nvPr>
            <p:ph type="sldNum" sz="quarter" idx="4"/>
          </p:nvPr>
        </p:nvSpPr>
        <p:spPr bwMode="auto">
          <a:xfrm>
            <a:off x="3505200" y="6448425"/>
            <a:ext cx="2133600" cy="228600"/>
          </a:xfrm>
          <a:prstGeom prst="rect">
            <a:avLst/>
          </a:prstGeom>
          <a:noFill/>
          <a:ln w="9525">
            <a:noFill/>
            <a:miter lim="800000"/>
          </a:ln>
        </p:spPr>
        <p:txBody>
          <a:bodyPr vert="horz" wrap="square" lIns="91440" tIns="45720" rIns="91440" bIns="45720" numCol="1" anchor="t" anchorCtr="0" compatLnSpc="1"/>
          <a:lstStyle>
            <a:lvl1pPr algn="ctr">
              <a:defRPr sz="1000" b="1">
                <a:latin typeface="Verdana" panose="020B0604030504040204" pitchFamily="34" charset="0"/>
                <a:ea typeface="宋体" panose="02010600030101010101" pitchFamily="2" charset="-122"/>
              </a:defRPr>
            </a:lvl1pPr>
          </a:lstStyle>
          <a:p>
            <a:pPr lvl="0" eaLnBrk="1" hangingPunct="1">
              <a:buNone/>
            </a:pPr>
            <a:fld id="{9A0DB2DC-4C9A-4742-B13C-FB6460FD3503}" type="slidenum">
              <a:rPr lang="zh-CN" altLang="en-US" dirty="0"/>
            </a:fld>
            <a:endParaRPr lang="zh-CN" altLang="en-US" dirty="0"/>
          </a:p>
        </p:txBody>
      </p:sp>
      <p:graphicFrame>
        <p:nvGraphicFramePr>
          <p:cNvPr id="1036" name="Object 21"/>
          <p:cNvGraphicFramePr>
            <a:graphicFrameLocks noChangeAspect="1"/>
          </p:cNvGraphicFramePr>
          <p:nvPr/>
        </p:nvGraphicFramePr>
        <p:xfrm>
          <a:off x="0" y="0"/>
          <a:ext cx="971550" cy="1042988"/>
        </p:xfrm>
        <a:graphic>
          <a:graphicData uri="http://schemas.openxmlformats.org/presentationml/2006/ole">
            <mc:AlternateContent xmlns:mc="http://schemas.openxmlformats.org/markup-compatibility/2006">
              <mc:Choice xmlns:v="urn:schemas-microsoft-com:vml" Requires="v">
                <p:oleObj spid="_x0000_s3076" name="" r:id="rId12" imgW="2540000" imgH="2540000" progId="Photoshop.Image.6">
                  <p:embed/>
                </p:oleObj>
              </mc:Choice>
              <mc:Fallback>
                <p:oleObj name="" r:id="rId12" imgW="2540000" imgH="2540000" progId="Photoshop.Image.6">
                  <p:embed/>
                  <p:pic>
                    <p:nvPicPr>
                      <p:cNvPr id="0" name="图片 3075"/>
                      <p:cNvPicPr/>
                      <p:nvPr/>
                    </p:nvPicPr>
                    <p:blipFill>
                      <a:blip r:embed="rId13"/>
                      <a:stretch>
                        <a:fillRect/>
                      </a:stretch>
                    </p:blipFill>
                    <p:spPr>
                      <a:xfrm>
                        <a:off x="0" y="0"/>
                        <a:ext cx="971550" cy="1042988"/>
                      </a:xfrm>
                      <a:prstGeom prst="rect">
                        <a:avLst/>
                      </a:prstGeom>
                      <a:noFill/>
                      <a:ln w="38100">
                        <a:noFill/>
                        <a:miter/>
                      </a:ln>
                    </p:spPr>
                  </p:pic>
                </p:oleObj>
              </mc:Fallback>
            </mc:AlternateContent>
          </a:graphicData>
        </a:graphic>
      </p:graphicFrame>
      <p:sp>
        <p:nvSpPr>
          <p:cNvPr id="1037" name="Rectangle 22"/>
          <p:cNvSpPr>
            <a:spLocks noChangeArrowheads="1"/>
          </p:cNvSpPr>
          <p:nvPr/>
        </p:nvSpPr>
        <p:spPr bwMode="auto">
          <a:xfrm>
            <a:off x="1187450" y="908050"/>
            <a:ext cx="7956550" cy="144463"/>
          </a:xfrm>
          <a:prstGeom prst="rect">
            <a:avLst/>
          </a:prstGeom>
          <a:solidFill>
            <a:schemeClr val="tx1"/>
          </a:solidFill>
          <a:ln>
            <a:noFill/>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8" name="Rectangle 23"/>
          <p:cNvSpPr>
            <a:spLocks noChangeArrowheads="1"/>
          </p:cNvSpPr>
          <p:nvPr/>
        </p:nvSpPr>
        <p:spPr bwMode="auto">
          <a:xfrm>
            <a:off x="971550" y="0"/>
            <a:ext cx="431800" cy="1052513"/>
          </a:xfrm>
          <a:prstGeom prst="rect">
            <a:avLst/>
          </a:prstGeom>
          <a:solidFill>
            <a:schemeClr val="tx1"/>
          </a:solidFill>
          <a:ln>
            <a:noFill/>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9" name="Rectangle 2"/>
          <p:cNvSpPr>
            <a:spLocks noGrp="1"/>
          </p:cNvSpPr>
          <p:nvPr>
            <p:ph type="title"/>
          </p:nvPr>
        </p:nvSpPr>
        <p:spPr>
          <a:xfrm>
            <a:off x="747713" y="233363"/>
            <a:ext cx="7862887" cy="563562"/>
          </a:xfrm>
          <a:prstGeom prst="rect">
            <a:avLst/>
          </a:prstGeom>
          <a:noFill/>
          <a:ln w="9525">
            <a:noFill/>
          </a:ln>
        </p:spPr>
        <p:txBody>
          <a:bodyPr anchor="ctr" anchorCtr="0"/>
          <a:p>
            <a:pPr lvl="0"/>
            <a:r>
              <a:rPr lang="zh-CN" altLang="en-US" dirty="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sz="3200" b="1">
          <a:solidFill>
            <a:srgbClr val="F3C43F"/>
          </a:solidFill>
          <a:latin typeface="+mj-lt"/>
          <a:ea typeface="+mj-ea"/>
          <a:cs typeface="+mj-cs"/>
        </a:defRPr>
      </a:lvl1pPr>
      <a:lvl2pPr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2pPr>
      <a:lvl3pPr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3pPr>
      <a:lvl4pPr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4pPr>
      <a:lvl5pPr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5pPr>
      <a:lvl6pPr marL="457200"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6pPr>
      <a:lvl7pPr marL="914400"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7pPr>
      <a:lvl8pPr marL="1371600"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8pPr>
      <a:lvl9pPr marL="1828800"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vl6pPr marL="25146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6pPr>
      <a:lvl7pPr marL="29718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7pPr>
      <a:lvl8pPr marL="34290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8pPr>
      <a:lvl9pPr marL="3886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Rectangle 17"/>
          <p:cNvSpPr>
            <a:spLocks noChangeArrowheads="1"/>
          </p:cNvSpPr>
          <p:nvPr/>
        </p:nvSpPr>
        <p:spPr bwMode="auto">
          <a:xfrm>
            <a:off x="0" y="5157788"/>
            <a:ext cx="9144000" cy="1708150"/>
          </a:xfrm>
          <a:prstGeom prst="rect">
            <a:avLst/>
          </a:prstGeom>
          <a:solidFill>
            <a:schemeClr val="bg2"/>
          </a:solidFill>
          <a:ln>
            <a:noFill/>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1" name="Rectangle 18"/>
          <p:cNvSpPr>
            <a:spLocks noChangeArrowheads="1"/>
          </p:cNvSpPr>
          <p:nvPr/>
        </p:nvSpPr>
        <p:spPr bwMode="auto">
          <a:xfrm>
            <a:off x="0" y="0"/>
            <a:ext cx="9144000" cy="4935538"/>
          </a:xfrm>
          <a:prstGeom prst="rect">
            <a:avLst/>
          </a:prstGeom>
          <a:solidFill>
            <a:schemeClr val="tx1"/>
          </a:solidFill>
          <a:ln>
            <a:noFill/>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2" name="Rectangle 19"/>
          <p:cNvSpPr>
            <a:spLocks noChangeArrowheads="1"/>
          </p:cNvSpPr>
          <p:nvPr/>
        </p:nvSpPr>
        <p:spPr bwMode="auto">
          <a:xfrm>
            <a:off x="1270000" y="4933950"/>
            <a:ext cx="7874000" cy="223838"/>
          </a:xfrm>
          <a:prstGeom prst="rect">
            <a:avLst/>
          </a:prstGeom>
          <a:solidFill>
            <a:schemeClr val="hlink"/>
          </a:solidFill>
          <a:ln>
            <a:noFill/>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3" name="Text Box 14"/>
          <p:cNvSpPr txBox="1">
            <a:spLocks noChangeArrowheads="1"/>
          </p:cNvSpPr>
          <p:nvPr/>
        </p:nvSpPr>
        <p:spPr bwMode="auto">
          <a:xfrm>
            <a:off x="2268538" y="5949950"/>
            <a:ext cx="4608513" cy="366713"/>
          </a:xfrm>
          <a:prstGeom prst="rect">
            <a:avLst/>
          </a:prstGeom>
          <a:noFill/>
          <a:ln>
            <a:noFill/>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College of Atmospheric Sciences</a:t>
            </a:r>
            <a:endParaRPr kumimoji="0" lang="en-US" altLang="zh-CN"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4" name="Rectangle 20"/>
          <p:cNvSpPr>
            <a:spLocks noChangeArrowheads="1"/>
          </p:cNvSpPr>
          <p:nvPr/>
        </p:nvSpPr>
        <p:spPr bwMode="auto">
          <a:xfrm>
            <a:off x="-7937" y="4935538"/>
            <a:ext cx="1281113" cy="222250"/>
          </a:xfrm>
          <a:prstGeom prst="rect">
            <a:avLst/>
          </a:prstGeom>
          <a:solidFill>
            <a:schemeClr val="accent1"/>
          </a:solidFill>
          <a:ln>
            <a:noFill/>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aphicFrame>
        <p:nvGraphicFramePr>
          <p:cNvPr id="2055" name="Object 21"/>
          <p:cNvGraphicFramePr>
            <a:graphicFrameLocks noChangeAspect="1"/>
          </p:cNvGraphicFramePr>
          <p:nvPr/>
        </p:nvGraphicFramePr>
        <p:xfrm>
          <a:off x="1279525" y="5054600"/>
          <a:ext cx="2351088" cy="609600"/>
        </p:xfrm>
        <a:graphic>
          <a:graphicData uri="http://schemas.openxmlformats.org/presentationml/2006/ole">
            <mc:AlternateContent xmlns:mc="http://schemas.openxmlformats.org/markup-compatibility/2006">
              <mc:Choice xmlns:v="urn:schemas-microsoft-com:vml" Requires="v">
                <p:oleObj spid="_x0000_s3078" name="" r:id="rId12" imgW="2540000" imgH="609600" progId="Photoshop.Image.6">
                  <p:embed/>
                </p:oleObj>
              </mc:Choice>
              <mc:Fallback>
                <p:oleObj name="" r:id="rId12" imgW="2540000" imgH="609600" progId="Photoshop.Image.6">
                  <p:embed/>
                  <p:pic>
                    <p:nvPicPr>
                      <p:cNvPr id="0" name="图片 3077"/>
                      <p:cNvPicPr/>
                      <p:nvPr/>
                    </p:nvPicPr>
                    <p:blipFill>
                      <a:blip r:embed="rId13"/>
                      <a:stretch>
                        <a:fillRect/>
                      </a:stretch>
                    </p:blipFill>
                    <p:spPr>
                      <a:xfrm>
                        <a:off x="1279525" y="5054600"/>
                        <a:ext cx="2351088" cy="609600"/>
                      </a:xfrm>
                      <a:prstGeom prst="rect">
                        <a:avLst/>
                      </a:prstGeom>
                      <a:noFill/>
                      <a:ln w="38100">
                        <a:noFill/>
                        <a:miter/>
                      </a:ln>
                    </p:spPr>
                  </p:pic>
                </p:oleObj>
              </mc:Fallback>
            </mc:AlternateContent>
          </a:graphicData>
        </a:graphic>
      </p:graphicFrame>
      <p:graphicFrame>
        <p:nvGraphicFramePr>
          <p:cNvPr id="2056" name="Object 22"/>
          <p:cNvGraphicFramePr>
            <a:graphicFrameLocks noChangeAspect="1"/>
          </p:cNvGraphicFramePr>
          <p:nvPr/>
        </p:nvGraphicFramePr>
        <p:xfrm>
          <a:off x="0" y="3500438"/>
          <a:ext cx="1266825" cy="1430337"/>
        </p:xfrm>
        <a:graphic>
          <a:graphicData uri="http://schemas.openxmlformats.org/presentationml/2006/ole">
            <mc:AlternateContent xmlns:mc="http://schemas.openxmlformats.org/markup-compatibility/2006">
              <mc:Choice xmlns:v="urn:schemas-microsoft-com:vml" Requires="v">
                <p:oleObj spid="_x0000_s3077" name="" r:id="rId14" imgW="2540000" imgH="2540000" progId="Photoshop.Image.6">
                  <p:embed/>
                </p:oleObj>
              </mc:Choice>
              <mc:Fallback>
                <p:oleObj name="" r:id="rId14" imgW="2540000" imgH="2540000" progId="Photoshop.Image.6">
                  <p:embed/>
                  <p:pic>
                    <p:nvPicPr>
                      <p:cNvPr id="0" name="图片 3076"/>
                      <p:cNvPicPr/>
                      <p:nvPr/>
                    </p:nvPicPr>
                    <p:blipFill>
                      <a:blip r:embed="rId15"/>
                      <a:stretch>
                        <a:fillRect/>
                      </a:stretch>
                    </p:blipFill>
                    <p:spPr>
                      <a:xfrm>
                        <a:off x="0" y="3500438"/>
                        <a:ext cx="1266825" cy="1430337"/>
                      </a:xfrm>
                      <a:prstGeom prst="rect">
                        <a:avLst/>
                      </a:prstGeom>
                      <a:noFill/>
                      <a:ln w="38100">
                        <a:noFill/>
                        <a:miter/>
                      </a:ln>
                    </p:spPr>
                  </p:pic>
                </p:oleObj>
              </mc:Fallback>
            </mc:AlternateContent>
          </a:graphicData>
        </a:graphic>
      </p:graphicFrame>
      <p:sp>
        <p:nvSpPr>
          <p:cNvPr id="2057" name="Rectangle 23"/>
          <p:cNvSpPr>
            <a:spLocks noChangeArrowheads="1"/>
          </p:cNvSpPr>
          <p:nvPr/>
        </p:nvSpPr>
        <p:spPr bwMode="auto">
          <a:xfrm>
            <a:off x="1266825" y="1125538"/>
            <a:ext cx="2368550" cy="4535488"/>
          </a:xfrm>
          <a:prstGeom prst="rect">
            <a:avLst/>
          </a:prstGeom>
          <a:noFill/>
          <a:ln w="0">
            <a:solidFill>
              <a:schemeClr val="accent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8" name="Rectangle 24"/>
          <p:cNvSpPr>
            <a:spLocks noChangeArrowheads="1"/>
          </p:cNvSpPr>
          <p:nvPr/>
        </p:nvSpPr>
        <p:spPr bwMode="auto">
          <a:xfrm flipH="1">
            <a:off x="8221663" y="0"/>
            <a:ext cx="95250" cy="2060575"/>
          </a:xfrm>
          <a:prstGeom prst="rect">
            <a:avLst/>
          </a:prstGeom>
          <a:solidFill>
            <a:schemeClr val="accent1"/>
          </a:solidFill>
          <a:ln>
            <a:noFill/>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9" name="Rectangle 25"/>
          <p:cNvSpPr>
            <a:spLocks noChangeArrowheads="1"/>
          </p:cNvSpPr>
          <p:nvPr/>
        </p:nvSpPr>
        <p:spPr bwMode="auto">
          <a:xfrm>
            <a:off x="250825" y="260350"/>
            <a:ext cx="8569325" cy="4392613"/>
          </a:xfrm>
          <a:prstGeom prst="rect">
            <a:avLst/>
          </a:prstGeom>
          <a:noFill/>
          <a:ln w="0">
            <a:solidFill>
              <a:schemeClr val="tx2"/>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60" name="Rectangle 26"/>
          <p:cNvSpPr>
            <a:spLocks noChangeArrowheads="1"/>
          </p:cNvSpPr>
          <p:nvPr/>
        </p:nvSpPr>
        <p:spPr bwMode="auto">
          <a:xfrm>
            <a:off x="7775575" y="908050"/>
            <a:ext cx="1368425" cy="1439863"/>
          </a:xfrm>
          <a:prstGeom prst="rect">
            <a:avLst/>
          </a:prstGeom>
          <a:noFill/>
          <a:ln w="0">
            <a:solidFill>
              <a:schemeClr val="tx2"/>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61" name="Rectangle 27"/>
          <p:cNvSpPr>
            <a:spLocks noChangeArrowheads="1"/>
          </p:cNvSpPr>
          <p:nvPr/>
        </p:nvSpPr>
        <p:spPr bwMode="auto">
          <a:xfrm>
            <a:off x="611188" y="1916113"/>
            <a:ext cx="7921625" cy="1584325"/>
          </a:xfrm>
          <a:prstGeom prst="rect">
            <a:avLst/>
          </a:prstGeom>
          <a:noFill/>
          <a:ln w="0">
            <a:solidFill>
              <a:schemeClr val="tx2"/>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62" name="Rectangle 3"/>
          <p:cNvSpPr>
            <a:spLocks noGrp="1"/>
          </p:cNvSpPr>
          <p:nvPr>
            <p:ph type="body" idx="1"/>
          </p:nvPr>
        </p:nvSpPr>
        <p:spPr>
          <a:xfrm>
            <a:off x="457200" y="1412875"/>
            <a:ext cx="8229600" cy="5040313"/>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063" name="Rectangle 2"/>
          <p:cNvSpPr>
            <a:spLocks noGrp="1"/>
          </p:cNvSpPr>
          <p:nvPr>
            <p:ph type="title"/>
          </p:nvPr>
        </p:nvSpPr>
        <p:spPr>
          <a:xfrm>
            <a:off x="747713" y="233363"/>
            <a:ext cx="7862887" cy="563562"/>
          </a:xfrm>
          <a:prstGeom prst="rect">
            <a:avLst/>
          </a:prstGeom>
          <a:noFill/>
          <a:ln w="9525">
            <a:noFill/>
          </a:ln>
        </p:spPr>
        <p:txBody>
          <a:bodyPr anchor="ctr" anchorCtr="0"/>
          <a:p>
            <a:pPr lvl="0"/>
            <a:r>
              <a:rPr lang="zh-CN" altLang="en-US" dirty="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rtl="0" eaLnBrk="0" fontAlgn="base" hangingPunct="0">
        <a:spcBef>
          <a:spcPct val="0"/>
        </a:spcBef>
        <a:spcAft>
          <a:spcPct val="0"/>
        </a:spcAft>
        <a:defRPr sz="3200" b="1">
          <a:solidFill>
            <a:srgbClr val="F3C43F"/>
          </a:solidFill>
          <a:latin typeface="+mj-lt"/>
          <a:ea typeface="+mj-ea"/>
          <a:cs typeface="+mj-cs"/>
        </a:defRPr>
      </a:lvl1pPr>
      <a:lvl2pPr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2pPr>
      <a:lvl3pPr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3pPr>
      <a:lvl4pPr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4pPr>
      <a:lvl5pPr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5pPr>
      <a:lvl6pPr marL="457200"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6pPr>
      <a:lvl7pPr marL="914400"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7pPr>
      <a:lvl8pPr marL="1371600"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8pPr>
      <a:lvl9pPr marL="1828800"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vl6pPr marL="25146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6pPr>
      <a:lvl7pPr marL="29718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7pPr>
      <a:lvl8pPr marL="34290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8pPr>
      <a:lvl9pPr marL="3886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vmlDrawing" Target="../drawings/vmlDrawing3.vml"/><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4.wmf"/><Relationship Id="rId1" Type="http://schemas.openxmlformats.org/officeDocument/2006/relationships/oleObject" Target="../embeddings/oleObject4.bin"/></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7.xml"/><Relationship Id="rId4" Type="http://schemas.openxmlformats.org/officeDocument/2006/relationships/image" Target="../media/image7.emf"/><Relationship Id="rId3" Type="http://schemas.openxmlformats.org/officeDocument/2006/relationships/oleObject" Target="../embeddings/oleObject6.bin"/><Relationship Id="rId2" Type="http://schemas.openxmlformats.org/officeDocument/2006/relationships/image" Target="../media/image6.emf"/><Relationship Id="rId1" Type="http://schemas.openxmlformats.org/officeDocument/2006/relationships/oleObject" Target="../embeddings/oleObject5.bin"/></Relationships>
</file>

<file path=ppt/slides/_rels/slide8.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7.xml"/><Relationship Id="rId4" Type="http://schemas.openxmlformats.org/officeDocument/2006/relationships/image" Target="../media/image9.emf"/><Relationship Id="rId3" Type="http://schemas.openxmlformats.org/officeDocument/2006/relationships/oleObject" Target="../embeddings/oleObject8.bin"/><Relationship Id="rId2" Type="http://schemas.openxmlformats.org/officeDocument/2006/relationships/image" Target="../media/image8.emf"/><Relationship Id="rId1" Type="http://schemas.openxmlformats.org/officeDocument/2006/relationships/oleObject" Target="../embeddings/oleObject7.bin"/></Relationships>
</file>

<file path=ppt/slides/_rels/slide9.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10.emf"/><Relationship Id="rId1" Type="http://schemas.openxmlformats.org/officeDocument/2006/relationships/oleObject" Target="../embeddings/oleObject9.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7.xml"/><Relationship Id="rId2" Type="http://schemas.openxmlformats.org/officeDocument/2006/relationships/image" Target="../media/image11.wmf"/><Relationship Id="rId1" Type="http://schemas.openxmlformats.org/officeDocument/2006/relationships/oleObject" Target="../embeddings/oleObject10.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vmlDrawing" Target="../drawings/vmlDrawing8.vml"/><Relationship Id="rId6" Type="http://schemas.openxmlformats.org/officeDocument/2006/relationships/slideLayout" Target="../slideLayouts/slideLayout2.xml"/><Relationship Id="rId5" Type="http://schemas.openxmlformats.org/officeDocument/2006/relationships/image" Target="../media/image15.emf"/><Relationship Id="rId4" Type="http://schemas.openxmlformats.org/officeDocument/2006/relationships/image" Target="../media/image14.wmf"/><Relationship Id="rId3" Type="http://schemas.openxmlformats.org/officeDocument/2006/relationships/oleObject" Target="../embeddings/oleObject12.bin"/><Relationship Id="rId2" Type="http://schemas.openxmlformats.org/officeDocument/2006/relationships/image" Target="../media/image13.wmf"/><Relationship Id="rId1" Type="http://schemas.openxmlformats.org/officeDocument/2006/relationships/oleObject" Target="../embeddings/oleObject11.bin"/></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vmlDrawing" Target="../drawings/vmlDrawing9.vml"/><Relationship Id="rId5" Type="http://schemas.openxmlformats.org/officeDocument/2006/relationships/slideLayout" Target="../slideLayouts/slideLayout2.xml"/><Relationship Id="rId4" Type="http://schemas.openxmlformats.org/officeDocument/2006/relationships/image" Target="../media/image18.jpeg"/><Relationship Id="rId3" Type="http://schemas.openxmlformats.org/officeDocument/2006/relationships/image" Target="../media/image17.wmf"/><Relationship Id="rId2" Type="http://schemas.openxmlformats.org/officeDocument/2006/relationships/oleObject" Target="../embeddings/oleObject13.bin"/><Relationship Id="rId1" Type="http://schemas.openxmlformats.org/officeDocument/2006/relationships/image" Target="../media/image16.jpe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16.jpeg"/><Relationship Id="rId1"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22.wmf"/><Relationship Id="rId1" Type="http://schemas.openxmlformats.org/officeDocument/2006/relationships/oleObject" Target="../embeddings/oleObject14.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20.xml.rels><?xml version="1.0" encoding="UTF-8" standalone="yes"?>
<Relationships xmlns="http://schemas.openxmlformats.org/package/2006/relationships"><Relationship Id="rId9" Type="http://schemas.openxmlformats.org/officeDocument/2006/relationships/notesSlide" Target="../notesSlides/notesSlide13.xml"/><Relationship Id="rId8" Type="http://schemas.openxmlformats.org/officeDocument/2006/relationships/vmlDrawing" Target="../drawings/vmlDrawing11.vml"/><Relationship Id="rId7" Type="http://schemas.openxmlformats.org/officeDocument/2006/relationships/slideLayout" Target="../slideLayouts/slideLayout2.xml"/><Relationship Id="rId6" Type="http://schemas.openxmlformats.org/officeDocument/2006/relationships/image" Target="../media/image26.wmf"/><Relationship Id="rId5" Type="http://schemas.openxmlformats.org/officeDocument/2006/relationships/oleObject" Target="../embeddings/oleObject16.bin"/><Relationship Id="rId4" Type="http://schemas.openxmlformats.org/officeDocument/2006/relationships/image" Target="../media/image25.png"/><Relationship Id="rId3" Type="http://schemas.openxmlformats.org/officeDocument/2006/relationships/image" Target="../media/image24.wmf"/><Relationship Id="rId2" Type="http://schemas.openxmlformats.org/officeDocument/2006/relationships/oleObject" Target="../embeddings/oleObject15.bin"/><Relationship Id="rId1" Type="http://schemas.openxmlformats.org/officeDocument/2006/relationships/image" Target="../media/image16.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28.jpeg"/></Relationships>
</file>

<file path=ppt/slides/_rels/slide23.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vmlDrawing" Target="../drawings/vmlDrawing12.vml"/><Relationship Id="rId5" Type="http://schemas.openxmlformats.org/officeDocument/2006/relationships/slideLayout" Target="../slideLayouts/slideLayout2.xml"/><Relationship Id="rId4" Type="http://schemas.openxmlformats.org/officeDocument/2006/relationships/image" Target="../media/image30.wmf"/><Relationship Id="rId3" Type="http://schemas.openxmlformats.org/officeDocument/2006/relationships/oleObject" Target="../embeddings/oleObject18.bin"/><Relationship Id="rId2" Type="http://schemas.openxmlformats.org/officeDocument/2006/relationships/image" Target="../media/image29.wmf"/><Relationship Id="rId1" Type="http://schemas.openxmlformats.org/officeDocument/2006/relationships/oleObject" Target="../embeddings/oleObject17.bin"/></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vmlDrawing" Target="../drawings/vmlDrawing13.vml"/><Relationship Id="rId3" Type="http://schemas.openxmlformats.org/officeDocument/2006/relationships/slideLayout" Target="../slideLayouts/slideLayout2.xml"/><Relationship Id="rId2" Type="http://schemas.openxmlformats.org/officeDocument/2006/relationships/image" Target="../media/image31.wmf"/><Relationship Id="rId1" Type="http://schemas.openxmlformats.org/officeDocument/2006/relationships/oleObject" Target="../embeddings/oleObject19.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noChangeArrowheads="1"/>
          </p:cNvSpPr>
          <p:nvPr>
            <p:ph type="ctrTitle" idx="4294967295"/>
          </p:nvPr>
        </p:nvSpPr>
        <p:spPr>
          <a:xfrm>
            <a:off x="620713" y="1193800"/>
            <a:ext cx="7237413" cy="27352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ts val="1200"/>
              </a:spcBef>
              <a:spcAft>
                <a:spcPct val="0"/>
              </a:spcAft>
              <a:buClrTx/>
              <a:buSzTx/>
              <a:buFontTx/>
              <a:buNone/>
              <a:defRPr/>
            </a:pPr>
            <a:r>
              <a:rPr kumimoji="0" lang="zh-CN" altLang="en-US" sz="5400" b="1" i="0" u="none" strike="noStrike" kern="0" cap="none" spc="0" normalizeH="0" baseline="0" noProof="0" dirty="0">
                <a:ln>
                  <a:noFill/>
                </a:ln>
                <a:solidFill>
                  <a:srgbClr val="F3C43F"/>
                </a:solidFill>
                <a:effectLst>
                  <a:outerShdw blurRad="38100" dist="38100" dir="2700000" algn="tl">
                    <a:srgbClr val="C0C0C0"/>
                  </a:outerShdw>
                </a:effectLst>
                <a:uLnTx/>
                <a:uFillTx/>
                <a:latin typeface="+mj-lt"/>
                <a:ea typeface="+mj-ea"/>
                <a:cs typeface="+mj-cs"/>
              </a:rPr>
              <a:t>第 五 章</a:t>
            </a:r>
            <a:br>
              <a:rPr kumimoji="0" lang="zh-CN" altLang="en-US" sz="4400" b="1" i="0" u="none" strike="noStrike" kern="0" cap="none" spc="0" normalizeH="0" baseline="0" noProof="0" dirty="0">
                <a:ln>
                  <a:noFill/>
                </a:ln>
                <a:solidFill>
                  <a:srgbClr val="F3C43F"/>
                </a:solidFill>
                <a:effectLst>
                  <a:outerShdw blurRad="38100" dist="38100" dir="2700000" algn="tl">
                    <a:srgbClr val="C0C0C0"/>
                  </a:outerShdw>
                </a:effectLst>
                <a:uLnTx/>
                <a:uFillTx/>
                <a:latin typeface="+mj-lt"/>
                <a:ea typeface="+mj-ea"/>
                <a:cs typeface="+mj-cs"/>
              </a:rPr>
            </a:br>
            <a:br>
              <a:rPr kumimoji="0" lang="zh-CN" altLang="en-US" sz="2400" b="1" i="0" u="none" strike="noStrike" kern="0" cap="none" spc="0" normalizeH="0" baseline="0" noProof="0" dirty="0">
                <a:ln>
                  <a:noFill/>
                </a:ln>
                <a:solidFill>
                  <a:srgbClr val="F3C43F"/>
                </a:solidFill>
                <a:effectLst>
                  <a:outerShdw blurRad="38100" dist="38100" dir="2700000" algn="tl">
                    <a:srgbClr val="C0C0C0"/>
                  </a:outerShdw>
                </a:effectLst>
                <a:uLnTx/>
                <a:uFillTx/>
                <a:latin typeface="+mj-lt"/>
                <a:ea typeface="+mj-ea"/>
                <a:cs typeface="+mj-cs"/>
              </a:rPr>
            </a:br>
            <a:r>
              <a:rPr kumimoji="0" lang="zh-CN" altLang="en-US" sz="6000" b="1" i="0" u="none" strike="noStrike" kern="0" cap="none" spc="0" normalizeH="0" baseline="0" noProof="0" dirty="0">
                <a:ln>
                  <a:noFill/>
                </a:ln>
                <a:solidFill>
                  <a:srgbClr val="F3C43F"/>
                </a:solidFill>
                <a:effectLst>
                  <a:outerShdw blurRad="38100" dist="38100" dir="2700000" algn="tl">
                    <a:srgbClr val="C0C0C0"/>
                  </a:outerShdw>
                </a:effectLst>
                <a:uLnTx/>
                <a:uFillTx/>
                <a:latin typeface="+mj-lt"/>
                <a:ea typeface="+mj-ea"/>
                <a:cs typeface="+mj-cs"/>
              </a:rPr>
              <a:t>地面和大气中的辐射过程</a:t>
            </a:r>
            <a:endParaRPr kumimoji="0" lang="zh-CN" altLang="en-US" sz="6000" b="1" i="0" u="none" strike="noStrike" kern="0" cap="none" spc="0" normalizeH="0" baseline="0" noProof="0" dirty="0">
              <a:ln>
                <a:noFill/>
              </a:ln>
              <a:solidFill>
                <a:srgbClr val="F3C43F"/>
              </a:solidFill>
              <a:effectLst>
                <a:outerShdw blurRad="38100" dist="38100" dir="2700000" algn="tl">
                  <a:srgbClr val="C0C0C0"/>
                </a:outerShdw>
              </a:effectLst>
              <a:uLnTx/>
              <a:uFillTx/>
              <a:latin typeface="+mj-lt"/>
              <a:ea typeface="+mj-ea"/>
              <a:cs typeface="+mj-cs"/>
            </a:endParaRPr>
          </a:p>
        </p:txBody>
      </p:sp>
      <p:sp>
        <p:nvSpPr>
          <p:cNvPr id="4099" name="Rectangle 5"/>
          <p:cNvSpPr>
            <a:spLocks noGrp="1"/>
          </p:cNvSpPr>
          <p:nvPr>
            <p:ph type="subTitle" idx="4294967295"/>
          </p:nvPr>
        </p:nvSpPr>
        <p:spPr>
          <a:xfrm>
            <a:off x="250825" y="260350"/>
            <a:ext cx="2881313" cy="381000"/>
          </a:xfrm>
          <a:ln/>
        </p:spPr>
        <p:txBody>
          <a:bodyPr vert="horz" wrap="square" lIns="91440" tIns="45720" rIns="91440" bIns="45720" anchor="t" anchorCtr="0"/>
          <a:lstStyle>
            <a:lvl1pPr marL="0" lvl="0" indent="0" algn="ctr">
              <a:buClr>
                <a:schemeClr val="hlink"/>
              </a:buClr>
              <a:buSzTx/>
              <a:buFont typeface="Wingdings" panose="05000000000000000000" pitchFamily="2" charset="2"/>
              <a:buNone/>
              <a:defRPr/>
            </a:lvl1pPr>
            <a:lvl2pPr marL="457200" lvl="1" indent="0" algn="ctr">
              <a:buClr>
                <a:schemeClr val="accent1"/>
              </a:buClr>
              <a:buSzTx/>
              <a:buFont typeface="Wingdings" panose="05000000000000000000" pitchFamily="2" charset="2"/>
              <a:buNone/>
              <a:defRPr/>
            </a:lvl2pPr>
            <a:lvl3pPr marL="914400" lvl="2" indent="0" algn="ctr">
              <a:buClr>
                <a:schemeClr val="tx1"/>
              </a:buClr>
              <a:buSzTx/>
              <a:buFont typeface="Wingdings" panose="05000000000000000000" pitchFamily="2" charset="2"/>
              <a:buNone/>
              <a:defRPr/>
            </a:lvl3pPr>
            <a:lvl4pPr marL="1371600" lvl="3" indent="0" algn="ctr">
              <a:buClrTx/>
              <a:buSzTx/>
              <a:buFont typeface="Wingdings" panose="05000000000000000000" pitchFamily="2" charset="2"/>
              <a:buNone/>
              <a:defRPr/>
            </a:lvl4pPr>
            <a:lvl5pPr marL="1828800" lvl="4" indent="0" algn="ctr">
              <a:buClrTx/>
              <a:buSzTx/>
              <a:buFont typeface="Wingdings" panose="05000000000000000000" pitchFamily="2" charset="2"/>
              <a:buNone/>
              <a:defRPr/>
            </a:lvl5pPr>
          </a:lstStyle>
          <a:p>
            <a:pPr lvl="0" eaLnBrk="1" hangingPunct="1"/>
            <a:r>
              <a:rPr lang="zh-CN" altLang="en-US" sz="1800" dirty="0">
                <a:solidFill>
                  <a:srgbClr val="D27D00"/>
                </a:solidFill>
                <a:ea typeface="宋体" panose="02010600030101010101" pitchFamily="2" charset="-122"/>
              </a:rPr>
              <a:t>大气科学学院本科课程</a:t>
            </a:r>
            <a:endParaRPr lang="zh-CN" altLang="en-US" sz="1800" dirty="0">
              <a:solidFill>
                <a:srgbClr val="D27D00"/>
              </a:solidFill>
              <a:ea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a:spLocks noGrp="1"/>
          </p:cNvSpPr>
          <p:nvPr>
            <p:ph type="ctrTitle"/>
          </p:nvPr>
        </p:nvSpPr>
        <p:spPr>
          <a:xfrm>
            <a:off x="1500188" y="0"/>
            <a:ext cx="7643812" cy="865188"/>
          </a:xfrm>
          <a:ln/>
        </p:spPr>
        <p:txBody>
          <a:bodyPr vert="horz" wrap="square" lIns="91440" tIns="45720" rIns="91440" bIns="45720" anchor="b" anchorCtr="0"/>
          <a:p>
            <a:pPr>
              <a:buClrTx/>
              <a:buSzTx/>
              <a:buFontTx/>
            </a:pPr>
            <a:r>
              <a:rPr lang="en-US" altLang="zh-CN" sz="4000" dirty="0">
                <a:solidFill>
                  <a:srgbClr val="FFFF00"/>
                </a:solidFill>
                <a:latin typeface="Times New Roman" panose="02020603050405020304" pitchFamily="18" charset="0"/>
              </a:rPr>
              <a:t>            5.2  </a:t>
            </a:r>
            <a:r>
              <a:rPr lang="zh-CN" altLang="en-US" sz="4000" dirty="0">
                <a:solidFill>
                  <a:srgbClr val="FFFF00"/>
                </a:solidFill>
                <a:latin typeface="Times New Roman" panose="02020603050405020304" pitchFamily="18" charset="0"/>
              </a:rPr>
              <a:t>辐射的物理规律</a:t>
            </a:r>
            <a:endParaRPr lang="zh-CN" altLang="en-US" sz="4000" dirty="0">
              <a:solidFill>
                <a:srgbClr val="FFFF00"/>
              </a:solidFill>
              <a:latin typeface="Times New Roman" panose="02020603050405020304" pitchFamily="18" charset="0"/>
            </a:endParaRPr>
          </a:p>
        </p:txBody>
      </p:sp>
      <p:sp>
        <p:nvSpPr>
          <p:cNvPr id="5123" name="Rectangle 3"/>
          <p:cNvSpPr/>
          <p:nvPr/>
        </p:nvSpPr>
        <p:spPr>
          <a:xfrm>
            <a:off x="1047750" y="2133600"/>
            <a:ext cx="7810500" cy="355282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457200" lvl="0" indent="-457200" eaLnBrk="1" hangingPunct="1">
              <a:buClr>
                <a:schemeClr val="tx1"/>
              </a:buClr>
              <a:buSzPct val="80000"/>
              <a:buFont typeface="Arial" panose="020B0604020202020204" pitchFamily="34" charset="0"/>
              <a:buNone/>
            </a:pPr>
            <a:r>
              <a:rPr lang="en-US" altLang="zh-CN" sz="3600" dirty="0">
                <a:solidFill>
                  <a:srgbClr val="0000FF"/>
                </a:solidFill>
                <a:latin typeface="Arial" panose="020B0604020202020204" pitchFamily="34" charset="0"/>
                <a:ea typeface="楷体_GB2312" pitchFamily="49" charset="-122"/>
              </a:rPr>
              <a:t>1. </a:t>
            </a:r>
            <a:r>
              <a:rPr lang="zh-CN" altLang="en-US" sz="3600" dirty="0">
                <a:solidFill>
                  <a:srgbClr val="0000FF"/>
                </a:solidFill>
                <a:latin typeface="Arial" panose="020B0604020202020204" pitchFamily="34" charset="0"/>
                <a:ea typeface="楷体_GB2312" pitchFamily="49" charset="-122"/>
              </a:rPr>
              <a:t>吸收率、反射率和透射率</a:t>
            </a:r>
            <a:endParaRPr lang="zh-CN" altLang="en-US" sz="3600" dirty="0">
              <a:solidFill>
                <a:srgbClr val="0000FF"/>
              </a:solidFill>
              <a:latin typeface="Arial" panose="020B0604020202020204" pitchFamily="34" charset="0"/>
              <a:ea typeface="楷体_GB2312" pitchFamily="49" charset="-122"/>
            </a:endParaRPr>
          </a:p>
          <a:p>
            <a:pPr marL="457200" lvl="0" indent="-457200" eaLnBrk="1" hangingPunct="1">
              <a:buClr>
                <a:schemeClr val="tx1"/>
              </a:buClr>
              <a:buSzPct val="80000"/>
              <a:buFont typeface="Wingdings 2" pitchFamily="18" charset="2"/>
              <a:buNone/>
            </a:pPr>
            <a:endParaRPr lang="zh-CN" altLang="en-US" sz="3600" dirty="0">
              <a:solidFill>
                <a:srgbClr val="0000FF"/>
              </a:solidFill>
              <a:latin typeface="Arial" panose="020B0604020202020204" pitchFamily="34" charset="0"/>
              <a:ea typeface="楷体_GB2312" pitchFamily="49" charset="-122"/>
            </a:endParaRPr>
          </a:p>
          <a:p>
            <a:pPr marL="457200" lvl="0" indent="-457200" eaLnBrk="1" hangingPunct="1">
              <a:buClr>
                <a:schemeClr val="tx1"/>
              </a:buClr>
              <a:buSzPct val="80000"/>
              <a:buFont typeface="Arial" panose="020B0604020202020204" pitchFamily="34" charset="0"/>
              <a:buNone/>
            </a:pPr>
            <a:r>
              <a:rPr lang="en-US" altLang="zh-CN" sz="3600" dirty="0">
                <a:solidFill>
                  <a:srgbClr val="0000FF"/>
                </a:solidFill>
                <a:latin typeface="Arial" panose="020B0604020202020204" pitchFamily="34" charset="0"/>
                <a:ea typeface="楷体_GB2312" pitchFamily="49" charset="-122"/>
              </a:rPr>
              <a:t>2. </a:t>
            </a:r>
            <a:r>
              <a:rPr lang="zh-CN" altLang="en-US" sz="3600" dirty="0">
                <a:solidFill>
                  <a:srgbClr val="0000FF"/>
                </a:solidFill>
                <a:latin typeface="Arial" panose="020B0604020202020204" pitchFamily="34" charset="0"/>
                <a:ea typeface="楷体_GB2312" pitchFamily="49" charset="-122"/>
              </a:rPr>
              <a:t>平衡辐射的基本规律</a:t>
            </a:r>
            <a:endParaRPr lang="zh-CN" altLang="en-US" sz="3600" dirty="0">
              <a:solidFill>
                <a:srgbClr val="0000FF"/>
              </a:solidFill>
              <a:latin typeface="Arial" panose="020B0604020202020204" pitchFamily="34" charset="0"/>
              <a:ea typeface="楷体_GB2312" pitchFamily="49" charset="-122"/>
            </a:endParaRPr>
          </a:p>
          <a:p>
            <a:pPr marL="457200" lvl="0" indent="-457200" eaLnBrk="1" hangingPunct="1">
              <a:buClr>
                <a:schemeClr val="tx1"/>
              </a:buClr>
              <a:buSzPct val="80000"/>
              <a:buFont typeface="Wingdings 2" pitchFamily="18" charset="2"/>
              <a:buAutoNum type="arabicPeriod" startAt="2"/>
            </a:pPr>
            <a:endParaRPr lang="zh-CN" altLang="en-US" sz="3600" dirty="0">
              <a:solidFill>
                <a:srgbClr val="0000FF"/>
              </a:solidFill>
              <a:latin typeface="Arial" panose="020B0604020202020204" pitchFamily="34" charset="0"/>
              <a:ea typeface="楷体_GB2312" pitchFamily="49" charset="-122"/>
            </a:endParaRPr>
          </a:p>
          <a:p>
            <a:pPr marL="457200" lvl="0" indent="-457200" eaLnBrk="1" hangingPunct="1">
              <a:buClr>
                <a:schemeClr val="tx1"/>
              </a:buClr>
              <a:buSzPct val="80000"/>
              <a:buFont typeface="Wingdings 2" pitchFamily="18" charset="2"/>
              <a:buNone/>
            </a:pPr>
            <a:r>
              <a:rPr lang="en-US" altLang="zh-CN" sz="3600" dirty="0">
                <a:solidFill>
                  <a:srgbClr val="0000FF"/>
                </a:solidFill>
                <a:latin typeface="Arial" panose="020B0604020202020204" pitchFamily="34" charset="0"/>
                <a:ea typeface="楷体_GB2312" pitchFamily="49" charset="-122"/>
              </a:rPr>
              <a:t>3. </a:t>
            </a:r>
            <a:r>
              <a:rPr lang="zh-CN" altLang="en-US" sz="3600" dirty="0">
                <a:solidFill>
                  <a:srgbClr val="0000FF"/>
                </a:solidFill>
                <a:latin typeface="Arial" panose="020B0604020202020204" pitchFamily="34" charset="0"/>
                <a:ea typeface="楷体_GB2312" pitchFamily="49" charset="-122"/>
              </a:rPr>
              <a:t>太阳辐射和地球辐射的区别</a:t>
            </a:r>
            <a:endParaRPr lang="zh-CN" altLang="en-US" sz="3600" dirty="0">
              <a:solidFill>
                <a:srgbClr val="0000FF"/>
              </a:solidFill>
              <a:latin typeface="Arial" panose="020B0604020202020204" pitchFamily="34" charset="0"/>
              <a:ea typeface="楷体_GB2312" pitchFamily="49"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Grp="1"/>
          </p:cNvSpPr>
          <p:nvPr>
            <p:ph idx="1"/>
          </p:nvPr>
        </p:nvSpPr>
        <p:spPr>
          <a:xfrm>
            <a:off x="428625" y="1357313"/>
            <a:ext cx="8229600" cy="4405312"/>
          </a:xfrm>
          <a:ln/>
        </p:spPr>
        <p:txBody>
          <a:bodyPr vert="horz" wrap="square" lIns="91440" tIns="45720" rIns="91440" bIns="45720" anchor="t" anchorCtr="0"/>
          <a:p>
            <a:pPr>
              <a:spcBef>
                <a:spcPct val="25000"/>
              </a:spcBef>
              <a:spcAft>
                <a:spcPct val="25000"/>
              </a:spcAft>
              <a:buClr>
                <a:srgbClr val="0066CC"/>
              </a:buClr>
            </a:pPr>
            <a:r>
              <a:rPr lang="zh-CN" altLang="en-US" dirty="0">
                <a:solidFill>
                  <a:srgbClr val="0000FF"/>
                </a:solidFill>
                <a:latin typeface="Times New Roman" panose="02020603050405020304" pitchFamily="18" charset="0"/>
                <a:ea typeface="楷体_GB2312" pitchFamily="49" charset="-122"/>
              </a:rPr>
              <a:t>  能量守恒</a:t>
            </a:r>
            <a:endParaRPr lang="zh-CN" altLang="en-US" dirty="0">
              <a:solidFill>
                <a:srgbClr val="0000FF"/>
              </a:solidFill>
              <a:latin typeface="Times New Roman" panose="02020603050405020304" pitchFamily="18" charset="0"/>
              <a:ea typeface="楷体_GB2312" pitchFamily="49" charset="-122"/>
            </a:endParaRPr>
          </a:p>
          <a:p>
            <a:pPr>
              <a:lnSpc>
                <a:spcPct val="130000"/>
              </a:lnSpc>
              <a:spcBef>
                <a:spcPct val="0"/>
              </a:spcBef>
              <a:buClr>
                <a:srgbClr val="0066CC"/>
              </a:buClr>
            </a:pPr>
            <a:r>
              <a:rPr lang="en-US" altLang="zh-CN" i="1" dirty="0">
                <a:solidFill>
                  <a:srgbClr val="0000FF"/>
                </a:solidFill>
                <a:latin typeface="Times New Roman" panose="02020603050405020304" pitchFamily="18" charset="0"/>
                <a:ea typeface="楷体_GB2312" pitchFamily="49" charset="-122"/>
              </a:rPr>
              <a:t>  Q</a:t>
            </a:r>
            <a:r>
              <a:rPr lang="en-US" altLang="zh-CN" baseline="-30000" dirty="0">
                <a:solidFill>
                  <a:srgbClr val="0000FF"/>
                </a:solidFill>
                <a:latin typeface="Times New Roman" panose="02020603050405020304" pitchFamily="18" charset="0"/>
                <a:ea typeface="楷体_GB2312" pitchFamily="49" charset="-122"/>
              </a:rPr>
              <a:t>0</a:t>
            </a:r>
            <a:r>
              <a:rPr lang="en-US" altLang="zh-CN" dirty="0">
                <a:solidFill>
                  <a:srgbClr val="0000FF"/>
                </a:solidFill>
                <a:latin typeface="Times New Roman" panose="02020603050405020304" pitchFamily="18" charset="0"/>
                <a:ea typeface="楷体_GB2312" pitchFamily="49" charset="-122"/>
              </a:rPr>
              <a:t> =</a:t>
            </a:r>
            <a:r>
              <a:rPr lang="en-US" altLang="zh-CN" i="1" dirty="0">
                <a:solidFill>
                  <a:srgbClr val="0000FF"/>
                </a:solidFill>
                <a:latin typeface="Times New Roman" panose="02020603050405020304" pitchFamily="18" charset="0"/>
                <a:ea typeface="楷体_GB2312" pitchFamily="49" charset="-122"/>
              </a:rPr>
              <a:t> Q</a:t>
            </a:r>
            <a:r>
              <a:rPr lang="en-US" altLang="zh-CN" baseline="-30000" dirty="0">
                <a:solidFill>
                  <a:srgbClr val="0000FF"/>
                </a:solidFill>
                <a:latin typeface="Times New Roman" panose="02020603050405020304" pitchFamily="18" charset="0"/>
                <a:ea typeface="楷体_GB2312" pitchFamily="49" charset="-122"/>
              </a:rPr>
              <a:t>a</a:t>
            </a:r>
            <a:r>
              <a:rPr lang="en-US" altLang="zh-CN" dirty="0">
                <a:solidFill>
                  <a:srgbClr val="0000FF"/>
                </a:solidFill>
                <a:latin typeface="Times New Roman" panose="02020603050405020304" pitchFamily="18" charset="0"/>
                <a:ea typeface="楷体_GB2312" pitchFamily="49" charset="-122"/>
              </a:rPr>
              <a:t> </a:t>
            </a:r>
            <a:r>
              <a:rPr lang="en-US" altLang="zh-CN" i="1" dirty="0">
                <a:solidFill>
                  <a:srgbClr val="0000FF"/>
                </a:solidFill>
                <a:latin typeface="Times New Roman" panose="02020603050405020304" pitchFamily="18" charset="0"/>
                <a:ea typeface="楷体_GB2312" pitchFamily="49" charset="-122"/>
              </a:rPr>
              <a:t>+ Q</a:t>
            </a:r>
            <a:r>
              <a:rPr lang="en-US" altLang="zh-CN" baseline="-30000" dirty="0">
                <a:solidFill>
                  <a:srgbClr val="0000FF"/>
                </a:solidFill>
                <a:latin typeface="Times New Roman" panose="02020603050405020304" pitchFamily="18" charset="0"/>
                <a:ea typeface="楷体_GB2312" pitchFamily="49" charset="-122"/>
              </a:rPr>
              <a:t>r</a:t>
            </a:r>
            <a:r>
              <a:rPr lang="en-US" altLang="zh-CN" i="1" baseline="-30000" dirty="0">
                <a:solidFill>
                  <a:srgbClr val="0000FF"/>
                </a:solidFill>
                <a:latin typeface="Times New Roman" panose="02020603050405020304" pitchFamily="18" charset="0"/>
                <a:ea typeface="楷体_GB2312" pitchFamily="49" charset="-122"/>
              </a:rPr>
              <a:t> </a:t>
            </a:r>
            <a:r>
              <a:rPr lang="en-US" altLang="zh-CN" i="1" dirty="0">
                <a:solidFill>
                  <a:srgbClr val="0000FF"/>
                </a:solidFill>
                <a:latin typeface="Times New Roman" panose="02020603050405020304" pitchFamily="18" charset="0"/>
                <a:ea typeface="楷体_GB2312" pitchFamily="49" charset="-122"/>
              </a:rPr>
              <a:t>+ Q</a:t>
            </a:r>
            <a:r>
              <a:rPr lang="en-US" altLang="zh-CN" baseline="-30000" dirty="0">
                <a:solidFill>
                  <a:srgbClr val="0000FF"/>
                </a:solidFill>
                <a:latin typeface="Times New Roman" panose="02020603050405020304" pitchFamily="18" charset="0"/>
                <a:ea typeface="楷体_GB2312" pitchFamily="49" charset="-122"/>
              </a:rPr>
              <a:t>t</a:t>
            </a:r>
            <a:r>
              <a:rPr lang="en-US" altLang="zh-CN" dirty="0">
                <a:solidFill>
                  <a:srgbClr val="0000FF"/>
                </a:solidFill>
                <a:latin typeface="Times New Roman" panose="02020603050405020304" pitchFamily="18" charset="0"/>
                <a:ea typeface="楷体_GB2312" pitchFamily="49" charset="-122"/>
              </a:rPr>
              <a:t> </a:t>
            </a:r>
            <a:endParaRPr lang="en-US" altLang="zh-CN" dirty="0">
              <a:solidFill>
                <a:srgbClr val="0000FF"/>
              </a:solidFill>
              <a:latin typeface="Times New Roman" panose="02020603050405020304" pitchFamily="18" charset="0"/>
              <a:ea typeface="楷体_GB2312" pitchFamily="49" charset="-122"/>
            </a:endParaRPr>
          </a:p>
          <a:p>
            <a:pPr lvl="1">
              <a:lnSpc>
                <a:spcPct val="130000"/>
              </a:lnSpc>
              <a:spcBef>
                <a:spcPct val="0"/>
              </a:spcBef>
              <a:buClr>
                <a:srgbClr val="0066CC"/>
              </a:buClr>
              <a:buFontTx/>
              <a:buChar char="•"/>
            </a:pPr>
            <a:r>
              <a:rPr lang="zh-CN" altLang="en-US" dirty="0">
                <a:solidFill>
                  <a:srgbClr val="FF3300"/>
                </a:solidFill>
                <a:latin typeface="Times New Roman" panose="02020603050405020304" pitchFamily="18" charset="0"/>
                <a:ea typeface="楷体_GB2312" pitchFamily="49" charset="-122"/>
              </a:rPr>
              <a:t>吸收</a:t>
            </a:r>
            <a:r>
              <a:rPr lang="zh-CN" altLang="en-US" dirty="0">
                <a:solidFill>
                  <a:srgbClr val="0000FF"/>
                </a:solidFill>
                <a:latin typeface="Times New Roman" panose="02020603050405020304" pitchFamily="18" charset="0"/>
                <a:ea typeface="楷体_GB2312" pitchFamily="49" charset="-122"/>
              </a:rPr>
              <a:t>率</a:t>
            </a:r>
            <a:r>
              <a:rPr lang="en-US" altLang="zh-CN" i="1" dirty="0">
                <a:solidFill>
                  <a:srgbClr val="0000FF"/>
                </a:solidFill>
                <a:latin typeface="Times New Roman" panose="02020603050405020304" pitchFamily="18" charset="0"/>
                <a:ea typeface="楷体_GB2312" pitchFamily="49" charset="-122"/>
              </a:rPr>
              <a:t>A </a:t>
            </a:r>
            <a:r>
              <a:rPr lang="en-US" altLang="zh-CN" dirty="0">
                <a:solidFill>
                  <a:srgbClr val="0000FF"/>
                </a:solidFill>
                <a:latin typeface="Times New Roman" panose="02020603050405020304" pitchFamily="18" charset="0"/>
                <a:ea typeface="楷体_GB2312" pitchFamily="49" charset="-122"/>
              </a:rPr>
              <a:t>=</a:t>
            </a:r>
            <a:r>
              <a:rPr lang="en-US" altLang="zh-CN" i="1" dirty="0">
                <a:solidFill>
                  <a:srgbClr val="0000FF"/>
                </a:solidFill>
                <a:latin typeface="Times New Roman" panose="02020603050405020304" pitchFamily="18" charset="0"/>
                <a:ea typeface="楷体_GB2312" pitchFamily="49" charset="-122"/>
              </a:rPr>
              <a:t> Q</a:t>
            </a:r>
            <a:r>
              <a:rPr lang="en-US" altLang="zh-CN" baseline="-30000" dirty="0">
                <a:solidFill>
                  <a:srgbClr val="0000FF"/>
                </a:solidFill>
                <a:latin typeface="Times New Roman" panose="02020603050405020304" pitchFamily="18" charset="0"/>
                <a:ea typeface="楷体_GB2312" pitchFamily="49" charset="-122"/>
              </a:rPr>
              <a:t>a</a:t>
            </a:r>
            <a:r>
              <a:rPr lang="en-US" altLang="zh-CN" dirty="0">
                <a:solidFill>
                  <a:srgbClr val="0000FF"/>
                </a:solidFill>
                <a:latin typeface="Times New Roman" panose="02020603050405020304" pitchFamily="18" charset="0"/>
                <a:ea typeface="楷体_GB2312" pitchFamily="49" charset="-122"/>
              </a:rPr>
              <a:t> / </a:t>
            </a:r>
            <a:r>
              <a:rPr lang="en-US" altLang="zh-CN" i="1" dirty="0">
                <a:solidFill>
                  <a:srgbClr val="0000FF"/>
                </a:solidFill>
                <a:latin typeface="Times New Roman" panose="02020603050405020304" pitchFamily="18" charset="0"/>
                <a:ea typeface="楷体_GB2312" pitchFamily="49" charset="-122"/>
              </a:rPr>
              <a:t>Q</a:t>
            </a:r>
            <a:r>
              <a:rPr lang="en-US" altLang="zh-CN" baseline="-30000" dirty="0">
                <a:solidFill>
                  <a:srgbClr val="0000FF"/>
                </a:solidFill>
                <a:latin typeface="Times New Roman" panose="02020603050405020304" pitchFamily="18" charset="0"/>
                <a:ea typeface="楷体_GB2312" pitchFamily="49" charset="-122"/>
              </a:rPr>
              <a:t>0</a:t>
            </a:r>
            <a:endParaRPr lang="en-US" altLang="zh-CN" baseline="-30000" dirty="0">
              <a:solidFill>
                <a:srgbClr val="0000FF"/>
              </a:solidFill>
              <a:latin typeface="Times New Roman" panose="02020603050405020304" pitchFamily="18" charset="0"/>
              <a:ea typeface="楷体_GB2312" pitchFamily="49" charset="-122"/>
            </a:endParaRPr>
          </a:p>
          <a:p>
            <a:pPr lvl="1">
              <a:lnSpc>
                <a:spcPct val="130000"/>
              </a:lnSpc>
              <a:spcBef>
                <a:spcPct val="0"/>
              </a:spcBef>
              <a:buClr>
                <a:srgbClr val="0066CC"/>
              </a:buClr>
              <a:buFontTx/>
              <a:buChar char="•"/>
            </a:pPr>
            <a:r>
              <a:rPr lang="zh-CN" altLang="en-US" dirty="0">
                <a:solidFill>
                  <a:srgbClr val="FF3300"/>
                </a:solidFill>
                <a:latin typeface="Times New Roman" panose="02020603050405020304" pitchFamily="18" charset="0"/>
                <a:ea typeface="楷体_GB2312" pitchFamily="49" charset="-122"/>
              </a:rPr>
              <a:t>反射</a:t>
            </a:r>
            <a:r>
              <a:rPr lang="zh-CN" altLang="en-US" dirty="0">
                <a:solidFill>
                  <a:srgbClr val="0000FF"/>
                </a:solidFill>
                <a:latin typeface="Times New Roman" panose="02020603050405020304" pitchFamily="18" charset="0"/>
                <a:ea typeface="楷体_GB2312" pitchFamily="49" charset="-122"/>
              </a:rPr>
              <a:t>率</a:t>
            </a:r>
            <a:r>
              <a:rPr lang="en-US" altLang="zh-CN" i="1" dirty="0">
                <a:solidFill>
                  <a:srgbClr val="0000FF"/>
                </a:solidFill>
                <a:latin typeface="Times New Roman" panose="02020603050405020304" pitchFamily="18" charset="0"/>
                <a:ea typeface="楷体_GB2312" pitchFamily="49" charset="-122"/>
              </a:rPr>
              <a:t>R</a:t>
            </a:r>
            <a:r>
              <a:rPr lang="en-US" altLang="zh-CN" dirty="0">
                <a:solidFill>
                  <a:srgbClr val="0000FF"/>
                </a:solidFill>
                <a:latin typeface="Times New Roman" panose="02020603050405020304" pitchFamily="18" charset="0"/>
                <a:ea typeface="楷体_GB2312" pitchFamily="49" charset="-122"/>
              </a:rPr>
              <a:t> =</a:t>
            </a:r>
            <a:r>
              <a:rPr lang="en-US" altLang="zh-CN" i="1" dirty="0">
                <a:solidFill>
                  <a:srgbClr val="0000FF"/>
                </a:solidFill>
                <a:latin typeface="Times New Roman" panose="02020603050405020304" pitchFamily="18" charset="0"/>
                <a:ea typeface="楷体_GB2312" pitchFamily="49" charset="-122"/>
              </a:rPr>
              <a:t> Q</a:t>
            </a:r>
            <a:r>
              <a:rPr lang="en-US" altLang="zh-CN" baseline="-30000" dirty="0">
                <a:solidFill>
                  <a:srgbClr val="0000FF"/>
                </a:solidFill>
                <a:latin typeface="Times New Roman" panose="02020603050405020304" pitchFamily="18" charset="0"/>
                <a:ea typeface="楷体_GB2312" pitchFamily="49" charset="-122"/>
              </a:rPr>
              <a:t>r</a:t>
            </a:r>
            <a:r>
              <a:rPr lang="en-US" altLang="zh-CN" dirty="0">
                <a:solidFill>
                  <a:srgbClr val="0000FF"/>
                </a:solidFill>
                <a:latin typeface="Times New Roman" panose="02020603050405020304" pitchFamily="18" charset="0"/>
                <a:ea typeface="楷体_GB2312" pitchFamily="49" charset="-122"/>
              </a:rPr>
              <a:t> / </a:t>
            </a:r>
            <a:r>
              <a:rPr lang="en-US" altLang="zh-CN" i="1" dirty="0">
                <a:solidFill>
                  <a:srgbClr val="0000FF"/>
                </a:solidFill>
                <a:latin typeface="Times New Roman" panose="02020603050405020304" pitchFamily="18" charset="0"/>
                <a:ea typeface="楷体_GB2312" pitchFamily="49" charset="-122"/>
              </a:rPr>
              <a:t>Q</a:t>
            </a:r>
            <a:r>
              <a:rPr lang="en-US" altLang="zh-CN" baseline="-30000" dirty="0">
                <a:solidFill>
                  <a:srgbClr val="0000FF"/>
                </a:solidFill>
                <a:latin typeface="Times New Roman" panose="02020603050405020304" pitchFamily="18" charset="0"/>
                <a:ea typeface="楷体_GB2312" pitchFamily="49" charset="-122"/>
              </a:rPr>
              <a:t>0</a:t>
            </a:r>
            <a:endParaRPr lang="en-US" altLang="zh-CN" baseline="-30000" dirty="0">
              <a:solidFill>
                <a:srgbClr val="0000FF"/>
              </a:solidFill>
              <a:latin typeface="Times New Roman" panose="02020603050405020304" pitchFamily="18" charset="0"/>
              <a:ea typeface="楷体_GB2312" pitchFamily="49" charset="-122"/>
            </a:endParaRPr>
          </a:p>
          <a:p>
            <a:pPr lvl="1">
              <a:lnSpc>
                <a:spcPct val="130000"/>
              </a:lnSpc>
              <a:spcBef>
                <a:spcPct val="0"/>
              </a:spcBef>
              <a:buClr>
                <a:srgbClr val="0066CC"/>
              </a:buClr>
              <a:buFontTx/>
              <a:buChar char="•"/>
            </a:pPr>
            <a:r>
              <a:rPr lang="zh-CN" altLang="en-US" dirty="0">
                <a:solidFill>
                  <a:srgbClr val="FF3300"/>
                </a:solidFill>
                <a:latin typeface="Times New Roman" panose="02020603050405020304" pitchFamily="18" charset="0"/>
                <a:ea typeface="楷体_GB2312" pitchFamily="49" charset="-122"/>
              </a:rPr>
              <a:t>透射</a:t>
            </a:r>
            <a:r>
              <a:rPr lang="zh-CN" altLang="en-US" dirty="0">
                <a:solidFill>
                  <a:srgbClr val="0000FF"/>
                </a:solidFill>
                <a:latin typeface="Times New Roman" panose="02020603050405020304" pitchFamily="18" charset="0"/>
                <a:ea typeface="楷体_GB2312" pitchFamily="49" charset="-122"/>
              </a:rPr>
              <a:t>率</a:t>
            </a:r>
            <a:r>
              <a:rPr lang="zh-CN" altLang="en-US" i="1" dirty="0">
                <a:solidFill>
                  <a:srgbClr val="0000FF"/>
                </a:solidFill>
                <a:latin typeface="Times New Roman" panose="02020603050405020304" pitchFamily="18" charset="0"/>
                <a:ea typeface="楷体_GB2312" pitchFamily="49" charset="-122"/>
                <a:sym typeface="Symbol" panose="05050102010706020507" pitchFamily="18" charset="2"/>
              </a:rPr>
              <a:t></a:t>
            </a:r>
            <a:r>
              <a:rPr lang="zh-CN" altLang="en-US" i="1" dirty="0">
                <a:solidFill>
                  <a:srgbClr val="0000FF"/>
                </a:solidFill>
                <a:latin typeface="Times New Roman" panose="02020603050405020304" pitchFamily="18" charset="0"/>
                <a:ea typeface="楷体_GB2312" pitchFamily="49" charset="-122"/>
              </a:rPr>
              <a:t> </a:t>
            </a:r>
            <a:r>
              <a:rPr lang="en-US" altLang="zh-CN" dirty="0">
                <a:solidFill>
                  <a:srgbClr val="0000FF"/>
                </a:solidFill>
                <a:latin typeface="Times New Roman" panose="02020603050405020304" pitchFamily="18" charset="0"/>
                <a:ea typeface="楷体_GB2312" pitchFamily="49" charset="-122"/>
              </a:rPr>
              <a:t>= </a:t>
            </a:r>
            <a:r>
              <a:rPr lang="en-US" altLang="zh-CN" i="1" dirty="0">
                <a:solidFill>
                  <a:srgbClr val="0000FF"/>
                </a:solidFill>
                <a:latin typeface="Times New Roman" panose="02020603050405020304" pitchFamily="18" charset="0"/>
                <a:ea typeface="楷体_GB2312" pitchFamily="49" charset="-122"/>
              </a:rPr>
              <a:t>Q</a:t>
            </a:r>
            <a:r>
              <a:rPr lang="en-US" altLang="zh-CN" baseline="-30000" dirty="0">
                <a:solidFill>
                  <a:srgbClr val="0000FF"/>
                </a:solidFill>
                <a:latin typeface="Times New Roman" panose="02020603050405020304" pitchFamily="18" charset="0"/>
                <a:ea typeface="楷体_GB2312" pitchFamily="49" charset="-122"/>
              </a:rPr>
              <a:t>t </a:t>
            </a:r>
            <a:r>
              <a:rPr lang="en-US" altLang="zh-CN" dirty="0">
                <a:solidFill>
                  <a:srgbClr val="0000FF"/>
                </a:solidFill>
                <a:latin typeface="Times New Roman" panose="02020603050405020304" pitchFamily="18" charset="0"/>
                <a:ea typeface="楷体_GB2312" pitchFamily="49" charset="-122"/>
              </a:rPr>
              <a:t>/</a:t>
            </a:r>
            <a:r>
              <a:rPr lang="en-US" altLang="zh-CN" i="1" dirty="0">
                <a:solidFill>
                  <a:srgbClr val="0000FF"/>
                </a:solidFill>
                <a:latin typeface="Times New Roman" panose="02020603050405020304" pitchFamily="18" charset="0"/>
                <a:ea typeface="楷体_GB2312" pitchFamily="49" charset="-122"/>
              </a:rPr>
              <a:t> Q</a:t>
            </a:r>
            <a:r>
              <a:rPr lang="en-US" altLang="zh-CN" baseline="-30000" dirty="0">
                <a:solidFill>
                  <a:srgbClr val="0000FF"/>
                </a:solidFill>
                <a:latin typeface="Times New Roman" panose="02020603050405020304" pitchFamily="18" charset="0"/>
                <a:ea typeface="楷体_GB2312" pitchFamily="49" charset="-122"/>
              </a:rPr>
              <a:t>0</a:t>
            </a:r>
            <a:endParaRPr lang="en-US" altLang="zh-CN" dirty="0">
              <a:solidFill>
                <a:srgbClr val="0000FF"/>
              </a:solidFill>
              <a:latin typeface="Times New Roman" panose="02020603050405020304" pitchFamily="18" charset="0"/>
              <a:ea typeface="楷体_GB2312" pitchFamily="49" charset="-122"/>
            </a:endParaRPr>
          </a:p>
          <a:p>
            <a:pPr lvl="1">
              <a:lnSpc>
                <a:spcPct val="130000"/>
              </a:lnSpc>
              <a:spcBef>
                <a:spcPct val="0"/>
              </a:spcBef>
              <a:buClr>
                <a:srgbClr val="0066CC"/>
              </a:buClr>
              <a:buNone/>
            </a:pPr>
            <a:r>
              <a:rPr lang="en-US" altLang="zh-CN" dirty="0">
                <a:solidFill>
                  <a:srgbClr val="0000FF"/>
                </a:solidFill>
                <a:latin typeface="Times New Roman" panose="02020603050405020304" pitchFamily="18" charset="0"/>
                <a:ea typeface="楷体_GB2312" pitchFamily="49" charset="-122"/>
              </a:rPr>
              <a:t>   (</a:t>
            </a:r>
            <a:r>
              <a:rPr lang="zh-CN" altLang="en-US" dirty="0">
                <a:solidFill>
                  <a:srgbClr val="0000FF"/>
                </a:solidFill>
                <a:latin typeface="Times New Roman" panose="02020603050405020304" pitchFamily="18" charset="0"/>
                <a:ea typeface="楷体_GB2312" pitchFamily="49" charset="-122"/>
              </a:rPr>
              <a:t>透过率</a:t>
            </a:r>
            <a:r>
              <a:rPr lang="en-US" altLang="zh-CN" dirty="0">
                <a:solidFill>
                  <a:srgbClr val="0000FF"/>
                </a:solidFill>
                <a:latin typeface="Times New Roman" panose="02020603050405020304" pitchFamily="18" charset="0"/>
                <a:ea typeface="楷体_GB2312" pitchFamily="49" charset="-122"/>
              </a:rPr>
              <a:t>)</a:t>
            </a:r>
            <a:endParaRPr lang="en-US" altLang="zh-CN" i="1" dirty="0">
              <a:solidFill>
                <a:srgbClr val="0000FF"/>
              </a:solidFill>
              <a:latin typeface="Times New Roman" panose="02020603050405020304" pitchFamily="18" charset="0"/>
              <a:ea typeface="楷体_GB2312" pitchFamily="49" charset="-122"/>
            </a:endParaRPr>
          </a:p>
          <a:p>
            <a:pPr lvl="1">
              <a:lnSpc>
                <a:spcPct val="130000"/>
              </a:lnSpc>
              <a:spcBef>
                <a:spcPct val="0"/>
              </a:spcBef>
              <a:buClr>
                <a:srgbClr val="0066CC"/>
              </a:buClr>
              <a:buFontTx/>
              <a:buChar char="•"/>
            </a:pPr>
            <a:r>
              <a:rPr lang="en-US" altLang="zh-CN" i="1" dirty="0">
                <a:solidFill>
                  <a:srgbClr val="0000FF"/>
                </a:solidFill>
                <a:latin typeface="Times New Roman" panose="02020603050405020304" pitchFamily="18" charset="0"/>
                <a:ea typeface="楷体_GB2312" pitchFamily="49" charset="-122"/>
              </a:rPr>
              <a:t>A </a:t>
            </a:r>
            <a:r>
              <a:rPr lang="en-US" altLang="zh-CN" dirty="0">
                <a:solidFill>
                  <a:srgbClr val="0000FF"/>
                </a:solidFill>
                <a:latin typeface="Times New Roman" panose="02020603050405020304" pitchFamily="18" charset="0"/>
                <a:ea typeface="楷体_GB2312" pitchFamily="49" charset="-122"/>
              </a:rPr>
              <a:t>+ </a:t>
            </a:r>
            <a:r>
              <a:rPr lang="en-US" altLang="zh-CN" i="1" dirty="0">
                <a:solidFill>
                  <a:srgbClr val="0000FF"/>
                </a:solidFill>
                <a:latin typeface="Times New Roman" panose="02020603050405020304" pitchFamily="18" charset="0"/>
                <a:ea typeface="楷体_GB2312" pitchFamily="49" charset="-122"/>
              </a:rPr>
              <a:t>R </a:t>
            </a:r>
            <a:r>
              <a:rPr lang="en-US" altLang="zh-CN" dirty="0">
                <a:solidFill>
                  <a:srgbClr val="0000FF"/>
                </a:solidFill>
                <a:latin typeface="Times New Roman" panose="02020603050405020304" pitchFamily="18" charset="0"/>
                <a:ea typeface="楷体_GB2312" pitchFamily="49" charset="-122"/>
              </a:rPr>
              <a:t>+</a:t>
            </a:r>
            <a:r>
              <a:rPr lang="en-US" altLang="zh-CN" i="1" dirty="0">
                <a:solidFill>
                  <a:srgbClr val="0000FF"/>
                </a:solidFill>
                <a:latin typeface="Times New Roman" panose="02020603050405020304" pitchFamily="18" charset="0"/>
                <a:ea typeface="楷体_GB2312" pitchFamily="49" charset="-122"/>
              </a:rPr>
              <a:t> </a:t>
            </a:r>
            <a:r>
              <a:rPr lang="en-US" altLang="zh-CN" i="1" dirty="0">
                <a:solidFill>
                  <a:srgbClr val="0000FF"/>
                </a:solidFill>
                <a:latin typeface="Times New Roman" panose="02020603050405020304" pitchFamily="18" charset="0"/>
                <a:ea typeface="楷体_GB2312" pitchFamily="49" charset="-122"/>
                <a:sym typeface="Symbol" panose="05050102010706020507" pitchFamily="18" charset="2"/>
              </a:rPr>
              <a:t></a:t>
            </a:r>
            <a:r>
              <a:rPr lang="en-US" altLang="zh-CN" i="1" dirty="0">
                <a:solidFill>
                  <a:srgbClr val="0000FF"/>
                </a:solidFill>
                <a:latin typeface="Times New Roman" panose="02020603050405020304" pitchFamily="18" charset="0"/>
                <a:ea typeface="楷体_GB2312" pitchFamily="49" charset="-122"/>
              </a:rPr>
              <a:t> </a:t>
            </a:r>
            <a:r>
              <a:rPr lang="en-US" altLang="zh-CN" dirty="0">
                <a:solidFill>
                  <a:srgbClr val="0000FF"/>
                </a:solidFill>
                <a:latin typeface="Times New Roman" panose="02020603050405020304" pitchFamily="18" charset="0"/>
                <a:ea typeface="楷体_GB2312" pitchFamily="49" charset="-122"/>
              </a:rPr>
              <a:t>= 1 </a:t>
            </a:r>
            <a:endParaRPr lang="en-US" altLang="zh-CN" dirty="0">
              <a:solidFill>
                <a:srgbClr val="0000FF"/>
              </a:solidFill>
              <a:latin typeface="Times New Roman" panose="02020603050405020304" pitchFamily="18" charset="0"/>
              <a:ea typeface="楷体_GB2312" pitchFamily="49" charset="-122"/>
            </a:endParaRPr>
          </a:p>
        </p:txBody>
      </p:sp>
      <p:sp>
        <p:nvSpPr>
          <p:cNvPr id="7171" name="Rectangle 3"/>
          <p:cNvSpPr>
            <a:spLocks noGrp="1"/>
          </p:cNvSpPr>
          <p:nvPr>
            <p:ph type="title"/>
          </p:nvPr>
        </p:nvSpPr>
        <p:spPr>
          <a:xfrm>
            <a:off x="1428750" y="71438"/>
            <a:ext cx="7715250" cy="762000"/>
          </a:xfrm>
          <a:ln/>
        </p:spPr>
        <p:txBody>
          <a:bodyPr vert="horz" wrap="square" lIns="91440" tIns="45720" rIns="91440" bIns="45720" anchor="b" anchorCtr="0"/>
          <a:p>
            <a:pPr algn="ctr"/>
            <a:r>
              <a:rPr lang="zh-CN" altLang="en-US" dirty="0">
                <a:solidFill>
                  <a:srgbClr val="FFFF00"/>
                </a:solidFill>
                <a:latin typeface="Times New Roman" panose="02020603050405020304" pitchFamily="18" charset="0"/>
              </a:rPr>
              <a:t>一   吸收率、反射率和透射率</a:t>
            </a:r>
            <a:endParaRPr lang="zh-CN" altLang="en-US" dirty="0">
              <a:solidFill>
                <a:srgbClr val="FFFF00"/>
              </a:solidFill>
              <a:latin typeface="Times New Roman" panose="02020603050405020304" pitchFamily="18" charset="0"/>
            </a:endParaRPr>
          </a:p>
        </p:txBody>
      </p:sp>
      <p:pic>
        <p:nvPicPr>
          <p:cNvPr id="7172" name="Picture 4" descr="Fig5-3"/>
          <p:cNvPicPr>
            <a:picLocks noChangeAspect="1"/>
          </p:cNvPicPr>
          <p:nvPr/>
        </p:nvPicPr>
        <p:blipFill>
          <a:blip r:embed="rId1"/>
          <a:srcRect l="4361" t="3659" r="2773" b="10976"/>
          <a:stretch>
            <a:fillRect/>
          </a:stretch>
        </p:blipFill>
        <p:spPr>
          <a:xfrm>
            <a:off x="5214938" y="1422400"/>
            <a:ext cx="3357562" cy="3506788"/>
          </a:xfrm>
          <a:prstGeom prst="rect">
            <a:avLst/>
          </a:prstGeom>
          <a:noFill/>
          <a:ln w="9525">
            <a:noFill/>
          </a:ln>
        </p:spPr>
      </p:pic>
      <p:sp>
        <p:nvSpPr>
          <p:cNvPr id="7173" name="矩形 4"/>
          <p:cNvSpPr/>
          <p:nvPr/>
        </p:nvSpPr>
        <p:spPr>
          <a:xfrm>
            <a:off x="285750" y="5567363"/>
            <a:ext cx="9572625" cy="8620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25000"/>
              </a:spcBef>
              <a:spcAft>
                <a:spcPct val="25000"/>
              </a:spcAft>
              <a:buClr>
                <a:srgbClr val="FF6600"/>
              </a:buClr>
              <a:buSzPct val="90000"/>
              <a:buFont typeface="Wingdings" panose="05000000000000000000" pitchFamily="2" charset="2"/>
              <a:buChar char="n"/>
            </a:pPr>
            <a:r>
              <a:rPr lang="zh-CN" altLang="en-US" sz="2000" dirty="0">
                <a:latin typeface="宋体" panose="02010600030101010101" pitchFamily="2" charset="-122"/>
                <a:ea typeface="宋体" panose="02010600030101010101" pitchFamily="2" charset="-122"/>
              </a:rPr>
              <a:t>  对于单色辐射，称为单色吸收率、反射率和透射率，分别记为</a:t>
            </a:r>
            <a:r>
              <a:rPr lang="en-US" altLang="zh-CN" sz="2000" dirty="0">
                <a:latin typeface="宋体" panose="02010600030101010101" pitchFamily="2" charset="-122"/>
                <a:ea typeface="宋体" panose="02010600030101010101" pitchFamily="2" charset="-122"/>
              </a:rPr>
              <a:t>A</a:t>
            </a:r>
            <a:r>
              <a:rPr lang="en-US" altLang="zh-CN" sz="2000" baseline="-25000" dirty="0">
                <a:latin typeface="宋体" panose="02010600030101010101" pitchFamily="2" charset="-122"/>
                <a:ea typeface="宋体" panose="02010600030101010101" pitchFamily="2" charset="-122"/>
              </a:rPr>
              <a:t>λ</a:t>
            </a:r>
            <a:r>
              <a:rPr lang="en-US" altLang="zh-CN" sz="2000" dirty="0">
                <a:latin typeface="宋体" panose="02010600030101010101" pitchFamily="2" charset="-122"/>
                <a:ea typeface="宋体" panose="02010600030101010101" pitchFamily="2" charset="-122"/>
              </a:rPr>
              <a:t>,R</a:t>
            </a:r>
            <a:r>
              <a:rPr lang="en-US" altLang="zh-CN" sz="2000" baseline="-25000" dirty="0">
                <a:latin typeface="宋体" panose="02010600030101010101" pitchFamily="2" charset="-122"/>
                <a:ea typeface="宋体" panose="02010600030101010101" pitchFamily="2" charset="-122"/>
              </a:rPr>
              <a:t>λ</a:t>
            </a:r>
            <a:r>
              <a:rPr lang="en-US"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sym typeface="Symbol" panose="05050102010706020507" pitchFamily="18" charset="2"/>
              </a:rPr>
              <a:t></a:t>
            </a:r>
            <a:r>
              <a:rPr lang="en-US" altLang="zh-CN" sz="2000" baseline="-25000" dirty="0">
                <a:latin typeface="宋体" panose="02010600030101010101" pitchFamily="2" charset="-122"/>
                <a:ea typeface="宋体" panose="02010600030101010101" pitchFamily="2" charset="-122"/>
              </a:rPr>
              <a:t>λ</a:t>
            </a:r>
            <a:r>
              <a:rPr lang="zh-CN" altLang="en-US" sz="2000" dirty="0">
                <a:latin typeface="宋体" panose="02010600030101010101" pitchFamily="2" charset="-122"/>
                <a:ea typeface="宋体" panose="02010600030101010101" pitchFamily="2" charset="-122"/>
              </a:rPr>
              <a:t>。</a:t>
            </a:r>
            <a:endParaRPr lang="zh-CN" altLang="en-US" sz="2000" dirty="0">
              <a:latin typeface="宋体" panose="02010600030101010101" pitchFamily="2" charset="-122"/>
              <a:ea typeface="宋体" panose="02010600030101010101" pitchFamily="2" charset="-122"/>
            </a:endParaRPr>
          </a:p>
          <a:p>
            <a:pPr marL="0" lvl="0" indent="0" eaLnBrk="1" hangingPunct="1">
              <a:spcBef>
                <a:spcPct val="25000"/>
              </a:spcBef>
              <a:spcAft>
                <a:spcPct val="25000"/>
              </a:spcAft>
              <a:buClr>
                <a:srgbClr val="FF6600"/>
              </a:buClr>
              <a:buSzPct val="90000"/>
              <a:buFont typeface="Wingdings" panose="05000000000000000000" pitchFamily="2" charset="2"/>
              <a:buChar char="n"/>
            </a:pPr>
            <a:r>
              <a:rPr lang="zh-CN" altLang="en-US" sz="2000" dirty="0">
                <a:solidFill>
                  <a:srgbClr val="CC00CC"/>
                </a:solidFill>
                <a:latin typeface="宋体" panose="02010600030101010101" pitchFamily="2" charset="-122"/>
                <a:ea typeface="宋体" panose="02010600030101010101" pitchFamily="2" charset="-122"/>
              </a:rPr>
              <a:t>  反照率：</a:t>
            </a:r>
            <a:r>
              <a:rPr lang="zh-CN" altLang="en-US" sz="2000" dirty="0">
                <a:latin typeface="宋体" panose="02010600030101010101" pitchFamily="2" charset="-122"/>
                <a:ea typeface="宋体" panose="02010600030101010101" pitchFamily="2" charset="-122"/>
              </a:rPr>
              <a:t>物体表面的反射辐射通量与入射辐射通量之比。</a:t>
            </a:r>
            <a:endParaRPr lang="en-US" altLang="zh-CN" sz="2000" dirty="0">
              <a:latin typeface="宋体" panose="02010600030101010101" pitchFamily="2" charset="-122"/>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2"/>
          <p:cNvSpPr>
            <a:spLocks noGrp="1"/>
          </p:cNvSpPr>
          <p:nvPr>
            <p:ph idx="1"/>
          </p:nvPr>
        </p:nvSpPr>
        <p:spPr>
          <a:xfrm>
            <a:off x="357188" y="1306513"/>
            <a:ext cx="8607425" cy="1193800"/>
          </a:xfrm>
          <a:ln/>
        </p:spPr>
        <p:txBody>
          <a:bodyPr vert="horz" wrap="square" lIns="91440" tIns="45720" rIns="91440" bIns="45720" anchor="t" anchorCtr="0"/>
          <a:p>
            <a:pPr>
              <a:lnSpc>
                <a:spcPct val="150000"/>
              </a:lnSpc>
              <a:spcBef>
                <a:spcPct val="25000"/>
              </a:spcBef>
              <a:buClr>
                <a:srgbClr val="FF6600"/>
              </a:buClr>
              <a:buSzPct val="90000"/>
            </a:pPr>
            <a:r>
              <a:rPr lang="zh-CN" altLang="en-US" sz="2400" dirty="0">
                <a:latin typeface="Times New Roman" panose="02020603050405020304" pitchFamily="18" charset="0"/>
                <a:ea typeface="楷体_GB2312" pitchFamily="49" charset="-122"/>
              </a:rPr>
              <a:t>各种物体对不同波长的辐射具有不同的吸收率与放射率，构成了该物体的</a:t>
            </a:r>
            <a:r>
              <a:rPr lang="zh-CN" altLang="en-US" sz="2400" dirty="0">
                <a:solidFill>
                  <a:srgbClr val="008000"/>
                </a:solidFill>
                <a:latin typeface="Times New Roman" panose="02020603050405020304" pitchFamily="18" charset="0"/>
                <a:ea typeface="楷体_GB2312" pitchFamily="49" charset="-122"/>
              </a:rPr>
              <a:t>吸收光谱</a:t>
            </a:r>
            <a:r>
              <a:rPr lang="zh-CN" altLang="en-US" sz="2400" dirty="0">
                <a:latin typeface="Times New Roman" panose="02020603050405020304" pitchFamily="18" charset="0"/>
                <a:ea typeface="楷体_GB2312" pitchFamily="49" charset="-122"/>
              </a:rPr>
              <a:t>或</a:t>
            </a:r>
            <a:r>
              <a:rPr lang="zh-CN" altLang="en-US" sz="2400" dirty="0">
                <a:solidFill>
                  <a:srgbClr val="008000"/>
                </a:solidFill>
                <a:latin typeface="Times New Roman" panose="02020603050405020304" pitchFamily="18" charset="0"/>
                <a:ea typeface="楷体_GB2312" pitchFamily="49" charset="-122"/>
              </a:rPr>
              <a:t>辐射光谱</a:t>
            </a:r>
            <a:r>
              <a:rPr lang="zh-CN" altLang="en-US" sz="2400" dirty="0">
                <a:latin typeface="Times New Roman" panose="02020603050405020304" pitchFamily="18" charset="0"/>
                <a:ea typeface="楷体_GB2312" pitchFamily="49" charset="-122"/>
              </a:rPr>
              <a:t>。</a:t>
            </a:r>
            <a:endParaRPr lang="en-US" altLang="zh-CN" sz="2400" dirty="0">
              <a:latin typeface="Times New Roman" panose="02020603050405020304" pitchFamily="18" charset="0"/>
              <a:ea typeface="楷体_GB2312" pitchFamily="49" charset="-122"/>
            </a:endParaRPr>
          </a:p>
          <a:p>
            <a:pPr>
              <a:spcBef>
                <a:spcPts val="2400"/>
              </a:spcBef>
              <a:spcAft>
                <a:spcPct val="20000"/>
              </a:spcAft>
              <a:buClr>
                <a:schemeClr val="accent2"/>
              </a:buClr>
              <a:buNone/>
            </a:pPr>
            <a:r>
              <a:rPr lang="zh-CN" altLang="en-US" sz="2000" dirty="0">
                <a:latin typeface="Times New Roman" panose="02020603050405020304" pitchFamily="18" charset="0"/>
                <a:ea typeface="楷体_GB2312" pitchFamily="49" charset="-122"/>
              </a:rPr>
              <a:t>        </a:t>
            </a:r>
            <a:endParaRPr lang="zh-CN" altLang="en-US" sz="2400" dirty="0">
              <a:latin typeface="Times New Roman" panose="02020603050405020304" pitchFamily="18" charset="0"/>
              <a:ea typeface="楷体_GB2312" pitchFamily="49" charset="-122"/>
            </a:endParaRPr>
          </a:p>
        </p:txBody>
      </p:sp>
      <p:sp>
        <p:nvSpPr>
          <p:cNvPr id="9219" name="Rectangle 3"/>
          <p:cNvSpPr>
            <a:spLocks noGrp="1"/>
          </p:cNvSpPr>
          <p:nvPr>
            <p:ph type="title"/>
          </p:nvPr>
        </p:nvSpPr>
        <p:spPr>
          <a:xfrm>
            <a:off x="1357313" y="95250"/>
            <a:ext cx="7786687" cy="762000"/>
          </a:xfrm>
          <a:ln/>
        </p:spPr>
        <p:txBody>
          <a:bodyPr vert="horz" wrap="square" lIns="91440" tIns="45720" rIns="91440" bIns="45720" anchor="b" anchorCtr="0"/>
          <a:p>
            <a:pPr algn="ctr"/>
            <a:r>
              <a:rPr lang="zh-CN" altLang="en-US" dirty="0">
                <a:solidFill>
                  <a:srgbClr val="FFFF00"/>
                </a:solidFill>
                <a:latin typeface="Times New Roman" panose="02020603050405020304" pitchFamily="18" charset="0"/>
              </a:rPr>
              <a:t>单色吸收率、反射率和透射率</a:t>
            </a:r>
            <a:endParaRPr lang="zh-CN" altLang="en-US" dirty="0">
              <a:solidFill>
                <a:srgbClr val="FFFF00"/>
              </a:solidFill>
              <a:latin typeface="Times New Roman" panose="02020603050405020304" pitchFamily="18" charset="0"/>
            </a:endParaRPr>
          </a:p>
        </p:txBody>
      </p:sp>
      <p:graphicFrame>
        <p:nvGraphicFramePr>
          <p:cNvPr id="9220" name="Object 4"/>
          <p:cNvGraphicFramePr>
            <a:graphicFrameLocks noChangeAspect="1"/>
          </p:cNvGraphicFramePr>
          <p:nvPr/>
        </p:nvGraphicFramePr>
        <p:xfrm>
          <a:off x="1285875" y="4418013"/>
          <a:ext cx="428625" cy="582612"/>
        </p:xfrm>
        <a:graphic>
          <a:graphicData uri="http://schemas.openxmlformats.org/presentationml/2006/ole">
            <mc:AlternateContent xmlns:mc="http://schemas.openxmlformats.org/markup-compatibility/2006">
              <mc:Choice xmlns:v="urn:schemas-microsoft-com:vml" Requires="v">
                <p:oleObj spid="_x0000_s3079" name="" r:id="rId1" imgW="177800" imgH="241300" progId="Equation.3">
                  <p:embed/>
                </p:oleObj>
              </mc:Choice>
              <mc:Fallback>
                <p:oleObj name="" r:id="rId1" imgW="177800" imgH="241300" progId="Equation.3">
                  <p:embed/>
                  <p:pic>
                    <p:nvPicPr>
                      <p:cNvPr id="0" name="图片 3078"/>
                      <p:cNvPicPr/>
                      <p:nvPr/>
                    </p:nvPicPr>
                    <p:blipFill>
                      <a:blip r:embed="rId2"/>
                      <a:stretch>
                        <a:fillRect/>
                      </a:stretch>
                    </p:blipFill>
                    <p:spPr>
                      <a:xfrm>
                        <a:off x="1285875" y="4418013"/>
                        <a:ext cx="428625" cy="582612"/>
                      </a:xfrm>
                      <a:prstGeom prst="rect">
                        <a:avLst/>
                      </a:prstGeom>
                      <a:noFill/>
                      <a:ln w="38100">
                        <a:noFill/>
                        <a:miter/>
                      </a:ln>
                    </p:spPr>
                  </p:pic>
                </p:oleObj>
              </mc:Fallback>
            </mc:AlternateContent>
          </a:graphicData>
        </a:graphic>
      </p:graphicFrame>
      <p:sp>
        <p:nvSpPr>
          <p:cNvPr id="9221" name="矩形 4"/>
          <p:cNvSpPr/>
          <p:nvPr/>
        </p:nvSpPr>
        <p:spPr>
          <a:xfrm>
            <a:off x="785813" y="2786063"/>
            <a:ext cx="4572000" cy="3505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lnSpc>
                <a:spcPct val="150000"/>
              </a:lnSpc>
              <a:spcBef>
                <a:spcPts val="2400"/>
              </a:spcBef>
              <a:spcAft>
                <a:spcPct val="20000"/>
              </a:spcAft>
              <a:buClr>
                <a:schemeClr val="accent2"/>
              </a:buClr>
              <a:buNone/>
            </a:pPr>
            <a:r>
              <a:rPr lang="zh-CN" altLang="en-US" sz="2200" dirty="0">
                <a:solidFill>
                  <a:srgbClr val="CC00CC"/>
                </a:solidFill>
                <a:latin typeface="Times New Roman" panose="02020603050405020304" pitchFamily="18" charset="0"/>
                <a:ea typeface="楷体_GB2312" pitchFamily="49" charset="-122"/>
              </a:rPr>
              <a:t>绝对黑体：</a:t>
            </a:r>
            <a:r>
              <a:rPr lang="zh-CN" altLang="en-US" sz="2200" dirty="0">
                <a:latin typeface="Times New Roman" panose="02020603050405020304" pitchFamily="18" charset="0"/>
                <a:ea typeface="楷体_GB2312" pitchFamily="49" charset="-122"/>
              </a:rPr>
              <a:t>对所有波长的辐射能都能全部吸收，即</a:t>
            </a:r>
            <a:r>
              <a:rPr lang="en-US" altLang="zh-CN" sz="2200" dirty="0">
                <a:latin typeface="Times New Roman" panose="02020603050405020304" pitchFamily="18" charset="0"/>
                <a:ea typeface="楷体_GB2312" pitchFamily="49" charset="-122"/>
              </a:rPr>
              <a:t>A = 1</a:t>
            </a:r>
            <a:r>
              <a:rPr lang="zh-CN" altLang="en-US" sz="2200" dirty="0">
                <a:latin typeface="Times New Roman" panose="02020603050405020304" pitchFamily="18" charset="0"/>
                <a:ea typeface="楷体_GB2312" pitchFamily="49" charset="-122"/>
              </a:rPr>
              <a:t>。</a:t>
            </a:r>
            <a:endParaRPr lang="zh-CN" altLang="en-US" sz="2200" dirty="0">
              <a:latin typeface="Times New Roman" panose="02020603050405020304" pitchFamily="18" charset="0"/>
              <a:ea typeface="楷体_GB2312" pitchFamily="49" charset="-122"/>
            </a:endParaRPr>
          </a:p>
          <a:p>
            <a:pPr marL="0" lvl="0" indent="0" eaLnBrk="1" hangingPunct="1">
              <a:lnSpc>
                <a:spcPct val="150000"/>
              </a:lnSpc>
              <a:spcBef>
                <a:spcPct val="0"/>
              </a:spcBef>
              <a:spcAft>
                <a:spcPct val="20000"/>
              </a:spcAft>
              <a:buClr>
                <a:schemeClr val="accent2"/>
              </a:buClr>
              <a:buNone/>
            </a:pPr>
            <a:r>
              <a:rPr lang="zh-CN" altLang="en-US" sz="2200" dirty="0">
                <a:solidFill>
                  <a:srgbClr val="CC00CC"/>
                </a:solidFill>
                <a:latin typeface="Times New Roman" panose="02020603050405020304" pitchFamily="18" charset="0"/>
                <a:ea typeface="楷体_GB2312" pitchFamily="49" charset="-122"/>
              </a:rPr>
              <a:t>单色黑体：</a:t>
            </a:r>
            <a:r>
              <a:rPr lang="zh-CN" altLang="en-US" sz="2200" dirty="0">
                <a:latin typeface="Times New Roman" panose="02020603050405020304" pitchFamily="18" charset="0"/>
                <a:ea typeface="楷体_GB2312" pitchFamily="49" charset="-122"/>
              </a:rPr>
              <a:t>对某一波长全部吸收，即       </a:t>
            </a:r>
            <a:r>
              <a:rPr lang="en-US" altLang="zh-CN" sz="2200" dirty="0">
                <a:latin typeface="Times New Roman" panose="02020603050405020304" pitchFamily="18" charset="0"/>
                <a:ea typeface="楷体_GB2312" pitchFamily="49" charset="-122"/>
              </a:rPr>
              <a:t>= 1 </a:t>
            </a:r>
            <a:r>
              <a:rPr lang="zh-CN" altLang="en-US" sz="2200" dirty="0">
                <a:latin typeface="Times New Roman" panose="02020603050405020304" pitchFamily="18" charset="0"/>
                <a:ea typeface="楷体_GB2312" pitchFamily="49" charset="-122"/>
              </a:rPr>
              <a:t>。</a:t>
            </a:r>
            <a:endParaRPr lang="zh-CN" altLang="en-US" sz="2200" dirty="0">
              <a:latin typeface="Times New Roman" panose="02020603050405020304" pitchFamily="18" charset="0"/>
              <a:ea typeface="楷体_GB2312" pitchFamily="49" charset="-122"/>
            </a:endParaRPr>
          </a:p>
          <a:p>
            <a:pPr marL="0" lvl="0" indent="0" eaLnBrk="1" hangingPunct="1">
              <a:lnSpc>
                <a:spcPct val="150000"/>
              </a:lnSpc>
              <a:spcBef>
                <a:spcPts val="1800"/>
              </a:spcBef>
              <a:spcAft>
                <a:spcPct val="20000"/>
              </a:spcAft>
              <a:buClr>
                <a:schemeClr val="accent2"/>
              </a:buClr>
              <a:buNone/>
            </a:pPr>
            <a:r>
              <a:rPr lang="zh-CN" altLang="en-US" sz="2200" dirty="0">
                <a:solidFill>
                  <a:srgbClr val="CC00CC"/>
                </a:solidFill>
                <a:latin typeface="Times New Roman" panose="02020603050405020304" pitchFamily="18" charset="0"/>
                <a:ea typeface="楷体_GB2312" pitchFamily="49" charset="-122"/>
              </a:rPr>
              <a:t>灰体 ：</a:t>
            </a:r>
            <a:r>
              <a:rPr lang="zh-CN" altLang="en-US" sz="2200" dirty="0">
                <a:latin typeface="Times New Roman" panose="02020603050405020304" pitchFamily="18" charset="0"/>
                <a:ea typeface="楷体_GB2312" pitchFamily="49" charset="-122"/>
              </a:rPr>
              <a:t>吸收率</a:t>
            </a:r>
            <a:r>
              <a:rPr lang="en-US" altLang="zh-CN" sz="2200" dirty="0">
                <a:latin typeface="Times New Roman" panose="02020603050405020304" pitchFamily="18" charset="0"/>
                <a:ea typeface="楷体_GB2312" pitchFamily="49" charset="-122"/>
              </a:rPr>
              <a:t>A</a:t>
            </a:r>
            <a:r>
              <a:rPr lang="zh-CN" altLang="en-US" sz="2200" dirty="0">
                <a:latin typeface="Times New Roman" panose="02020603050405020304" pitchFamily="18" charset="0"/>
                <a:ea typeface="楷体_GB2312" pitchFamily="49" charset="-122"/>
              </a:rPr>
              <a:t>不随波长变化，但</a:t>
            </a:r>
            <a:r>
              <a:rPr lang="en-US" altLang="zh-CN" sz="2200" dirty="0">
                <a:latin typeface="Times New Roman" panose="02020603050405020304" pitchFamily="18" charset="0"/>
                <a:ea typeface="楷体_GB2312" pitchFamily="49" charset="-122"/>
              </a:rPr>
              <a:t>A&lt;1</a:t>
            </a:r>
            <a:r>
              <a:rPr lang="zh-CN" altLang="en-US" sz="2200" dirty="0">
                <a:latin typeface="Times New Roman" panose="02020603050405020304" pitchFamily="18" charset="0"/>
                <a:ea typeface="楷体_GB2312" pitchFamily="49" charset="-122"/>
              </a:rPr>
              <a:t>。</a:t>
            </a:r>
            <a:endParaRPr lang="zh-CN" altLang="en-US" sz="2200" dirty="0">
              <a:latin typeface="Times New Roman" panose="02020603050405020304" pitchFamily="18" charset="0"/>
              <a:ea typeface="楷体_GB2312" pitchFamily="49" charset="-122"/>
            </a:endParaRPr>
          </a:p>
        </p:txBody>
      </p:sp>
      <p:pic>
        <p:nvPicPr>
          <p:cNvPr id="9222" name="Picture 5"/>
          <p:cNvPicPr>
            <a:picLocks noChangeAspect="1"/>
          </p:cNvPicPr>
          <p:nvPr/>
        </p:nvPicPr>
        <p:blipFill>
          <a:blip r:embed="rId3"/>
          <a:srcRect t="6410" r="2864"/>
          <a:stretch>
            <a:fillRect/>
          </a:stretch>
        </p:blipFill>
        <p:spPr>
          <a:xfrm>
            <a:off x="5322888" y="2643188"/>
            <a:ext cx="3749675" cy="2986087"/>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2"/>
          <p:cNvSpPr>
            <a:spLocks noGrp="1"/>
          </p:cNvSpPr>
          <p:nvPr>
            <p:ph idx="1"/>
          </p:nvPr>
        </p:nvSpPr>
        <p:spPr>
          <a:xfrm>
            <a:off x="285750" y="1412875"/>
            <a:ext cx="8715375" cy="5214938"/>
          </a:xfrm>
          <a:solidFill>
            <a:schemeClr val="bg1">
              <a:alpha val="100000"/>
            </a:schemeClr>
          </a:solidFill>
          <a:ln/>
        </p:spPr>
        <p:txBody>
          <a:bodyPr vert="horz" wrap="square" lIns="91440" tIns="45720" rIns="91440" bIns="45720" anchor="t" anchorCtr="0"/>
          <a:p>
            <a:pPr>
              <a:lnSpc>
                <a:spcPct val="90000"/>
              </a:lnSpc>
              <a:spcAft>
                <a:spcPct val="20000"/>
              </a:spcAft>
            </a:pPr>
            <a:r>
              <a:rPr lang="zh-CN" altLang="en-US" sz="2400" dirty="0">
                <a:solidFill>
                  <a:srgbClr val="CC00CC"/>
                </a:solidFill>
                <a:latin typeface="Times New Roman" panose="02020603050405020304" pitchFamily="18" charset="0"/>
                <a:ea typeface="楷体_GB2312" pitchFamily="49" charset="-122"/>
              </a:rPr>
              <a:t>辐射平衡状态</a:t>
            </a:r>
            <a:endParaRPr lang="zh-CN" altLang="en-US" sz="2400" dirty="0">
              <a:solidFill>
                <a:srgbClr val="CC00CC"/>
              </a:solidFill>
              <a:latin typeface="Times New Roman" panose="02020603050405020304" pitchFamily="18" charset="0"/>
              <a:ea typeface="楷体_GB2312" pitchFamily="49" charset="-122"/>
            </a:endParaRPr>
          </a:p>
          <a:p>
            <a:pPr lvl="1">
              <a:lnSpc>
                <a:spcPct val="120000"/>
              </a:lnSpc>
              <a:spcAft>
                <a:spcPct val="20000"/>
              </a:spcAft>
              <a:buFontTx/>
              <a:buChar char="•"/>
            </a:pPr>
            <a:r>
              <a:rPr lang="zh-CN" altLang="en-US" sz="2400" dirty="0">
                <a:latin typeface="Times New Roman" panose="02020603050405020304" pitchFamily="18" charset="0"/>
                <a:ea typeface="楷体_GB2312" pitchFamily="49" charset="-122"/>
              </a:rPr>
              <a:t>吸收和发射辐射能量相等：</a:t>
            </a:r>
            <a:r>
              <a:rPr lang="en-US" altLang="zh-CN" sz="2400" dirty="0">
                <a:latin typeface="Times New Roman" panose="02020603050405020304" pitchFamily="18" charset="0"/>
                <a:ea typeface="楷体_GB2312" pitchFamily="49" charset="-122"/>
              </a:rPr>
              <a:t>1</a:t>
            </a:r>
            <a:r>
              <a:rPr lang="zh-CN" altLang="en-US" sz="2400" dirty="0">
                <a:latin typeface="Times New Roman" panose="02020603050405020304" pitchFamily="18" charset="0"/>
                <a:ea typeface="楷体_GB2312" pitchFamily="49" charset="-122"/>
              </a:rPr>
              <a:t>）物质热状况保持不变，可用一确定温度表示；</a:t>
            </a:r>
            <a:r>
              <a:rPr lang="en-US" altLang="zh-CN" sz="2400" dirty="0">
                <a:latin typeface="Times New Roman" panose="02020603050405020304" pitchFamily="18" charset="0"/>
                <a:ea typeface="楷体_GB2312" pitchFamily="49" charset="-122"/>
              </a:rPr>
              <a:t>2</a:t>
            </a:r>
            <a:r>
              <a:rPr lang="zh-CN" altLang="en-US" sz="2400" dirty="0">
                <a:latin typeface="Times New Roman" panose="02020603050405020304" pitchFamily="18" charset="0"/>
                <a:ea typeface="楷体_GB2312" pitchFamily="49" charset="-122"/>
              </a:rPr>
              <a:t>）各向同性。</a:t>
            </a:r>
            <a:endParaRPr lang="zh-CN" altLang="en-US" sz="2400" dirty="0">
              <a:latin typeface="Times New Roman" panose="02020603050405020304" pitchFamily="18" charset="0"/>
              <a:ea typeface="楷体_GB2312" pitchFamily="49" charset="-122"/>
            </a:endParaRPr>
          </a:p>
          <a:p>
            <a:pPr>
              <a:lnSpc>
                <a:spcPct val="90000"/>
              </a:lnSpc>
              <a:spcAft>
                <a:spcPct val="20000"/>
              </a:spcAft>
            </a:pPr>
            <a:r>
              <a:rPr lang="zh-CN" altLang="en-US" sz="2400" dirty="0">
                <a:solidFill>
                  <a:srgbClr val="CC00CC"/>
                </a:solidFill>
                <a:latin typeface="Times New Roman" panose="02020603050405020304" pitchFamily="18" charset="0"/>
                <a:ea typeface="楷体_GB2312" pitchFamily="49" charset="-122"/>
              </a:rPr>
              <a:t>局地辐射平衡状态</a:t>
            </a:r>
            <a:endParaRPr lang="zh-CN" altLang="en-US" sz="2400" dirty="0">
              <a:solidFill>
                <a:srgbClr val="CC00CC"/>
              </a:solidFill>
              <a:latin typeface="Times New Roman" panose="02020603050405020304" pitchFamily="18" charset="0"/>
              <a:ea typeface="楷体_GB2312" pitchFamily="49" charset="-122"/>
            </a:endParaRPr>
          </a:p>
          <a:p>
            <a:pPr lvl="1">
              <a:lnSpc>
                <a:spcPct val="120000"/>
              </a:lnSpc>
              <a:spcAft>
                <a:spcPct val="20000"/>
              </a:spcAft>
              <a:buFontTx/>
              <a:buChar char="•"/>
            </a:pPr>
            <a:r>
              <a:rPr lang="zh-CN" altLang="en-US" sz="2400" dirty="0">
                <a:latin typeface="Times New Roman" panose="02020603050405020304" pitchFamily="18" charset="0"/>
                <a:ea typeface="楷体_GB2312" pitchFamily="49" charset="-122"/>
              </a:rPr>
              <a:t>如果辐射热交换的过程相当缓慢，物体中内能的分布来得及变化均匀，这时物体的热状况虽然在变化，但每一给定瞬间，物体的状态可以看作是平衡的，仍可用一定的温度来描述。</a:t>
            </a:r>
            <a:endParaRPr lang="zh-CN" altLang="en-US" sz="2400" dirty="0">
              <a:latin typeface="Times New Roman" panose="02020603050405020304" pitchFamily="18" charset="0"/>
              <a:ea typeface="楷体_GB2312" pitchFamily="49" charset="-122"/>
            </a:endParaRPr>
          </a:p>
          <a:p>
            <a:pPr lvl="1">
              <a:lnSpc>
                <a:spcPct val="120000"/>
              </a:lnSpc>
              <a:spcAft>
                <a:spcPct val="20000"/>
              </a:spcAft>
              <a:buFontTx/>
              <a:buChar char="•"/>
            </a:pPr>
            <a:r>
              <a:rPr lang="zh-CN" altLang="en-US" sz="2400" dirty="0">
                <a:latin typeface="Times New Roman" panose="02020603050405020304" pitchFamily="18" charset="0"/>
                <a:ea typeface="楷体_GB2312" pitchFamily="49" charset="-122"/>
              </a:rPr>
              <a:t>地球大气中的辐射过程，一般认为地面至</a:t>
            </a:r>
            <a:r>
              <a:rPr lang="en-US" altLang="zh-CN" sz="2400" dirty="0">
                <a:latin typeface="Times New Roman" panose="02020603050405020304" pitchFamily="18" charset="0"/>
                <a:ea typeface="楷体_GB2312" pitchFamily="49" charset="-122"/>
              </a:rPr>
              <a:t>60</a:t>
            </a:r>
            <a:r>
              <a:rPr lang="zh-CN" altLang="en-US" sz="2400" dirty="0">
                <a:latin typeface="Times New Roman" panose="02020603050405020304" pitchFamily="18" charset="0"/>
                <a:ea typeface="楷体_GB2312" pitchFamily="49" charset="-122"/>
              </a:rPr>
              <a:t>公里以下的大气处于局地辐射平衡状态，因此可以应用平衡辐射的规律来解决平流层以下的大气辐射学的问题。</a:t>
            </a:r>
            <a:endParaRPr lang="zh-CN" altLang="en-US" sz="2400" dirty="0">
              <a:latin typeface="Times New Roman" panose="02020603050405020304" pitchFamily="18" charset="0"/>
              <a:ea typeface="楷体_GB2312" pitchFamily="49" charset="-122"/>
            </a:endParaRPr>
          </a:p>
        </p:txBody>
      </p:sp>
      <p:sp>
        <p:nvSpPr>
          <p:cNvPr id="11267" name="Rectangle 3"/>
          <p:cNvSpPr/>
          <p:nvPr/>
        </p:nvSpPr>
        <p:spPr>
          <a:xfrm>
            <a:off x="1357313" y="142875"/>
            <a:ext cx="7786687" cy="762000"/>
          </a:xfrm>
          <a:prstGeom prst="rect">
            <a:avLst/>
          </a:prstGeom>
          <a:noFill/>
          <a:ln w="9525">
            <a:noFill/>
          </a:ln>
        </p:spPr>
        <p:txBody>
          <a:bodyPr anchor="b"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zh-CN" altLang="en-US" sz="4000" b="0" dirty="0">
                <a:solidFill>
                  <a:srgbClr val="FFFF00"/>
                </a:solidFill>
                <a:latin typeface="Arial" panose="020B0604020202020204" pitchFamily="34" charset="0"/>
                <a:ea typeface="楷体_GB2312" pitchFamily="49" charset="-122"/>
              </a:rPr>
              <a:t>        二、</a:t>
            </a:r>
            <a:r>
              <a:rPr lang="zh-CN" altLang="en-US" sz="4000" dirty="0">
                <a:solidFill>
                  <a:srgbClr val="FFFF00"/>
                </a:solidFill>
                <a:latin typeface="Arial" panose="020B0604020202020204" pitchFamily="34" charset="0"/>
                <a:ea typeface="楷体_GB2312" pitchFamily="49" charset="-122"/>
              </a:rPr>
              <a:t>平衡辐射的基本规律</a:t>
            </a:r>
            <a:endParaRPr lang="zh-CN" altLang="en-US" sz="4000" dirty="0">
              <a:solidFill>
                <a:srgbClr val="FFFF00"/>
              </a:solidFill>
              <a:latin typeface="Arial" panose="020B0604020202020204" pitchFamily="34" charset="0"/>
              <a:ea typeface="楷体_GB2312" pitchFamily="49"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a:spLocks noGrp="1"/>
          </p:cNvSpPr>
          <p:nvPr>
            <p:ph idx="1"/>
          </p:nvPr>
        </p:nvSpPr>
        <p:spPr>
          <a:xfrm>
            <a:off x="871538" y="1819275"/>
            <a:ext cx="7772400" cy="4538663"/>
          </a:xfrm>
          <a:ln/>
        </p:spPr>
        <p:txBody>
          <a:bodyPr vert="horz" wrap="square" lIns="91440" tIns="45720" rIns="91440" bIns="45720" anchor="t" anchorCtr="0"/>
          <a:p>
            <a:r>
              <a:rPr lang="zh-CN" altLang="en-US" dirty="0">
                <a:solidFill>
                  <a:srgbClr val="0000FF"/>
                </a:solidFill>
                <a:latin typeface="Times New Roman" panose="02020603050405020304" pitchFamily="18" charset="0"/>
                <a:ea typeface="楷体_GB2312" pitchFamily="49" charset="-122"/>
              </a:rPr>
              <a:t> 普朗克定律</a:t>
            </a:r>
            <a:endParaRPr lang="zh-CN" altLang="en-US" dirty="0">
              <a:solidFill>
                <a:srgbClr val="0000FF"/>
              </a:solidFill>
              <a:latin typeface="Times New Roman" panose="02020603050405020304" pitchFamily="18" charset="0"/>
              <a:ea typeface="楷体_GB2312" pitchFamily="49" charset="-122"/>
            </a:endParaRPr>
          </a:p>
          <a:p>
            <a:endParaRPr lang="zh-CN" altLang="en-US" dirty="0">
              <a:solidFill>
                <a:srgbClr val="0000FF"/>
              </a:solidFill>
              <a:latin typeface="Times New Roman" panose="02020603050405020304" pitchFamily="18" charset="0"/>
              <a:ea typeface="楷体_GB2312" pitchFamily="49" charset="-122"/>
            </a:endParaRPr>
          </a:p>
          <a:p>
            <a:r>
              <a:rPr lang="zh-CN" altLang="en-US" dirty="0">
                <a:solidFill>
                  <a:srgbClr val="0000FF"/>
                </a:solidFill>
                <a:latin typeface="Times New Roman" panose="02020603050405020304" pitchFamily="18" charset="0"/>
                <a:ea typeface="楷体_GB2312" pitchFamily="49" charset="-122"/>
              </a:rPr>
              <a:t> 斯蒂芬</a:t>
            </a:r>
            <a:r>
              <a:rPr lang="en-US" altLang="zh-CN" dirty="0">
                <a:solidFill>
                  <a:srgbClr val="0000FF"/>
                </a:solidFill>
                <a:latin typeface="Times New Roman" panose="02020603050405020304" pitchFamily="18" charset="0"/>
                <a:ea typeface="楷体_GB2312" pitchFamily="49" charset="-122"/>
              </a:rPr>
              <a:t>-</a:t>
            </a:r>
            <a:r>
              <a:rPr lang="zh-CN" altLang="en-US" dirty="0">
                <a:solidFill>
                  <a:srgbClr val="0000FF"/>
                </a:solidFill>
                <a:latin typeface="Times New Roman" panose="02020603050405020304" pitchFamily="18" charset="0"/>
                <a:ea typeface="楷体_GB2312" pitchFamily="49" charset="-122"/>
              </a:rPr>
              <a:t>波尔兹曼定律</a:t>
            </a:r>
            <a:endParaRPr lang="zh-CN" altLang="en-US" dirty="0">
              <a:solidFill>
                <a:srgbClr val="0000FF"/>
              </a:solidFill>
              <a:latin typeface="Times New Roman" panose="02020603050405020304" pitchFamily="18" charset="0"/>
              <a:ea typeface="楷体_GB2312" pitchFamily="49" charset="-122"/>
            </a:endParaRPr>
          </a:p>
          <a:p>
            <a:endParaRPr lang="zh-CN" altLang="en-US" dirty="0">
              <a:solidFill>
                <a:srgbClr val="0000FF"/>
              </a:solidFill>
              <a:latin typeface="Times New Roman" panose="02020603050405020304" pitchFamily="18" charset="0"/>
              <a:ea typeface="楷体_GB2312" pitchFamily="49" charset="-122"/>
            </a:endParaRPr>
          </a:p>
          <a:p>
            <a:r>
              <a:rPr lang="zh-CN" altLang="en-US" dirty="0">
                <a:solidFill>
                  <a:srgbClr val="0000FF"/>
                </a:solidFill>
                <a:latin typeface="Times New Roman" panose="02020603050405020304" pitchFamily="18" charset="0"/>
                <a:ea typeface="楷体_GB2312" pitchFamily="49" charset="-122"/>
              </a:rPr>
              <a:t> 韦恩位移定律</a:t>
            </a:r>
            <a:endParaRPr lang="zh-CN" altLang="en-US" dirty="0">
              <a:solidFill>
                <a:srgbClr val="0000FF"/>
              </a:solidFill>
              <a:latin typeface="Times New Roman" panose="02020603050405020304" pitchFamily="18" charset="0"/>
              <a:ea typeface="楷体_GB2312" pitchFamily="49" charset="-122"/>
            </a:endParaRPr>
          </a:p>
          <a:p>
            <a:endParaRPr lang="zh-CN" altLang="en-US" dirty="0">
              <a:solidFill>
                <a:srgbClr val="0000FF"/>
              </a:solidFill>
              <a:latin typeface="Times New Roman" panose="02020603050405020304" pitchFamily="18" charset="0"/>
              <a:ea typeface="楷体_GB2312" pitchFamily="49" charset="-122"/>
            </a:endParaRPr>
          </a:p>
          <a:p>
            <a:r>
              <a:rPr lang="zh-CN" altLang="en-US" dirty="0">
                <a:solidFill>
                  <a:srgbClr val="0000FF"/>
                </a:solidFill>
                <a:latin typeface="Times New Roman" panose="02020603050405020304" pitchFamily="18" charset="0"/>
                <a:ea typeface="楷体_GB2312" pitchFamily="49" charset="-122"/>
              </a:rPr>
              <a:t> 基尔霍夫定律</a:t>
            </a:r>
            <a:endParaRPr lang="zh-CN" altLang="en-US" dirty="0">
              <a:solidFill>
                <a:srgbClr val="0000FF"/>
              </a:solidFill>
              <a:latin typeface="Times New Roman" panose="02020603050405020304" pitchFamily="18" charset="0"/>
              <a:ea typeface="楷体_GB2312" pitchFamily="49" charset="-122"/>
            </a:endParaRPr>
          </a:p>
          <a:p>
            <a:endParaRPr lang="zh-CN" altLang="en-US" dirty="0">
              <a:solidFill>
                <a:srgbClr val="0000FF"/>
              </a:solidFill>
              <a:latin typeface="Times New Roman" panose="02020603050405020304" pitchFamily="18" charset="0"/>
              <a:ea typeface="楷体_GB2312" pitchFamily="49" charset="-122"/>
            </a:endParaRPr>
          </a:p>
        </p:txBody>
      </p:sp>
      <p:sp>
        <p:nvSpPr>
          <p:cNvPr id="13315" name="Rectangle 3"/>
          <p:cNvSpPr/>
          <p:nvPr/>
        </p:nvSpPr>
        <p:spPr>
          <a:xfrm>
            <a:off x="1357313" y="142875"/>
            <a:ext cx="7786687" cy="762000"/>
          </a:xfrm>
          <a:prstGeom prst="rect">
            <a:avLst/>
          </a:prstGeom>
          <a:noFill/>
          <a:ln w="9525">
            <a:noFill/>
          </a:ln>
        </p:spPr>
        <p:txBody>
          <a:bodyPr anchor="b"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zh-CN" altLang="en-US" sz="4000" b="0" dirty="0">
                <a:solidFill>
                  <a:srgbClr val="FFFF00"/>
                </a:solidFill>
                <a:latin typeface="Arial" panose="020B0604020202020204" pitchFamily="34" charset="0"/>
                <a:ea typeface="楷体_GB2312" pitchFamily="49" charset="-122"/>
              </a:rPr>
              <a:t>        二、</a:t>
            </a:r>
            <a:r>
              <a:rPr lang="zh-CN" altLang="en-US" sz="4000" dirty="0">
                <a:solidFill>
                  <a:srgbClr val="FFFF00"/>
                </a:solidFill>
                <a:latin typeface="Arial" panose="020B0604020202020204" pitchFamily="34" charset="0"/>
                <a:ea typeface="楷体_GB2312" pitchFamily="49" charset="-122"/>
              </a:rPr>
              <a:t>平衡辐射的基本规律</a:t>
            </a:r>
            <a:endParaRPr lang="zh-CN" altLang="en-US" sz="4000" dirty="0">
              <a:solidFill>
                <a:srgbClr val="FFFF00"/>
              </a:solidFill>
              <a:latin typeface="Arial" panose="020B0604020202020204" pitchFamily="34" charset="0"/>
              <a:ea typeface="楷体_GB2312" pitchFamily="49"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4338" name="Group 2"/>
          <p:cNvGrpSpPr/>
          <p:nvPr/>
        </p:nvGrpSpPr>
        <p:grpSpPr>
          <a:xfrm>
            <a:off x="334963" y="1484313"/>
            <a:ext cx="7970837" cy="4535487"/>
            <a:chOff x="334885" y="1484313"/>
            <a:chExt cx="7970915" cy="4535487"/>
          </a:xfrm>
        </p:grpSpPr>
        <p:sp>
          <p:nvSpPr>
            <p:cNvPr id="14339" name="Rectangle 22"/>
            <p:cNvSpPr/>
            <p:nvPr/>
          </p:nvSpPr>
          <p:spPr>
            <a:xfrm>
              <a:off x="5781650" y="2360613"/>
              <a:ext cx="2282847" cy="579437"/>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en-US" altLang="zh-CN" sz="1800" b="0" dirty="0">
                <a:latin typeface="Arial" panose="020B0604020202020204" pitchFamily="34" charset="0"/>
                <a:ea typeface="宋体" panose="02010600030101010101" pitchFamily="2" charset="-122"/>
              </a:endParaRPr>
            </a:p>
          </p:txBody>
        </p:sp>
        <p:sp>
          <p:nvSpPr>
            <p:cNvPr id="14340" name="Line 23"/>
            <p:cNvSpPr/>
            <p:nvPr/>
          </p:nvSpPr>
          <p:spPr>
            <a:xfrm flipV="1">
              <a:off x="5084731" y="4672013"/>
              <a:ext cx="1587" cy="44450"/>
            </a:xfrm>
            <a:prstGeom prst="line">
              <a:avLst/>
            </a:prstGeom>
            <a:ln w="12700" cap="flat" cmpd="sng">
              <a:solidFill>
                <a:schemeClr val="tx1"/>
              </a:solidFill>
              <a:prstDash val="solid"/>
              <a:headEnd type="none" w="sm" len="sm"/>
              <a:tailEnd type="none" w="sm" len="sm"/>
            </a:ln>
          </p:spPr>
        </p:sp>
        <p:grpSp>
          <p:nvGrpSpPr>
            <p:cNvPr id="14341" name="Group 24"/>
            <p:cNvGrpSpPr/>
            <p:nvPr/>
          </p:nvGrpSpPr>
          <p:grpSpPr>
            <a:xfrm>
              <a:off x="4213225" y="4619625"/>
              <a:ext cx="2120900" cy="257175"/>
              <a:chOff x="2654" y="2910"/>
              <a:chExt cx="1336" cy="162"/>
            </a:xfrm>
          </p:grpSpPr>
          <p:sp>
            <p:nvSpPr>
              <p:cNvPr id="14367" name="Freeform 25"/>
              <p:cNvSpPr/>
              <p:nvPr/>
            </p:nvSpPr>
            <p:spPr>
              <a:xfrm>
                <a:off x="2654" y="2910"/>
                <a:ext cx="1336" cy="150"/>
              </a:xfrm>
              <a:custGeom>
                <a:avLst/>
                <a:gdLst>
                  <a:gd name="txL" fmla="*/ 0 w 1977"/>
                  <a:gd name="txT" fmla="*/ 0 h 252"/>
                  <a:gd name="txR" fmla="*/ 1977 w 1977"/>
                  <a:gd name="txB" fmla="*/ 252 h 252"/>
                </a:gdLst>
                <a:ahLst/>
                <a:cxnLst>
                  <a:cxn ang="0">
                    <a:pos x="1" y="2"/>
                  </a:cxn>
                  <a:cxn ang="0">
                    <a:pos x="3" y="2"/>
                  </a:cxn>
                  <a:cxn ang="0">
                    <a:pos x="5" y="2"/>
                  </a:cxn>
                  <a:cxn ang="0">
                    <a:pos x="6" y="2"/>
                  </a:cxn>
                  <a:cxn ang="0">
                    <a:pos x="7" y="2"/>
                  </a:cxn>
                  <a:cxn ang="0">
                    <a:pos x="9" y="2"/>
                  </a:cxn>
                  <a:cxn ang="0">
                    <a:pos x="10" y="2"/>
                  </a:cxn>
                  <a:cxn ang="0">
                    <a:pos x="11" y="2"/>
                  </a:cxn>
                  <a:cxn ang="0">
                    <a:pos x="11" y="1"/>
                  </a:cxn>
                  <a:cxn ang="0">
                    <a:pos x="13" y="1"/>
                  </a:cxn>
                  <a:cxn ang="0">
                    <a:pos x="14" y="1"/>
                  </a:cxn>
                  <a:cxn ang="0">
                    <a:pos x="16" y="1"/>
                  </a:cxn>
                  <a:cxn ang="0">
                    <a:pos x="17" y="1"/>
                  </a:cxn>
                  <a:cxn ang="0">
                    <a:pos x="18" y="1"/>
                  </a:cxn>
                  <a:cxn ang="0">
                    <a:pos x="19" y="1"/>
                  </a:cxn>
                  <a:cxn ang="0">
                    <a:pos x="20" y="1"/>
                  </a:cxn>
                  <a:cxn ang="0">
                    <a:pos x="20" y="1"/>
                  </a:cxn>
                  <a:cxn ang="0">
                    <a:pos x="21" y="1"/>
                  </a:cxn>
                  <a:cxn ang="0">
                    <a:pos x="22" y="0"/>
                  </a:cxn>
                  <a:cxn ang="0">
                    <a:pos x="23" y="1"/>
                  </a:cxn>
                  <a:cxn ang="0">
                    <a:pos x="24" y="1"/>
                  </a:cxn>
                  <a:cxn ang="0">
                    <a:pos x="25" y="1"/>
                  </a:cxn>
                  <a:cxn ang="0">
                    <a:pos x="26" y="1"/>
                  </a:cxn>
                  <a:cxn ang="0">
                    <a:pos x="28" y="1"/>
                  </a:cxn>
                  <a:cxn ang="0">
                    <a:pos x="29" y="1"/>
                  </a:cxn>
                  <a:cxn ang="0">
                    <a:pos x="30" y="1"/>
                  </a:cxn>
                  <a:cxn ang="0">
                    <a:pos x="33" y="1"/>
                  </a:cxn>
                  <a:cxn ang="0">
                    <a:pos x="36" y="1"/>
                  </a:cxn>
                  <a:cxn ang="0">
                    <a:pos x="37" y="1"/>
                  </a:cxn>
                  <a:cxn ang="0">
                    <a:pos x="39" y="2"/>
                  </a:cxn>
                  <a:cxn ang="0">
                    <a:pos x="39" y="2"/>
                  </a:cxn>
                  <a:cxn ang="0">
                    <a:pos x="41" y="2"/>
                  </a:cxn>
                  <a:cxn ang="0">
                    <a:pos x="43" y="2"/>
                  </a:cxn>
                  <a:cxn ang="0">
                    <a:pos x="46" y="2"/>
                  </a:cxn>
                  <a:cxn ang="0">
                    <a:pos x="48" y="2"/>
                  </a:cxn>
                  <a:cxn ang="0">
                    <a:pos x="51" y="2"/>
                  </a:cxn>
                  <a:cxn ang="0">
                    <a:pos x="55" y="2"/>
                  </a:cxn>
                </a:cxnLst>
                <a:rect l="txL" t="txT" r="txR" b="txB"/>
                <a:pathLst>
                  <a:path w="1977" h="252">
                    <a:moveTo>
                      <a:pt x="0" y="251"/>
                    </a:moveTo>
                    <a:lnTo>
                      <a:pt x="38" y="246"/>
                    </a:lnTo>
                    <a:lnTo>
                      <a:pt x="76" y="241"/>
                    </a:lnTo>
                    <a:lnTo>
                      <a:pt x="116" y="235"/>
                    </a:lnTo>
                    <a:lnTo>
                      <a:pt x="156" y="229"/>
                    </a:lnTo>
                    <a:lnTo>
                      <a:pt x="176" y="224"/>
                    </a:lnTo>
                    <a:lnTo>
                      <a:pt x="197" y="220"/>
                    </a:lnTo>
                    <a:lnTo>
                      <a:pt x="217" y="215"/>
                    </a:lnTo>
                    <a:lnTo>
                      <a:pt x="239" y="211"/>
                    </a:lnTo>
                    <a:lnTo>
                      <a:pt x="261" y="205"/>
                    </a:lnTo>
                    <a:lnTo>
                      <a:pt x="283" y="198"/>
                    </a:lnTo>
                    <a:lnTo>
                      <a:pt x="306" y="192"/>
                    </a:lnTo>
                    <a:lnTo>
                      <a:pt x="329" y="184"/>
                    </a:lnTo>
                    <a:lnTo>
                      <a:pt x="341" y="180"/>
                    </a:lnTo>
                    <a:lnTo>
                      <a:pt x="353" y="175"/>
                    </a:lnTo>
                    <a:lnTo>
                      <a:pt x="365" y="170"/>
                    </a:lnTo>
                    <a:lnTo>
                      <a:pt x="376" y="164"/>
                    </a:lnTo>
                    <a:lnTo>
                      <a:pt x="388" y="158"/>
                    </a:lnTo>
                    <a:lnTo>
                      <a:pt x="400" y="152"/>
                    </a:lnTo>
                    <a:lnTo>
                      <a:pt x="424" y="138"/>
                    </a:lnTo>
                    <a:lnTo>
                      <a:pt x="448" y="123"/>
                    </a:lnTo>
                    <a:lnTo>
                      <a:pt x="473" y="108"/>
                    </a:lnTo>
                    <a:lnTo>
                      <a:pt x="498" y="92"/>
                    </a:lnTo>
                    <a:lnTo>
                      <a:pt x="523" y="77"/>
                    </a:lnTo>
                    <a:lnTo>
                      <a:pt x="550" y="62"/>
                    </a:lnTo>
                    <a:lnTo>
                      <a:pt x="576" y="47"/>
                    </a:lnTo>
                    <a:lnTo>
                      <a:pt x="590" y="41"/>
                    </a:lnTo>
                    <a:lnTo>
                      <a:pt x="604" y="35"/>
                    </a:lnTo>
                    <a:lnTo>
                      <a:pt x="617" y="29"/>
                    </a:lnTo>
                    <a:lnTo>
                      <a:pt x="631" y="23"/>
                    </a:lnTo>
                    <a:lnTo>
                      <a:pt x="646" y="18"/>
                    </a:lnTo>
                    <a:lnTo>
                      <a:pt x="661" y="14"/>
                    </a:lnTo>
                    <a:lnTo>
                      <a:pt x="675" y="10"/>
                    </a:lnTo>
                    <a:lnTo>
                      <a:pt x="690" y="7"/>
                    </a:lnTo>
                    <a:lnTo>
                      <a:pt x="706" y="4"/>
                    </a:lnTo>
                    <a:lnTo>
                      <a:pt x="721" y="2"/>
                    </a:lnTo>
                    <a:lnTo>
                      <a:pt x="737" y="1"/>
                    </a:lnTo>
                    <a:lnTo>
                      <a:pt x="753" y="0"/>
                    </a:lnTo>
                    <a:lnTo>
                      <a:pt x="769" y="1"/>
                    </a:lnTo>
                    <a:lnTo>
                      <a:pt x="786" y="2"/>
                    </a:lnTo>
                    <a:lnTo>
                      <a:pt x="803" y="4"/>
                    </a:lnTo>
                    <a:lnTo>
                      <a:pt x="820" y="7"/>
                    </a:lnTo>
                    <a:lnTo>
                      <a:pt x="838" y="10"/>
                    </a:lnTo>
                    <a:lnTo>
                      <a:pt x="856" y="14"/>
                    </a:lnTo>
                    <a:lnTo>
                      <a:pt x="874" y="18"/>
                    </a:lnTo>
                    <a:lnTo>
                      <a:pt x="893" y="23"/>
                    </a:lnTo>
                    <a:lnTo>
                      <a:pt x="912" y="29"/>
                    </a:lnTo>
                    <a:lnTo>
                      <a:pt x="930" y="35"/>
                    </a:lnTo>
                    <a:lnTo>
                      <a:pt x="949" y="41"/>
                    </a:lnTo>
                    <a:lnTo>
                      <a:pt x="968" y="47"/>
                    </a:lnTo>
                    <a:lnTo>
                      <a:pt x="1008" y="62"/>
                    </a:lnTo>
                    <a:lnTo>
                      <a:pt x="1047" y="77"/>
                    </a:lnTo>
                    <a:lnTo>
                      <a:pt x="1087" y="92"/>
                    </a:lnTo>
                    <a:lnTo>
                      <a:pt x="1127" y="108"/>
                    </a:lnTo>
                    <a:lnTo>
                      <a:pt x="1167" y="123"/>
                    </a:lnTo>
                    <a:lnTo>
                      <a:pt x="1208" y="138"/>
                    </a:lnTo>
                    <a:lnTo>
                      <a:pt x="1247" y="152"/>
                    </a:lnTo>
                    <a:lnTo>
                      <a:pt x="1267" y="158"/>
                    </a:lnTo>
                    <a:lnTo>
                      <a:pt x="1287" y="164"/>
                    </a:lnTo>
                    <a:lnTo>
                      <a:pt x="1307" y="170"/>
                    </a:lnTo>
                    <a:lnTo>
                      <a:pt x="1326" y="175"/>
                    </a:lnTo>
                    <a:lnTo>
                      <a:pt x="1345" y="180"/>
                    </a:lnTo>
                    <a:lnTo>
                      <a:pt x="1364" y="184"/>
                    </a:lnTo>
                    <a:lnTo>
                      <a:pt x="1403" y="192"/>
                    </a:lnTo>
                    <a:lnTo>
                      <a:pt x="1441" y="198"/>
                    </a:lnTo>
                    <a:lnTo>
                      <a:pt x="1479" y="205"/>
                    </a:lnTo>
                    <a:lnTo>
                      <a:pt x="1517" y="211"/>
                    </a:lnTo>
                    <a:lnTo>
                      <a:pt x="1556" y="215"/>
                    </a:lnTo>
                    <a:lnTo>
                      <a:pt x="1594" y="220"/>
                    </a:lnTo>
                    <a:lnTo>
                      <a:pt x="1632" y="224"/>
                    </a:lnTo>
                    <a:lnTo>
                      <a:pt x="1670" y="229"/>
                    </a:lnTo>
                    <a:lnTo>
                      <a:pt x="1747" y="235"/>
                    </a:lnTo>
                    <a:lnTo>
                      <a:pt x="1823" y="241"/>
                    </a:lnTo>
                    <a:lnTo>
                      <a:pt x="1900" y="246"/>
                    </a:lnTo>
                    <a:lnTo>
                      <a:pt x="1976" y="251"/>
                    </a:lnTo>
                  </a:path>
                </a:pathLst>
              </a:custGeom>
              <a:noFill/>
              <a:ln w="25400" cap="rnd" cmpd="sng">
                <a:solidFill>
                  <a:srgbClr val="FF3300">
                    <a:alpha val="100000"/>
                  </a:srgbClr>
                </a:solidFill>
                <a:prstDash val="solid"/>
                <a:round/>
                <a:headEnd type="none" w="sm" len="sm"/>
                <a:tailEnd type="none" w="sm" len="sm"/>
              </a:ln>
            </p:spPr>
            <p:txBody>
              <a:bodyPr/>
              <a:p>
                <a:endParaRPr lang="zh-CN" altLang="en-US"/>
              </a:p>
            </p:txBody>
          </p:sp>
          <p:sp>
            <p:nvSpPr>
              <p:cNvPr id="14368" name="Line 26"/>
              <p:cNvSpPr/>
              <p:nvPr/>
            </p:nvSpPr>
            <p:spPr>
              <a:xfrm flipV="1">
                <a:off x="3203" y="2914"/>
                <a:ext cx="1" cy="158"/>
              </a:xfrm>
              <a:prstGeom prst="line">
                <a:avLst/>
              </a:prstGeom>
              <a:ln w="12700" cap="flat" cmpd="sng">
                <a:solidFill>
                  <a:schemeClr val="bg2"/>
                </a:solidFill>
                <a:prstDash val="solid"/>
                <a:headEnd type="none" w="sm" len="sm"/>
                <a:tailEnd type="none" w="sm" len="sm"/>
              </a:ln>
            </p:spPr>
          </p:sp>
        </p:grpSp>
        <p:grpSp>
          <p:nvGrpSpPr>
            <p:cNvPr id="14342" name="Group 27"/>
            <p:cNvGrpSpPr/>
            <p:nvPr/>
          </p:nvGrpSpPr>
          <p:grpSpPr>
            <a:xfrm>
              <a:off x="3808413" y="4398963"/>
              <a:ext cx="2627312" cy="477837"/>
              <a:chOff x="2399" y="2771"/>
              <a:chExt cx="1655" cy="301"/>
            </a:xfrm>
          </p:grpSpPr>
          <p:sp>
            <p:nvSpPr>
              <p:cNvPr id="14365" name="Line 28"/>
              <p:cNvSpPr/>
              <p:nvPr/>
            </p:nvSpPr>
            <p:spPr>
              <a:xfrm flipV="1">
                <a:off x="3077" y="2771"/>
                <a:ext cx="1" cy="301"/>
              </a:xfrm>
              <a:prstGeom prst="line">
                <a:avLst/>
              </a:prstGeom>
              <a:ln w="12700" cap="flat" cmpd="sng">
                <a:solidFill>
                  <a:srgbClr val="FFFFFF"/>
                </a:solidFill>
                <a:prstDash val="solid"/>
                <a:headEnd type="none" w="sm" len="sm"/>
                <a:tailEnd type="none" w="sm" len="sm"/>
              </a:ln>
            </p:spPr>
          </p:sp>
          <p:sp>
            <p:nvSpPr>
              <p:cNvPr id="14366" name="Freeform 29"/>
              <p:cNvSpPr/>
              <p:nvPr/>
            </p:nvSpPr>
            <p:spPr>
              <a:xfrm>
                <a:off x="2399" y="2774"/>
                <a:ext cx="1655" cy="252"/>
              </a:xfrm>
              <a:custGeom>
                <a:avLst/>
                <a:gdLst>
                  <a:gd name="txL" fmla="*/ 0 w 2449"/>
                  <a:gd name="txT" fmla="*/ 0 h 424"/>
                  <a:gd name="txR" fmla="*/ 2449 w 2449"/>
                  <a:gd name="txB" fmla="*/ 424 h 424"/>
                </a:gdLst>
                <a:ahLst/>
                <a:cxnLst>
                  <a:cxn ang="0">
                    <a:pos x="1" y="4"/>
                  </a:cxn>
                  <a:cxn ang="0">
                    <a:pos x="4" y="4"/>
                  </a:cxn>
                  <a:cxn ang="0">
                    <a:pos x="6" y="4"/>
                  </a:cxn>
                  <a:cxn ang="0">
                    <a:pos x="8" y="4"/>
                  </a:cxn>
                  <a:cxn ang="0">
                    <a:pos x="9" y="3"/>
                  </a:cxn>
                  <a:cxn ang="0">
                    <a:pos x="11" y="3"/>
                  </a:cxn>
                  <a:cxn ang="0">
                    <a:pos x="12" y="3"/>
                  </a:cxn>
                  <a:cxn ang="0">
                    <a:pos x="14" y="2"/>
                  </a:cxn>
                  <a:cxn ang="0">
                    <a:pos x="14" y="2"/>
                  </a:cxn>
                  <a:cxn ang="0">
                    <a:pos x="16" y="2"/>
                  </a:cxn>
                  <a:cxn ang="0">
                    <a:pos x="17" y="2"/>
                  </a:cxn>
                  <a:cxn ang="0">
                    <a:pos x="19" y="1"/>
                  </a:cxn>
                  <a:cxn ang="0">
                    <a:pos x="21" y="1"/>
                  </a:cxn>
                  <a:cxn ang="0">
                    <a:pos x="22" y="1"/>
                  </a:cxn>
                  <a:cxn ang="0">
                    <a:pos x="23" y="1"/>
                  </a:cxn>
                  <a:cxn ang="0">
                    <a:pos x="24" y="1"/>
                  </a:cxn>
                  <a:cxn ang="0">
                    <a:pos x="25" y="1"/>
                  </a:cxn>
                  <a:cxn ang="0">
                    <a:pos x="26" y="1"/>
                  </a:cxn>
                  <a:cxn ang="0">
                    <a:pos x="28" y="0"/>
                  </a:cxn>
                  <a:cxn ang="0">
                    <a:pos x="29" y="1"/>
                  </a:cxn>
                  <a:cxn ang="0">
                    <a:pos x="30" y="1"/>
                  </a:cxn>
                  <a:cxn ang="0">
                    <a:pos x="31" y="1"/>
                  </a:cxn>
                  <a:cxn ang="0">
                    <a:pos x="32" y="1"/>
                  </a:cxn>
                  <a:cxn ang="0">
                    <a:pos x="34" y="1"/>
                  </a:cxn>
                  <a:cxn ang="0">
                    <a:pos x="35" y="1"/>
                  </a:cxn>
                  <a:cxn ang="0">
                    <a:pos x="38" y="1"/>
                  </a:cxn>
                  <a:cxn ang="0">
                    <a:pos x="41" y="2"/>
                  </a:cxn>
                  <a:cxn ang="0">
                    <a:pos x="45" y="2"/>
                  </a:cxn>
                  <a:cxn ang="0">
                    <a:pos x="46" y="2"/>
                  </a:cxn>
                  <a:cxn ang="0">
                    <a:pos x="47" y="2"/>
                  </a:cxn>
                  <a:cxn ang="0">
                    <a:pos x="49" y="3"/>
                  </a:cxn>
                  <a:cxn ang="0">
                    <a:pos x="51" y="3"/>
                  </a:cxn>
                  <a:cxn ang="0">
                    <a:pos x="54" y="3"/>
                  </a:cxn>
                  <a:cxn ang="0">
                    <a:pos x="57" y="4"/>
                  </a:cxn>
                  <a:cxn ang="0">
                    <a:pos x="59" y="4"/>
                  </a:cxn>
                  <a:cxn ang="0">
                    <a:pos x="64" y="4"/>
                  </a:cxn>
                  <a:cxn ang="0">
                    <a:pos x="69" y="4"/>
                  </a:cxn>
                </a:cxnLst>
                <a:rect l="txL" t="txT" r="txR" b="txB"/>
                <a:pathLst>
                  <a:path w="2449" h="424">
                    <a:moveTo>
                      <a:pt x="0" y="423"/>
                    </a:moveTo>
                    <a:lnTo>
                      <a:pt x="47" y="415"/>
                    </a:lnTo>
                    <a:lnTo>
                      <a:pt x="94" y="406"/>
                    </a:lnTo>
                    <a:lnTo>
                      <a:pt x="143" y="396"/>
                    </a:lnTo>
                    <a:lnTo>
                      <a:pt x="193" y="385"/>
                    </a:lnTo>
                    <a:lnTo>
                      <a:pt x="218" y="378"/>
                    </a:lnTo>
                    <a:lnTo>
                      <a:pt x="244" y="371"/>
                    </a:lnTo>
                    <a:lnTo>
                      <a:pt x="269" y="363"/>
                    </a:lnTo>
                    <a:lnTo>
                      <a:pt x="296" y="355"/>
                    </a:lnTo>
                    <a:lnTo>
                      <a:pt x="322" y="345"/>
                    </a:lnTo>
                    <a:lnTo>
                      <a:pt x="351" y="334"/>
                    </a:lnTo>
                    <a:lnTo>
                      <a:pt x="379" y="323"/>
                    </a:lnTo>
                    <a:lnTo>
                      <a:pt x="408" y="310"/>
                    </a:lnTo>
                    <a:lnTo>
                      <a:pt x="422" y="303"/>
                    </a:lnTo>
                    <a:lnTo>
                      <a:pt x="437" y="295"/>
                    </a:lnTo>
                    <a:lnTo>
                      <a:pt x="451" y="286"/>
                    </a:lnTo>
                    <a:lnTo>
                      <a:pt x="466" y="277"/>
                    </a:lnTo>
                    <a:lnTo>
                      <a:pt x="481" y="266"/>
                    </a:lnTo>
                    <a:lnTo>
                      <a:pt x="495" y="255"/>
                    </a:lnTo>
                    <a:lnTo>
                      <a:pt x="526" y="232"/>
                    </a:lnTo>
                    <a:lnTo>
                      <a:pt x="555" y="207"/>
                    </a:lnTo>
                    <a:lnTo>
                      <a:pt x="586" y="181"/>
                    </a:lnTo>
                    <a:lnTo>
                      <a:pt x="616" y="154"/>
                    </a:lnTo>
                    <a:lnTo>
                      <a:pt x="648" y="129"/>
                    </a:lnTo>
                    <a:lnTo>
                      <a:pt x="681" y="103"/>
                    </a:lnTo>
                    <a:lnTo>
                      <a:pt x="714" y="79"/>
                    </a:lnTo>
                    <a:lnTo>
                      <a:pt x="730" y="68"/>
                    </a:lnTo>
                    <a:lnTo>
                      <a:pt x="748" y="58"/>
                    </a:lnTo>
                    <a:lnTo>
                      <a:pt x="765" y="48"/>
                    </a:lnTo>
                    <a:lnTo>
                      <a:pt x="782" y="39"/>
                    </a:lnTo>
                    <a:lnTo>
                      <a:pt x="800" y="30"/>
                    </a:lnTo>
                    <a:lnTo>
                      <a:pt x="818" y="22"/>
                    </a:lnTo>
                    <a:lnTo>
                      <a:pt x="837" y="16"/>
                    </a:lnTo>
                    <a:lnTo>
                      <a:pt x="854" y="11"/>
                    </a:lnTo>
                    <a:lnTo>
                      <a:pt x="874" y="6"/>
                    </a:lnTo>
                    <a:lnTo>
                      <a:pt x="894" y="3"/>
                    </a:lnTo>
                    <a:lnTo>
                      <a:pt x="913" y="1"/>
                    </a:lnTo>
                    <a:lnTo>
                      <a:pt x="932" y="0"/>
                    </a:lnTo>
                    <a:lnTo>
                      <a:pt x="953" y="1"/>
                    </a:lnTo>
                    <a:lnTo>
                      <a:pt x="974" y="3"/>
                    </a:lnTo>
                    <a:lnTo>
                      <a:pt x="994" y="6"/>
                    </a:lnTo>
                    <a:lnTo>
                      <a:pt x="1016" y="11"/>
                    </a:lnTo>
                    <a:lnTo>
                      <a:pt x="1038" y="16"/>
                    </a:lnTo>
                    <a:lnTo>
                      <a:pt x="1060" y="22"/>
                    </a:lnTo>
                    <a:lnTo>
                      <a:pt x="1083" y="30"/>
                    </a:lnTo>
                    <a:lnTo>
                      <a:pt x="1106" y="39"/>
                    </a:lnTo>
                    <a:lnTo>
                      <a:pt x="1129" y="48"/>
                    </a:lnTo>
                    <a:lnTo>
                      <a:pt x="1152" y="58"/>
                    </a:lnTo>
                    <a:lnTo>
                      <a:pt x="1175" y="68"/>
                    </a:lnTo>
                    <a:lnTo>
                      <a:pt x="1200" y="79"/>
                    </a:lnTo>
                    <a:lnTo>
                      <a:pt x="1248" y="103"/>
                    </a:lnTo>
                    <a:lnTo>
                      <a:pt x="1297" y="129"/>
                    </a:lnTo>
                    <a:lnTo>
                      <a:pt x="1347" y="154"/>
                    </a:lnTo>
                    <a:lnTo>
                      <a:pt x="1396" y="181"/>
                    </a:lnTo>
                    <a:lnTo>
                      <a:pt x="1446" y="207"/>
                    </a:lnTo>
                    <a:lnTo>
                      <a:pt x="1496" y="232"/>
                    </a:lnTo>
                    <a:lnTo>
                      <a:pt x="1544" y="255"/>
                    </a:lnTo>
                    <a:lnTo>
                      <a:pt x="1570" y="266"/>
                    </a:lnTo>
                    <a:lnTo>
                      <a:pt x="1594" y="277"/>
                    </a:lnTo>
                    <a:lnTo>
                      <a:pt x="1618" y="286"/>
                    </a:lnTo>
                    <a:lnTo>
                      <a:pt x="1643" y="295"/>
                    </a:lnTo>
                    <a:lnTo>
                      <a:pt x="1666" y="303"/>
                    </a:lnTo>
                    <a:lnTo>
                      <a:pt x="1690" y="310"/>
                    </a:lnTo>
                    <a:lnTo>
                      <a:pt x="1738" y="323"/>
                    </a:lnTo>
                    <a:lnTo>
                      <a:pt x="1785" y="334"/>
                    </a:lnTo>
                    <a:lnTo>
                      <a:pt x="1832" y="345"/>
                    </a:lnTo>
                    <a:lnTo>
                      <a:pt x="1880" y="355"/>
                    </a:lnTo>
                    <a:lnTo>
                      <a:pt x="1927" y="363"/>
                    </a:lnTo>
                    <a:lnTo>
                      <a:pt x="1974" y="371"/>
                    </a:lnTo>
                    <a:lnTo>
                      <a:pt x="2022" y="378"/>
                    </a:lnTo>
                    <a:lnTo>
                      <a:pt x="2069" y="385"/>
                    </a:lnTo>
                    <a:lnTo>
                      <a:pt x="2163" y="396"/>
                    </a:lnTo>
                    <a:lnTo>
                      <a:pt x="2258" y="406"/>
                    </a:lnTo>
                    <a:lnTo>
                      <a:pt x="2353" y="415"/>
                    </a:lnTo>
                    <a:lnTo>
                      <a:pt x="2448" y="423"/>
                    </a:lnTo>
                  </a:path>
                </a:pathLst>
              </a:custGeom>
              <a:noFill/>
              <a:ln w="25400" cap="rnd" cmpd="sng">
                <a:solidFill>
                  <a:srgbClr val="FF3300">
                    <a:alpha val="100000"/>
                  </a:srgbClr>
                </a:solidFill>
                <a:prstDash val="solid"/>
                <a:round/>
                <a:headEnd type="none" w="sm" len="sm"/>
                <a:tailEnd type="none" w="sm" len="sm"/>
              </a:ln>
            </p:spPr>
            <p:txBody>
              <a:bodyPr/>
              <a:p>
                <a:endParaRPr lang="zh-CN" altLang="en-US"/>
              </a:p>
            </p:txBody>
          </p:sp>
        </p:grpSp>
        <p:grpSp>
          <p:nvGrpSpPr>
            <p:cNvPr id="14343" name="Group 30"/>
            <p:cNvGrpSpPr/>
            <p:nvPr/>
          </p:nvGrpSpPr>
          <p:grpSpPr>
            <a:xfrm>
              <a:off x="3286125" y="3944938"/>
              <a:ext cx="3249613" cy="950912"/>
              <a:chOff x="2070" y="2485"/>
              <a:chExt cx="2047" cy="599"/>
            </a:xfrm>
          </p:grpSpPr>
          <p:sp>
            <p:nvSpPr>
              <p:cNvPr id="14363" name="Line 31"/>
              <p:cNvSpPr/>
              <p:nvPr/>
            </p:nvSpPr>
            <p:spPr>
              <a:xfrm flipV="1">
                <a:off x="2832" y="2485"/>
                <a:ext cx="1" cy="599"/>
              </a:xfrm>
              <a:prstGeom prst="line">
                <a:avLst/>
              </a:prstGeom>
              <a:ln w="12700" cap="flat" cmpd="sng">
                <a:solidFill>
                  <a:schemeClr val="tx1"/>
                </a:solidFill>
                <a:prstDash val="solid"/>
                <a:headEnd type="none" w="sm" len="sm"/>
                <a:tailEnd type="none" w="sm" len="sm"/>
              </a:ln>
            </p:spPr>
          </p:sp>
          <p:sp>
            <p:nvSpPr>
              <p:cNvPr id="14364" name="Freeform 32"/>
              <p:cNvSpPr/>
              <p:nvPr/>
            </p:nvSpPr>
            <p:spPr>
              <a:xfrm>
                <a:off x="2070" y="2486"/>
                <a:ext cx="2047" cy="457"/>
              </a:xfrm>
              <a:custGeom>
                <a:avLst/>
                <a:gdLst>
                  <a:gd name="txL" fmla="*/ 0 w 3029"/>
                  <a:gd name="txT" fmla="*/ 0 h 769"/>
                  <a:gd name="txR" fmla="*/ 3029 w 3029"/>
                  <a:gd name="txB" fmla="*/ 769 h 769"/>
                </a:gdLst>
                <a:ahLst/>
                <a:cxnLst>
                  <a:cxn ang="0">
                    <a:pos x="1" y="7"/>
                  </a:cxn>
                  <a:cxn ang="0">
                    <a:pos x="5" y="7"/>
                  </a:cxn>
                  <a:cxn ang="0">
                    <a:pos x="8" y="7"/>
                  </a:cxn>
                  <a:cxn ang="0">
                    <a:pos x="10" y="6"/>
                  </a:cxn>
                  <a:cxn ang="0">
                    <a:pos x="12" y="6"/>
                  </a:cxn>
                  <a:cxn ang="0">
                    <a:pos x="14" y="5"/>
                  </a:cxn>
                  <a:cxn ang="0">
                    <a:pos x="16" y="5"/>
                  </a:cxn>
                  <a:cxn ang="0">
                    <a:pos x="16" y="5"/>
                  </a:cxn>
                  <a:cxn ang="0">
                    <a:pos x="18" y="4"/>
                  </a:cxn>
                  <a:cxn ang="0">
                    <a:pos x="19" y="4"/>
                  </a:cxn>
                  <a:cxn ang="0">
                    <a:pos x="22" y="3"/>
                  </a:cxn>
                  <a:cxn ang="0">
                    <a:pos x="23" y="2"/>
                  </a:cxn>
                  <a:cxn ang="0">
                    <a:pos x="26" y="1"/>
                  </a:cxn>
                  <a:cxn ang="0">
                    <a:pos x="27" y="1"/>
                  </a:cxn>
                  <a:cxn ang="0">
                    <a:pos x="28" y="1"/>
                  </a:cxn>
                  <a:cxn ang="0">
                    <a:pos x="30" y="1"/>
                  </a:cxn>
                  <a:cxn ang="0">
                    <a:pos x="31" y="1"/>
                  </a:cxn>
                  <a:cxn ang="0">
                    <a:pos x="32" y="1"/>
                  </a:cxn>
                  <a:cxn ang="0">
                    <a:pos x="34" y="0"/>
                  </a:cxn>
                  <a:cxn ang="0">
                    <a:pos x="36" y="1"/>
                  </a:cxn>
                  <a:cxn ang="0">
                    <a:pos x="37" y="1"/>
                  </a:cxn>
                  <a:cxn ang="0">
                    <a:pos x="39" y="1"/>
                  </a:cxn>
                  <a:cxn ang="0">
                    <a:pos x="40" y="1"/>
                  </a:cxn>
                  <a:cxn ang="0">
                    <a:pos x="42" y="1"/>
                  </a:cxn>
                  <a:cxn ang="0">
                    <a:pos x="43" y="1"/>
                  </a:cxn>
                  <a:cxn ang="0">
                    <a:pos x="47" y="2"/>
                  </a:cxn>
                  <a:cxn ang="0">
                    <a:pos x="51" y="3"/>
                  </a:cxn>
                  <a:cxn ang="0">
                    <a:pos x="54" y="4"/>
                  </a:cxn>
                  <a:cxn ang="0">
                    <a:pos x="57" y="4"/>
                  </a:cxn>
                  <a:cxn ang="0">
                    <a:pos x="59" y="5"/>
                  </a:cxn>
                  <a:cxn ang="0">
                    <a:pos x="61" y="5"/>
                  </a:cxn>
                  <a:cxn ang="0">
                    <a:pos x="64" y="5"/>
                  </a:cxn>
                  <a:cxn ang="0">
                    <a:pos x="67" y="6"/>
                  </a:cxn>
                  <a:cxn ang="0">
                    <a:pos x="70" y="6"/>
                  </a:cxn>
                  <a:cxn ang="0">
                    <a:pos x="74" y="7"/>
                  </a:cxn>
                  <a:cxn ang="0">
                    <a:pos x="78" y="7"/>
                  </a:cxn>
                  <a:cxn ang="0">
                    <a:pos x="85" y="7"/>
                  </a:cxn>
                </a:cxnLst>
                <a:rect l="txL" t="txT" r="txR" b="txB"/>
                <a:pathLst>
                  <a:path w="3029" h="769">
                    <a:moveTo>
                      <a:pt x="0" y="768"/>
                    </a:moveTo>
                    <a:lnTo>
                      <a:pt x="58" y="752"/>
                    </a:lnTo>
                    <a:lnTo>
                      <a:pt x="117" y="737"/>
                    </a:lnTo>
                    <a:lnTo>
                      <a:pt x="176" y="719"/>
                    </a:lnTo>
                    <a:lnTo>
                      <a:pt x="238" y="699"/>
                    </a:lnTo>
                    <a:lnTo>
                      <a:pt x="269" y="686"/>
                    </a:lnTo>
                    <a:lnTo>
                      <a:pt x="301" y="673"/>
                    </a:lnTo>
                    <a:lnTo>
                      <a:pt x="332" y="659"/>
                    </a:lnTo>
                    <a:lnTo>
                      <a:pt x="366" y="644"/>
                    </a:lnTo>
                    <a:lnTo>
                      <a:pt x="399" y="625"/>
                    </a:lnTo>
                    <a:lnTo>
                      <a:pt x="433" y="606"/>
                    </a:lnTo>
                    <a:lnTo>
                      <a:pt x="468" y="586"/>
                    </a:lnTo>
                    <a:lnTo>
                      <a:pt x="504" y="563"/>
                    </a:lnTo>
                    <a:lnTo>
                      <a:pt x="522" y="550"/>
                    </a:lnTo>
                    <a:lnTo>
                      <a:pt x="540" y="534"/>
                    </a:lnTo>
                    <a:lnTo>
                      <a:pt x="558" y="518"/>
                    </a:lnTo>
                    <a:lnTo>
                      <a:pt x="576" y="501"/>
                    </a:lnTo>
                    <a:lnTo>
                      <a:pt x="594" y="483"/>
                    </a:lnTo>
                    <a:lnTo>
                      <a:pt x="612" y="464"/>
                    </a:lnTo>
                    <a:lnTo>
                      <a:pt x="650" y="420"/>
                    </a:lnTo>
                    <a:lnTo>
                      <a:pt x="686" y="375"/>
                    </a:lnTo>
                    <a:lnTo>
                      <a:pt x="725" y="328"/>
                    </a:lnTo>
                    <a:lnTo>
                      <a:pt x="763" y="280"/>
                    </a:lnTo>
                    <a:lnTo>
                      <a:pt x="801" y="233"/>
                    </a:lnTo>
                    <a:lnTo>
                      <a:pt x="842" y="187"/>
                    </a:lnTo>
                    <a:lnTo>
                      <a:pt x="883" y="144"/>
                    </a:lnTo>
                    <a:lnTo>
                      <a:pt x="903" y="123"/>
                    </a:lnTo>
                    <a:lnTo>
                      <a:pt x="925" y="104"/>
                    </a:lnTo>
                    <a:lnTo>
                      <a:pt x="946" y="85"/>
                    </a:lnTo>
                    <a:lnTo>
                      <a:pt x="966" y="70"/>
                    </a:lnTo>
                    <a:lnTo>
                      <a:pt x="989" y="54"/>
                    </a:lnTo>
                    <a:lnTo>
                      <a:pt x="1012" y="40"/>
                    </a:lnTo>
                    <a:lnTo>
                      <a:pt x="1034" y="28"/>
                    </a:lnTo>
                    <a:lnTo>
                      <a:pt x="1057" y="18"/>
                    </a:lnTo>
                    <a:lnTo>
                      <a:pt x="1081" y="10"/>
                    </a:lnTo>
                    <a:lnTo>
                      <a:pt x="1104" y="5"/>
                    </a:lnTo>
                    <a:lnTo>
                      <a:pt x="1129" y="0"/>
                    </a:lnTo>
                    <a:lnTo>
                      <a:pt x="1153" y="0"/>
                    </a:lnTo>
                    <a:lnTo>
                      <a:pt x="1178" y="0"/>
                    </a:lnTo>
                    <a:lnTo>
                      <a:pt x="1204" y="5"/>
                    </a:lnTo>
                    <a:lnTo>
                      <a:pt x="1230" y="10"/>
                    </a:lnTo>
                    <a:lnTo>
                      <a:pt x="1257" y="18"/>
                    </a:lnTo>
                    <a:lnTo>
                      <a:pt x="1284" y="28"/>
                    </a:lnTo>
                    <a:lnTo>
                      <a:pt x="1311" y="40"/>
                    </a:lnTo>
                    <a:lnTo>
                      <a:pt x="1339" y="54"/>
                    </a:lnTo>
                    <a:lnTo>
                      <a:pt x="1368" y="70"/>
                    </a:lnTo>
                    <a:lnTo>
                      <a:pt x="1396" y="85"/>
                    </a:lnTo>
                    <a:lnTo>
                      <a:pt x="1425" y="104"/>
                    </a:lnTo>
                    <a:lnTo>
                      <a:pt x="1454" y="123"/>
                    </a:lnTo>
                    <a:lnTo>
                      <a:pt x="1483" y="144"/>
                    </a:lnTo>
                    <a:lnTo>
                      <a:pt x="1544" y="187"/>
                    </a:lnTo>
                    <a:lnTo>
                      <a:pt x="1603" y="233"/>
                    </a:lnTo>
                    <a:lnTo>
                      <a:pt x="1665" y="280"/>
                    </a:lnTo>
                    <a:lnTo>
                      <a:pt x="1727" y="328"/>
                    </a:lnTo>
                    <a:lnTo>
                      <a:pt x="1788" y="375"/>
                    </a:lnTo>
                    <a:lnTo>
                      <a:pt x="1849" y="420"/>
                    </a:lnTo>
                    <a:lnTo>
                      <a:pt x="1910" y="464"/>
                    </a:lnTo>
                    <a:lnTo>
                      <a:pt x="1941" y="483"/>
                    </a:lnTo>
                    <a:lnTo>
                      <a:pt x="1971" y="501"/>
                    </a:lnTo>
                    <a:lnTo>
                      <a:pt x="2002" y="518"/>
                    </a:lnTo>
                    <a:lnTo>
                      <a:pt x="2032" y="534"/>
                    </a:lnTo>
                    <a:lnTo>
                      <a:pt x="2061" y="550"/>
                    </a:lnTo>
                    <a:lnTo>
                      <a:pt x="2090" y="563"/>
                    </a:lnTo>
                    <a:lnTo>
                      <a:pt x="2149" y="586"/>
                    </a:lnTo>
                    <a:lnTo>
                      <a:pt x="2208" y="606"/>
                    </a:lnTo>
                    <a:lnTo>
                      <a:pt x="2266" y="625"/>
                    </a:lnTo>
                    <a:lnTo>
                      <a:pt x="2325" y="644"/>
                    </a:lnTo>
                    <a:lnTo>
                      <a:pt x="2383" y="659"/>
                    </a:lnTo>
                    <a:lnTo>
                      <a:pt x="2442" y="673"/>
                    </a:lnTo>
                    <a:lnTo>
                      <a:pt x="2500" y="686"/>
                    </a:lnTo>
                    <a:lnTo>
                      <a:pt x="2558" y="699"/>
                    </a:lnTo>
                    <a:lnTo>
                      <a:pt x="2676" y="719"/>
                    </a:lnTo>
                    <a:lnTo>
                      <a:pt x="2793" y="737"/>
                    </a:lnTo>
                    <a:lnTo>
                      <a:pt x="2910" y="752"/>
                    </a:lnTo>
                    <a:lnTo>
                      <a:pt x="3028" y="768"/>
                    </a:lnTo>
                  </a:path>
                </a:pathLst>
              </a:custGeom>
              <a:noFill/>
              <a:ln w="25400" cap="rnd" cmpd="sng">
                <a:solidFill>
                  <a:srgbClr val="FF3300">
                    <a:alpha val="100000"/>
                  </a:srgbClr>
                </a:solidFill>
                <a:prstDash val="solid"/>
                <a:round/>
                <a:headEnd type="none" w="sm" len="sm"/>
                <a:tailEnd type="none" w="sm" len="sm"/>
              </a:ln>
            </p:spPr>
            <p:txBody>
              <a:bodyPr/>
              <a:p>
                <a:endParaRPr lang="zh-CN" altLang="en-US"/>
              </a:p>
            </p:txBody>
          </p:sp>
        </p:grpSp>
        <p:sp>
          <p:nvSpPr>
            <p:cNvPr id="14344" name="Freeform 33"/>
            <p:cNvSpPr/>
            <p:nvPr/>
          </p:nvSpPr>
          <p:spPr>
            <a:xfrm>
              <a:off x="2978098" y="2554288"/>
              <a:ext cx="3683036" cy="2043112"/>
            </a:xfrm>
            <a:custGeom>
              <a:avLst/>
              <a:gdLst>
                <a:gd name="txL" fmla="*/ 0 w 3433"/>
                <a:gd name="txT" fmla="*/ 0 h 2165"/>
                <a:gd name="txR" fmla="*/ 3433 w 3433"/>
                <a:gd name="txB" fmla="*/ 2165 h 2165"/>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3433" h="2165">
                  <a:moveTo>
                    <a:pt x="0" y="2164"/>
                  </a:moveTo>
                  <a:lnTo>
                    <a:pt x="66" y="2122"/>
                  </a:lnTo>
                  <a:lnTo>
                    <a:pt x="133" y="2080"/>
                  </a:lnTo>
                  <a:lnTo>
                    <a:pt x="200" y="2029"/>
                  </a:lnTo>
                  <a:lnTo>
                    <a:pt x="270" y="1972"/>
                  </a:lnTo>
                  <a:lnTo>
                    <a:pt x="306" y="1936"/>
                  </a:lnTo>
                  <a:lnTo>
                    <a:pt x="342" y="1899"/>
                  </a:lnTo>
                  <a:lnTo>
                    <a:pt x="377" y="1857"/>
                  </a:lnTo>
                  <a:lnTo>
                    <a:pt x="415" y="1815"/>
                  </a:lnTo>
                  <a:lnTo>
                    <a:pt x="453" y="1764"/>
                  </a:lnTo>
                  <a:lnTo>
                    <a:pt x="492" y="1710"/>
                  </a:lnTo>
                  <a:lnTo>
                    <a:pt x="530" y="1653"/>
                  </a:lnTo>
                  <a:lnTo>
                    <a:pt x="571" y="1587"/>
                  </a:lnTo>
                  <a:lnTo>
                    <a:pt x="592" y="1551"/>
                  </a:lnTo>
                  <a:lnTo>
                    <a:pt x="612" y="1509"/>
                  </a:lnTo>
                  <a:lnTo>
                    <a:pt x="632" y="1464"/>
                  </a:lnTo>
                  <a:lnTo>
                    <a:pt x="653" y="1416"/>
                  </a:lnTo>
                  <a:lnTo>
                    <a:pt x="673" y="1362"/>
                  </a:lnTo>
                  <a:lnTo>
                    <a:pt x="694" y="1307"/>
                  </a:lnTo>
                  <a:lnTo>
                    <a:pt x="736" y="1187"/>
                  </a:lnTo>
                  <a:lnTo>
                    <a:pt x="777" y="1058"/>
                  </a:lnTo>
                  <a:lnTo>
                    <a:pt x="822" y="926"/>
                  </a:lnTo>
                  <a:lnTo>
                    <a:pt x="864" y="790"/>
                  </a:lnTo>
                  <a:lnTo>
                    <a:pt x="909" y="658"/>
                  </a:lnTo>
                  <a:lnTo>
                    <a:pt x="954" y="529"/>
                  </a:lnTo>
                  <a:lnTo>
                    <a:pt x="1001" y="406"/>
                  </a:lnTo>
                  <a:lnTo>
                    <a:pt x="1025" y="349"/>
                  </a:lnTo>
                  <a:lnTo>
                    <a:pt x="1048" y="295"/>
                  </a:lnTo>
                  <a:lnTo>
                    <a:pt x="1072" y="243"/>
                  </a:lnTo>
                  <a:lnTo>
                    <a:pt x="1096" y="198"/>
                  </a:lnTo>
                  <a:lnTo>
                    <a:pt x="1121" y="153"/>
                  </a:lnTo>
                  <a:lnTo>
                    <a:pt x="1147" y="114"/>
                  </a:lnTo>
                  <a:lnTo>
                    <a:pt x="1172" y="81"/>
                  </a:lnTo>
                  <a:lnTo>
                    <a:pt x="1198" y="54"/>
                  </a:lnTo>
                  <a:lnTo>
                    <a:pt x="1225" y="30"/>
                  </a:lnTo>
                  <a:lnTo>
                    <a:pt x="1253" y="15"/>
                  </a:lnTo>
                  <a:lnTo>
                    <a:pt x="1280" y="3"/>
                  </a:lnTo>
                  <a:lnTo>
                    <a:pt x="1307" y="0"/>
                  </a:lnTo>
                  <a:lnTo>
                    <a:pt x="1336" y="3"/>
                  </a:lnTo>
                  <a:lnTo>
                    <a:pt x="1365" y="15"/>
                  </a:lnTo>
                  <a:lnTo>
                    <a:pt x="1394" y="30"/>
                  </a:lnTo>
                  <a:lnTo>
                    <a:pt x="1424" y="54"/>
                  </a:lnTo>
                  <a:lnTo>
                    <a:pt x="1455" y="81"/>
                  </a:lnTo>
                  <a:lnTo>
                    <a:pt x="1486" y="114"/>
                  </a:lnTo>
                  <a:lnTo>
                    <a:pt x="1518" y="153"/>
                  </a:lnTo>
                  <a:lnTo>
                    <a:pt x="1551" y="198"/>
                  </a:lnTo>
                  <a:lnTo>
                    <a:pt x="1583" y="243"/>
                  </a:lnTo>
                  <a:lnTo>
                    <a:pt x="1616" y="295"/>
                  </a:lnTo>
                  <a:lnTo>
                    <a:pt x="1648" y="349"/>
                  </a:lnTo>
                  <a:lnTo>
                    <a:pt x="1681" y="406"/>
                  </a:lnTo>
                  <a:lnTo>
                    <a:pt x="1750" y="529"/>
                  </a:lnTo>
                  <a:lnTo>
                    <a:pt x="1818" y="658"/>
                  </a:lnTo>
                  <a:lnTo>
                    <a:pt x="1887" y="790"/>
                  </a:lnTo>
                  <a:lnTo>
                    <a:pt x="1958" y="926"/>
                  </a:lnTo>
                  <a:lnTo>
                    <a:pt x="2027" y="1058"/>
                  </a:lnTo>
                  <a:lnTo>
                    <a:pt x="2097" y="1187"/>
                  </a:lnTo>
                  <a:lnTo>
                    <a:pt x="2165" y="1307"/>
                  </a:lnTo>
                  <a:lnTo>
                    <a:pt x="2201" y="1362"/>
                  </a:lnTo>
                  <a:lnTo>
                    <a:pt x="2235" y="1416"/>
                  </a:lnTo>
                  <a:lnTo>
                    <a:pt x="2269" y="1464"/>
                  </a:lnTo>
                  <a:lnTo>
                    <a:pt x="2303" y="1509"/>
                  </a:lnTo>
                  <a:lnTo>
                    <a:pt x="2335" y="1551"/>
                  </a:lnTo>
                  <a:lnTo>
                    <a:pt x="2369" y="1587"/>
                  </a:lnTo>
                  <a:lnTo>
                    <a:pt x="2436" y="1653"/>
                  </a:lnTo>
                  <a:lnTo>
                    <a:pt x="2502" y="1710"/>
                  </a:lnTo>
                  <a:lnTo>
                    <a:pt x="2569" y="1764"/>
                  </a:lnTo>
                  <a:lnTo>
                    <a:pt x="2635" y="1815"/>
                  </a:lnTo>
                  <a:lnTo>
                    <a:pt x="2701" y="1857"/>
                  </a:lnTo>
                  <a:lnTo>
                    <a:pt x="2768" y="1899"/>
                  </a:lnTo>
                  <a:lnTo>
                    <a:pt x="2834" y="1936"/>
                  </a:lnTo>
                  <a:lnTo>
                    <a:pt x="2901" y="1972"/>
                  </a:lnTo>
                  <a:lnTo>
                    <a:pt x="3033" y="2029"/>
                  </a:lnTo>
                  <a:lnTo>
                    <a:pt x="3166" y="2080"/>
                  </a:lnTo>
                  <a:lnTo>
                    <a:pt x="3299" y="2122"/>
                  </a:lnTo>
                  <a:lnTo>
                    <a:pt x="3432" y="2164"/>
                  </a:lnTo>
                </a:path>
              </a:pathLst>
            </a:custGeom>
            <a:noFill/>
            <a:ln w="28575" cap="rnd" cmpd="sng">
              <a:solidFill>
                <a:srgbClr val="FF3300">
                  <a:alpha val="100000"/>
                </a:srgbClr>
              </a:solidFill>
              <a:prstDash val="solid"/>
              <a:round/>
              <a:headEnd type="none" w="sm" len="sm"/>
              <a:tailEnd type="none" w="sm" len="sm"/>
            </a:ln>
          </p:spPr>
          <p:txBody>
            <a:bodyPr/>
            <a:p>
              <a:endParaRPr lang="zh-CN" altLang="en-US"/>
            </a:p>
          </p:txBody>
        </p:sp>
        <p:sp>
          <p:nvSpPr>
            <p:cNvPr id="14345" name="Rectangle 34"/>
            <p:cNvSpPr/>
            <p:nvPr/>
          </p:nvSpPr>
          <p:spPr>
            <a:xfrm rot="2220000">
              <a:off x="4522751" y="2513013"/>
              <a:ext cx="898534" cy="40005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en-US" altLang="zh-CN" sz="2000" dirty="0">
                  <a:solidFill>
                    <a:srgbClr val="080808"/>
                  </a:solidFill>
                  <a:latin typeface="Times New Roman" panose="02020603050405020304" pitchFamily="18" charset="0"/>
                  <a:ea typeface="MS PGothic" panose="020B0600070205080204" pitchFamily="34" charset="-128"/>
                </a:rPr>
                <a:t>1700K</a:t>
              </a:r>
              <a:endParaRPr lang="en-US" altLang="zh-CN" sz="2000" dirty="0">
                <a:solidFill>
                  <a:srgbClr val="080808"/>
                </a:solidFill>
                <a:latin typeface="Times New Roman" panose="02020603050405020304" pitchFamily="18" charset="0"/>
                <a:ea typeface="MS PGothic" panose="020B0600070205080204" pitchFamily="34" charset="-128"/>
              </a:endParaRPr>
            </a:p>
          </p:txBody>
        </p:sp>
        <p:sp>
          <p:nvSpPr>
            <p:cNvPr id="14346" name="Rectangle 35"/>
            <p:cNvSpPr/>
            <p:nvPr/>
          </p:nvSpPr>
          <p:spPr>
            <a:xfrm rot="1740000">
              <a:off x="4579902" y="3713163"/>
              <a:ext cx="898534" cy="40005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en-US" altLang="zh-CN" sz="2000" dirty="0">
                  <a:solidFill>
                    <a:srgbClr val="080808"/>
                  </a:solidFill>
                  <a:latin typeface="Times New Roman" panose="02020603050405020304" pitchFamily="18" charset="0"/>
                  <a:ea typeface="MS PGothic" panose="020B0600070205080204" pitchFamily="34" charset="-128"/>
                </a:rPr>
                <a:t>1500K</a:t>
              </a:r>
              <a:endParaRPr lang="en-US" altLang="zh-CN" sz="2000" dirty="0">
                <a:solidFill>
                  <a:srgbClr val="080808"/>
                </a:solidFill>
                <a:latin typeface="Times New Roman" panose="02020603050405020304" pitchFamily="18" charset="0"/>
                <a:ea typeface="MS PGothic" panose="020B0600070205080204" pitchFamily="34" charset="-128"/>
              </a:endParaRPr>
            </a:p>
          </p:txBody>
        </p:sp>
        <p:sp>
          <p:nvSpPr>
            <p:cNvPr id="14347" name="Rectangle 36"/>
            <p:cNvSpPr/>
            <p:nvPr/>
          </p:nvSpPr>
          <p:spPr>
            <a:xfrm rot="1140000">
              <a:off x="4616414" y="4149725"/>
              <a:ext cx="898534" cy="40005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en-US" altLang="zh-CN" sz="2000" dirty="0">
                  <a:solidFill>
                    <a:srgbClr val="080808"/>
                  </a:solidFill>
                  <a:latin typeface="Times New Roman" panose="02020603050405020304" pitchFamily="18" charset="0"/>
                  <a:ea typeface="MS PGothic" panose="020B0600070205080204" pitchFamily="34" charset="-128"/>
                </a:rPr>
                <a:t>1300K</a:t>
              </a:r>
              <a:endParaRPr lang="en-US" altLang="zh-CN" sz="2000" dirty="0">
                <a:solidFill>
                  <a:srgbClr val="080808"/>
                </a:solidFill>
                <a:latin typeface="Times New Roman" panose="02020603050405020304" pitchFamily="18" charset="0"/>
                <a:ea typeface="MS PGothic" panose="020B0600070205080204" pitchFamily="34" charset="-128"/>
              </a:endParaRPr>
            </a:p>
          </p:txBody>
        </p:sp>
        <p:sp>
          <p:nvSpPr>
            <p:cNvPr id="14348" name="Rectangle 37"/>
            <p:cNvSpPr/>
            <p:nvPr/>
          </p:nvSpPr>
          <p:spPr>
            <a:xfrm rot="1140000">
              <a:off x="4797391" y="4560888"/>
              <a:ext cx="882659" cy="40005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en-US" altLang="zh-CN" sz="2000" dirty="0">
                  <a:solidFill>
                    <a:srgbClr val="080808"/>
                  </a:solidFill>
                  <a:latin typeface="Times New Roman" panose="02020603050405020304" pitchFamily="18" charset="0"/>
                  <a:ea typeface="MS PGothic" panose="020B0600070205080204" pitchFamily="34" charset="-128"/>
                </a:rPr>
                <a:t>1100K</a:t>
              </a:r>
              <a:endParaRPr lang="en-US" altLang="zh-CN" sz="2000" dirty="0">
                <a:solidFill>
                  <a:srgbClr val="080808"/>
                </a:solidFill>
                <a:latin typeface="Times New Roman" panose="02020603050405020304" pitchFamily="18" charset="0"/>
                <a:ea typeface="MS PGothic" panose="020B0600070205080204" pitchFamily="34" charset="-128"/>
              </a:endParaRPr>
            </a:p>
          </p:txBody>
        </p:sp>
        <p:grpSp>
          <p:nvGrpSpPr>
            <p:cNvPr id="14349" name="Group 38"/>
            <p:cNvGrpSpPr/>
            <p:nvPr/>
          </p:nvGrpSpPr>
          <p:grpSpPr>
            <a:xfrm>
              <a:off x="2667000" y="1484313"/>
              <a:ext cx="5410200" cy="3773487"/>
              <a:chOff x="1680" y="964"/>
              <a:chExt cx="3408" cy="2377"/>
            </a:xfrm>
          </p:grpSpPr>
          <p:graphicFrame>
            <p:nvGraphicFramePr>
              <p:cNvPr id="14352" name="Object 39"/>
              <p:cNvGraphicFramePr>
                <a:graphicFrameLocks noChangeAspect="1"/>
              </p:cNvGraphicFramePr>
              <p:nvPr/>
            </p:nvGraphicFramePr>
            <p:xfrm>
              <a:off x="1837" y="964"/>
              <a:ext cx="2029" cy="328"/>
            </p:xfrm>
            <a:graphic>
              <a:graphicData uri="http://schemas.openxmlformats.org/presentationml/2006/ole">
                <mc:AlternateContent xmlns:mc="http://schemas.openxmlformats.org/markup-compatibility/2006">
                  <mc:Choice xmlns:v="urn:schemas-microsoft-com:vml" Requires="v">
                    <p:oleObj spid="_x0000_s3083" name="" r:id="rId1" imgW="1146810" imgH="168275" progId="Equation.3">
                      <p:embed/>
                    </p:oleObj>
                  </mc:Choice>
                  <mc:Fallback>
                    <p:oleObj name="" r:id="rId1" imgW="1146810" imgH="168275" progId="Equation.3">
                      <p:embed/>
                      <p:pic>
                        <p:nvPicPr>
                          <p:cNvPr id="0" name="图片 3082"/>
                          <p:cNvPicPr/>
                          <p:nvPr/>
                        </p:nvPicPr>
                        <p:blipFill>
                          <a:blip r:embed="rId2">
                            <a:clrChange>
                              <a:clrFrom>
                                <a:srgbClr val="000000"/>
                              </a:clrFrom>
                              <a:clrTo>
                                <a:srgbClr val="000066"/>
                              </a:clrTo>
                            </a:clrChange>
                          </a:blip>
                          <a:stretch>
                            <a:fillRect/>
                          </a:stretch>
                        </p:blipFill>
                        <p:spPr>
                          <a:xfrm>
                            <a:off x="1837" y="964"/>
                            <a:ext cx="2029" cy="328"/>
                          </a:xfrm>
                          <a:prstGeom prst="rect">
                            <a:avLst/>
                          </a:prstGeom>
                          <a:solidFill>
                            <a:srgbClr val="FFFFFF"/>
                          </a:solidFill>
                          <a:ln w="38100">
                            <a:noFill/>
                            <a:miter/>
                          </a:ln>
                        </p:spPr>
                      </p:pic>
                    </p:oleObj>
                  </mc:Fallback>
                </mc:AlternateContent>
              </a:graphicData>
            </a:graphic>
          </p:graphicFrame>
          <p:sp>
            <p:nvSpPr>
              <p:cNvPr id="14353" name="Rectangle 40"/>
              <p:cNvSpPr/>
              <p:nvPr/>
            </p:nvSpPr>
            <p:spPr>
              <a:xfrm>
                <a:off x="1680" y="3072"/>
                <a:ext cx="2800" cy="269"/>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en-US" altLang="zh-CN" sz="2200" b="0" dirty="0">
                    <a:solidFill>
                      <a:srgbClr val="FF3300"/>
                    </a:solidFill>
                    <a:latin typeface="Times New Roman" panose="02020603050405020304" pitchFamily="18" charset="0"/>
                    <a:ea typeface="MS PGothic" panose="020B0600070205080204" pitchFamily="34" charset="-128"/>
                  </a:rPr>
                  <a:t>0        1         2        3        4         5       </a:t>
                </a:r>
                <a:endParaRPr lang="en-US" altLang="zh-CN" sz="2200" b="0" dirty="0">
                  <a:solidFill>
                    <a:srgbClr val="FF3300"/>
                  </a:solidFill>
                  <a:latin typeface="Times New Roman" panose="02020603050405020304" pitchFamily="18" charset="0"/>
                  <a:ea typeface="MS PGothic" panose="020B0600070205080204" pitchFamily="34" charset="-128"/>
                </a:endParaRPr>
              </a:p>
            </p:txBody>
          </p:sp>
          <p:grpSp>
            <p:nvGrpSpPr>
              <p:cNvPr id="14354" name="Group 41"/>
              <p:cNvGrpSpPr/>
              <p:nvPr/>
            </p:nvGrpSpPr>
            <p:grpSpPr>
              <a:xfrm>
                <a:off x="1771" y="1104"/>
                <a:ext cx="2645" cy="2005"/>
                <a:chOff x="1771" y="1104"/>
                <a:chExt cx="2645" cy="2005"/>
              </a:xfrm>
            </p:grpSpPr>
            <p:sp>
              <p:nvSpPr>
                <p:cNvPr id="14356" name="Line 42"/>
                <p:cNvSpPr/>
                <p:nvPr/>
              </p:nvSpPr>
              <p:spPr>
                <a:xfrm>
                  <a:off x="1771" y="3085"/>
                  <a:ext cx="2645" cy="24"/>
                </a:xfrm>
                <a:prstGeom prst="line">
                  <a:avLst/>
                </a:prstGeom>
                <a:ln w="25400" cap="flat" cmpd="sng">
                  <a:solidFill>
                    <a:srgbClr val="FF3300"/>
                  </a:solidFill>
                  <a:prstDash val="solid"/>
                  <a:headEnd type="none" w="sm" len="sm"/>
                  <a:tailEnd type="stealth" w="med" len="lg"/>
                </a:ln>
              </p:spPr>
            </p:sp>
            <p:grpSp>
              <p:nvGrpSpPr>
                <p:cNvPr id="14357" name="Group 43"/>
                <p:cNvGrpSpPr/>
                <p:nvPr/>
              </p:nvGrpSpPr>
              <p:grpSpPr>
                <a:xfrm>
                  <a:off x="1776" y="1104"/>
                  <a:ext cx="2373" cy="1981"/>
                  <a:chOff x="1776" y="1104"/>
                  <a:chExt cx="2373" cy="1981"/>
                </a:xfrm>
              </p:grpSpPr>
              <p:sp>
                <p:nvSpPr>
                  <p:cNvPr id="14358" name="Line 44"/>
                  <p:cNvSpPr/>
                  <p:nvPr/>
                </p:nvSpPr>
                <p:spPr>
                  <a:xfrm flipV="1">
                    <a:off x="2289" y="3028"/>
                    <a:ext cx="1" cy="57"/>
                  </a:xfrm>
                  <a:prstGeom prst="line">
                    <a:avLst/>
                  </a:prstGeom>
                  <a:ln w="12700" cap="flat" cmpd="sng">
                    <a:solidFill>
                      <a:schemeClr val="bg2"/>
                    </a:solidFill>
                    <a:prstDash val="solid"/>
                    <a:headEnd type="none" w="sm" len="sm"/>
                    <a:tailEnd type="none" w="sm" len="sm"/>
                  </a:ln>
                </p:spPr>
              </p:sp>
              <p:sp>
                <p:nvSpPr>
                  <p:cNvPr id="14359" name="Line 45"/>
                  <p:cNvSpPr/>
                  <p:nvPr/>
                </p:nvSpPr>
                <p:spPr>
                  <a:xfrm flipV="1">
                    <a:off x="2762" y="3028"/>
                    <a:ext cx="1" cy="57"/>
                  </a:xfrm>
                  <a:prstGeom prst="line">
                    <a:avLst/>
                  </a:prstGeom>
                  <a:ln w="12700" cap="flat" cmpd="sng">
                    <a:solidFill>
                      <a:schemeClr val="bg2"/>
                    </a:solidFill>
                    <a:prstDash val="solid"/>
                    <a:headEnd type="none" w="sm" len="sm"/>
                    <a:tailEnd type="none" w="sm" len="sm"/>
                  </a:ln>
                </p:spPr>
              </p:sp>
              <p:sp>
                <p:nvSpPr>
                  <p:cNvPr id="14360" name="Line 46"/>
                  <p:cNvSpPr/>
                  <p:nvPr/>
                </p:nvSpPr>
                <p:spPr>
                  <a:xfrm flipV="1">
                    <a:off x="3675" y="3028"/>
                    <a:ext cx="1" cy="57"/>
                  </a:xfrm>
                  <a:prstGeom prst="line">
                    <a:avLst/>
                  </a:prstGeom>
                  <a:ln w="12700" cap="flat" cmpd="sng">
                    <a:solidFill>
                      <a:srgbClr val="FFFFFF"/>
                    </a:solidFill>
                    <a:prstDash val="solid"/>
                    <a:headEnd type="none" w="sm" len="sm"/>
                    <a:tailEnd type="none" w="sm" len="sm"/>
                  </a:ln>
                </p:spPr>
              </p:sp>
              <p:sp>
                <p:nvSpPr>
                  <p:cNvPr id="14361" name="Line 47"/>
                  <p:cNvSpPr/>
                  <p:nvPr/>
                </p:nvSpPr>
                <p:spPr>
                  <a:xfrm flipV="1">
                    <a:off x="4148" y="3028"/>
                    <a:ext cx="1" cy="57"/>
                  </a:xfrm>
                  <a:prstGeom prst="line">
                    <a:avLst/>
                  </a:prstGeom>
                  <a:ln w="12700" cap="flat" cmpd="sng">
                    <a:solidFill>
                      <a:schemeClr val="bg2"/>
                    </a:solidFill>
                    <a:prstDash val="solid"/>
                    <a:headEnd type="none" w="sm" len="sm"/>
                    <a:tailEnd type="none" w="sm" len="sm"/>
                  </a:ln>
                </p:spPr>
              </p:sp>
              <p:sp>
                <p:nvSpPr>
                  <p:cNvPr id="14362" name="Line 48"/>
                  <p:cNvSpPr/>
                  <p:nvPr/>
                </p:nvSpPr>
                <p:spPr>
                  <a:xfrm>
                    <a:off x="1776" y="1104"/>
                    <a:ext cx="0" cy="1968"/>
                  </a:xfrm>
                  <a:prstGeom prst="line">
                    <a:avLst/>
                  </a:prstGeom>
                  <a:ln w="28575" cap="flat" cmpd="sng">
                    <a:solidFill>
                      <a:srgbClr val="FF3300"/>
                    </a:solidFill>
                    <a:prstDash val="solid"/>
                    <a:headEnd type="arrow" w="med" len="med"/>
                    <a:tailEnd type="none" w="med" len="med"/>
                  </a:ln>
                </p:spPr>
              </p:sp>
            </p:grpSp>
          </p:grpSp>
          <p:graphicFrame>
            <p:nvGraphicFramePr>
              <p:cNvPr id="14355" name="Object 49"/>
              <p:cNvGraphicFramePr>
                <a:graphicFrameLocks noChangeAspect="1"/>
              </p:cNvGraphicFramePr>
              <p:nvPr/>
            </p:nvGraphicFramePr>
            <p:xfrm>
              <a:off x="4512" y="2976"/>
              <a:ext cx="576" cy="239"/>
            </p:xfrm>
            <a:graphic>
              <a:graphicData uri="http://schemas.openxmlformats.org/presentationml/2006/ole">
                <mc:AlternateContent xmlns:mc="http://schemas.openxmlformats.org/markup-compatibility/2006">
                  <mc:Choice xmlns:v="urn:schemas-microsoft-com:vml" Requires="v">
                    <p:oleObj spid="_x0000_s3084" name="" r:id="rId3" imgW="855345" imgH="346075" progId="Equation.3">
                      <p:embed/>
                    </p:oleObj>
                  </mc:Choice>
                  <mc:Fallback>
                    <p:oleObj name="" r:id="rId3" imgW="855345" imgH="346075" progId="Equation.3">
                      <p:embed/>
                      <p:pic>
                        <p:nvPicPr>
                          <p:cNvPr id="0" name="图片 3083"/>
                          <p:cNvPicPr/>
                          <p:nvPr/>
                        </p:nvPicPr>
                        <p:blipFill>
                          <a:blip r:embed="rId4">
                            <a:clrChange>
                              <a:clrFrom>
                                <a:srgbClr val="000000"/>
                              </a:clrFrom>
                              <a:clrTo>
                                <a:srgbClr val="000066"/>
                              </a:clrTo>
                            </a:clrChange>
                          </a:blip>
                          <a:stretch>
                            <a:fillRect/>
                          </a:stretch>
                        </p:blipFill>
                        <p:spPr>
                          <a:xfrm>
                            <a:off x="4512" y="2976"/>
                            <a:ext cx="576" cy="239"/>
                          </a:xfrm>
                          <a:prstGeom prst="rect">
                            <a:avLst/>
                          </a:prstGeom>
                          <a:solidFill>
                            <a:srgbClr val="FFFFFF"/>
                          </a:solidFill>
                          <a:ln w="38100">
                            <a:noFill/>
                            <a:miter/>
                          </a:ln>
                        </p:spPr>
                      </p:pic>
                    </p:oleObj>
                  </mc:Fallback>
                </mc:AlternateContent>
              </a:graphicData>
            </a:graphic>
          </p:graphicFrame>
        </p:grpSp>
        <p:sp>
          <p:nvSpPr>
            <p:cNvPr id="14350" name="Text Box 50"/>
            <p:cNvSpPr txBox="1"/>
            <p:nvPr/>
          </p:nvSpPr>
          <p:spPr>
            <a:xfrm>
              <a:off x="2362142" y="5562600"/>
              <a:ext cx="5943658"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50000"/>
                </a:spcBef>
                <a:buClrTx/>
                <a:buFont typeface="Arial" panose="020B0604020202020204" pitchFamily="34" charset="0"/>
                <a:buNone/>
              </a:pPr>
              <a:r>
                <a:rPr lang="zh-CN" altLang="en-US" sz="2400" dirty="0">
                  <a:solidFill>
                    <a:srgbClr val="080808"/>
                  </a:solidFill>
                  <a:latin typeface="Times New Roman" panose="02020603050405020304" pitchFamily="18" charset="0"/>
                  <a:ea typeface="MS PGothic" panose="020B0600070205080204" pitchFamily="34" charset="-128"/>
                </a:rPr>
                <a:t>绝对黑体的辐出度按波长分布曲线</a:t>
              </a:r>
              <a:endParaRPr lang="en-US" altLang="zh-CN" sz="2400" dirty="0">
                <a:solidFill>
                  <a:srgbClr val="080808"/>
                </a:solidFill>
                <a:latin typeface="Times New Roman" panose="02020603050405020304" pitchFamily="18" charset="0"/>
                <a:ea typeface="MS PGothic" panose="020B0600070205080204" pitchFamily="34" charset="-128"/>
              </a:endParaRPr>
            </a:p>
          </p:txBody>
        </p:sp>
        <p:sp>
          <p:nvSpPr>
            <p:cNvPr id="14351" name="Text Box 51"/>
            <p:cNvSpPr txBox="1"/>
            <p:nvPr/>
          </p:nvSpPr>
          <p:spPr>
            <a:xfrm>
              <a:off x="334885" y="1763713"/>
              <a:ext cx="2667026"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50000"/>
                </a:spcBef>
                <a:buClrTx/>
                <a:buFont typeface="Arial" panose="020B0604020202020204" pitchFamily="34" charset="0"/>
                <a:buNone/>
              </a:pPr>
              <a:r>
                <a:rPr lang="zh-CN" altLang="en-US" dirty="0">
                  <a:solidFill>
                    <a:srgbClr val="0000FF"/>
                  </a:solidFill>
                  <a:latin typeface="Times New Roman" panose="02020603050405020304" pitchFamily="18" charset="0"/>
                  <a:ea typeface="MS PGothic" panose="020B0600070205080204" pitchFamily="34" charset="-128"/>
                </a:rPr>
                <a:t>实验曲线</a:t>
              </a:r>
              <a:endParaRPr lang="en-US" altLang="zh-CN" dirty="0">
                <a:solidFill>
                  <a:srgbClr val="0000FF"/>
                </a:solidFill>
                <a:latin typeface="Times New Roman" panose="02020603050405020304" pitchFamily="18" charset="0"/>
                <a:ea typeface="楷体_GB2312" pitchFamily="49" charset="-122"/>
              </a:endParaRPr>
            </a:p>
          </p:txBody>
        </p:sp>
      </p:gr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33" name="Rectangle 13"/>
          <p:cNvSpPr>
            <a:spLocks noChangeArrowheads="1"/>
          </p:cNvSpPr>
          <p:nvPr/>
        </p:nvSpPr>
        <p:spPr bwMode="auto">
          <a:xfrm>
            <a:off x="946150" y="3254375"/>
            <a:ext cx="2041525" cy="461963"/>
          </a:xfrm>
          <a:prstGeom prst="rect">
            <a:avLst/>
          </a:prstGeom>
          <a:noFill/>
          <a:ln>
            <a:noFill/>
          </a:ln>
          <a:effectLst/>
        </p:spPr>
        <p:txBody>
          <a:bodyPr wrap="none" lIns="92075" tIns="46038" rIns="92075" bIns="46038">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1" i="0" u="none" strike="noStrike" kern="1200" cap="none" spc="0" normalizeH="0" baseline="0" noProof="0" dirty="0">
                <a:ln>
                  <a:noFill/>
                </a:ln>
                <a:solidFill>
                  <a:srgbClr val="CC00CC"/>
                </a:solidFill>
                <a:effectLst/>
                <a:uLnTx/>
                <a:uFillTx/>
                <a:latin typeface="+mj-ea"/>
                <a:ea typeface="+mj-ea"/>
                <a:cs typeface="+mn-cs"/>
              </a:rPr>
              <a:t>维恩经验公式</a:t>
            </a:r>
            <a:endParaRPr kumimoji="0" lang="en-US" altLang="zh-CN" sz="2400" b="1" i="0" u="none" strike="noStrike" kern="1200" cap="none" spc="0" normalizeH="0" baseline="0" noProof="0" dirty="0">
              <a:ln>
                <a:noFill/>
              </a:ln>
              <a:solidFill>
                <a:srgbClr val="CC00CC"/>
              </a:solidFill>
              <a:effectLst/>
              <a:uLnTx/>
              <a:uFillTx/>
              <a:latin typeface="+mj-ea"/>
              <a:ea typeface="+mj-ea"/>
              <a:cs typeface="+mn-cs"/>
            </a:endParaRPr>
          </a:p>
        </p:txBody>
      </p:sp>
      <p:sp>
        <p:nvSpPr>
          <p:cNvPr id="56334" name="Rectangle 14"/>
          <p:cNvSpPr>
            <a:spLocks noChangeArrowheads="1"/>
          </p:cNvSpPr>
          <p:nvPr/>
        </p:nvSpPr>
        <p:spPr bwMode="auto">
          <a:xfrm>
            <a:off x="381000" y="1454150"/>
            <a:ext cx="8001000" cy="461963"/>
          </a:xfrm>
          <a:prstGeom prst="rect">
            <a:avLst/>
          </a:prstGeom>
          <a:noFill/>
          <a:ln>
            <a:noFill/>
          </a:ln>
          <a:effectLst/>
        </p:spPr>
        <p:txBody>
          <a:bodyPr lIns="92075" tIns="46038" rIns="92075" bIns="46038">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1" i="0" u="none" strike="noStrike" kern="1200" cap="none" spc="0" normalizeH="0" baseline="0" noProof="0" dirty="0">
                <a:ln>
                  <a:noFill/>
                </a:ln>
                <a:solidFill>
                  <a:srgbClr val="0000FF"/>
                </a:solidFill>
                <a:effectLst/>
                <a:uLnTx/>
                <a:uFillTx/>
                <a:latin typeface="+mj-ea"/>
                <a:ea typeface="+mj-ea"/>
                <a:cs typeface="+mn-cs"/>
              </a:rPr>
              <a:t>问题：如何从理论上找到符合实验曲线的函数式</a:t>
            </a:r>
            <a:endParaRPr kumimoji="0" lang="en-US" altLang="zh-CN" sz="2400" b="1" i="0" u="none" strike="noStrike" kern="1200" cap="none" spc="0" normalizeH="0" baseline="0" noProof="0" dirty="0">
              <a:ln>
                <a:noFill/>
              </a:ln>
              <a:solidFill>
                <a:srgbClr val="0000FF"/>
              </a:solidFill>
              <a:effectLst/>
              <a:uLnTx/>
              <a:uFillTx/>
              <a:latin typeface="+mj-ea"/>
              <a:ea typeface="+mj-ea"/>
              <a:cs typeface="+mn-cs"/>
            </a:endParaRPr>
          </a:p>
        </p:txBody>
      </p:sp>
      <p:graphicFrame>
        <p:nvGraphicFramePr>
          <p:cNvPr id="15364" name="Object 16"/>
          <p:cNvGraphicFramePr>
            <a:graphicFrameLocks noChangeAspect="1"/>
          </p:cNvGraphicFramePr>
          <p:nvPr/>
        </p:nvGraphicFramePr>
        <p:xfrm>
          <a:off x="2700338" y="2276475"/>
          <a:ext cx="2952750" cy="647700"/>
        </p:xfrm>
        <a:graphic>
          <a:graphicData uri="http://schemas.openxmlformats.org/presentationml/2006/ole">
            <mc:AlternateContent xmlns:mc="http://schemas.openxmlformats.org/markup-compatibility/2006">
              <mc:Choice xmlns:v="urn:schemas-microsoft-com:vml" Requires="v">
                <p:oleObj spid="_x0000_s3082" name="" r:id="rId1" imgW="751205" imgH="143510" progId="Equation.3">
                  <p:embed/>
                </p:oleObj>
              </mc:Choice>
              <mc:Fallback>
                <p:oleObj name="" r:id="rId1" imgW="751205" imgH="143510" progId="Equation.3">
                  <p:embed/>
                  <p:pic>
                    <p:nvPicPr>
                      <p:cNvPr id="0" name="图片 3081"/>
                      <p:cNvPicPr/>
                      <p:nvPr/>
                    </p:nvPicPr>
                    <p:blipFill>
                      <a:blip r:embed="rId2">
                        <a:clrChange>
                          <a:clrFrom>
                            <a:srgbClr val="000000"/>
                          </a:clrFrom>
                          <a:clrTo>
                            <a:srgbClr val="000066"/>
                          </a:clrTo>
                        </a:clrChange>
                      </a:blip>
                      <a:stretch>
                        <a:fillRect/>
                      </a:stretch>
                    </p:blipFill>
                    <p:spPr>
                      <a:xfrm>
                        <a:off x="2700338" y="2276475"/>
                        <a:ext cx="2952750" cy="647700"/>
                      </a:xfrm>
                      <a:prstGeom prst="rect">
                        <a:avLst/>
                      </a:prstGeom>
                      <a:solidFill>
                        <a:srgbClr val="FFFFFF"/>
                      </a:solidFill>
                      <a:ln w="38100">
                        <a:noFill/>
                        <a:miter/>
                      </a:ln>
                    </p:spPr>
                  </p:pic>
                </p:oleObj>
              </mc:Fallback>
            </mc:AlternateContent>
          </a:graphicData>
        </a:graphic>
      </p:graphicFrame>
      <p:graphicFrame>
        <p:nvGraphicFramePr>
          <p:cNvPr id="56337" name="Object 17"/>
          <p:cNvGraphicFramePr>
            <a:graphicFrameLocks noChangeAspect="1"/>
          </p:cNvGraphicFramePr>
          <p:nvPr/>
        </p:nvGraphicFramePr>
        <p:xfrm>
          <a:off x="2843213" y="3716338"/>
          <a:ext cx="2805112" cy="936625"/>
        </p:xfrm>
        <a:graphic>
          <a:graphicData uri="http://schemas.openxmlformats.org/presentationml/2006/ole">
            <mc:AlternateContent xmlns:mc="http://schemas.openxmlformats.org/markup-compatibility/2006">
              <mc:Choice xmlns:v="urn:schemas-microsoft-com:vml" Requires="v">
                <p:oleObj spid="_x0000_s3081" name="" r:id="rId3" imgW="850265" imgH="247015" progId="Equation.3">
                  <p:embed/>
                </p:oleObj>
              </mc:Choice>
              <mc:Fallback>
                <p:oleObj name="" r:id="rId3" imgW="850265" imgH="247015" progId="Equation.3">
                  <p:embed/>
                  <p:pic>
                    <p:nvPicPr>
                      <p:cNvPr id="0" name="图片 3080"/>
                      <p:cNvPicPr/>
                      <p:nvPr/>
                    </p:nvPicPr>
                    <p:blipFill>
                      <a:blip r:embed="rId4">
                        <a:clrChange>
                          <a:clrFrom>
                            <a:srgbClr val="000000"/>
                          </a:clrFrom>
                          <a:clrTo>
                            <a:srgbClr val="000066"/>
                          </a:clrTo>
                        </a:clrChange>
                      </a:blip>
                      <a:stretch>
                        <a:fillRect/>
                      </a:stretch>
                    </p:blipFill>
                    <p:spPr>
                      <a:xfrm>
                        <a:off x="2843213" y="3716338"/>
                        <a:ext cx="2805112" cy="936625"/>
                      </a:xfrm>
                      <a:prstGeom prst="rect">
                        <a:avLst/>
                      </a:prstGeom>
                      <a:solidFill>
                        <a:srgbClr val="FFFFFF"/>
                      </a:solidFill>
                      <a:ln w="38100">
                        <a:noFill/>
                        <a:miter/>
                      </a:ln>
                    </p:spPr>
                  </p:pic>
                </p:oleObj>
              </mc:Fallback>
            </mc:AlternateContent>
          </a:graphicData>
        </a:graphic>
      </p:graphicFrame>
      <p:sp>
        <p:nvSpPr>
          <p:cNvPr id="56338" name="Text Box 18"/>
          <p:cNvSpPr txBox="1"/>
          <p:nvPr/>
        </p:nvSpPr>
        <p:spPr>
          <a:xfrm>
            <a:off x="609600" y="4876800"/>
            <a:ext cx="7848600" cy="984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lnSpc>
                <a:spcPct val="130000"/>
              </a:lnSpc>
              <a:spcBef>
                <a:spcPct val="50000"/>
              </a:spcBef>
              <a:buClrTx/>
              <a:buFont typeface="Arial" panose="020B0604020202020204" pitchFamily="34" charset="0"/>
              <a:buNone/>
            </a:pPr>
            <a:r>
              <a:rPr lang="en-US" altLang="zh-CN" sz="2400" dirty="0">
                <a:solidFill>
                  <a:srgbClr val="0000FF"/>
                </a:solidFill>
                <a:latin typeface="隶书" pitchFamily="49" charset="-122"/>
                <a:ea typeface="宋体" panose="02010600030101010101" pitchFamily="2" charset="-122"/>
              </a:rPr>
              <a:t>    </a:t>
            </a:r>
            <a:r>
              <a:rPr lang="zh-CN" altLang="en-US" sz="2400" dirty="0">
                <a:solidFill>
                  <a:srgbClr val="0000FF"/>
                </a:solidFill>
                <a:latin typeface="隶书" pitchFamily="49" charset="-122"/>
                <a:ea typeface="宋体" panose="02010600030101010101" pitchFamily="2" charset="-122"/>
              </a:rPr>
              <a:t>这个公式与实验曲线波长短处符合得很好，但在波长很长处与实验曲线相差较大。</a:t>
            </a:r>
            <a:endParaRPr lang="en-US" altLang="zh-CN" sz="2400" dirty="0">
              <a:solidFill>
                <a:srgbClr val="0000FF"/>
              </a:solidFill>
              <a:latin typeface="隶书" pitchFamily="49"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6333">
                                            <p:txEl>
                                              <p:charRg st="0" end="7"/>
                                            </p:txEl>
                                          </p:spTgt>
                                        </p:tgtEl>
                                        <p:attrNameLst>
                                          <p:attrName>style.visibility</p:attrName>
                                        </p:attrNameLst>
                                      </p:cBhvr>
                                      <p:to>
                                        <p:strVal val="visible"/>
                                      </p:to>
                                    </p:set>
                                    <p:animEffect transition="in" filter="wipe(left)">
                                      <p:cBhvr>
                                        <p:cTn id="7" dur="500"/>
                                        <p:tgtEl>
                                          <p:spTgt spid="56333">
                                            <p:txEl>
                                              <p:charRg st="0" end="7"/>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56337"/>
                                        </p:tgtEl>
                                        <p:attrNameLst>
                                          <p:attrName>style.visibility</p:attrName>
                                        </p:attrNameLst>
                                      </p:cBhvr>
                                      <p:to>
                                        <p:strVal val="visible"/>
                                      </p:to>
                                    </p:set>
                                    <p:animEffect transition="in" filter="wipe(left)">
                                      <p:cBhvr>
                                        <p:cTn id="10" dur="500"/>
                                        <p:tgtEl>
                                          <p:spTgt spid="56337"/>
                                        </p:tgtEl>
                                      </p:cBhvr>
                                    </p:animEffect>
                                  </p:childTnLst>
                                </p:cTn>
                              </p:par>
                              <p:par>
                                <p:cTn id="11" presetID="22" presetClass="entr" presetSubtype="8" fill="hold" nodeType="withEffect">
                                  <p:stCondLst>
                                    <p:cond delay="0"/>
                                  </p:stCondLst>
                                  <p:childTnLst>
                                    <p:set>
                                      <p:cBhvr>
                                        <p:cTn id="12" dur="1" fill="hold">
                                          <p:stCondLst>
                                            <p:cond delay="0"/>
                                          </p:stCondLst>
                                        </p:cTn>
                                        <p:tgtEl>
                                          <p:spTgt spid="56338">
                                            <p:txEl>
                                              <p:charRg st="0" end="41"/>
                                            </p:txEl>
                                          </p:spTgt>
                                        </p:tgtEl>
                                        <p:attrNameLst>
                                          <p:attrName>style.visibility</p:attrName>
                                        </p:attrNameLst>
                                      </p:cBhvr>
                                      <p:to>
                                        <p:strVal val="visible"/>
                                      </p:to>
                                    </p:set>
                                    <p:animEffect transition="in" filter="wipe(left)">
                                      <p:cBhvr>
                                        <p:cTn id="13" dur="500"/>
                                        <p:tgtEl>
                                          <p:spTgt spid="56338">
                                            <p:txEl>
                                              <p:charRg st="0" end="4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33" grpId="0" build="p"/>
      <p:bldP spid="56338"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2" name="Rectangle 4"/>
          <p:cNvSpPr/>
          <p:nvPr/>
        </p:nvSpPr>
        <p:spPr>
          <a:xfrm>
            <a:off x="685800" y="1325563"/>
            <a:ext cx="55626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zh-CN" altLang="en-US" dirty="0">
                <a:solidFill>
                  <a:srgbClr val="CC00CC"/>
                </a:solidFill>
                <a:latin typeface="楷体_GB2312" pitchFamily="49" charset="-122"/>
                <a:ea typeface="MS PGothic" panose="020B0600070205080204" pitchFamily="34" charset="-128"/>
              </a:rPr>
              <a:t>瑞利</a:t>
            </a:r>
            <a:r>
              <a:rPr lang="en-US" altLang="zh-CN" dirty="0">
                <a:solidFill>
                  <a:srgbClr val="CC00CC"/>
                </a:solidFill>
                <a:latin typeface="楷体_GB2312" pitchFamily="49" charset="-122"/>
                <a:ea typeface="楷体_GB2312" pitchFamily="49" charset="-122"/>
              </a:rPr>
              <a:t>--</a:t>
            </a:r>
            <a:r>
              <a:rPr lang="zh-CN" altLang="en-US" dirty="0">
                <a:solidFill>
                  <a:srgbClr val="CC00CC"/>
                </a:solidFill>
                <a:latin typeface="楷体_GB2312" pitchFamily="49" charset="-122"/>
                <a:ea typeface="MS PGothic" panose="020B0600070205080204" pitchFamily="34" charset="-128"/>
              </a:rPr>
              <a:t>金斯经验公式</a:t>
            </a:r>
            <a:endParaRPr lang="en-US" altLang="zh-CN" dirty="0">
              <a:solidFill>
                <a:srgbClr val="CC00CC"/>
              </a:solidFill>
              <a:latin typeface="Arial" panose="020B0604020202020204" pitchFamily="34" charset="0"/>
              <a:ea typeface="MS PGothic" panose="020B0600070205080204" pitchFamily="34" charset="-128"/>
            </a:endParaRPr>
          </a:p>
        </p:txBody>
      </p:sp>
      <p:graphicFrame>
        <p:nvGraphicFramePr>
          <p:cNvPr id="94213" name="Object 5"/>
          <p:cNvGraphicFramePr>
            <a:graphicFrameLocks noChangeAspect="1"/>
          </p:cNvGraphicFramePr>
          <p:nvPr/>
        </p:nvGraphicFramePr>
        <p:xfrm>
          <a:off x="3276600" y="1908175"/>
          <a:ext cx="2100263" cy="512763"/>
        </p:xfrm>
        <a:graphic>
          <a:graphicData uri="http://schemas.openxmlformats.org/presentationml/2006/ole">
            <mc:AlternateContent xmlns:mc="http://schemas.openxmlformats.org/markup-compatibility/2006">
              <mc:Choice xmlns:v="urn:schemas-microsoft-com:vml" Requires="v">
                <p:oleObj spid="_x0000_s3080" name="" r:id="rId1" imgW="751205" imgH="168275" progId="Equation.3">
                  <p:embed/>
                </p:oleObj>
              </mc:Choice>
              <mc:Fallback>
                <p:oleObj name="" r:id="rId1" imgW="751205" imgH="168275" progId="Equation.3">
                  <p:embed/>
                  <p:pic>
                    <p:nvPicPr>
                      <p:cNvPr id="0" name="图片 3079"/>
                      <p:cNvPicPr/>
                      <p:nvPr/>
                    </p:nvPicPr>
                    <p:blipFill>
                      <a:blip r:embed="rId2">
                        <a:clrChange>
                          <a:clrFrom>
                            <a:srgbClr val="000000"/>
                          </a:clrFrom>
                          <a:clrTo>
                            <a:srgbClr val="000066"/>
                          </a:clrTo>
                        </a:clrChange>
                      </a:blip>
                      <a:stretch>
                        <a:fillRect/>
                      </a:stretch>
                    </p:blipFill>
                    <p:spPr>
                      <a:xfrm>
                        <a:off x="3276600" y="1908175"/>
                        <a:ext cx="2100263" cy="512763"/>
                      </a:xfrm>
                      <a:prstGeom prst="rect">
                        <a:avLst/>
                      </a:prstGeom>
                      <a:solidFill>
                        <a:srgbClr val="FFFFFF"/>
                      </a:solidFill>
                      <a:ln w="38100">
                        <a:noFill/>
                        <a:miter/>
                      </a:ln>
                    </p:spPr>
                  </p:pic>
                </p:oleObj>
              </mc:Fallback>
            </mc:AlternateContent>
          </a:graphicData>
        </a:graphic>
      </p:graphicFrame>
      <p:sp>
        <p:nvSpPr>
          <p:cNvPr id="16388" name="Text Box 7"/>
          <p:cNvSpPr txBox="1"/>
          <p:nvPr/>
        </p:nvSpPr>
        <p:spPr>
          <a:xfrm>
            <a:off x="685800" y="2468563"/>
            <a:ext cx="8001000" cy="13636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lnSpc>
                <a:spcPct val="120000"/>
              </a:lnSpc>
              <a:spcBef>
                <a:spcPct val="50000"/>
              </a:spcBef>
              <a:buClrTx/>
              <a:buFont typeface="Arial" panose="020B0604020202020204" pitchFamily="34" charset="0"/>
              <a:buNone/>
            </a:pPr>
            <a:r>
              <a:rPr lang="en-US" altLang="zh-CN" sz="2400" dirty="0">
                <a:solidFill>
                  <a:srgbClr val="0000FF"/>
                </a:solidFill>
                <a:latin typeface="宋体" panose="02010600030101010101" pitchFamily="2" charset="-122"/>
                <a:ea typeface="宋体" panose="02010600030101010101" pitchFamily="2" charset="-122"/>
              </a:rPr>
              <a:t>     </a:t>
            </a:r>
            <a:r>
              <a:rPr lang="zh-CN" altLang="en-US" sz="2400" dirty="0">
                <a:solidFill>
                  <a:srgbClr val="0000FF"/>
                </a:solidFill>
                <a:latin typeface="宋体" panose="02010600030101010101" pitchFamily="2" charset="-122"/>
                <a:ea typeface="宋体" panose="02010600030101010101" pitchFamily="2" charset="-122"/>
              </a:rPr>
              <a:t>这个公式在波长很长处与实验曲线比较相近，但在短波区，按此公式，</a:t>
            </a:r>
            <a:r>
              <a:rPr lang="en-US" altLang="zh-CN" sz="2400" dirty="0">
                <a:solidFill>
                  <a:srgbClr val="0000FF"/>
                </a:solidFill>
                <a:latin typeface="宋体" panose="02010600030101010101" pitchFamily="2" charset="-122"/>
                <a:ea typeface="宋体" panose="02010600030101010101" pitchFamily="2" charset="-122"/>
              </a:rPr>
              <a:t>B</a:t>
            </a:r>
            <a:r>
              <a:rPr lang="en-US" altLang="zh-CN" sz="2400" baseline="-25000" dirty="0">
                <a:solidFill>
                  <a:srgbClr val="0000FF"/>
                </a:solidFill>
                <a:latin typeface="宋体" panose="02010600030101010101" pitchFamily="2" charset="-122"/>
                <a:ea typeface="宋体" panose="02010600030101010101" pitchFamily="2" charset="-122"/>
              </a:rPr>
              <a:t>λ</a:t>
            </a:r>
            <a:r>
              <a:rPr lang="en-US" altLang="zh-CN" sz="2400" dirty="0">
                <a:solidFill>
                  <a:srgbClr val="0000FF"/>
                </a:solidFill>
                <a:latin typeface="宋体" panose="02010600030101010101" pitchFamily="2" charset="-122"/>
                <a:ea typeface="宋体" panose="02010600030101010101" pitchFamily="2" charset="-122"/>
              </a:rPr>
              <a:t> (T) </a:t>
            </a:r>
            <a:r>
              <a:rPr lang="zh-CN" altLang="en-US" sz="2400" dirty="0">
                <a:solidFill>
                  <a:srgbClr val="0000FF"/>
                </a:solidFill>
                <a:latin typeface="宋体" panose="02010600030101010101" pitchFamily="2" charset="-122"/>
                <a:ea typeface="宋体" panose="02010600030101010101" pitchFamily="2" charset="-122"/>
              </a:rPr>
              <a:t>将随波长趋向于零而趋向无穷大的荒谬结果，即“紫外灾难”。</a:t>
            </a:r>
            <a:endParaRPr lang="en-US" altLang="zh-CN" sz="2400" dirty="0">
              <a:solidFill>
                <a:srgbClr val="0000FF"/>
              </a:solidFill>
              <a:latin typeface="宋体" panose="02010600030101010101" pitchFamily="2" charset="-122"/>
              <a:ea typeface="宋体" panose="02010600030101010101" pitchFamily="2" charset="-122"/>
            </a:endParaRPr>
          </a:p>
        </p:txBody>
      </p:sp>
      <p:sp>
        <p:nvSpPr>
          <p:cNvPr id="94217" name="Text Box 9"/>
          <p:cNvSpPr txBox="1"/>
          <p:nvPr/>
        </p:nvSpPr>
        <p:spPr>
          <a:xfrm>
            <a:off x="604838" y="4437063"/>
            <a:ext cx="8215312" cy="13636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lnSpc>
                <a:spcPct val="120000"/>
              </a:lnSpc>
              <a:spcBef>
                <a:spcPct val="50000"/>
              </a:spcBef>
              <a:buClrTx/>
              <a:buFont typeface="Arial" panose="020B0604020202020204" pitchFamily="34" charset="0"/>
              <a:buNone/>
            </a:pPr>
            <a:r>
              <a:rPr lang="en-US" altLang="zh-CN" sz="2400" dirty="0">
                <a:solidFill>
                  <a:srgbClr val="0000FF"/>
                </a:solidFill>
                <a:latin typeface="宋体" panose="02010600030101010101" pitchFamily="2" charset="-122"/>
                <a:ea typeface="宋体" panose="02010600030101010101" pitchFamily="2" charset="-122"/>
              </a:rPr>
              <a:t>    </a:t>
            </a:r>
            <a:r>
              <a:rPr lang="zh-CN" altLang="en-US" sz="2400" dirty="0">
                <a:solidFill>
                  <a:srgbClr val="0000FF"/>
                </a:solidFill>
                <a:latin typeface="宋体" panose="02010600030101010101" pitchFamily="2" charset="-122"/>
                <a:ea typeface="宋体" panose="02010600030101010101" pitchFamily="2" charset="-122"/>
              </a:rPr>
              <a:t>维恩公式和瑞利</a:t>
            </a:r>
            <a:r>
              <a:rPr lang="en-US" altLang="zh-CN" sz="2400" dirty="0">
                <a:solidFill>
                  <a:srgbClr val="0000FF"/>
                </a:solidFill>
                <a:latin typeface="宋体" panose="02010600030101010101" pitchFamily="2" charset="-122"/>
                <a:ea typeface="宋体" panose="02010600030101010101" pitchFamily="2" charset="-122"/>
              </a:rPr>
              <a:t>-</a:t>
            </a:r>
            <a:r>
              <a:rPr lang="zh-CN" altLang="en-US" sz="2400" dirty="0">
                <a:solidFill>
                  <a:srgbClr val="0000FF"/>
                </a:solidFill>
                <a:latin typeface="宋体" panose="02010600030101010101" pitchFamily="2" charset="-122"/>
                <a:ea typeface="宋体" panose="02010600030101010101" pitchFamily="2" charset="-122"/>
              </a:rPr>
              <a:t>金斯公式都是用经典物理学的方法来研究热辐射所得的结果，都与实验结果不符，明显地暴露了经典物理学的缺陷。</a:t>
            </a:r>
            <a:endParaRPr lang="en-US" altLang="zh-CN" sz="2400" dirty="0">
              <a:solidFill>
                <a:srgbClr val="0000FF"/>
              </a:solidFill>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94212"/>
                                        </p:tgtEl>
                                        <p:attrNameLst>
                                          <p:attrName>style.visibility</p:attrName>
                                        </p:attrNameLst>
                                      </p:cBhvr>
                                      <p:to>
                                        <p:strVal val="visible"/>
                                      </p:to>
                                    </p:set>
                                    <p:animEffect transition="in" filter="dissolve">
                                      <p:cBhvr>
                                        <p:cTn id="7" dur="500"/>
                                        <p:tgtEl>
                                          <p:spTgt spid="94212"/>
                                        </p:tgtEl>
                                      </p:cBhvr>
                                    </p:animEffect>
                                  </p:childTnLst>
                                </p:cTn>
                              </p:par>
                              <p:par>
                                <p:cTn id="8" presetID="23" presetClass="entr" presetSubtype="528" fill="hold" nodeType="withEffect">
                                  <p:stCondLst>
                                    <p:cond delay="0"/>
                                  </p:stCondLst>
                                  <p:childTnLst>
                                    <p:set>
                                      <p:cBhvr>
                                        <p:cTn id="9" dur="1" fill="hold">
                                          <p:stCondLst>
                                            <p:cond delay="0"/>
                                          </p:stCondLst>
                                        </p:cTn>
                                        <p:tgtEl>
                                          <p:spTgt spid="94213"/>
                                        </p:tgtEl>
                                        <p:attrNameLst>
                                          <p:attrName>style.visibility</p:attrName>
                                        </p:attrNameLst>
                                      </p:cBhvr>
                                      <p:to>
                                        <p:strVal val="visible"/>
                                      </p:to>
                                    </p:set>
                                    <p:anim calcmode="lin" valueType="num">
                                      <p:cBhvr>
                                        <p:cTn id="10" dur="500" fill="hold"/>
                                        <p:tgtEl>
                                          <p:spTgt spid="94213"/>
                                        </p:tgtEl>
                                        <p:attrNameLst>
                                          <p:attrName>ppt_w</p:attrName>
                                        </p:attrNameLst>
                                      </p:cBhvr>
                                      <p:tavLst>
                                        <p:tav tm="0">
                                          <p:val>
                                            <p:fltVal val="0.000000"/>
                                          </p:val>
                                        </p:tav>
                                        <p:tav tm="100000">
                                          <p:val>
                                            <p:strVal val="#ppt_w"/>
                                          </p:val>
                                        </p:tav>
                                      </p:tavLst>
                                    </p:anim>
                                    <p:anim calcmode="lin" valueType="num">
                                      <p:cBhvr>
                                        <p:cTn id="11" dur="500" fill="hold"/>
                                        <p:tgtEl>
                                          <p:spTgt spid="94213"/>
                                        </p:tgtEl>
                                        <p:attrNameLst>
                                          <p:attrName>ppt_h</p:attrName>
                                        </p:attrNameLst>
                                      </p:cBhvr>
                                      <p:tavLst>
                                        <p:tav tm="0">
                                          <p:val>
                                            <p:fltVal val="0.000000"/>
                                          </p:val>
                                        </p:tav>
                                        <p:tav tm="100000">
                                          <p:val>
                                            <p:strVal val="#ppt_h"/>
                                          </p:val>
                                        </p:tav>
                                      </p:tavLst>
                                    </p:anim>
                                    <p:anim calcmode="lin" valueType="num">
                                      <p:cBhvr>
                                        <p:cTn id="12" dur="500" fill="hold"/>
                                        <p:tgtEl>
                                          <p:spTgt spid="94213"/>
                                        </p:tgtEl>
                                        <p:attrNameLst>
                                          <p:attrName>ppt_x</p:attrName>
                                        </p:attrNameLst>
                                      </p:cBhvr>
                                      <p:tavLst>
                                        <p:tav tm="0">
                                          <p:val>
                                            <p:fltVal val="0.500000"/>
                                          </p:val>
                                        </p:tav>
                                        <p:tav tm="100000">
                                          <p:val>
                                            <p:strVal val="#ppt_x"/>
                                          </p:val>
                                        </p:tav>
                                      </p:tavLst>
                                    </p:anim>
                                    <p:anim calcmode="lin" valueType="num">
                                      <p:cBhvr>
                                        <p:cTn id="13" dur="500" fill="hold"/>
                                        <p:tgtEl>
                                          <p:spTgt spid="94213"/>
                                        </p:tgtEl>
                                        <p:attrNameLst>
                                          <p:attrName>ppt_y</p:attrName>
                                        </p:attrNameLst>
                                      </p:cBhvr>
                                      <p:tavLst>
                                        <p:tav tm="0">
                                          <p:val>
                                            <p:fltVal val="0.500000"/>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94217">
                                            <p:txEl>
                                              <p:charRg st="0" end="64"/>
                                            </p:txEl>
                                          </p:spTgt>
                                        </p:tgtEl>
                                        <p:attrNameLst>
                                          <p:attrName>style.visibility</p:attrName>
                                        </p:attrNameLst>
                                      </p:cBhvr>
                                      <p:to>
                                        <p:strVal val="visible"/>
                                      </p:to>
                                    </p:set>
                                    <p:animEffect transition="in" filter="wipe(left)">
                                      <p:cBhvr>
                                        <p:cTn id="18" dur="500"/>
                                        <p:tgtEl>
                                          <p:spTgt spid="94217">
                                            <p:txEl>
                                              <p:charRg st="0" end="6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2" grpId="0"/>
      <p:bldP spid="94217"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Content Placeholder 2"/>
          <p:cNvSpPr>
            <a:spLocks noGrp="1"/>
          </p:cNvSpPr>
          <p:nvPr>
            <p:ph idx="1"/>
          </p:nvPr>
        </p:nvSpPr>
        <p:spPr>
          <a:xfrm>
            <a:off x="457200" y="1600200"/>
            <a:ext cx="8229600" cy="3341688"/>
          </a:xfrm>
          <a:ln/>
        </p:spPr>
        <p:txBody>
          <a:bodyPr vert="horz" wrap="square" lIns="91440" tIns="45720" rIns="91440" bIns="45720" anchor="t" anchorCtr="0"/>
          <a:p>
            <a:pPr eaLnBrk="1" hangingPunct="1">
              <a:lnSpc>
                <a:spcPct val="150000"/>
              </a:lnSpc>
            </a:pPr>
            <a:r>
              <a:rPr lang="zh-TW" altLang="en-US" dirty="0">
                <a:ea typeface="PMingLiU" panose="02020500000000000000" pitchFamily="18" charset="-120"/>
              </a:rPr>
              <a:t>为了解决上述困难，普朗克利用内插法将适用于短波的维恩公式和适用于长波的瑞利</a:t>
            </a:r>
            <a:r>
              <a:rPr lang="en-US" altLang="zh-TW" dirty="0">
                <a:ea typeface="PMingLiU" panose="02020500000000000000" pitchFamily="18" charset="-120"/>
              </a:rPr>
              <a:t>-</a:t>
            </a:r>
            <a:r>
              <a:rPr lang="zh-TW" altLang="en-US" dirty="0">
                <a:ea typeface="PMingLiU" panose="02020500000000000000" pitchFamily="18" charset="-120"/>
              </a:rPr>
              <a:t>金斯公式衔接起来，提出了一个新的公式</a:t>
            </a:r>
            <a:r>
              <a:rPr lang="zh-CN" altLang="zh-TW" dirty="0">
                <a:ea typeface="宋体" panose="02010600030101010101" pitchFamily="2" charset="-122"/>
              </a:rPr>
              <a:t>——</a:t>
            </a:r>
            <a:r>
              <a:rPr lang="zh-CN" altLang="en-US" dirty="0">
                <a:ea typeface="宋体" panose="02010600030101010101" pitchFamily="2" charset="-122"/>
              </a:rPr>
              <a:t>普朗克公式。</a:t>
            </a:r>
            <a:endParaRPr lang="en-US" altLang="zh-CN" dirty="0">
              <a:ea typeface="宋体" panose="02010600030101010101" pitchFamily="2" charset="-122"/>
            </a:endParaRPr>
          </a:p>
          <a:p>
            <a:pPr eaLnBrk="1" hangingPunct="1">
              <a:lnSpc>
                <a:spcPct val="150000"/>
              </a:lnSpc>
            </a:pPr>
            <a:r>
              <a:rPr lang="zh-CN" altLang="en-US" dirty="0">
                <a:ea typeface="宋体" panose="02010600030101010101" pitchFamily="2" charset="-122"/>
              </a:rPr>
              <a:t>普朗克公式</a:t>
            </a:r>
            <a:r>
              <a:rPr lang="zh-TW" altLang="en-US" dirty="0">
                <a:ea typeface="PMingLiU" panose="02020500000000000000" pitchFamily="18" charset="-120"/>
              </a:rPr>
              <a:t>与实验结果符合得很好。</a:t>
            </a:r>
            <a:endParaRPr lang="zh-TW" altLang="en-US" dirty="0">
              <a:ea typeface="PMingLiU" panose="02020500000000000000" pitchFamily="18" charset="-120"/>
            </a:endParaRP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8434" name="Group 26"/>
          <p:cNvGrpSpPr/>
          <p:nvPr/>
        </p:nvGrpSpPr>
        <p:grpSpPr>
          <a:xfrm>
            <a:off x="1228725" y="1408113"/>
            <a:ext cx="7375525" cy="4922837"/>
            <a:chOff x="526" y="624"/>
            <a:chExt cx="4646" cy="3101"/>
          </a:xfrm>
        </p:grpSpPr>
        <p:sp>
          <p:nvSpPr>
            <p:cNvPr id="18435" name="Rectangle 27"/>
            <p:cNvSpPr/>
            <p:nvPr/>
          </p:nvSpPr>
          <p:spPr>
            <a:xfrm>
              <a:off x="526" y="3388"/>
              <a:ext cx="230" cy="33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en-US" altLang="zh-CN" b="0" dirty="0">
                  <a:latin typeface="Times New Roman" panose="02020603050405020304" pitchFamily="18" charset="0"/>
                  <a:ea typeface="MS PGothic" panose="020B0600070205080204" pitchFamily="34" charset="-128"/>
                </a:rPr>
                <a:t>0</a:t>
              </a:r>
              <a:endParaRPr lang="en-US" altLang="zh-CN" b="0" dirty="0">
                <a:latin typeface="Times New Roman" panose="02020603050405020304" pitchFamily="18" charset="0"/>
                <a:ea typeface="MS PGothic" panose="020B0600070205080204" pitchFamily="34" charset="-128"/>
              </a:endParaRPr>
            </a:p>
          </p:txBody>
        </p:sp>
        <p:grpSp>
          <p:nvGrpSpPr>
            <p:cNvPr id="18436" name="Group 28"/>
            <p:cNvGrpSpPr/>
            <p:nvPr/>
          </p:nvGrpSpPr>
          <p:grpSpPr>
            <a:xfrm>
              <a:off x="528" y="624"/>
              <a:ext cx="4644" cy="3101"/>
              <a:chOff x="528" y="624"/>
              <a:chExt cx="4644" cy="3101"/>
            </a:xfrm>
          </p:grpSpPr>
          <p:sp>
            <p:nvSpPr>
              <p:cNvPr id="18437" name="Rectangle 29"/>
              <p:cNvSpPr/>
              <p:nvPr/>
            </p:nvSpPr>
            <p:spPr>
              <a:xfrm>
                <a:off x="2264" y="624"/>
                <a:ext cx="896" cy="369"/>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zh-CN" altLang="en-US" sz="3200" dirty="0">
                    <a:solidFill>
                      <a:srgbClr val="080808"/>
                    </a:solidFill>
                    <a:latin typeface="Bookman Old Style" pitchFamily="18" charset="0"/>
                    <a:ea typeface="MS PGothic" panose="020B0600070205080204" pitchFamily="34" charset="-128"/>
                  </a:rPr>
                  <a:t>实验值</a:t>
                </a:r>
                <a:endParaRPr lang="en-US" altLang="zh-CN" sz="3200" dirty="0">
                  <a:solidFill>
                    <a:srgbClr val="080808"/>
                  </a:solidFill>
                  <a:latin typeface="Bookman Old Style" pitchFamily="18" charset="0"/>
                  <a:ea typeface="楷体_GB2312" pitchFamily="49" charset="-122"/>
                </a:endParaRPr>
              </a:p>
            </p:txBody>
          </p:sp>
          <p:sp>
            <p:nvSpPr>
              <p:cNvPr id="18438" name="Freeform 30"/>
              <p:cNvSpPr/>
              <p:nvPr/>
            </p:nvSpPr>
            <p:spPr>
              <a:xfrm>
                <a:off x="1459" y="920"/>
                <a:ext cx="806" cy="962"/>
              </a:xfrm>
              <a:custGeom>
                <a:avLst/>
                <a:gdLst>
                  <a:gd name="txL" fmla="*/ 0 w 913"/>
                  <a:gd name="txT" fmla="*/ 0 h 1249"/>
                  <a:gd name="txR" fmla="*/ 913 w 913"/>
                  <a:gd name="txB" fmla="*/ 1249 h 1249"/>
                </a:gdLst>
                <a:ahLst/>
                <a:cxnLst>
                  <a:cxn ang="0">
                    <a:pos x="0" y="14"/>
                  </a:cxn>
                  <a:cxn ang="0">
                    <a:pos x="297" y="0"/>
                  </a:cxn>
                  <a:cxn ang="0">
                    <a:pos x="187" y="119"/>
                  </a:cxn>
                </a:cxnLst>
                <a:rect l="txL" t="txT" r="txR" b="txB"/>
                <a:pathLst>
                  <a:path w="913" h="1249">
                    <a:moveTo>
                      <a:pt x="0" y="144"/>
                    </a:moveTo>
                    <a:lnTo>
                      <a:pt x="912" y="0"/>
                    </a:lnTo>
                    <a:lnTo>
                      <a:pt x="576" y="1248"/>
                    </a:lnTo>
                  </a:path>
                </a:pathLst>
              </a:custGeom>
              <a:noFill/>
              <a:ln w="25400" cap="rnd" cmpd="sng">
                <a:solidFill>
                  <a:srgbClr val="FFFF00">
                    <a:alpha val="100000"/>
                  </a:srgbClr>
                </a:solidFill>
                <a:prstDash val="solid"/>
                <a:round/>
                <a:headEnd type="stealth" w="med" len="lg"/>
                <a:tailEnd type="stealth" w="med" len="lg"/>
              </a:ln>
            </p:spPr>
            <p:txBody>
              <a:bodyPr/>
              <a:p>
                <a:endParaRPr lang="zh-CN" altLang="en-US"/>
              </a:p>
            </p:txBody>
          </p:sp>
          <p:sp>
            <p:nvSpPr>
              <p:cNvPr id="18439" name="Line 31"/>
              <p:cNvSpPr/>
              <p:nvPr/>
            </p:nvSpPr>
            <p:spPr>
              <a:xfrm flipH="1">
                <a:off x="900" y="1401"/>
                <a:ext cx="254" cy="1553"/>
              </a:xfrm>
              <a:prstGeom prst="line">
                <a:avLst/>
              </a:prstGeom>
              <a:ln w="50800" cap="flat" cmpd="sng">
                <a:solidFill>
                  <a:srgbClr val="FF66CC"/>
                </a:solidFill>
                <a:prstDash val="solid"/>
                <a:headEnd type="none" w="sm" len="sm"/>
                <a:tailEnd type="none" w="sm" len="sm"/>
              </a:ln>
            </p:spPr>
          </p:sp>
          <p:sp>
            <p:nvSpPr>
              <p:cNvPr id="18440" name="Arc 32"/>
              <p:cNvSpPr/>
              <p:nvPr/>
            </p:nvSpPr>
            <p:spPr>
              <a:xfrm>
                <a:off x="528" y="2806"/>
                <a:ext cx="356" cy="456"/>
              </a:xfrm>
              <a:custGeom>
                <a:avLst/>
                <a:gdLst>
                  <a:gd name="txL" fmla="*/ 0 w 20656"/>
                  <a:gd name="txT" fmla="*/ 0 h 18991"/>
                  <a:gd name="txR" fmla="*/ 20656 w 20656"/>
                  <a:gd name="txB" fmla="*/ 18991 h 18991"/>
                </a:gdLst>
                <a:ahLst/>
                <a:cxnLst>
                  <a:cxn ang="0">
                    <a:pos x="0" y="0"/>
                  </a:cxn>
                  <a:cxn ang="0">
                    <a:pos x="0" y="0"/>
                  </a:cxn>
                  <a:cxn ang="0">
                    <a:pos x="0" y="0"/>
                  </a:cxn>
                </a:cxnLst>
                <a:rect l="txL" t="txT" r="txR" b="txB"/>
                <a:pathLst>
                  <a:path w="20656" h="18991" fill="none">
                    <a:moveTo>
                      <a:pt x="20655" y="6315"/>
                    </a:moveTo>
                    <a:cubicBezTo>
                      <a:pt x="18998" y="11737"/>
                      <a:pt x="15275" y="16289"/>
                      <a:pt x="10290" y="18990"/>
                    </a:cubicBezTo>
                  </a:path>
                  <a:path w="20656" h="18991" stroke="0">
                    <a:moveTo>
                      <a:pt x="20655" y="6315"/>
                    </a:moveTo>
                    <a:cubicBezTo>
                      <a:pt x="18998" y="11737"/>
                      <a:pt x="15275" y="16289"/>
                      <a:pt x="10290" y="18990"/>
                    </a:cubicBezTo>
                    <a:lnTo>
                      <a:pt x="0" y="0"/>
                    </a:lnTo>
                    <a:lnTo>
                      <a:pt x="20655" y="6315"/>
                    </a:lnTo>
                    <a:close/>
                  </a:path>
                </a:pathLst>
              </a:custGeom>
              <a:noFill/>
              <a:ln w="50800" cap="rnd" cmpd="sng">
                <a:solidFill>
                  <a:srgbClr val="FF66CC">
                    <a:alpha val="100000"/>
                  </a:srgbClr>
                </a:solidFill>
                <a:prstDash val="solid"/>
                <a:round/>
                <a:headEnd type="none" w="sm" len="sm"/>
                <a:tailEnd type="none" w="sm" len="sm"/>
              </a:ln>
            </p:spPr>
            <p:txBody>
              <a:bodyPr/>
              <a:p>
                <a:endParaRPr lang="zh-CN" altLang="en-US"/>
              </a:p>
            </p:txBody>
          </p:sp>
          <p:sp>
            <p:nvSpPr>
              <p:cNvPr id="18441" name="Arc 33"/>
              <p:cNvSpPr/>
              <p:nvPr/>
            </p:nvSpPr>
            <p:spPr>
              <a:xfrm rot="-60000">
                <a:off x="2324" y="2306"/>
                <a:ext cx="2554" cy="987"/>
              </a:xfrm>
              <a:custGeom>
                <a:avLst/>
                <a:gdLst>
                  <a:gd name="txL" fmla="*/ 0 w 21119"/>
                  <a:gd name="txT" fmla="*/ 0 h 21600"/>
                  <a:gd name="txR" fmla="*/ 21119 w 21119"/>
                  <a:gd name="txB" fmla="*/ 21600 h 21600"/>
                </a:gdLst>
                <a:ahLst/>
                <a:cxnLst>
                  <a:cxn ang="0">
                    <a:pos x="0" y="0"/>
                  </a:cxn>
                  <a:cxn ang="0">
                    <a:pos x="0" y="0"/>
                  </a:cxn>
                  <a:cxn ang="0">
                    <a:pos x="0" y="0"/>
                  </a:cxn>
                </a:cxnLst>
                <a:rect l="txL" t="txT" r="txR" b="txB"/>
                <a:pathLst>
                  <a:path w="21119" h="21600" fill="none">
                    <a:moveTo>
                      <a:pt x="21119" y="21599"/>
                    </a:moveTo>
                    <a:cubicBezTo>
                      <a:pt x="10936" y="21599"/>
                      <a:pt x="2136" y="14488"/>
                      <a:pt x="-1" y="4532"/>
                    </a:cubicBezTo>
                  </a:path>
                  <a:path w="21119" h="21600" stroke="0">
                    <a:moveTo>
                      <a:pt x="21119" y="21599"/>
                    </a:moveTo>
                    <a:cubicBezTo>
                      <a:pt x="10936" y="21599"/>
                      <a:pt x="2136" y="14488"/>
                      <a:pt x="-1" y="4532"/>
                    </a:cubicBezTo>
                    <a:lnTo>
                      <a:pt x="21119" y="0"/>
                    </a:lnTo>
                    <a:lnTo>
                      <a:pt x="21119" y="21599"/>
                    </a:lnTo>
                    <a:close/>
                  </a:path>
                </a:pathLst>
              </a:custGeom>
              <a:noFill/>
              <a:ln w="50800" cap="rnd" cmpd="sng">
                <a:solidFill>
                  <a:srgbClr val="FF66CC">
                    <a:alpha val="100000"/>
                  </a:srgbClr>
                </a:solidFill>
                <a:prstDash val="solid"/>
                <a:round/>
                <a:headEnd type="none" w="sm" len="sm"/>
                <a:tailEnd type="none" w="sm" len="sm"/>
              </a:ln>
            </p:spPr>
            <p:txBody>
              <a:bodyPr/>
              <a:p>
                <a:endParaRPr lang="zh-CN" altLang="en-US"/>
              </a:p>
            </p:txBody>
          </p:sp>
          <p:sp>
            <p:nvSpPr>
              <p:cNvPr id="18442" name="Arc 34"/>
              <p:cNvSpPr/>
              <p:nvPr/>
            </p:nvSpPr>
            <p:spPr>
              <a:xfrm rot="2640000">
                <a:off x="1165" y="1719"/>
                <a:ext cx="3622" cy="1257"/>
              </a:xfrm>
              <a:custGeom>
                <a:avLst/>
                <a:gdLst>
                  <a:gd name="txL" fmla="*/ 0 w 17656"/>
                  <a:gd name="txT" fmla="*/ 0 h 19265"/>
                  <a:gd name="txR" fmla="*/ 17656 w 17656"/>
                  <a:gd name="txB" fmla="*/ 19265 h 19265"/>
                </a:gdLst>
                <a:ahLst/>
                <a:cxnLst>
                  <a:cxn ang="0">
                    <a:pos x="0" y="0"/>
                  </a:cxn>
                  <a:cxn ang="0">
                    <a:pos x="0" y="0"/>
                  </a:cxn>
                  <a:cxn ang="0">
                    <a:pos x="0" y="0"/>
                  </a:cxn>
                </a:cxnLst>
                <a:rect l="txL" t="txT" r="txR" b="txB"/>
                <a:pathLst>
                  <a:path w="17656" h="19265" fill="none">
                    <a:moveTo>
                      <a:pt x="7887" y="19265"/>
                    </a:moveTo>
                    <a:cubicBezTo>
                      <a:pt x="4741" y="17669"/>
                      <a:pt x="2033" y="15327"/>
                      <a:pt x="0" y="12443"/>
                    </a:cubicBezTo>
                  </a:path>
                  <a:path w="17656" h="19265" stroke="0">
                    <a:moveTo>
                      <a:pt x="7887" y="19265"/>
                    </a:moveTo>
                    <a:cubicBezTo>
                      <a:pt x="4741" y="17669"/>
                      <a:pt x="2033" y="15327"/>
                      <a:pt x="0" y="12443"/>
                    </a:cubicBezTo>
                    <a:lnTo>
                      <a:pt x="17656" y="0"/>
                    </a:lnTo>
                    <a:lnTo>
                      <a:pt x="7887" y="19265"/>
                    </a:lnTo>
                    <a:close/>
                  </a:path>
                </a:pathLst>
              </a:custGeom>
              <a:noFill/>
              <a:ln w="50800" cap="rnd" cmpd="sng">
                <a:solidFill>
                  <a:srgbClr val="FF66CC">
                    <a:alpha val="100000"/>
                  </a:srgbClr>
                </a:solidFill>
                <a:prstDash val="solid"/>
                <a:round/>
                <a:headEnd type="none" w="sm" len="sm"/>
                <a:tailEnd type="none" w="sm" len="sm"/>
              </a:ln>
            </p:spPr>
            <p:txBody>
              <a:bodyPr/>
              <a:p>
                <a:endParaRPr lang="zh-CN" altLang="en-US"/>
              </a:p>
            </p:txBody>
          </p:sp>
          <p:sp>
            <p:nvSpPr>
              <p:cNvPr id="18443" name="Arc 35"/>
              <p:cNvSpPr/>
              <p:nvPr/>
            </p:nvSpPr>
            <p:spPr>
              <a:xfrm>
                <a:off x="1152" y="1106"/>
                <a:ext cx="367" cy="628"/>
              </a:xfrm>
              <a:custGeom>
                <a:avLst/>
                <a:gdLst>
                  <a:gd name="txL" fmla="*/ 0 w 31250"/>
                  <a:gd name="txT" fmla="*/ 0 h 21600"/>
                  <a:gd name="txR" fmla="*/ 31250 w 31250"/>
                  <a:gd name="txB" fmla="*/ 21600 h 21600"/>
                </a:gdLst>
                <a:ahLst/>
                <a:cxnLst>
                  <a:cxn ang="0">
                    <a:pos x="0" y="0"/>
                  </a:cxn>
                  <a:cxn ang="0">
                    <a:pos x="0" y="0"/>
                  </a:cxn>
                  <a:cxn ang="0">
                    <a:pos x="0" y="0"/>
                  </a:cxn>
                </a:cxnLst>
                <a:rect l="txL" t="txT" r="txR" b="txB"/>
                <a:pathLst>
                  <a:path w="31250" h="21600" fill="none">
                    <a:moveTo>
                      <a:pt x="-1" y="10077"/>
                    </a:moveTo>
                    <a:cubicBezTo>
                      <a:pt x="3955" y="3804"/>
                      <a:pt x="10853" y="-1"/>
                      <a:pt x="18270" y="-1"/>
                    </a:cubicBezTo>
                    <a:cubicBezTo>
                      <a:pt x="22952" y="-1"/>
                      <a:pt x="27507" y="1521"/>
                      <a:pt x="31249" y="4335"/>
                    </a:cubicBezTo>
                  </a:path>
                  <a:path w="31250" h="21600" stroke="0">
                    <a:moveTo>
                      <a:pt x="-1" y="10077"/>
                    </a:moveTo>
                    <a:cubicBezTo>
                      <a:pt x="3955" y="3804"/>
                      <a:pt x="10853" y="-1"/>
                      <a:pt x="18270" y="-1"/>
                    </a:cubicBezTo>
                    <a:cubicBezTo>
                      <a:pt x="22952" y="-1"/>
                      <a:pt x="27507" y="1521"/>
                      <a:pt x="31249" y="4335"/>
                    </a:cubicBezTo>
                    <a:lnTo>
                      <a:pt x="18270" y="21600"/>
                    </a:lnTo>
                    <a:lnTo>
                      <a:pt x="-1" y="10077"/>
                    </a:lnTo>
                    <a:close/>
                  </a:path>
                </a:pathLst>
              </a:custGeom>
              <a:noFill/>
              <a:ln w="50800" cap="rnd" cmpd="sng">
                <a:solidFill>
                  <a:srgbClr val="FF66CC">
                    <a:alpha val="100000"/>
                  </a:srgbClr>
                </a:solidFill>
                <a:prstDash val="solid"/>
                <a:round/>
                <a:headEnd type="none" w="sm" len="sm"/>
                <a:tailEnd type="none" w="sm" len="sm"/>
              </a:ln>
            </p:spPr>
            <p:txBody>
              <a:bodyPr/>
              <a:p>
                <a:endParaRPr lang="zh-CN" altLang="en-US"/>
              </a:p>
            </p:txBody>
          </p:sp>
          <p:sp>
            <p:nvSpPr>
              <p:cNvPr id="18444" name="Rectangle 36"/>
              <p:cNvSpPr/>
              <p:nvPr/>
            </p:nvSpPr>
            <p:spPr>
              <a:xfrm>
                <a:off x="4562" y="3365"/>
                <a:ext cx="610" cy="346"/>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en-US" altLang="zh-CN" sz="3000" b="0" i="1" dirty="0">
                    <a:latin typeface="Arial" panose="020B0604020202020204" pitchFamily="34" charset="0"/>
                    <a:ea typeface="MS PGothic" panose="020B0600070205080204" pitchFamily="34" charset="-128"/>
                  </a:rPr>
                  <a:t>/</a:t>
                </a:r>
                <a:r>
                  <a:rPr lang="en-US" altLang="zh-CN" sz="3000" b="0" dirty="0">
                    <a:latin typeface="Arial" panose="020B0604020202020204" pitchFamily="34" charset="0"/>
                    <a:ea typeface="MS PGothic" panose="020B0600070205080204" pitchFamily="34" charset="-128"/>
                  </a:rPr>
                  <a:t>μm</a:t>
                </a:r>
                <a:endParaRPr lang="en-US" altLang="zh-CN" sz="3000" b="0" dirty="0">
                  <a:latin typeface="宋体" panose="02010600030101010101" pitchFamily="2" charset="-122"/>
                  <a:ea typeface="MS PGothic" panose="020B0600070205080204" pitchFamily="34" charset="-128"/>
                </a:endParaRPr>
              </a:p>
            </p:txBody>
          </p:sp>
          <p:sp>
            <p:nvSpPr>
              <p:cNvPr id="18445" name="Rectangle 37"/>
              <p:cNvSpPr/>
              <p:nvPr/>
            </p:nvSpPr>
            <p:spPr>
              <a:xfrm>
                <a:off x="2186" y="3310"/>
                <a:ext cx="116" cy="365"/>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en-US" altLang="zh-CN" sz="3200" b="0" dirty="0">
                  <a:latin typeface="宋体" panose="02010600030101010101" pitchFamily="2" charset="-122"/>
                  <a:ea typeface="MS PGothic" panose="020B0600070205080204" pitchFamily="34" charset="-128"/>
                </a:endParaRPr>
              </a:p>
            </p:txBody>
          </p:sp>
          <p:sp>
            <p:nvSpPr>
              <p:cNvPr id="18446" name="Rectangle 38"/>
              <p:cNvSpPr/>
              <p:nvPr/>
            </p:nvSpPr>
            <p:spPr>
              <a:xfrm>
                <a:off x="3414" y="3302"/>
                <a:ext cx="116" cy="365"/>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en-US" altLang="zh-CN" sz="3200" b="0" dirty="0">
                  <a:latin typeface="宋体" panose="02010600030101010101" pitchFamily="2" charset="-122"/>
                  <a:ea typeface="MS PGothic" panose="020B0600070205080204" pitchFamily="34" charset="-128"/>
                </a:endParaRPr>
              </a:p>
            </p:txBody>
          </p:sp>
          <p:sp>
            <p:nvSpPr>
              <p:cNvPr id="18447" name="Line 39"/>
              <p:cNvSpPr/>
              <p:nvPr/>
            </p:nvSpPr>
            <p:spPr>
              <a:xfrm>
                <a:off x="646" y="3362"/>
                <a:ext cx="4445" cy="0"/>
              </a:xfrm>
              <a:prstGeom prst="line">
                <a:avLst/>
              </a:prstGeom>
              <a:ln w="28575" cap="flat" cmpd="sng">
                <a:solidFill>
                  <a:schemeClr val="tx1"/>
                </a:solidFill>
                <a:prstDash val="solid"/>
                <a:headEnd type="none" w="sm" len="sm"/>
                <a:tailEnd type="stealth" w="med" len="lg"/>
              </a:ln>
            </p:spPr>
          </p:sp>
          <p:sp>
            <p:nvSpPr>
              <p:cNvPr id="18448" name="Line 40"/>
              <p:cNvSpPr/>
              <p:nvPr/>
            </p:nvSpPr>
            <p:spPr>
              <a:xfrm flipV="1">
                <a:off x="1451" y="3288"/>
                <a:ext cx="0" cy="74"/>
              </a:xfrm>
              <a:prstGeom prst="line">
                <a:avLst/>
              </a:prstGeom>
              <a:ln w="28575" cap="flat" cmpd="sng">
                <a:solidFill>
                  <a:schemeClr val="tx1"/>
                </a:solidFill>
                <a:prstDash val="solid"/>
                <a:headEnd type="none" w="sm" len="sm"/>
                <a:tailEnd type="none" w="sm" len="sm"/>
              </a:ln>
            </p:spPr>
          </p:sp>
          <p:sp>
            <p:nvSpPr>
              <p:cNvPr id="18449" name="Line 41"/>
              <p:cNvSpPr/>
              <p:nvPr/>
            </p:nvSpPr>
            <p:spPr>
              <a:xfrm flipV="1">
                <a:off x="1874" y="3288"/>
                <a:ext cx="0" cy="74"/>
              </a:xfrm>
              <a:prstGeom prst="line">
                <a:avLst/>
              </a:prstGeom>
              <a:ln w="28575" cap="flat" cmpd="sng">
                <a:solidFill>
                  <a:schemeClr val="tx1"/>
                </a:solidFill>
                <a:prstDash val="solid"/>
                <a:headEnd type="none" w="sm" len="sm"/>
                <a:tailEnd type="none" w="sm" len="sm"/>
              </a:ln>
            </p:spPr>
          </p:sp>
          <p:sp>
            <p:nvSpPr>
              <p:cNvPr id="18450" name="Line 42"/>
              <p:cNvSpPr/>
              <p:nvPr/>
            </p:nvSpPr>
            <p:spPr>
              <a:xfrm flipV="1">
                <a:off x="2297" y="3288"/>
                <a:ext cx="0" cy="74"/>
              </a:xfrm>
              <a:prstGeom prst="line">
                <a:avLst/>
              </a:prstGeom>
              <a:ln w="28575" cap="flat" cmpd="sng">
                <a:solidFill>
                  <a:schemeClr val="tx1"/>
                </a:solidFill>
                <a:prstDash val="solid"/>
                <a:headEnd type="none" w="sm" len="sm"/>
                <a:tailEnd type="none" w="sm" len="sm"/>
              </a:ln>
            </p:spPr>
          </p:sp>
          <p:sp>
            <p:nvSpPr>
              <p:cNvPr id="18451" name="Line 43"/>
              <p:cNvSpPr/>
              <p:nvPr/>
            </p:nvSpPr>
            <p:spPr>
              <a:xfrm flipV="1">
                <a:off x="2721" y="3288"/>
                <a:ext cx="0" cy="74"/>
              </a:xfrm>
              <a:prstGeom prst="line">
                <a:avLst/>
              </a:prstGeom>
              <a:ln w="28575" cap="flat" cmpd="sng">
                <a:solidFill>
                  <a:schemeClr val="tx1"/>
                </a:solidFill>
                <a:prstDash val="solid"/>
                <a:headEnd type="none" w="sm" len="sm"/>
                <a:tailEnd type="none" w="sm" len="sm"/>
              </a:ln>
            </p:spPr>
          </p:sp>
          <p:sp>
            <p:nvSpPr>
              <p:cNvPr id="18452" name="Line 44"/>
              <p:cNvSpPr/>
              <p:nvPr/>
            </p:nvSpPr>
            <p:spPr>
              <a:xfrm flipV="1">
                <a:off x="3525" y="3288"/>
                <a:ext cx="0" cy="74"/>
              </a:xfrm>
              <a:prstGeom prst="line">
                <a:avLst/>
              </a:prstGeom>
              <a:ln w="28575" cap="flat" cmpd="sng">
                <a:solidFill>
                  <a:schemeClr val="tx1"/>
                </a:solidFill>
                <a:prstDash val="solid"/>
                <a:headEnd type="none" w="sm" len="sm"/>
                <a:tailEnd type="none" w="sm" len="sm"/>
              </a:ln>
            </p:spPr>
          </p:sp>
          <p:sp>
            <p:nvSpPr>
              <p:cNvPr id="18453" name="Line 45"/>
              <p:cNvSpPr/>
              <p:nvPr/>
            </p:nvSpPr>
            <p:spPr>
              <a:xfrm flipV="1">
                <a:off x="3948" y="3288"/>
                <a:ext cx="0" cy="74"/>
              </a:xfrm>
              <a:prstGeom prst="line">
                <a:avLst/>
              </a:prstGeom>
              <a:ln w="28575" cap="flat" cmpd="sng">
                <a:solidFill>
                  <a:schemeClr val="tx1"/>
                </a:solidFill>
                <a:prstDash val="solid"/>
                <a:headEnd type="none" w="sm" len="sm"/>
                <a:tailEnd type="none" w="sm" len="sm"/>
              </a:ln>
            </p:spPr>
          </p:sp>
          <p:sp>
            <p:nvSpPr>
              <p:cNvPr id="18454" name="Line 46"/>
              <p:cNvSpPr/>
              <p:nvPr/>
            </p:nvSpPr>
            <p:spPr>
              <a:xfrm flipV="1">
                <a:off x="4329" y="3288"/>
                <a:ext cx="0" cy="74"/>
              </a:xfrm>
              <a:prstGeom prst="line">
                <a:avLst/>
              </a:prstGeom>
              <a:ln w="28575" cap="flat" cmpd="sng">
                <a:solidFill>
                  <a:schemeClr val="tx1"/>
                </a:solidFill>
                <a:prstDash val="solid"/>
                <a:headEnd type="none" w="sm" len="sm"/>
                <a:tailEnd type="none" w="sm" len="sm"/>
              </a:ln>
            </p:spPr>
          </p:sp>
          <p:sp>
            <p:nvSpPr>
              <p:cNvPr id="18455" name="Line 47"/>
              <p:cNvSpPr/>
              <p:nvPr/>
            </p:nvSpPr>
            <p:spPr>
              <a:xfrm flipV="1">
                <a:off x="4710" y="3288"/>
                <a:ext cx="0" cy="74"/>
              </a:xfrm>
              <a:prstGeom prst="line">
                <a:avLst/>
              </a:prstGeom>
              <a:ln w="28575" cap="flat" cmpd="sng">
                <a:solidFill>
                  <a:schemeClr val="tx1"/>
                </a:solidFill>
                <a:prstDash val="solid"/>
                <a:headEnd type="none" w="sm" len="sm"/>
                <a:tailEnd type="none" w="sm" len="sm"/>
              </a:ln>
            </p:spPr>
          </p:sp>
          <p:sp>
            <p:nvSpPr>
              <p:cNvPr id="18456" name="Line 48"/>
              <p:cNvSpPr/>
              <p:nvPr/>
            </p:nvSpPr>
            <p:spPr>
              <a:xfrm flipV="1">
                <a:off x="1027" y="3288"/>
                <a:ext cx="0" cy="74"/>
              </a:xfrm>
              <a:prstGeom prst="line">
                <a:avLst/>
              </a:prstGeom>
              <a:ln w="28575" cap="flat" cmpd="sng">
                <a:solidFill>
                  <a:schemeClr val="tx1"/>
                </a:solidFill>
                <a:prstDash val="solid"/>
                <a:headEnd type="none" w="sm" len="sm"/>
                <a:tailEnd type="none" w="sm" len="sm"/>
              </a:ln>
            </p:spPr>
          </p:sp>
          <p:sp>
            <p:nvSpPr>
              <p:cNvPr id="18457" name="Line 49"/>
              <p:cNvSpPr/>
              <p:nvPr/>
            </p:nvSpPr>
            <p:spPr>
              <a:xfrm flipV="1">
                <a:off x="3144" y="3288"/>
                <a:ext cx="0" cy="74"/>
              </a:xfrm>
              <a:prstGeom prst="line">
                <a:avLst/>
              </a:prstGeom>
              <a:ln w="28575" cap="flat" cmpd="sng">
                <a:solidFill>
                  <a:schemeClr val="tx1"/>
                </a:solidFill>
                <a:prstDash val="solid"/>
                <a:headEnd type="none" w="sm" len="sm"/>
                <a:tailEnd type="none" w="sm" len="sm"/>
              </a:ln>
            </p:spPr>
          </p:sp>
          <p:sp>
            <p:nvSpPr>
              <p:cNvPr id="18458" name="Oval 50"/>
              <p:cNvSpPr/>
              <p:nvPr/>
            </p:nvSpPr>
            <p:spPr>
              <a:xfrm>
                <a:off x="1877" y="1923"/>
                <a:ext cx="78" cy="67"/>
              </a:xfrm>
              <a:prstGeom prst="ellipse">
                <a:avLst/>
              </a:prstGeom>
              <a:solidFill>
                <a:srgbClr val="FFFF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en-US" altLang="zh-CN" sz="1800" b="0" dirty="0">
                  <a:latin typeface="Arial" panose="020B0604020202020204" pitchFamily="34" charset="0"/>
                  <a:ea typeface="宋体" panose="02010600030101010101" pitchFamily="2" charset="-122"/>
                </a:endParaRPr>
              </a:p>
            </p:txBody>
          </p:sp>
          <p:sp>
            <p:nvSpPr>
              <p:cNvPr id="18459" name="Oval 51"/>
              <p:cNvSpPr/>
              <p:nvPr/>
            </p:nvSpPr>
            <p:spPr>
              <a:xfrm>
                <a:off x="946" y="2366"/>
                <a:ext cx="78" cy="68"/>
              </a:xfrm>
              <a:prstGeom prst="ellipse">
                <a:avLst/>
              </a:prstGeom>
              <a:solidFill>
                <a:srgbClr val="FFFF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en-US" altLang="zh-CN" sz="1800" b="0" dirty="0">
                  <a:latin typeface="Arial" panose="020B0604020202020204" pitchFamily="34" charset="0"/>
                  <a:ea typeface="宋体" panose="02010600030101010101" pitchFamily="2" charset="-122"/>
                </a:endParaRPr>
              </a:p>
            </p:txBody>
          </p:sp>
          <p:sp>
            <p:nvSpPr>
              <p:cNvPr id="18460" name="Oval 52"/>
              <p:cNvSpPr/>
              <p:nvPr/>
            </p:nvSpPr>
            <p:spPr>
              <a:xfrm>
                <a:off x="4036" y="3143"/>
                <a:ext cx="78" cy="68"/>
              </a:xfrm>
              <a:prstGeom prst="ellipse">
                <a:avLst/>
              </a:prstGeom>
              <a:solidFill>
                <a:srgbClr val="FFFF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en-US" altLang="zh-CN" sz="1800" b="0" dirty="0">
                  <a:latin typeface="Arial" panose="020B0604020202020204" pitchFamily="34" charset="0"/>
                  <a:ea typeface="宋体" panose="02010600030101010101" pitchFamily="2" charset="-122"/>
                </a:endParaRPr>
              </a:p>
            </p:txBody>
          </p:sp>
          <p:sp>
            <p:nvSpPr>
              <p:cNvPr id="18461" name="Oval 53"/>
              <p:cNvSpPr/>
              <p:nvPr/>
            </p:nvSpPr>
            <p:spPr>
              <a:xfrm>
                <a:off x="3740" y="3106"/>
                <a:ext cx="78" cy="68"/>
              </a:xfrm>
              <a:prstGeom prst="ellipse">
                <a:avLst/>
              </a:prstGeom>
              <a:solidFill>
                <a:srgbClr val="FFFF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en-US" altLang="zh-CN" sz="1800" b="0" dirty="0">
                  <a:latin typeface="Arial" panose="020B0604020202020204" pitchFamily="34" charset="0"/>
                  <a:ea typeface="宋体" panose="02010600030101010101" pitchFamily="2" charset="-122"/>
                </a:endParaRPr>
              </a:p>
            </p:txBody>
          </p:sp>
          <p:sp>
            <p:nvSpPr>
              <p:cNvPr id="18462" name="Oval 54"/>
              <p:cNvSpPr/>
              <p:nvPr/>
            </p:nvSpPr>
            <p:spPr>
              <a:xfrm>
                <a:off x="3232" y="2995"/>
                <a:ext cx="78" cy="68"/>
              </a:xfrm>
              <a:prstGeom prst="ellipse">
                <a:avLst/>
              </a:prstGeom>
              <a:solidFill>
                <a:srgbClr val="FFFF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en-US" altLang="zh-CN" sz="1800" b="0" dirty="0">
                  <a:latin typeface="Arial" panose="020B0604020202020204" pitchFamily="34" charset="0"/>
                  <a:ea typeface="宋体" panose="02010600030101010101" pitchFamily="2" charset="-122"/>
                </a:endParaRPr>
              </a:p>
            </p:txBody>
          </p:sp>
          <p:sp>
            <p:nvSpPr>
              <p:cNvPr id="18463" name="Oval 55"/>
              <p:cNvSpPr/>
              <p:nvPr/>
            </p:nvSpPr>
            <p:spPr>
              <a:xfrm>
                <a:off x="2978" y="2921"/>
                <a:ext cx="78" cy="68"/>
              </a:xfrm>
              <a:prstGeom prst="ellipse">
                <a:avLst/>
              </a:prstGeom>
              <a:solidFill>
                <a:srgbClr val="FFFF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en-US" altLang="zh-CN" sz="1800" b="0" dirty="0">
                  <a:latin typeface="Arial" panose="020B0604020202020204" pitchFamily="34" charset="0"/>
                  <a:ea typeface="宋体" panose="02010600030101010101" pitchFamily="2" charset="-122"/>
                </a:endParaRPr>
              </a:p>
            </p:txBody>
          </p:sp>
          <p:sp>
            <p:nvSpPr>
              <p:cNvPr id="18464" name="Oval 56"/>
              <p:cNvSpPr/>
              <p:nvPr/>
            </p:nvSpPr>
            <p:spPr>
              <a:xfrm>
                <a:off x="2682" y="2773"/>
                <a:ext cx="77" cy="68"/>
              </a:xfrm>
              <a:prstGeom prst="ellipse">
                <a:avLst/>
              </a:prstGeom>
              <a:solidFill>
                <a:srgbClr val="FFFF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en-US" altLang="zh-CN" sz="1800" b="0" dirty="0">
                  <a:latin typeface="Arial" panose="020B0604020202020204" pitchFamily="34" charset="0"/>
                  <a:ea typeface="宋体" panose="02010600030101010101" pitchFamily="2" charset="-122"/>
                </a:endParaRPr>
              </a:p>
            </p:txBody>
          </p:sp>
          <p:sp>
            <p:nvSpPr>
              <p:cNvPr id="18465" name="Oval 57"/>
              <p:cNvSpPr/>
              <p:nvPr/>
            </p:nvSpPr>
            <p:spPr>
              <a:xfrm>
                <a:off x="2301" y="2514"/>
                <a:ext cx="77" cy="68"/>
              </a:xfrm>
              <a:prstGeom prst="ellipse">
                <a:avLst/>
              </a:prstGeom>
              <a:solidFill>
                <a:srgbClr val="FFFF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en-US" altLang="zh-CN" sz="1800" b="0" dirty="0">
                  <a:latin typeface="Arial" panose="020B0604020202020204" pitchFamily="34" charset="0"/>
                  <a:ea typeface="宋体" panose="02010600030101010101" pitchFamily="2" charset="-122"/>
                </a:endParaRPr>
              </a:p>
            </p:txBody>
          </p:sp>
          <p:sp>
            <p:nvSpPr>
              <p:cNvPr id="18466" name="Oval 58"/>
              <p:cNvSpPr/>
              <p:nvPr/>
            </p:nvSpPr>
            <p:spPr>
              <a:xfrm>
                <a:off x="2428" y="2588"/>
                <a:ext cx="77" cy="68"/>
              </a:xfrm>
              <a:prstGeom prst="ellipse">
                <a:avLst/>
              </a:prstGeom>
              <a:solidFill>
                <a:srgbClr val="FFFF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en-US" altLang="zh-CN" sz="1800" b="0" dirty="0">
                  <a:latin typeface="Arial" panose="020B0604020202020204" pitchFamily="34" charset="0"/>
                  <a:ea typeface="宋体" panose="02010600030101010101" pitchFamily="2" charset="-122"/>
                </a:endParaRPr>
              </a:p>
            </p:txBody>
          </p:sp>
          <p:sp>
            <p:nvSpPr>
              <p:cNvPr id="18467" name="Oval 59"/>
              <p:cNvSpPr/>
              <p:nvPr/>
            </p:nvSpPr>
            <p:spPr>
              <a:xfrm>
                <a:off x="1623" y="1442"/>
                <a:ext cx="78" cy="67"/>
              </a:xfrm>
              <a:prstGeom prst="ellipse">
                <a:avLst/>
              </a:prstGeom>
              <a:solidFill>
                <a:srgbClr val="FFFF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en-US" altLang="zh-CN" sz="1800" b="0" dirty="0">
                  <a:latin typeface="Arial" panose="020B0604020202020204" pitchFamily="34" charset="0"/>
                  <a:ea typeface="宋体" panose="02010600030101010101" pitchFamily="2" charset="-122"/>
                </a:endParaRPr>
              </a:p>
            </p:txBody>
          </p:sp>
          <p:sp>
            <p:nvSpPr>
              <p:cNvPr id="18468" name="Oval 60"/>
              <p:cNvSpPr/>
              <p:nvPr/>
            </p:nvSpPr>
            <p:spPr>
              <a:xfrm>
                <a:off x="1031" y="1775"/>
                <a:ext cx="77" cy="67"/>
              </a:xfrm>
              <a:prstGeom prst="ellipse">
                <a:avLst/>
              </a:prstGeom>
              <a:solidFill>
                <a:srgbClr val="FFFF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en-US" altLang="zh-CN" sz="1800" b="0" dirty="0">
                  <a:latin typeface="Arial" panose="020B0604020202020204" pitchFamily="34" charset="0"/>
                  <a:ea typeface="宋体" panose="02010600030101010101" pitchFamily="2" charset="-122"/>
                </a:endParaRPr>
              </a:p>
            </p:txBody>
          </p:sp>
          <p:sp>
            <p:nvSpPr>
              <p:cNvPr id="18469" name="Oval 61"/>
              <p:cNvSpPr/>
              <p:nvPr/>
            </p:nvSpPr>
            <p:spPr>
              <a:xfrm>
                <a:off x="1073" y="1479"/>
                <a:ext cx="78" cy="67"/>
              </a:xfrm>
              <a:prstGeom prst="ellipse">
                <a:avLst/>
              </a:prstGeom>
              <a:solidFill>
                <a:srgbClr val="FFFF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en-US" altLang="zh-CN" sz="1800" b="0" dirty="0">
                  <a:latin typeface="Arial" panose="020B0604020202020204" pitchFamily="34" charset="0"/>
                  <a:ea typeface="宋体" panose="02010600030101010101" pitchFamily="2" charset="-122"/>
                </a:endParaRPr>
              </a:p>
            </p:txBody>
          </p:sp>
          <p:sp>
            <p:nvSpPr>
              <p:cNvPr id="18470" name="Oval 62"/>
              <p:cNvSpPr/>
              <p:nvPr/>
            </p:nvSpPr>
            <p:spPr>
              <a:xfrm>
                <a:off x="988" y="2033"/>
                <a:ext cx="78" cy="68"/>
              </a:xfrm>
              <a:prstGeom prst="ellipse">
                <a:avLst/>
              </a:prstGeom>
              <a:solidFill>
                <a:srgbClr val="FFFF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en-US" altLang="zh-CN" sz="1800" b="0" dirty="0">
                  <a:latin typeface="Arial" panose="020B0604020202020204" pitchFamily="34" charset="0"/>
                  <a:ea typeface="宋体" panose="02010600030101010101" pitchFamily="2" charset="-122"/>
                </a:endParaRPr>
              </a:p>
            </p:txBody>
          </p:sp>
          <p:sp>
            <p:nvSpPr>
              <p:cNvPr id="18471" name="Oval 63"/>
              <p:cNvSpPr/>
              <p:nvPr/>
            </p:nvSpPr>
            <p:spPr>
              <a:xfrm>
                <a:off x="1158" y="1220"/>
                <a:ext cx="77" cy="68"/>
              </a:xfrm>
              <a:prstGeom prst="ellipse">
                <a:avLst/>
              </a:prstGeom>
              <a:solidFill>
                <a:srgbClr val="FFFF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en-US" altLang="zh-CN" sz="1800" b="0" dirty="0">
                  <a:latin typeface="Arial" panose="020B0604020202020204" pitchFamily="34" charset="0"/>
                  <a:ea typeface="宋体" panose="02010600030101010101" pitchFamily="2" charset="-122"/>
                </a:endParaRPr>
              </a:p>
            </p:txBody>
          </p:sp>
          <p:sp>
            <p:nvSpPr>
              <p:cNvPr id="18472" name="Oval 64"/>
              <p:cNvSpPr/>
              <p:nvPr/>
            </p:nvSpPr>
            <p:spPr>
              <a:xfrm>
                <a:off x="1539" y="1257"/>
                <a:ext cx="77" cy="67"/>
              </a:xfrm>
              <a:prstGeom prst="ellipse">
                <a:avLst/>
              </a:prstGeom>
              <a:solidFill>
                <a:srgbClr val="FFFF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en-US" altLang="zh-CN" sz="1800" b="0" dirty="0">
                  <a:latin typeface="Arial" panose="020B0604020202020204" pitchFamily="34" charset="0"/>
                  <a:ea typeface="宋体" panose="02010600030101010101" pitchFamily="2" charset="-122"/>
                </a:endParaRPr>
              </a:p>
            </p:txBody>
          </p:sp>
          <p:sp>
            <p:nvSpPr>
              <p:cNvPr id="18473" name="Oval 65"/>
              <p:cNvSpPr/>
              <p:nvPr/>
            </p:nvSpPr>
            <p:spPr>
              <a:xfrm>
                <a:off x="1369" y="1035"/>
                <a:ext cx="78" cy="68"/>
              </a:xfrm>
              <a:prstGeom prst="ellipse">
                <a:avLst/>
              </a:prstGeom>
              <a:solidFill>
                <a:srgbClr val="FFFF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en-US" altLang="zh-CN" sz="1800" b="0" dirty="0">
                  <a:latin typeface="Arial" panose="020B0604020202020204" pitchFamily="34" charset="0"/>
                  <a:ea typeface="宋体" panose="02010600030101010101" pitchFamily="2" charset="-122"/>
                </a:endParaRPr>
              </a:p>
            </p:txBody>
          </p:sp>
          <p:sp>
            <p:nvSpPr>
              <p:cNvPr id="18474" name="Oval 66"/>
              <p:cNvSpPr/>
              <p:nvPr/>
            </p:nvSpPr>
            <p:spPr>
              <a:xfrm>
                <a:off x="1242" y="1035"/>
                <a:ext cx="78" cy="68"/>
              </a:xfrm>
              <a:prstGeom prst="ellipse">
                <a:avLst/>
              </a:prstGeom>
              <a:solidFill>
                <a:srgbClr val="FFFF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en-US" altLang="zh-CN" sz="1800" b="0" dirty="0">
                  <a:latin typeface="Arial" panose="020B0604020202020204" pitchFamily="34" charset="0"/>
                  <a:ea typeface="宋体" panose="02010600030101010101" pitchFamily="2" charset="-122"/>
                </a:endParaRPr>
              </a:p>
            </p:txBody>
          </p:sp>
          <p:sp>
            <p:nvSpPr>
              <p:cNvPr id="18475" name="Oval 67"/>
              <p:cNvSpPr/>
              <p:nvPr/>
            </p:nvSpPr>
            <p:spPr>
              <a:xfrm>
                <a:off x="777" y="3106"/>
                <a:ext cx="77" cy="68"/>
              </a:xfrm>
              <a:prstGeom prst="ellipse">
                <a:avLst/>
              </a:prstGeom>
              <a:solidFill>
                <a:srgbClr val="FFFF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en-US" altLang="zh-CN" sz="1800" b="0" dirty="0">
                  <a:latin typeface="Arial" panose="020B0604020202020204" pitchFamily="34" charset="0"/>
                  <a:ea typeface="宋体" panose="02010600030101010101" pitchFamily="2" charset="-122"/>
                </a:endParaRPr>
              </a:p>
            </p:txBody>
          </p:sp>
          <p:sp>
            <p:nvSpPr>
              <p:cNvPr id="18476" name="Oval 68"/>
              <p:cNvSpPr/>
              <p:nvPr/>
            </p:nvSpPr>
            <p:spPr>
              <a:xfrm>
                <a:off x="819" y="2995"/>
                <a:ext cx="78" cy="68"/>
              </a:xfrm>
              <a:prstGeom prst="ellipse">
                <a:avLst/>
              </a:prstGeom>
              <a:solidFill>
                <a:srgbClr val="FFFF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en-US" altLang="zh-CN" sz="1800" b="0" dirty="0">
                  <a:latin typeface="Arial" panose="020B0604020202020204" pitchFamily="34" charset="0"/>
                  <a:ea typeface="宋体" panose="02010600030101010101" pitchFamily="2" charset="-122"/>
                </a:endParaRPr>
              </a:p>
            </p:txBody>
          </p:sp>
          <p:sp>
            <p:nvSpPr>
              <p:cNvPr id="18477" name="Oval 69"/>
              <p:cNvSpPr/>
              <p:nvPr/>
            </p:nvSpPr>
            <p:spPr>
              <a:xfrm>
                <a:off x="861" y="2884"/>
                <a:ext cx="78" cy="68"/>
              </a:xfrm>
              <a:prstGeom prst="ellipse">
                <a:avLst/>
              </a:prstGeom>
              <a:solidFill>
                <a:srgbClr val="FFFF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en-US" altLang="zh-CN" sz="1800" b="0" dirty="0">
                  <a:latin typeface="Arial" panose="020B0604020202020204" pitchFamily="34" charset="0"/>
                  <a:ea typeface="宋体" panose="02010600030101010101" pitchFamily="2" charset="-122"/>
                </a:endParaRPr>
              </a:p>
            </p:txBody>
          </p:sp>
          <p:sp>
            <p:nvSpPr>
              <p:cNvPr id="18478" name="Line 71"/>
              <p:cNvSpPr/>
              <p:nvPr/>
            </p:nvSpPr>
            <p:spPr>
              <a:xfrm rot="10800000">
                <a:off x="646" y="847"/>
                <a:ext cx="1" cy="2515"/>
              </a:xfrm>
              <a:prstGeom prst="line">
                <a:avLst/>
              </a:prstGeom>
              <a:ln w="28575" cap="flat" cmpd="sng">
                <a:solidFill>
                  <a:schemeClr val="tx1"/>
                </a:solidFill>
                <a:prstDash val="solid"/>
                <a:headEnd type="none" w="sm" len="sm"/>
                <a:tailEnd type="arrow" w="med" len="med"/>
              </a:ln>
            </p:spPr>
          </p:sp>
          <p:sp>
            <p:nvSpPr>
              <p:cNvPr id="18479" name="Arc 72"/>
              <p:cNvSpPr/>
              <p:nvPr/>
            </p:nvSpPr>
            <p:spPr>
              <a:xfrm rot="120000">
                <a:off x="2518" y="1365"/>
                <a:ext cx="1413" cy="1866"/>
              </a:xfrm>
              <a:custGeom>
                <a:avLst/>
                <a:gdLst>
                  <a:gd name="txL" fmla="*/ 0 w 13549"/>
                  <a:gd name="txT" fmla="*/ 0 h 21510"/>
                  <a:gd name="txR" fmla="*/ 13549 w 13549"/>
                  <a:gd name="txB" fmla="*/ 21510 h 21510"/>
                </a:gdLst>
                <a:ahLst/>
                <a:cxnLst>
                  <a:cxn ang="0">
                    <a:pos x="0" y="0"/>
                  </a:cxn>
                  <a:cxn ang="0">
                    <a:pos x="0" y="0"/>
                  </a:cxn>
                  <a:cxn ang="0">
                    <a:pos x="0" y="0"/>
                  </a:cxn>
                </a:cxnLst>
                <a:rect l="txL" t="txT" r="txR" b="txB"/>
                <a:pathLst>
                  <a:path w="13549" h="21510" fill="none">
                    <a:moveTo>
                      <a:pt x="11581" y="21510"/>
                    </a:moveTo>
                    <a:cubicBezTo>
                      <a:pt x="7343" y="21122"/>
                      <a:pt x="3314" y="19491"/>
                      <a:pt x="-1" y="16822"/>
                    </a:cubicBezTo>
                  </a:path>
                  <a:path w="13549" h="21510" stroke="0">
                    <a:moveTo>
                      <a:pt x="11581" y="21510"/>
                    </a:moveTo>
                    <a:cubicBezTo>
                      <a:pt x="7343" y="21122"/>
                      <a:pt x="3314" y="19491"/>
                      <a:pt x="-1" y="16822"/>
                    </a:cubicBezTo>
                    <a:lnTo>
                      <a:pt x="13549" y="0"/>
                    </a:lnTo>
                    <a:lnTo>
                      <a:pt x="11581" y="21510"/>
                    </a:lnTo>
                    <a:close/>
                  </a:path>
                </a:pathLst>
              </a:custGeom>
              <a:noFill/>
              <a:ln w="50800" cap="flat" cmpd="sng">
                <a:solidFill>
                  <a:schemeClr val="tx1">
                    <a:alpha val="100000"/>
                  </a:schemeClr>
                </a:solidFill>
                <a:prstDash val="dash"/>
                <a:round/>
                <a:headEnd type="none" w="sm" len="sm"/>
                <a:tailEnd type="none" w="sm" len="sm"/>
              </a:ln>
            </p:spPr>
            <p:txBody>
              <a:bodyPr/>
              <a:p>
                <a:endParaRPr lang="zh-CN" altLang="en-US"/>
              </a:p>
            </p:txBody>
          </p:sp>
          <p:sp>
            <p:nvSpPr>
              <p:cNvPr id="18480" name="Line 73"/>
              <p:cNvSpPr/>
              <p:nvPr/>
            </p:nvSpPr>
            <p:spPr>
              <a:xfrm>
                <a:off x="1925" y="1956"/>
                <a:ext cx="423" cy="629"/>
              </a:xfrm>
              <a:prstGeom prst="line">
                <a:avLst/>
              </a:prstGeom>
              <a:ln w="50800" cap="flat" cmpd="sng">
                <a:solidFill>
                  <a:schemeClr val="tx1"/>
                </a:solidFill>
                <a:prstDash val="dash"/>
                <a:headEnd type="none" w="sm" len="sm"/>
                <a:tailEnd type="none" w="sm" len="sm"/>
              </a:ln>
            </p:spPr>
          </p:sp>
          <p:sp>
            <p:nvSpPr>
              <p:cNvPr id="18481" name="Arc 74"/>
              <p:cNvSpPr/>
              <p:nvPr/>
            </p:nvSpPr>
            <p:spPr>
              <a:xfrm rot="-8640000">
                <a:off x="2443" y="2281"/>
                <a:ext cx="1551" cy="935"/>
              </a:xfrm>
              <a:custGeom>
                <a:avLst/>
                <a:gdLst>
                  <a:gd name="txL" fmla="*/ 0 w 12837"/>
                  <a:gd name="txT" fmla="*/ 0 h 19272"/>
                  <a:gd name="txR" fmla="*/ 12837 w 12837"/>
                  <a:gd name="txB" fmla="*/ 19272 h 19272"/>
                </a:gdLst>
                <a:ahLst/>
                <a:cxnLst>
                  <a:cxn ang="0">
                    <a:pos x="0" y="0"/>
                  </a:cxn>
                  <a:cxn ang="0">
                    <a:pos x="0" y="0"/>
                  </a:cxn>
                  <a:cxn ang="0">
                    <a:pos x="0" y="0"/>
                  </a:cxn>
                </a:cxnLst>
                <a:rect l="txL" t="txT" r="txR" b="txB"/>
                <a:pathLst>
                  <a:path w="12837" h="19272" fill="none">
                    <a:moveTo>
                      <a:pt x="9754" y="-1"/>
                    </a:moveTo>
                    <a:cubicBezTo>
                      <a:pt x="10833" y="545"/>
                      <a:pt x="11864" y="1181"/>
                      <a:pt x="12837" y="1900"/>
                    </a:cubicBezTo>
                  </a:path>
                  <a:path w="12837" h="19272" stroke="0">
                    <a:moveTo>
                      <a:pt x="9754" y="-1"/>
                    </a:moveTo>
                    <a:cubicBezTo>
                      <a:pt x="10833" y="545"/>
                      <a:pt x="11864" y="1181"/>
                      <a:pt x="12837" y="1900"/>
                    </a:cubicBezTo>
                    <a:lnTo>
                      <a:pt x="0" y="19272"/>
                    </a:lnTo>
                    <a:lnTo>
                      <a:pt x="9754" y="-1"/>
                    </a:lnTo>
                    <a:close/>
                  </a:path>
                </a:pathLst>
              </a:custGeom>
              <a:noFill/>
              <a:ln w="50800" cap="flat" cmpd="sng">
                <a:solidFill>
                  <a:schemeClr val="tx1">
                    <a:alpha val="100000"/>
                  </a:schemeClr>
                </a:solidFill>
                <a:prstDash val="dash"/>
                <a:round/>
                <a:headEnd type="none" w="sm" len="sm"/>
                <a:tailEnd type="none" w="sm" len="sm"/>
              </a:ln>
            </p:spPr>
            <p:txBody>
              <a:bodyPr/>
              <a:p>
                <a:endParaRPr lang="zh-CN" altLang="en-US"/>
              </a:p>
            </p:txBody>
          </p:sp>
          <p:sp>
            <p:nvSpPr>
              <p:cNvPr id="18482" name="Line 75"/>
              <p:cNvSpPr/>
              <p:nvPr/>
            </p:nvSpPr>
            <p:spPr>
              <a:xfrm>
                <a:off x="3662" y="3251"/>
                <a:ext cx="931" cy="74"/>
              </a:xfrm>
              <a:prstGeom prst="line">
                <a:avLst/>
              </a:prstGeom>
              <a:ln w="50800" cap="flat" cmpd="sng">
                <a:solidFill>
                  <a:schemeClr val="tx1"/>
                </a:solidFill>
                <a:prstDash val="dash"/>
                <a:headEnd type="none" w="sm" len="sm"/>
                <a:tailEnd type="none" w="sm" len="sm"/>
              </a:ln>
            </p:spPr>
          </p:sp>
          <p:sp>
            <p:nvSpPr>
              <p:cNvPr id="18483" name="Rectangle 76"/>
              <p:cNvSpPr/>
              <p:nvPr/>
            </p:nvSpPr>
            <p:spPr>
              <a:xfrm>
                <a:off x="1469" y="2844"/>
                <a:ext cx="799" cy="33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zh-CN" altLang="en-US" dirty="0">
                    <a:solidFill>
                      <a:srgbClr val="080808"/>
                    </a:solidFill>
                    <a:latin typeface="Bookman Old Style" pitchFamily="18" charset="0"/>
                    <a:ea typeface="MS PGothic" panose="020B0600070205080204" pitchFamily="34" charset="-128"/>
                  </a:rPr>
                  <a:t>维恩线</a:t>
                </a:r>
                <a:endParaRPr lang="en-US" altLang="zh-CN" dirty="0">
                  <a:solidFill>
                    <a:srgbClr val="080808"/>
                  </a:solidFill>
                  <a:latin typeface="Bookman Old Style" pitchFamily="18" charset="0"/>
                  <a:ea typeface="楷体_GB2312" pitchFamily="49" charset="-122"/>
                </a:endParaRPr>
              </a:p>
            </p:txBody>
          </p:sp>
          <p:sp>
            <p:nvSpPr>
              <p:cNvPr id="18484" name="Line 77"/>
              <p:cNvSpPr/>
              <p:nvPr/>
            </p:nvSpPr>
            <p:spPr>
              <a:xfrm>
                <a:off x="2231" y="2992"/>
                <a:ext cx="593" cy="0"/>
              </a:xfrm>
              <a:prstGeom prst="line">
                <a:avLst/>
              </a:prstGeom>
              <a:ln w="38100" cap="flat" cmpd="sng">
                <a:solidFill>
                  <a:schemeClr val="tx1"/>
                </a:solidFill>
                <a:prstDash val="solid"/>
                <a:headEnd type="none" w="sm" len="sm"/>
                <a:tailEnd type="triangle" w="med" len="med"/>
              </a:ln>
            </p:spPr>
          </p:sp>
          <p:sp>
            <p:nvSpPr>
              <p:cNvPr id="18485" name="Arc 78"/>
              <p:cNvSpPr/>
              <p:nvPr/>
            </p:nvSpPr>
            <p:spPr>
              <a:xfrm>
                <a:off x="2391" y="1328"/>
                <a:ext cx="2383" cy="1871"/>
              </a:xfrm>
              <a:custGeom>
                <a:avLst/>
                <a:gdLst>
                  <a:gd name="txL" fmla="*/ 0 w 21600"/>
                  <a:gd name="txT" fmla="*/ 0 h 21858"/>
                  <a:gd name="txR" fmla="*/ 21600 w 21600"/>
                  <a:gd name="txB" fmla="*/ 21858 h 21858"/>
                </a:gdLst>
                <a:ahLst/>
                <a:cxnLst>
                  <a:cxn ang="0">
                    <a:pos x="0" y="0"/>
                  </a:cxn>
                  <a:cxn ang="0">
                    <a:pos x="0" y="0"/>
                  </a:cxn>
                  <a:cxn ang="0">
                    <a:pos x="0" y="0"/>
                  </a:cxn>
                </a:cxnLst>
                <a:rect l="txL" t="txT" r="txR" b="txB"/>
                <a:pathLst>
                  <a:path w="21600" h="21858" fill="none">
                    <a:moveTo>
                      <a:pt x="21600" y="21857"/>
                    </a:moveTo>
                    <a:cubicBezTo>
                      <a:pt x="9670" y="21858"/>
                      <a:pt x="0" y="12187"/>
                      <a:pt x="0" y="258"/>
                    </a:cubicBezTo>
                    <a:cubicBezTo>
                      <a:pt x="0" y="171"/>
                      <a:pt x="0" y="85"/>
                      <a:pt x="1" y="-1"/>
                    </a:cubicBezTo>
                  </a:path>
                  <a:path w="21600" h="21858" stroke="0">
                    <a:moveTo>
                      <a:pt x="21600" y="21857"/>
                    </a:moveTo>
                    <a:cubicBezTo>
                      <a:pt x="9670" y="21858"/>
                      <a:pt x="0" y="12187"/>
                      <a:pt x="0" y="258"/>
                    </a:cubicBezTo>
                    <a:cubicBezTo>
                      <a:pt x="0" y="171"/>
                      <a:pt x="0" y="85"/>
                      <a:pt x="1" y="-1"/>
                    </a:cubicBezTo>
                    <a:lnTo>
                      <a:pt x="21600" y="258"/>
                    </a:lnTo>
                    <a:lnTo>
                      <a:pt x="21600" y="21857"/>
                    </a:lnTo>
                    <a:close/>
                  </a:path>
                </a:pathLst>
              </a:custGeom>
              <a:noFill/>
              <a:ln w="50800" cap="flat" cmpd="sng">
                <a:solidFill>
                  <a:schemeClr val="tx1">
                    <a:alpha val="100000"/>
                  </a:schemeClr>
                </a:solidFill>
                <a:prstDash val="lgDash"/>
                <a:round/>
                <a:headEnd type="none" w="sm" len="sm"/>
                <a:tailEnd type="none" w="sm" len="sm"/>
              </a:ln>
            </p:spPr>
            <p:txBody>
              <a:bodyPr/>
              <a:p>
                <a:endParaRPr lang="zh-CN" altLang="en-US"/>
              </a:p>
            </p:txBody>
          </p:sp>
          <p:sp>
            <p:nvSpPr>
              <p:cNvPr id="18486" name="Rectangle 79"/>
              <p:cNvSpPr/>
              <p:nvPr/>
            </p:nvSpPr>
            <p:spPr>
              <a:xfrm>
                <a:off x="3643" y="2230"/>
                <a:ext cx="1481" cy="33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zh-CN" altLang="en-US" dirty="0">
                    <a:solidFill>
                      <a:srgbClr val="080808"/>
                    </a:solidFill>
                    <a:latin typeface="楷体_GB2312" pitchFamily="49" charset="-122"/>
                    <a:ea typeface="MS PGothic" panose="020B0600070205080204" pitchFamily="34" charset="-128"/>
                  </a:rPr>
                  <a:t>瑞利</a:t>
                </a:r>
                <a:r>
                  <a:rPr lang="en-US" altLang="zh-CN" dirty="0">
                    <a:solidFill>
                      <a:srgbClr val="080808"/>
                    </a:solidFill>
                    <a:latin typeface="楷体_GB2312" pitchFamily="49" charset="-122"/>
                    <a:ea typeface="楷体_GB2312" pitchFamily="49" charset="-122"/>
                  </a:rPr>
                  <a:t>--</a:t>
                </a:r>
                <a:r>
                  <a:rPr lang="zh-CN" altLang="en-US" dirty="0">
                    <a:solidFill>
                      <a:srgbClr val="080808"/>
                    </a:solidFill>
                    <a:latin typeface="楷体_GB2312" pitchFamily="49" charset="-122"/>
                    <a:ea typeface="MS PGothic" panose="020B0600070205080204" pitchFamily="34" charset="-128"/>
                  </a:rPr>
                  <a:t>金斯线</a:t>
                </a:r>
                <a:endParaRPr lang="en-US" altLang="zh-CN" dirty="0">
                  <a:solidFill>
                    <a:srgbClr val="080808"/>
                  </a:solidFill>
                  <a:latin typeface="楷体_GB2312" pitchFamily="49" charset="-122"/>
                  <a:ea typeface="楷体_GB2312" pitchFamily="49" charset="-122"/>
                </a:endParaRPr>
              </a:p>
            </p:txBody>
          </p:sp>
          <p:sp>
            <p:nvSpPr>
              <p:cNvPr id="18487" name="Rectangle 80"/>
              <p:cNvSpPr/>
              <p:nvPr/>
            </p:nvSpPr>
            <p:spPr>
              <a:xfrm>
                <a:off x="2381" y="1227"/>
                <a:ext cx="344" cy="33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zh-CN" altLang="en-US" dirty="0">
                    <a:solidFill>
                      <a:srgbClr val="080808"/>
                    </a:solidFill>
                    <a:latin typeface="Bookman Old Style" pitchFamily="18" charset="0"/>
                    <a:ea typeface="MS PGothic" panose="020B0600070205080204" pitchFamily="34" charset="-128"/>
                  </a:rPr>
                  <a:t>紫</a:t>
                </a:r>
                <a:endParaRPr lang="en-US" altLang="zh-CN" dirty="0">
                  <a:solidFill>
                    <a:srgbClr val="080808"/>
                  </a:solidFill>
                  <a:latin typeface="Bookman Old Style" pitchFamily="18" charset="0"/>
                  <a:ea typeface="楷体_GB2312" pitchFamily="49" charset="-122"/>
                </a:endParaRPr>
              </a:p>
            </p:txBody>
          </p:sp>
          <p:sp>
            <p:nvSpPr>
              <p:cNvPr id="18488" name="Rectangle 81"/>
              <p:cNvSpPr/>
              <p:nvPr/>
            </p:nvSpPr>
            <p:spPr>
              <a:xfrm>
                <a:off x="2466" y="1486"/>
                <a:ext cx="344" cy="33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zh-CN" altLang="en-US" dirty="0">
                    <a:solidFill>
                      <a:srgbClr val="080808"/>
                    </a:solidFill>
                    <a:latin typeface="Bookman Old Style" pitchFamily="18" charset="0"/>
                    <a:ea typeface="MS PGothic" panose="020B0600070205080204" pitchFamily="34" charset="-128"/>
                  </a:rPr>
                  <a:t>外</a:t>
                </a:r>
                <a:endParaRPr lang="en-US" altLang="zh-CN" dirty="0">
                  <a:solidFill>
                    <a:srgbClr val="080808"/>
                  </a:solidFill>
                  <a:latin typeface="Bookman Old Style" pitchFamily="18" charset="0"/>
                  <a:ea typeface="楷体_GB2312" pitchFamily="49" charset="-122"/>
                </a:endParaRPr>
              </a:p>
            </p:txBody>
          </p:sp>
          <p:sp>
            <p:nvSpPr>
              <p:cNvPr id="18489" name="Rectangle 82"/>
              <p:cNvSpPr/>
              <p:nvPr/>
            </p:nvSpPr>
            <p:spPr>
              <a:xfrm>
                <a:off x="2551" y="1707"/>
                <a:ext cx="344" cy="33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zh-CN" altLang="en-US" dirty="0">
                    <a:solidFill>
                      <a:srgbClr val="080808"/>
                    </a:solidFill>
                    <a:latin typeface="Bookman Old Style" pitchFamily="18" charset="0"/>
                    <a:ea typeface="MS PGothic" panose="020B0600070205080204" pitchFamily="34" charset="-128"/>
                  </a:rPr>
                  <a:t>灾</a:t>
                </a:r>
                <a:endParaRPr lang="en-US" altLang="zh-CN" dirty="0">
                  <a:solidFill>
                    <a:srgbClr val="080808"/>
                  </a:solidFill>
                  <a:latin typeface="Bookman Old Style" pitchFamily="18" charset="0"/>
                  <a:ea typeface="楷体_GB2312" pitchFamily="49" charset="-122"/>
                </a:endParaRPr>
              </a:p>
            </p:txBody>
          </p:sp>
          <p:sp>
            <p:nvSpPr>
              <p:cNvPr id="18490" name="Rectangle 83"/>
              <p:cNvSpPr/>
              <p:nvPr/>
            </p:nvSpPr>
            <p:spPr>
              <a:xfrm>
                <a:off x="2635" y="1966"/>
                <a:ext cx="344" cy="33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zh-CN" altLang="en-US" dirty="0">
                    <a:solidFill>
                      <a:srgbClr val="080808"/>
                    </a:solidFill>
                    <a:latin typeface="Bookman Old Style" pitchFamily="18" charset="0"/>
                    <a:ea typeface="MS PGothic" panose="020B0600070205080204" pitchFamily="34" charset="-128"/>
                  </a:rPr>
                  <a:t>难</a:t>
                </a:r>
                <a:endParaRPr lang="en-US" altLang="zh-CN" dirty="0">
                  <a:solidFill>
                    <a:srgbClr val="080808"/>
                  </a:solidFill>
                  <a:latin typeface="Bookman Old Style" pitchFamily="18" charset="0"/>
                  <a:ea typeface="楷体_GB2312" pitchFamily="49" charset="-122"/>
                </a:endParaRPr>
              </a:p>
            </p:txBody>
          </p:sp>
          <p:sp>
            <p:nvSpPr>
              <p:cNvPr id="18491" name="Line 84"/>
              <p:cNvSpPr/>
              <p:nvPr/>
            </p:nvSpPr>
            <p:spPr>
              <a:xfrm>
                <a:off x="2856" y="2400"/>
                <a:ext cx="762" cy="0"/>
              </a:xfrm>
              <a:prstGeom prst="line">
                <a:avLst/>
              </a:prstGeom>
              <a:ln w="38100" cap="flat" cmpd="sng">
                <a:solidFill>
                  <a:schemeClr val="tx1"/>
                </a:solidFill>
                <a:prstDash val="solid"/>
                <a:headEnd type="triangle" w="med" len="med"/>
                <a:tailEnd type="none" w="sm" len="sm"/>
              </a:ln>
            </p:spPr>
          </p:sp>
          <p:sp>
            <p:nvSpPr>
              <p:cNvPr id="18492" name="Text Box 85"/>
              <p:cNvSpPr txBox="1"/>
              <p:nvPr/>
            </p:nvSpPr>
            <p:spPr>
              <a:xfrm>
                <a:off x="1798" y="1587"/>
                <a:ext cx="295" cy="36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50000"/>
                  </a:spcBef>
                  <a:buClrTx/>
                  <a:buFont typeface="Arial" panose="020B0604020202020204" pitchFamily="34" charset="0"/>
                  <a:buNone/>
                </a:pPr>
                <a:r>
                  <a:rPr lang="zh-CN" altLang="en-US" sz="3200" dirty="0">
                    <a:solidFill>
                      <a:srgbClr val="FF99CC"/>
                    </a:solidFill>
                    <a:latin typeface="Times New Roman" panose="02020603050405020304" pitchFamily="18" charset="0"/>
                    <a:ea typeface="MS PGothic" panose="020B0600070205080204" pitchFamily="34" charset="-128"/>
                  </a:rPr>
                  <a:t>普</a:t>
                </a:r>
                <a:endParaRPr lang="en-US" altLang="zh-CN" sz="3200" dirty="0">
                  <a:solidFill>
                    <a:srgbClr val="FF99CC"/>
                  </a:solidFill>
                  <a:latin typeface="Times New Roman" panose="02020603050405020304" pitchFamily="18" charset="0"/>
                  <a:ea typeface="楷体_GB2312" pitchFamily="49" charset="-122"/>
                </a:endParaRPr>
              </a:p>
            </p:txBody>
          </p:sp>
          <p:sp>
            <p:nvSpPr>
              <p:cNvPr id="18493" name="Text Box 86"/>
              <p:cNvSpPr txBox="1"/>
              <p:nvPr/>
            </p:nvSpPr>
            <p:spPr>
              <a:xfrm>
                <a:off x="1925" y="1771"/>
                <a:ext cx="382"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50000"/>
                  </a:spcBef>
                  <a:buClrTx/>
                  <a:buFont typeface="Arial" panose="020B0604020202020204" pitchFamily="34" charset="0"/>
                  <a:buNone/>
                </a:pPr>
                <a:r>
                  <a:rPr lang="zh-CN" altLang="en-US" dirty="0">
                    <a:solidFill>
                      <a:srgbClr val="FF99CC"/>
                    </a:solidFill>
                    <a:latin typeface="Times New Roman" panose="02020603050405020304" pitchFamily="18" charset="0"/>
                    <a:ea typeface="MS PGothic" panose="020B0600070205080204" pitchFamily="34" charset="-128"/>
                  </a:rPr>
                  <a:t>朗</a:t>
                </a:r>
                <a:endParaRPr lang="en-US" altLang="zh-CN" dirty="0">
                  <a:solidFill>
                    <a:srgbClr val="FF99CC"/>
                  </a:solidFill>
                  <a:latin typeface="Times New Roman" panose="02020603050405020304" pitchFamily="18" charset="0"/>
                  <a:ea typeface="楷体_GB2312" pitchFamily="49" charset="-122"/>
                </a:endParaRPr>
              </a:p>
            </p:txBody>
          </p:sp>
          <p:sp>
            <p:nvSpPr>
              <p:cNvPr id="18494" name="Text Box 87"/>
              <p:cNvSpPr txBox="1"/>
              <p:nvPr/>
            </p:nvSpPr>
            <p:spPr>
              <a:xfrm>
                <a:off x="2010" y="1956"/>
                <a:ext cx="423" cy="36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50000"/>
                  </a:spcBef>
                  <a:buClrTx/>
                  <a:buFont typeface="Arial" panose="020B0604020202020204" pitchFamily="34" charset="0"/>
                  <a:buNone/>
                </a:pPr>
                <a:r>
                  <a:rPr lang="zh-CN" altLang="en-US" sz="3200" dirty="0">
                    <a:solidFill>
                      <a:srgbClr val="FF99CC"/>
                    </a:solidFill>
                    <a:latin typeface="Times New Roman" panose="02020603050405020304" pitchFamily="18" charset="0"/>
                    <a:ea typeface="MS PGothic" panose="020B0600070205080204" pitchFamily="34" charset="-128"/>
                  </a:rPr>
                  <a:t>克</a:t>
                </a:r>
                <a:endParaRPr lang="en-US" altLang="zh-CN" sz="3200" dirty="0">
                  <a:solidFill>
                    <a:srgbClr val="FF99CC"/>
                  </a:solidFill>
                  <a:latin typeface="Times New Roman" panose="02020603050405020304" pitchFamily="18" charset="0"/>
                  <a:ea typeface="楷体_GB2312" pitchFamily="49" charset="-122"/>
                </a:endParaRPr>
              </a:p>
            </p:txBody>
          </p:sp>
          <p:sp>
            <p:nvSpPr>
              <p:cNvPr id="18495" name="Text Box 88"/>
              <p:cNvSpPr txBox="1"/>
              <p:nvPr/>
            </p:nvSpPr>
            <p:spPr>
              <a:xfrm>
                <a:off x="2179" y="2141"/>
                <a:ext cx="467" cy="36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50000"/>
                  </a:spcBef>
                  <a:buClrTx/>
                  <a:buFont typeface="Arial" panose="020B0604020202020204" pitchFamily="34" charset="0"/>
                  <a:buNone/>
                </a:pPr>
                <a:r>
                  <a:rPr lang="zh-CN" altLang="en-US" sz="3200" dirty="0">
                    <a:solidFill>
                      <a:srgbClr val="FF99CC"/>
                    </a:solidFill>
                    <a:latin typeface="Times New Roman" panose="02020603050405020304" pitchFamily="18" charset="0"/>
                    <a:ea typeface="MS PGothic" panose="020B0600070205080204" pitchFamily="34" charset="-128"/>
                  </a:rPr>
                  <a:t>线</a:t>
                </a:r>
                <a:endParaRPr lang="en-US" altLang="zh-CN" sz="3200" dirty="0">
                  <a:solidFill>
                    <a:srgbClr val="FF99CC"/>
                  </a:solidFill>
                  <a:latin typeface="Times New Roman" panose="02020603050405020304" pitchFamily="18" charset="0"/>
                  <a:ea typeface="楷体_GB2312" pitchFamily="49" charset="-122"/>
                </a:endParaRPr>
              </a:p>
            </p:txBody>
          </p:sp>
          <p:graphicFrame>
            <p:nvGraphicFramePr>
              <p:cNvPr id="18496" name="Object 89"/>
              <p:cNvGraphicFramePr>
                <a:graphicFrameLocks noChangeAspect="1"/>
              </p:cNvGraphicFramePr>
              <p:nvPr/>
            </p:nvGraphicFramePr>
            <p:xfrm>
              <a:off x="4423" y="3485"/>
              <a:ext cx="152" cy="166"/>
            </p:xfrm>
            <a:graphic>
              <a:graphicData uri="http://schemas.openxmlformats.org/presentationml/2006/ole">
                <mc:AlternateContent xmlns:mc="http://schemas.openxmlformats.org/markup-compatibility/2006">
                  <mc:Choice xmlns:v="urn:schemas-microsoft-com:vml" Requires="v">
                    <p:oleObj spid="_x0000_s3080" name="" r:id="rId1" imgW="304800" imgH="381000" progId="Equation.3">
                      <p:embed/>
                    </p:oleObj>
                  </mc:Choice>
                  <mc:Fallback>
                    <p:oleObj name="" r:id="rId1" imgW="304800" imgH="381000" progId="Equation.3">
                      <p:embed/>
                      <p:pic>
                        <p:nvPicPr>
                          <p:cNvPr id="0" name="图片 3079"/>
                          <p:cNvPicPr/>
                          <p:nvPr/>
                        </p:nvPicPr>
                        <p:blipFill>
                          <a:blip r:embed="rId2"/>
                          <a:stretch>
                            <a:fillRect/>
                          </a:stretch>
                        </p:blipFill>
                        <p:spPr>
                          <a:xfrm>
                            <a:off x="4423" y="3485"/>
                            <a:ext cx="152" cy="166"/>
                          </a:xfrm>
                          <a:prstGeom prst="rect">
                            <a:avLst/>
                          </a:prstGeom>
                          <a:noFill/>
                          <a:ln w="38100">
                            <a:noFill/>
                            <a:miter/>
                          </a:ln>
                        </p:spPr>
                      </p:pic>
                    </p:oleObj>
                  </mc:Fallback>
                </mc:AlternateContent>
              </a:graphicData>
            </a:graphic>
          </p:graphicFrame>
          <p:sp>
            <p:nvSpPr>
              <p:cNvPr id="18497" name="Text Box 90"/>
              <p:cNvSpPr txBox="1"/>
              <p:nvPr/>
            </p:nvSpPr>
            <p:spPr>
              <a:xfrm>
                <a:off x="950" y="3398"/>
                <a:ext cx="213"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50000"/>
                  </a:spcBef>
                  <a:buClrTx/>
                  <a:buFont typeface="Arial" panose="020B0604020202020204" pitchFamily="34" charset="0"/>
                  <a:buNone/>
                </a:pPr>
                <a:r>
                  <a:rPr lang="en-US" altLang="zh-CN" b="0" dirty="0">
                    <a:latin typeface="Times New Roman" panose="02020603050405020304" pitchFamily="18" charset="0"/>
                    <a:ea typeface="MS PGothic" panose="020B0600070205080204" pitchFamily="34" charset="-128"/>
                  </a:rPr>
                  <a:t>1</a:t>
                </a:r>
                <a:endParaRPr lang="en-US" altLang="zh-CN" b="0" dirty="0">
                  <a:latin typeface="Times New Roman" panose="02020603050405020304" pitchFamily="18" charset="0"/>
                  <a:ea typeface="MS PGothic" panose="020B0600070205080204" pitchFamily="34" charset="-128"/>
                </a:endParaRPr>
              </a:p>
            </p:txBody>
          </p:sp>
          <p:sp>
            <p:nvSpPr>
              <p:cNvPr id="18498" name="Text Box 91"/>
              <p:cNvSpPr txBox="1"/>
              <p:nvPr/>
            </p:nvSpPr>
            <p:spPr>
              <a:xfrm>
                <a:off x="1375" y="3398"/>
                <a:ext cx="210"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50000"/>
                  </a:spcBef>
                  <a:buClrTx/>
                  <a:buFont typeface="Arial" panose="020B0604020202020204" pitchFamily="34" charset="0"/>
                  <a:buNone/>
                </a:pPr>
                <a:r>
                  <a:rPr lang="en-US" altLang="zh-CN" b="0" dirty="0">
                    <a:latin typeface="Times New Roman" panose="02020603050405020304" pitchFamily="18" charset="0"/>
                    <a:ea typeface="MS PGothic" panose="020B0600070205080204" pitchFamily="34" charset="-128"/>
                  </a:rPr>
                  <a:t>2</a:t>
                </a:r>
                <a:endParaRPr lang="en-US" altLang="zh-CN" b="0" dirty="0">
                  <a:latin typeface="Times New Roman" panose="02020603050405020304" pitchFamily="18" charset="0"/>
                  <a:ea typeface="MS PGothic" panose="020B0600070205080204" pitchFamily="34" charset="-128"/>
                </a:endParaRPr>
              </a:p>
            </p:txBody>
          </p:sp>
          <p:sp>
            <p:nvSpPr>
              <p:cNvPr id="18499" name="Text Box 92"/>
              <p:cNvSpPr txBox="1"/>
              <p:nvPr/>
            </p:nvSpPr>
            <p:spPr>
              <a:xfrm>
                <a:off x="1756" y="3398"/>
                <a:ext cx="212"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50000"/>
                  </a:spcBef>
                  <a:buClrTx/>
                  <a:buFont typeface="Arial" panose="020B0604020202020204" pitchFamily="34" charset="0"/>
                  <a:buNone/>
                </a:pPr>
                <a:r>
                  <a:rPr lang="en-US" altLang="zh-CN" b="0" dirty="0">
                    <a:latin typeface="Times New Roman" panose="02020603050405020304" pitchFamily="18" charset="0"/>
                    <a:ea typeface="MS PGothic" panose="020B0600070205080204" pitchFamily="34" charset="-128"/>
                  </a:rPr>
                  <a:t>3</a:t>
                </a:r>
                <a:endParaRPr lang="en-US" altLang="zh-CN" b="0" dirty="0">
                  <a:latin typeface="Times New Roman" panose="02020603050405020304" pitchFamily="18" charset="0"/>
                  <a:ea typeface="MS PGothic" panose="020B0600070205080204" pitchFamily="34" charset="-128"/>
                </a:endParaRPr>
              </a:p>
            </p:txBody>
          </p:sp>
          <p:sp>
            <p:nvSpPr>
              <p:cNvPr id="18500" name="Text Box 93"/>
              <p:cNvSpPr txBox="1"/>
              <p:nvPr/>
            </p:nvSpPr>
            <p:spPr>
              <a:xfrm>
                <a:off x="2179" y="3398"/>
                <a:ext cx="254"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50000"/>
                  </a:spcBef>
                  <a:buClrTx/>
                  <a:buFont typeface="Arial" panose="020B0604020202020204" pitchFamily="34" charset="0"/>
                  <a:buNone/>
                </a:pPr>
                <a:r>
                  <a:rPr lang="en-US" altLang="zh-CN" b="0" dirty="0">
                    <a:latin typeface="Times New Roman" panose="02020603050405020304" pitchFamily="18" charset="0"/>
                    <a:ea typeface="MS PGothic" panose="020B0600070205080204" pitchFamily="34" charset="-128"/>
                  </a:rPr>
                  <a:t>4</a:t>
                </a:r>
                <a:endParaRPr lang="en-US" altLang="zh-CN" b="0" dirty="0">
                  <a:latin typeface="Times New Roman" panose="02020603050405020304" pitchFamily="18" charset="0"/>
                  <a:ea typeface="MS PGothic" panose="020B0600070205080204" pitchFamily="34" charset="-128"/>
                </a:endParaRPr>
              </a:p>
            </p:txBody>
          </p:sp>
          <p:sp>
            <p:nvSpPr>
              <p:cNvPr id="18501" name="Text Box 94"/>
              <p:cNvSpPr txBox="1"/>
              <p:nvPr/>
            </p:nvSpPr>
            <p:spPr>
              <a:xfrm>
                <a:off x="2601" y="3398"/>
                <a:ext cx="214"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50000"/>
                  </a:spcBef>
                  <a:buClrTx/>
                  <a:buFont typeface="Arial" panose="020B0604020202020204" pitchFamily="34" charset="0"/>
                  <a:buNone/>
                </a:pPr>
                <a:r>
                  <a:rPr lang="en-US" altLang="zh-CN" b="0" dirty="0">
                    <a:latin typeface="Times New Roman" panose="02020603050405020304" pitchFamily="18" charset="0"/>
                    <a:ea typeface="MS PGothic" panose="020B0600070205080204" pitchFamily="34" charset="-128"/>
                  </a:rPr>
                  <a:t>5</a:t>
                </a:r>
                <a:endParaRPr lang="en-US" altLang="zh-CN" b="0" dirty="0">
                  <a:latin typeface="Times New Roman" panose="02020603050405020304" pitchFamily="18" charset="0"/>
                  <a:ea typeface="MS PGothic" panose="020B0600070205080204" pitchFamily="34" charset="-128"/>
                </a:endParaRPr>
              </a:p>
            </p:txBody>
          </p:sp>
          <p:sp>
            <p:nvSpPr>
              <p:cNvPr id="18502" name="Text Box 95"/>
              <p:cNvSpPr txBox="1"/>
              <p:nvPr/>
            </p:nvSpPr>
            <p:spPr>
              <a:xfrm>
                <a:off x="3068" y="3398"/>
                <a:ext cx="212"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50000"/>
                  </a:spcBef>
                  <a:buClrTx/>
                  <a:buFont typeface="Arial" panose="020B0604020202020204" pitchFamily="34" charset="0"/>
                  <a:buNone/>
                </a:pPr>
                <a:r>
                  <a:rPr lang="en-US" altLang="zh-CN" b="0" dirty="0">
                    <a:latin typeface="Times New Roman" panose="02020603050405020304" pitchFamily="18" charset="0"/>
                    <a:ea typeface="MS PGothic" panose="020B0600070205080204" pitchFamily="34" charset="-128"/>
                  </a:rPr>
                  <a:t>6</a:t>
                </a:r>
                <a:endParaRPr lang="en-US" altLang="zh-CN" b="0" dirty="0">
                  <a:latin typeface="Times New Roman" panose="02020603050405020304" pitchFamily="18" charset="0"/>
                  <a:ea typeface="MS PGothic" panose="020B0600070205080204" pitchFamily="34" charset="-128"/>
                </a:endParaRPr>
              </a:p>
            </p:txBody>
          </p:sp>
          <p:sp>
            <p:nvSpPr>
              <p:cNvPr id="18503" name="Text Box 96"/>
              <p:cNvSpPr txBox="1"/>
              <p:nvPr/>
            </p:nvSpPr>
            <p:spPr>
              <a:xfrm>
                <a:off x="3490" y="3398"/>
                <a:ext cx="171"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50000"/>
                  </a:spcBef>
                  <a:buClrTx/>
                  <a:buFont typeface="Arial" panose="020B0604020202020204" pitchFamily="34" charset="0"/>
                  <a:buNone/>
                </a:pPr>
                <a:r>
                  <a:rPr lang="en-US" altLang="zh-CN" b="0" dirty="0">
                    <a:latin typeface="Times New Roman" panose="02020603050405020304" pitchFamily="18" charset="0"/>
                    <a:ea typeface="MS PGothic" panose="020B0600070205080204" pitchFamily="34" charset="-128"/>
                  </a:rPr>
                  <a:t>7</a:t>
                </a:r>
                <a:endParaRPr lang="en-US" altLang="zh-CN" b="0" dirty="0">
                  <a:latin typeface="Times New Roman" panose="02020603050405020304" pitchFamily="18" charset="0"/>
                  <a:ea typeface="MS PGothic" panose="020B0600070205080204" pitchFamily="34" charset="-128"/>
                </a:endParaRPr>
              </a:p>
            </p:txBody>
          </p:sp>
          <p:sp>
            <p:nvSpPr>
              <p:cNvPr id="18504" name="Text Box 97"/>
              <p:cNvSpPr txBox="1"/>
              <p:nvPr/>
            </p:nvSpPr>
            <p:spPr>
              <a:xfrm>
                <a:off x="3873" y="3398"/>
                <a:ext cx="296"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50000"/>
                  </a:spcBef>
                  <a:buClrTx/>
                  <a:buFont typeface="Arial" panose="020B0604020202020204" pitchFamily="34" charset="0"/>
                  <a:buNone/>
                </a:pPr>
                <a:r>
                  <a:rPr lang="en-US" altLang="zh-CN" b="0" dirty="0">
                    <a:latin typeface="Times New Roman" panose="02020603050405020304" pitchFamily="18" charset="0"/>
                    <a:ea typeface="MS PGothic" panose="020B0600070205080204" pitchFamily="34" charset="-128"/>
                  </a:rPr>
                  <a:t>8</a:t>
                </a:r>
                <a:endParaRPr lang="en-US" altLang="zh-CN" b="0" dirty="0">
                  <a:latin typeface="Times New Roman" panose="02020603050405020304" pitchFamily="18" charset="0"/>
                  <a:ea typeface="MS PGothic" panose="020B0600070205080204" pitchFamily="34" charset="-128"/>
                </a:endParaRPr>
              </a:p>
            </p:txBody>
          </p:sp>
        </p:grpSp>
      </p:gr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p:cNvSpPr>
          <p:nvPr>
            <p:ph idx="1"/>
          </p:nvPr>
        </p:nvSpPr>
        <p:spPr>
          <a:xfrm>
            <a:off x="255588" y="1785938"/>
            <a:ext cx="4030662" cy="4754562"/>
          </a:xfrm>
          <a:ln/>
        </p:spPr>
        <p:txBody>
          <a:bodyPr vert="horz" wrap="square" lIns="91440" tIns="45720" rIns="91440" bIns="45720" anchor="t" anchorCtr="0"/>
          <a:p>
            <a:pPr>
              <a:spcBef>
                <a:spcPct val="25000"/>
              </a:spcBef>
              <a:spcAft>
                <a:spcPct val="25000"/>
              </a:spcAft>
              <a:buFontTx/>
              <a:buNone/>
            </a:pPr>
            <a:endParaRPr lang="en-US" altLang="zh-CN" dirty="0">
              <a:latin typeface="Times New Roman" panose="02020603050405020304" pitchFamily="18" charset="0"/>
              <a:ea typeface="楷体_GB2312" pitchFamily="49" charset="-122"/>
            </a:endParaRPr>
          </a:p>
          <a:p>
            <a:pPr algn="ctr">
              <a:spcBef>
                <a:spcPct val="25000"/>
              </a:spcBef>
              <a:spcAft>
                <a:spcPct val="25000"/>
              </a:spcAft>
              <a:buFontTx/>
              <a:buNone/>
            </a:pPr>
            <a:r>
              <a:rPr lang="en-US" altLang="zh-CN" dirty="0">
                <a:latin typeface="Monotype Corsiva" pitchFamily="66" charset="0"/>
                <a:ea typeface="楷体_GB2312" pitchFamily="49" charset="-122"/>
              </a:rPr>
              <a:t>Max Planck</a:t>
            </a:r>
            <a:r>
              <a:rPr lang="en-US" altLang="zh-CN" dirty="0">
                <a:latin typeface="Times New Roman" panose="02020603050405020304" pitchFamily="18" charset="0"/>
                <a:ea typeface="楷体_GB2312" pitchFamily="49" charset="-122"/>
              </a:rPr>
              <a:t> </a:t>
            </a:r>
            <a:r>
              <a:rPr lang="en-US" altLang="zh-CN" dirty="0">
                <a:latin typeface="Monotype Corsiva" pitchFamily="66" charset="0"/>
                <a:ea typeface="楷体_GB2312" pitchFamily="49" charset="-122"/>
              </a:rPr>
              <a:t>(1858-1947)</a:t>
            </a:r>
            <a:endParaRPr lang="en-US" altLang="zh-CN" dirty="0">
              <a:latin typeface="Monotype Corsiva" pitchFamily="66" charset="0"/>
              <a:ea typeface="楷体_GB2312" pitchFamily="49" charset="-122"/>
            </a:endParaRPr>
          </a:p>
          <a:p>
            <a:pPr lvl="1">
              <a:spcBef>
                <a:spcPct val="25000"/>
              </a:spcBef>
              <a:spcAft>
                <a:spcPct val="25000"/>
              </a:spcAft>
              <a:buFontTx/>
              <a:buNone/>
            </a:pPr>
            <a:r>
              <a:rPr lang="zh-CN" altLang="en-US" dirty="0">
                <a:latin typeface="Times New Roman" panose="02020603050405020304" pitchFamily="18" charset="0"/>
                <a:ea typeface="楷体_GB2312" pitchFamily="49" charset="-122"/>
              </a:rPr>
              <a:t>德国物理学家</a:t>
            </a:r>
            <a:endParaRPr lang="zh-CN" altLang="en-US" dirty="0">
              <a:latin typeface="Times New Roman" panose="02020603050405020304" pitchFamily="18" charset="0"/>
              <a:ea typeface="楷体_GB2312" pitchFamily="49" charset="-122"/>
            </a:endParaRPr>
          </a:p>
          <a:p>
            <a:pPr lvl="1">
              <a:spcBef>
                <a:spcPct val="25000"/>
              </a:spcBef>
              <a:spcAft>
                <a:spcPct val="25000"/>
              </a:spcAft>
              <a:buFontTx/>
              <a:buNone/>
            </a:pPr>
            <a:r>
              <a:rPr lang="en-US" altLang="zh-CN" dirty="0">
                <a:latin typeface="Monotype Corsiva" pitchFamily="66" charset="0"/>
                <a:ea typeface="楷体_GB2312" pitchFamily="49" charset="-122"/>
              </a:rPr>
              <a:t>1901: Planck’s Law</a:t>
            </a:r>
            <a:endParaRPr lang="en-US" altLang="zh-CN" dirty="0">
              <a:latin typeface="Monotype Corsiva" pitchFamily="66" charset="0"/>
              <a:ea typeface="楷体_GB2312" pitchFamily="49" charset="-122"/>
            </a:endParaRPr>
          </a:p>
          <a:p>
            <a:pPr lvl="1">
              <a:spcBef>
                <a:spcPct val="25000"/>
              </a:spcBef>
              <a:spcAft>
                <a:spcPct val="25000"/>
              </a:spcAft>
              <a:buFontTx/>
              <a:buNone/>
            </a:pPr>
            <a:r>
              <a:rPr lang="en-US" altLang="zh-CN" dirty="0">
                <a:latin typeface="Monotype Corsiva" pitchFamily="66" charset="0"/>
                <a:ea typeface="楷体_GB2312" pitchFamily="49" charset="-122"/>
              </a:rPr>
              <a:t>1918: Nobel Prize</a:t>
            </a:r>
            <a:endParaRPr lang="en-US" altLang="zh-CN" dirty="0">
              <a:latin typeface="Monotype Corsiva" pitchFamily="66" charset="0"/>
              <a:ea typeface="楷体_GB2312" pitchFamily="49" charset="-122"/>
            </a:endParaRPr>
          </a:p>
          <a:p>
            <a:pPr lvl="1">
              <a:spcBef>
                <a:spcPct val="25000"/>
              </a:spcBef>
              <a:spcAft>
                <a:spcPct val="25000"/>
              </a:spcAft>
              <a:buFontTx/>
              <a:buNone/>
            </a:pPr>
            <a:r>
              <a:rPr lang="en-US" altLang="zh-CN" dirty="0">
                <a:latin typeface="Monotype Corsiva" pitchFamily="66" charset="0"/>
                <a:ea typeface="楷体_GB2312" pitchFamily="49" charset="-122"/>
              </a:rPr>
              <a:t>Quantum theory </a:t>
            </a:r>
            <a:endParaRPr lang="en-US" altLang="zh-CN" dirty="0">
              <a:latin typeface="Monotype Corsiva" pitchFamily="66" charset="0"/>
              <a:ea typeface="楷体_GB2312" pitchFamily="49" charset="-122"/>
            </a:endParaRPr>
          </a:p>
          <a:p>
            <a:pPr lvl="1">
              <a:spcBef>
                <a:spcPct val="25000"/>
              </a:spcBef>
              <a:spcAft>
                <a:spcPct val="25000"/>
              </a:spcAft>
              <a:buFontTx/>
              <a:buNone/>
            </a:pPr>
            <a:endParaRPr lang="en-US" altLang="zh-CN" dirty="0">
              <a:latin typeface="Monotype Corsiva" pitchFamily="66" charset="0"/>
              <a:ea typeface="楷体_GB2312" pitchFamily="49" charset="-122"/>
            </a:endParaRPr>
          </a:p>
        </p:txBody>
      </p:sp>
      <p:pic>
        <p:nvPicPr>
          <p:cNvPr id="19459" name="Picture 3" descr="Planck_7"/>
          <p:cNvPicPr>
            <a:picLocks noChangeAspect="1"/>
          </p:cNvPicPr>
          <p:nvPr/>
        </p:nvPicPr>
        <p:blipFill>
          <a:blip r:embed="rId1"/>
          <a:stretch>
            <a:fillRect/>
          </a:stretch>
        </p:blipFill>
        <p:spPr>
          <a:xfrm>
            <a:off x="4575175" y="1071563"/>
            <a:ext cx="4568825" cy="5786437"/>
          </a:xfrm>
          <a:prstGeom prst="rect">
            <a:avLst/>
          </a:prstGeom>
          <a:noFill/>
          <a:ln w="9525">
            <a:noFill/>
          </a:ln>
        </p:spPr>
      </p:pic>
      <p:sp>
        <p:nvSpPr>
          <p:cNvPr id="19460" name="Rectangle 2"/>
          <p:cNvSpPr>
            <a:spLocks noGrp="1"/>
          </p:cNvSpPr>
          <p:nvPr>
            <p:ph type="title"/>
          </p:nvPr>
        </p:nvSpPr>
        <p:spPr>
          <a:xfrm>
            <a:off x="1371600" y="214313"/>
            <a:ext cx="7772400" cy="633412"/>
          </a:xfrm>
          <a:ln/>
        </p:spPr>
        <p:txBody>
          <a:bodyPr vert="horz" wrap="square" lIns="91440" tIns="45720" rIns="91440" bIns="45720" anchor="ctr" anchorCtr="0"/>
          <a:p>
            <a:pPr algn="ctr"/>
            <a:r>
              <a:rPr lang="en-US" altLang="zh-CN" sz="4000" dirty="0">
                <a:solidFill>
                  <a:srgbClr val="FFFF00"/>
                </a:solidFill>
                <a:latin typeface="Times New Roman" panose="02020603050405020304" pitchFamily="18" charset="0"/>
              </a:rPr>
              <a:t>1. </a:t>
            </a:r>
            <a:r>
              <a:rPr lang="zh-CN" altLang="en-US" sz="4000" dirty="0">
                <a:solidFill>
                  <a:srgbClr val="FFFF00"/>
                </a:solidFill>
                <a:latin typeface="Times New Roman" panose="02020603050405020304" pitchFamily="18" charset="0"/>
              </a:rPr>
              <a:t>普朗克定律（</a:t>
            </a:r>
            <a:r>
              <a:rPr lang="en-US" altLang="zh-CN" sz="4000" dirty="0">
                <a:solidFill>
                  <a:srgbClr val="FFFF00"/>
                </a:solidFill>
                <a:latin typeface="Times New Roman" panose="02020603050405020304" pitchFamily="18" charset="0"/>
              </a:rPr>
              <a:t>Planck Law</a:t>
            </a:r>
            <a:r>
              <a:rPr lang="zh-CN" altLang="en-US" sz="4000" dirty="0">
                <a:solidFill>
                  <a:srgbClr val="FFFF00"/>
                </a:solidFill>
                <a:latin typeface="Times New Roman" panose="02020603050405020304" pitchFamily="18" charset="0"/>
              </a:rPr>
              <a:t>）</a:t>
            </a:r>
            <a:endParaRPr lang="zh-CN" altLang="en-US" sz="4000" dirty="0">
              <a:solidFill>
                <a:srgbClr val="FFFF00"/>
              </a:solidFill>
              <a:latin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p:cNvSpPr>
          <p:nvPr>
            <p:ph type="title"/>
          </p:nvPr>
        </p:nvSpPr>
        <p:spPr>
          <a:xfrm>
            <a:off x="1371600" y="214313"/>
            <a:ext cx="7772400" cy="633412"/>
          </a:xfrm>
          <a:ln/>
        </p:spPr>
        <p:txBody>
          <a:bodyPr vert="horz" wrap="square" lIns="91440" tIns="45720" rIns="91440" bIns="45720" anchor="ctr" anchorCtr="0"/>
          <a:p>
            <a:pPr algn="ctr"/>
            <a:r>
              <a:rPr lang="en-US" altLang="zh-CN" sz="4000" dirty="0">
                <a:solidFill>
                  <a:srgbClr val="FFFF00"/>
                </a:solidFill>
                <a:latin typeface="Times New Roman" panose="02020603050405020304" pitchFamily="18" charset="0"/>
              </a:rPr>
              <a:t>1. </a:t>
            </a:r>
            <a:r>
              <a:rPr lang="zh-CN" altLang="en-US" sz="4000" dirty="0">
                <a:solidFill>
                  <a:srgbClr val="FFFF00"/>
                </a:solidFill>
                <a:latin typeface="Times New Roman" panose="02020603050405020304" pitchFamily="18" charset="0"/>
              </a:rPr>
              <a:t>普朗克定律（</a:t>
            </a:r>
            <a:r>
              <a:rPr lang="en-US" altLang="zh-CN" sz="4000" dirty="0">
                <a:solidFill>
                  <a:srgbClr val="FFFF00"/>
                </a:solidFill>
                <a:latin typeface="Times New Roman" panose="02020603050405020304" pitchFamily="18" charset="0"/>
              </a:rPr>
              <a:t>Planck Law</a:t>
            </a:r>
            <a:r>
              <a:rPr lang="zh-CN" altLang="en-US" sz="4000" dirty="0">
                <a:solidFill>
                  <a:srgbClr val="FFFF00"/>
                </a:solidFill>
                <a:latin typeface="Times New Roman" panose="02020603050405020304" pitchFamily="18" charset="0"/>
              </a:rPr>
              <a:t>）</a:t>
            </a:r>
            <a:endParaRPr lang="zh-CN" altLang="en-US" sz="4000" dirty="0">
              <a:solidFill>
                <a:srgbClr val="FFFF00"/>
              </a:solidFill>
              <a:latin typeface="Times New Roman" panose="02020603050405020304" pitchFamily="18" charset="0"/>
            </a:endParaRPr>
          </a:p>
        </p:txBody>
      </p:sp>
      <p:sp>
        <p:nvSpPr>
          <p:cNvPr id="21507" name="Rectangle 3"/>
          <p:cNvSpPr>
            <a:spLocks noGrp="1"/>
          </p:cNvSpPr>
          <p:nvPr>
            <p:ph idx="1"/>
          </p:nvPr>
        </p:nvSpPr>
        <p:spPr>
          <a:xfrm>
            <a:off x="0" y="1352550"/>
            <a:ext cx="8858250" cy="5172075"/>
          </a:xfrm>
          <a:ln/>
        </p:spPr>
        <p:txBody>
          <a:bodyPr vert="horz" wrap="square" lIns="91440" tIns="45720" rIns="91440" bIns="45720" anchor="t" anchorCtr="0"/>
          <a:p>
            <a:pPr lvl="1">
              <a:lnSpc>
                <a:spcPct val="150000"/>
              </a:lnSpc>
              <a:spcAft>
                <a:spcPct val="20000"/>
              </a:spcAft>
              <a:buClr>
                <a:schemeClr val="folHlink"/>
              </a:buClr>
              <a:buFontTx/>
              <a:buChar char="•"/>
            </a:pPr>
            <a:r>
              <a:rPr lang="zh-CN" altLang="en-US" sz="2400" dirty="0">
                <a:solidFill>
                  <a:srgbClr val="0000FF"/>
                </a:solidFill>
                <a:latin typeface="新宋体" panose="02010609030101010101" charset="-122"/>
                <a:ea typeface="新宋体" panose="02010609030101010101" charset="-122"/>
              </a:rPr>
              <a:t>对于绝对黑体物质，单色辐射通量密度与发射物质的温度和辐射波长的关系</a:t>
            </a:r>
            <a:r>
              <a:rPr lang="en-US" altLang="zh-CN" sz="2400" dirty="0">
                <a:solidFill>
                  <a:srgbClr val="0000FF"/>
                </a:solidFill>
                <a:latin typeface="新宋体" panose="02010609030101010101" charset="-122"/>
                <a:ea typeface="新宋体" panose="02010609030101010101" charset="-122"/>
              </a:rPr>
              <a:t>:</a:t>
            </a:r>
            <a:endParaRPr lang="en-US" altLang="zh-CN" sz="2400" dirty="0">
              <a:solidFill>
                <a:srgbClr val="0000FF"/>
              </a:solidFill>
              <a:latin typeface="新宋体" panose="02010609030101010101" charset="-122"/>
              <a:ea typeface="新宋体" panose="02010609030101010101" charset="-122"/>
            </a:endParaRPr>
          </a:p>
          <a:p>
            <a:pPr lvl="1">
              <a:spcAft>
                <a:spcPct val="20000"/>
              </a:spcAft>
              <a:buFontTx/>
              <a:buNone/>
            </a:pPr>
            <a:r>
              <a:rPr lang="en-US" altLang="zh-CN" i="1" dirty="0">
                <a:solidFill>
                  <a:srgbClr val="0066CC"/>
                </a:solidFill>
                <a:latin typeface="Times New Roman" panose="02020603050405020304" pitchFamily="18" charset="0"/>
                <a:ea typeface="楷体_GB2312" pitchFamily="49" charset="-122"/>
              </a:rPr>
              <a:t>   </a:t>
            </a:r>
            <a:r>
              <a:rPr lang="en-US" altLang="zh-CN" i="1" dirty="0">
                <a:solidFill>
                  <a:srgbClr val="CC00CC"/>
                </a:solidFill>
                <a:latin typeface="Times New Roman" panose="02020603050405020304" pitchFamily="18" charset="0"/>
                <a:ea typeface="楷体_GB2312" pitchFamily="49" charset="-122"/>
              </a:rPr>
              <a:t>Planck</a:t>
            </a:r>
            <a:r>
              <a:rPr lang="en-US" altLang="zh-CN" dirty="0">
                <a:solidFill>
                  <a:srgbClr val="CC00CC"/>
                </a:solidFill>
                <a:latin typeface="Times New Roman" panose="02020603050405020304" pitchFamily="18" charset="0"/>
                <a:ea typeface="楷体_GB2312" pitchFamily="49" charset="-122"/>
              </a:rPr>
              <a:t> </a:t>
            </a:r>
            <a:r>
              <a:rPr lang="en-US" altLang="zh-CN" i="1" dirty="0">
                <a:solidFill>
                  <a:srgbClr val="CC00CC"/>
                </a:solidFill>
                <a:latin typeface="Times New Roman" panose="02020603050405020304" pitchFamily="18" charset="0"/>
                <a:ea typeface="楷体_GB2312" pitchFamily="49" charset="-122"/>
              </a:rPr>
              <a:t>Law</a:t>
            </a:r>
            <a:r>
              <a:rPr lang="zh-CN" altLang="en-US" dirty="0">
                <a:solidFill>
                  <a:srgbClr val="CC00CC"/>
                </a:solidFill>
                <a:latin typeface="Times New Roman" panose="02020603050405020304" pitchFamily="18" charset="0"/>
                <a:ea typeface="楷体_GB2312" pitchFamily="49" charset="-122"/>
              </a:rPr>
              <a:t>：</a:t>
            </a:r>
            <a:endParaRPr lang="zh-CN" altLang="en-US" dirty="0">
              <a:solidFill>
                <a:srgbClr val="CC00CC"/>
              </a:solidFill>
              <a:latin typeface="Times New Roman" panose="02020603050405020304" pitchFamily="18" charset="0"/>
              <a:ea typeface="楷体_GB2312" pitchFamily="49" charset="-122"/>
            </a:endParaRPr>
          </a:p>
          <a:p>
            <a:pPr lvl="1">
              <a:spcAft>
                <a:spcPct val="20000"/>
              </a:spcAft>
              <a:buFontTx/>
              <a:buNone/>
            </a:pPr>
            <a:endParaRPr lang="zh-CN" altLang="en-US" dirty="0">
              <a:latin typeface="Times New Roman" panose="02020603050405020304" pitchFamily="18" charset="0"/>
              <a:ea typeface="楷体_GB2312" pitchFamily="49" charset="-122"/>
            </a:endParaRPr>
          </a:p>
          <a:p>
            <a:pPr lvl="1">
              <a:spcAft>
                <a:spcPct val="20000"/>
              </a:spcAft>
              <a:buFontTx/>
              <a:buNone/>
            </a:pPr>
            <a:endParaRPr lang="zh-CN" altLang="en-US" dirty="0">
              <a:latin typeface="Times New Roman" panose="02020603050405020304" pitchFamily="18" charset="0"/>
              <a:ea typeface="楷体_GB2312" pitchFamily="49" charset="-122"/>
            </a:endParaRPr>
          </a:p>
          <a:p>
            <a:pPr lvl="1">
              <a:spcBef>
                <a:spcPts val="3600"/>
              </a:spcBef>
              <a:spcAft>
                <a:spcPct val="20000"/>
              </a:spcAft>
              <a:buFontTx/>
              <a:buNone/>
            </a:pPr>
            <a:r>
              <a:rPr lang="zh-CN" altLang="en-US" dirty="0">
                <a:solidFill>
                  <a:srgbClr val="0000FF"/>
                </a:solidFill>
                <a:latin typeface="新宋体" panose="02010609030101010101" charset="-122"/>
                <a:ea typeface="新宋体" panose="02010609030101010101" charset="-122"/>
              </a:rPr>
              <a:t> 第一辐射常数：</a:t>
            </a:r>
            <a:endParaRPr lang="zh-CN" altLang="en-US" dirty="0">
              <a:solidFill>
                <a:srgbClr val="0000FF"/>
              </a:solidFill>
              <a:latin typeface="新宋体" panose="02010609030101010101" charset="-122"/>
              <a:ea typeface="新宋体" panose="02010609030101010101" charset="-122"/>
            </a:endParaRPr>
          </a:p>
          <a:p>
            <a:pPr lvl="1">
              <a:spcBef>
                <a:spcPts val="1800"/>
              </a:spcBef>
              <a:spcAft>
                <a:spcPct val="20000"/>
              </a:spcAft>
              <a:buFontTx/>
              <a:buNone/>
            </a:pPr>
            <a:r>
              <a:rPr lang="zh-CN" altLang="en-US" dirty="0">
                <a:solidFill>
                  <a:srgbClr val="0000FF"/>
                </a:solidFill>
                <a:latin typeface="新宋体" panose="02010609030101010101" charset="-122"/>
                <a:ea typeface="新宋体" panose="02010609030101010101" charset="-122"/>
              </a:rPr>
              <a:t> 第二辐射常数：</a:t>
            </a:r>
            <a:endParaRPr lang="zh-CN" altLang="en-US" dirty="0">
              <a:solidFill>
                <a:srgbClr val="0000FF"/>
              </a:solidFill>
              <a:latin typeface="新宋体" panose="02010609030101010101" charset="-122"/>
              <a:ea typeface="新宋体" panose="02010609030101010101" charset="-122"/>
            </a:endParaRPr>
          </a:p>
        </p:txBody>
      </p:sp>
      <p:graphicFrame>
        <p:nvGraphicFramePr>
          <p:cNvPr id="21508" name="Object 2"/>
          <p:cNvGraphicFramePr>
            <a:graphicFrameLocks noChangeAspect="1"/>
          </p:cNvGraphicFramePr>
          <p:nvPr/>
        </p:nvGraphicFramePr>
        <p:xfrm>
          <a:off x="693738" y="3097213"/>
          <a:ext cx="8093075" cy="1268412"/>
        </p:xfrm>
        <a:graphic>
          <a:graphicData uri="http://schemas.openxmlformats.org/presentationml/2006/ole">
            <mc:AlternateContent xmlns:mc="http://schemas.openxmlformats.org/markup-compatibility/2006">
              <mc:Choice xmlns:v="urn:schemas-microsoft-com:vml" Requires="v">
                <p:oleObj spid="_x0000_s3081" name="" r:id="rId1" imgW="3060700" imgH="482600" progId="Equation.DSMT4">
                  <p:embed/>
                </p:oleObj>
              </mc:Choice>
              <mc:Fallback>
                <p:oleObj name="" r:id="rId1" imgW="3060700" imgH="482600" progId="Equation.DSMT4">
                  <p:embed/>
                  <p:pic>
                    <p:nvPicPr>
                      <p:cNvPr id="0" name="图片 3080"/>
                      <p:cNvPicPr/>
                      <p:nvPr/>
                    </p:nvPicPr>
                    <p:blipFill>
                      <a:blip r:embed="rId2"/>
                      <a:stretch>
                        <a:fillRect/>
                      </a:stretch>
                    </p:blipFill>
                    <p:spPr>
                      <a:xfrm>
                        <a:off x="693738" y="3097213"/>
                        <a:ext cx="8093075" cy="1268412"/>
                      </a:xfrm>
                      <a:prstGeom prst="rect">
                        <a:avLst/>
                      </a:prstGeom>
                      <a:noFill/>
                      <a:ln w="38100">
                        <a:noFill/>
                        <a:miter/>
                      </a:ln>
                    </p:spPr>
                  </p:pic>
                </p:oleObj>
              </mc:Fallback>
            </mc:AlternateContent>
          </a:graphicData>
        </a:graphic>
      </p:graphicFrame>
      <p:graphicFrame>
        <p:nvGraphicFramePr>
          <p:cNvPr id="21509" name="Object 3"/>
          <p:cNvGraphicFramePr>
            <a:graphicFrameLocks noChangeAspect="1"/>
          </p:cNvGraphicFramePr>
          <p:nvPr/>
        </p:nvGraphicFramePr>
        <p:xfrm>
          <a:off x="3214688" y="5349875"/>
          <a:ext cx="1404937" cy="1008063"/>
        </p:xfrm>
        <a:graphic>
          <a:graphicData uri="http://schemas.openxmlformats.org/presentationml/2006/ole">
            <mc:AlternateContent xmlns:mc="http://schemas.openxmlformats.org/markup-compatibility/2006">
              <mc:Choice xmlns:v="urn:schemas-microsoft-com:vml" Requires="v">
                <p:oleObj spid="_x0000_s3082" name="" r:id="rId3" imgW="546100" imgH="393700" progId="Equation.DSMT4">
                  <p:embed/>
                </p:oleObj>
              </mc:Choice>
              <mc:Fallback>
                <p:oleObj name="" r:id="rId3" imgW="546100" imgH="393700" progId="Equation.DSMT4">
                  <p:embed/>
                  <p:pic>
                    <p:nvPicPr>
                      <p:cNvPr id="0" name="图片 3081"/>
                      <p:cNvPicPr/>
                      <p:nvPr/>
                    </p:nvPicPr>
                    <p:blipFill>
                      <a:blip r:embed="rId4"/>
                      <a:stretch>
                        <a:fillRect/>
                      </a:stretch>
                    </p:blipFill>
                    <p:spPr>
                      <a:xfrm>
                        <a:off x="3214688" y="5349875"/>
                        <a:ext cx="1404937" cy="1008063"/>
                      </a:xfrm>
                      <a:prstGeom prst="rect">
                        <a:avLst/>
                      </a:prstGeom>
                      <a:noFill/>
                      <a:ln w="38100">
                        <a:noFill/>
                        <a:miter/>
                      </a:ln>
                    </p:spPr>
                  </p:pic>
                </p:oleObj>
              </mc:Fallback>
            </mc:AlternateContent>
          </a:graphicData>
        </a:graphic>
      </p:graphicFrame>
      <p:pic>
        <p:nvPicPr>
          <p:cNvPr id="21510" name="Picture 6"/>
          <p:cNvPicPr>
            <a:picLocks noChangeAspect="1"/>
          </p:cNvPicPr>
          <p:nvPr/>
        </p:nvPicPr>
        <p:blipFill>
          <a:blip r:embed="rId5"/>
          <a:stretch>
            <a:fillRect/>
          </a:stretch>
        </p:blipFill>
        <p:spPr>
          <a:xfrm>
            <a:off x="3214688" y="4786313"/>
            <a:ext cx="2052637" cy="601662"/>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2"/>
          <p:cNvSpPr>
            <a:spLocks noGrp="1"/>
          </p:cNvSpPr>
          <p:nvPr>
            <p:ph type="title"/>
          </p:nvPr>
        </p:nvSpPr>
        <p:spPr>
          <a:xfrm>
            <a:off x="428625" y="1428750"/>
            <a:ext cx="3643313" cy="850900"/>
          </a:xfrm>
          <a:blipFill rotWithShape="1">
            <a:blip r:embed="rId1"/>
          </a:blipFill>
          <a:ln/>
        </p:spPr>
        <p:txBody>
          <a:bodyPr vert="horz" wrap="square" lIns="91440" tIns="45720" rIns="91440" bIns="45720" anchor="ctr" anchorCtr="0"/>
          <a:p>
            <a:pPr algn="ctr"/>
            <a:r>
              <a:rPr lang="zh-CN" altLang="en-US" dirty="0">
                <a:solidFill>
                  <a:srgbClr val="080808"/>
                </a:solidFill>
                <a:latin typeface="Times New Roman" panose="02020603050405020304" pitchFamily="18" charset="0"/>
              </a:rPr>
              <a:t>普朗克定律的应用</a:t>
            </a:r>
            <a:endParaRPr lang="zh-CN" altLang="en-US" dirty="0">
              <a:solidFill>
                <a:srgbClr val="080808"/>
              </a:solidFill>
              <a:latin typeface="Times New Roman" panose="02020603050405020304" pitchFamily="18" charset="0"/>
            </a:endParaRPr>
          </a:p>
        </p:txBody>
      </p:sp>
      <p:graphicFrame>
        <p:nvGraphicFramePr>
          <p:cNvPr id="23555" name="Object 2"/>
          <p:cNvGraphicFramePr>
            <a:graphicFrameLocks noChangeAspect="1"/>
          </p:cNvGraphicFramePr>
          <p:nvPr/>
        </p:nvGraphicFramePr>
        <p:xfrm>
          <a:off x="571500" y="3786188"/>
          <a:ext cx="4440238" cy="1989137"/>
        </p:xfrm>
        <a:graphic>
          <a:graphicData uri="http://schemas.openxmlformats.org/presentationml/2006/ole">
            <mc:AlternateContent xmlns:mc="http://schemas.openxmlformats.org/markup-compatibility/2006">
              <mc:Choice xmlns:v="urn:schemas-microsoft-com:vml" Requires="v">
                <p:oleObj spid="_x0000_s3076" name="" r:id="rId2" imgW="1854200" imgH="838200" progId="Equation.DSMT4">
                  <p:embed/>
                </p:oleObj>
              </mc:Choice>
              <mc:Fallback>
                <p:oleObj name="" r:id="rId2" imgW="1854200" imgH="838200" progId="Equation.DSMT4">
                  <p:embed/>
                  <p:pic>
                    <p:nvPicPr>
                      <p:cNvPr id="0" name="图片 3075"/>
                      <p:cNvPicPr/>
                      <p:nvPr/>
                    </p:nvPicPr>
                    <p:blipFill>
                      <a:blip r:embed="rId3"/>
                      <a:stretch>
                        <a:fillRect/>
                      </a:stretch>
                    </p:blipFill>
                    <p:spPr>
                      <a:xfrm>
                        <a:off x="571500" y="3786188"/>
                        <a:ext cx="4440238" cy="1989137"/>
                      </a:xfrm>
                      <a:prstGeom prst="rect">
                        <a:avLst/>
                      </a:prstGeom>
                      <a:noFill/>
                      <a:ln w="38100">
                        <a:noFill/>
                        <a:miter/>
                      </a:ln>
                    </p:spPr>
                  </p:pic>
                </p:oleObj>
              </mc:Fallback>
            </mc:AlternateContent>
          </a:graphicData>
        </a:graphic>
      </p:graphicFrame>
      <p:pic>
        <p:nvPicPr>
          <p:cNvPr id="311300" name="Picture 4" descr="F04-02"/>
          <p:cNvPicPr>
            <a:picLocks noChangeAspect="1"/>
          </p:cNvPicPr>
          <p:nvPr/>
        </p:nvPicPr>
        <p:blipFill>
          <a:blip r:embed="rId4"/>
          <a:stretch>
            <a:fillRect/>
          </a:stretch>
        </p:blipFill>
        <p:spPr>
          <a:xfrm>
            <a:off x="5005388" y="1095375"/>
            <a:ext cx="4138612" cy="5357813"/>
          </a:xfrm>
          <a:prstGeom prst="rect">
            <a:avLst/>
          </a:prstGeom>
          <a:noFill/>
          <a:ln w="9525">
            <a:noFill/>
          </a:ln>
        </p:spPr>
      </p:pic>
      <p:sp>
        <p:nvSpPr>
          <p:cNvPr id="23557" name="Rectangle 5"/>
          <p:cNvSpPr/>
          <p:nvPr/>
        </p:nvSpPr>
        <p:spPr>
          <a:xfrm>
            <a:off x="357188" y="2786063"/>
            <a:ext cx="4800600" cy="46196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zh-CN" altLang="en-US" sz="2400" dirty="0">
                <a:solidFill>
                  <a:srgbClr val="0000FF"/>
                </a:solidFill>
                <a:latin typeface="黑体" panose="02010609060101010101" pitchFamily="49" charset="-122"/>
                <a:ea typeface="黑体" panose="02010609060101010101" pitchFamily="49" charset="-122"/>
              </a:rPr>
              <a:t>普朗克函数（黑体分光辐亮度）：</a:t>
            </a:r>
            <a:endParaRPr lang="en-US" altLang="zh-CN" sz="2400" dirty="0">
              <a:solidFill>
                <a:srgbClr val="0000FF"/>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11300"/>
                                        </p:tgtEl>
                                        <p:attrNameLst>
                                          <p:attrName>style.visibility</p:attrName>
                                        </p:attrNameLst>
                                      </p:cBhvr>
                                      <p:to>
                                        <p:strVal val="visible"/>
                                      </p:to>
                                    </p:set>
                                    <p:anim calcmode="lin" valueType="num">
                                      <p:cBhvr additive="base">
                                        <p:cTn id="7" dur="500" fill="hold"/>
                                        <p:tgtEl>
                                          <p:spTgt spid="311300"/>
                                        </p:tgtEl>
                                        <p:attrNameLst>
                                          <p:attrName>ppt_x</p:attrName>
                                        </p:attrNameLst>
                                      </p:cBhvr>
                                      <p:tavLst>
                                        <p:tav tm="0">
                                          <p:val>
                                            <p:strVal val="0-#ppt_w/2"/>
                                          </p:val>
                                        </p:tav>
                                        <p:tav tm="100000">
                                          <p:val>
                                            <p:strVal val="#ppt_x"/>
                                          </p:val>
                                        </p:tav>
                                      </p:tavLst>
                                    </p:anim>
                                    <p:anim calcmode="lin" valueType="num">
                                      <p:cBhvr additive="base">
                                        <p:cTn id="8" dur="500" fill="hold"/>
                                        <p:tgtEl>
                                          <p:spTgt spid="31130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3"/>
          <p:cNvSpPr>
            <a:spLocks noGrp="1"/>
          </p:cNvSpPr>
          <p:nvPr>
            <p:ph idx="1"/>
          </p:nvPr>
        </p:nvSpPr>
        <p:spPr>
          <a:xfrm>
            <a:off x="152400" y="2324100"/>
            <a:ext cx="3419475" cy="4248150"/>
          </a:xfrm>
          <a:ln/>
        </p:spPr>
        <p:txBody>
          <a:bodyPr vert="horz" wrap="square" lIns="91440" tIns="45720" rIns="91440" bIns="45720" anchor="t" anchorCtr="0"/>
          <a:p>
            <a:pPr lvl="1">
              <a:lnSpc>
                <a:spcPct val="110000"/>
              </a:lnSpc>
              <a:spcAft>
                <a:spcPct val="20000"/>
              </a:spcAft>
            </a:pPr>
            <a:r>
              <a:rPr lang="zh-CN" altLang="en-US" sz="2400" dirty="0">
                <a:solidFill>
                  <a:srgbClr val="0000FF"/>
                </a:solidFill>
                <a:latin typeface="黑体" panose="02010609060101010101" pitchFamily="49" charset="-122"/>
                <a:ea typeface="黑体" panose="02010609060101010101" pitchFamily="49" charset="-122"/>
              </a:rPr>
              <a:t>黑体辐射与物质组成无关；</a:t>
            </a:r>
            <a:endParaRPr lang="zh-CN" altLang="en-US" sz="2400" dirty="0">
              <a:solidFill>
                <a:srgbClr val="0000FF"/>
              </a:solidFill>
              <a:latin typeface="黑体" panose="02010609060101010101" pitchFamily="49" charset="-122"/>
              <a:ea typeface="黑体" panose="02010609060101010101" pitchFamily="49" charset="-122"/>
            </a:endParaRPr>
          </a:p>
          <a:p>
            <a:pPr lvl="1">
              <a:lnSpc>
                <a:spcPct val="110000"/>
              </a:lnSpc>
              <a:spcAft>
                <a:spcPct val="20000"/>
              </a:spcAft>
            </a:pPr>
            <a:r>
              <a:rPr lang="zh-CN" altLang="en-US" sz="2400" dirty="0">
                <a:solidFill>
                  <a:srgbClr val="0000FF"/>
                </a:solidFill>
                <a:latin typeface="黑体" panose="02010609060101010101" pitchFamily="49" charset="-122"/>
                <a:ea typeface="黑体" panose="02010609060101010101" pitchFamily="49" charset="-122"/>
              </a:rPr>
              <a:t>黑体辐射强度随温度升高而增大；</a:t>
            </a:r>
            <a:endParaRPr lang="zh-CN" altLang="en-US" sz="2400" dirty="0">
              <a:solidFill>
                <a:srgbClr val="0000FF"/>
              </a:solidFill>
              <a:latin typeface="黑体" panose="02010609060101010101" pitchFamily="49" charset="-122"/>
              <a:ea typeface="黑体" panose="02010609060101010101" pitchFamily="49" charset="-122"/>
            </a:endParaRPr>
          </a:p>
          <a:p>
            <a:pPr lvl="1">
              <a:lnSpc>
                <a:spcPct val="90000"/>
              </a:lnSpc>
              <a:spcAft>
                <a:spcPct val="20000"/>
              </a:spcAft>
              <a:buFontTx/>
              <a:buNone/>
            </a:pPr>
            <a:r>
              <a:rPr lang="zh-CN" altLang="en-US" sz="2400" dirty="0">
                <a:solidFill>
                  <a:srgbClr val="CC00CC"/>
                </a:solidFill>
                <a:latin typeface="黑体" panose="02010609060101010101" pitchFamily="49" charset="-122"/>
                <a:ea typeface="黑体" panose="02010609060101010101" pitchFamily="49" charset="-122"/>
                <a:sym typeface="Wingdings" panose="05000000000000000000" pitchFamily="2" charset="2"/>
              </a:rPr>
              <a:t>　</a:t>
            </a:r>
            <a:r>
              <a:rPr lang="zh-CN" altLang="en-US" sz="2000" dirty="0">
                <a:solidFill>
                  <a:srgbClr val="CC00CC"/>
                </a:solidFill>
                <a:latin typeface="黑体" panose="02010609060101010101" pitchFamily="49" charset="-122"/>
                <a:ea typeface="黑体" panose="02010609060101010101" pitchFamily="49" charset="-122"/>
                <a:sym typeface="Wingdings" panose="05000000000000000000" pitchFamily="2" charset="2"/>
              </a:rPr>
              <a:t></a:t>
            </a:r>
            <a:r>
              <a:rPr lang="en-US" altLang="zh-CN" sz="2000" dirty="0">
                <a:solidFill>
                  <a:srgbClr val="CC00CC"/>
                </a:solidFill>
                <a:latin typeface="黑体" panose="02010609060101010101" pitchFamily="49" charset="-122"/>
                <a:ea typeface="黑体" panose="02010609060101010101" pitchFamily="49" charset="-122"/>
                <a:sym typeface="Wingdings" panose="05000000000000000000" pitchFamily="2" charset="2"/>
              </a:rPr>
              <a:t>Stefan-Boltzmann  Law</a:t>
            </a:r>
            <a:endParaRPr lang="en-US" altLang="zh-CN" sz="2000" dirty="0">
              <a:solidFill>
                <a:srgbClr val="CC00CC"/>
              </a:solidFill>
              <a:latin typeface="黑体" panose="02010609060101010101" pitchFamily="49" charset="-122"/>
              <a:ea typeface="黑体" panose="02010609060101010101" pitchFamily="49" charset="-122"/>
            </a:endParaRPr>
          </a:p>
          <a:p>
            <a:pPr lvl="1">
              <a:lnSpc>
                <a:spcPct val="110000"/>
              </a:lnSpc>
              <a:spcAft>
                <a:spcPct val="20000"/>
              </a:spcAft>
            </a:pPr>
            <a:r>
              <a:rPr lang="zh-CN" altLang="en-US" sz="2400" dirty="0">
                <a:solidFill>
                  <a:srgbClr val="0000FF"/>
                </a:solidFill>
                <a:latin typeface="黑体" panose="02010609060101010101" pitchFamily="49" charset="-122"/>
                <a:ea typeface="黑体" panose="02010609060101010101" pitchFamily="49" charset="-122"/>
              </a:rPr>
              <a:t>最大强度的波长随温度升高而减小。</a:t>
            </a:r>
            <a:endParaRPr lang="zh-CN" altLang="en-US" sz="2400" dirty="0">
              <a:solidFill>
                <a:srgbClr val="0000FF"/>
              </a:solidFill>
              <a:latin typeface="黑体" panose="02010609060101010101" pitchFamily="49" charset="-122"/>
              <a:ea typeface="黑体" panose="02010609060101010101" pitchFamily="49" charset="-122"/>
            </a:endParaRPr>
          </a:p>
          <a:p>
            <a:pPr lvl="1">
              <a:lnSpc>
                <a:spcPct val="90000"/>
              </a:lnSpc>
              <a:spcAft>
                <a:spcPct val="20000"/>
              </a:spcAft>
              <a:buFontTx/>
              <a:buNone/>
            </a:pPr>
            <a:r>
              <a:rPr lang="zh-CN" altLang="en-US" sz="2400" dirty="0">
                <a:solidFill>
                  <a:srgbClr val="CC00CC"/>
                </a:solidFill>
                <a:latin typeface="黑体" panose="02010609060101010101" pitchFamily="49" charset="-122"/>
                <a:ea typeface="黑体" panose="02010609060101010101" pitchFamily="49" charset="-122"/>
                <a:sym typeface="Wingdings" panose="05000000000000000000" pitchFamily="2" charset="2"/>
              </a:rPr>
              <a:t>　</a:t>
            </a:r>
            <a:r>
              <a:rPr lang="zh-CN" altLang="en-US" sz="2000" dirty="0">
                <a:solidFill>
                  <a:srgbClr val="CC00CC"/>
                </a:solidFill>
                <a:latin typeface="黑体" panose="02010609060101010101" pitchFamily="49" charset="-122"/>
                <a:ea typeface="黑体" panose="02010609060101010101" pitchFamily="49" charset="-122"/>
                <a:sym typeface="Wingdings" panose="05000000000000000000" pitchFamily="2" charset="2"/>
              </a:rPr>
              <a:t></a:t>
            </a:r>
            <a:r>
              <a:rPr lang="en-US" altLang="zh-CN" sz="2000" dirty="0">
                <a:solidFill>
                  <a:srgbClr val="CC00CC"/>
                </a:solidFill>
                <a:latin typeface="黑体" panose="02010609060101010101" pitchFamily="49" charset="-122"/>
                <a:ea typeface="黑体" panose="02010609060101010101" pitchFamily="49" charset="-122"/>
                <a:sym typeface="Wingdings" panose="05000000000000000000" pitchFamily="2" charset="2"/>
              </a:rPr>
              <a:t>Wien</a:t>
            </a:r>
            <a:r>
              <a:rPr lang="zh-CN" altLang="en-US" sz="2000" dirty="0">
                <a:solidFill>
                  <a:srgbClr val="CC00CC"/>
                </a:solidFill>
                <a:latin typeface="黑体" panose="02010609060101010101" pitchFamily="49" charset="-122"/>
                <a:ea typeface="黑体" panose="02010609060101010101" pitchFamily="49" charset="-122"/>
                <a:sym typeface="Wingdings" panose="05000000000000000000" pitchFamily="2" charset="2"/>
              </a:rPr>
              <a:t>位移定律</a:t>
            </a:r>
            <a:endParaRPr lang="zh-CN" altLang="en-US" sz="2000" dirty="0">
              <a:solidFill>
                <a:srgbClr val="CC00CC"/>
              </a:solidFill>
              <a:latin typeface="黑体" panose="02010609060101010101" pitchFamily="49" charset="-122"/>
              <a:ea typeface="黑体" panose="02010609060101010101" pitchFamily="49" charset="-122"/>
              <a:sym typeface="Wingdings" panose="05000000000000000000" pitchFamily="2" charset="2"/>
            </a:endParaRPr>
          </a:p>
        </p:txBody>
      </p:sp>
      <p:pic>
        <p:nvPicPr>
          <p:cNvPr id="25603" name="Picture 4"/>
          <p:cNvPicPr>
            <a:picLocks noChangeAspect="1"/>
          </p:cNvPicPr>
          <p:nvPr/>
        </p:nvPicPr>
        <p:blipFill>
          <a:blip r:embed="rId1"/>
          <a:srcRect t="2756" r="9019"/>
          <a:stretch>
            <a:fillRect/>
          </a:stretch>
        </p:blipFill>
        <p:spPr>
          <a:xfrm>
            <a:off x="3957638" y="1857375"/>
            <a:ext cx="5043487" cy="4929188"/>
          </a:xfrm>
          <a:prstGeom prst="rect">
            <a:avLst/>
          </a:prstGeom>
          <a:noFill/>
          <a:ln w="9525">
            <a:noFill/>
          </a:ln>
        </p:spPr>
      </p:pic>
      <p:sp>
        <p:nvSpPr>
          <p:cNvPr id="6" name="Rectangle 2"/>
          <p:cNvSpPr txBox="1">
            <a:spLocks noChangeArrowheads="1"/>
          </p:cNvSpPr>
          <p:nvPr/>
        </p:nvSpPr>
        <p:spPr bwMode="auto">
          <a:xfrm>
            <a:off x="428625" y="1357313"/>
            <a:ext cx="3643313" cy="642938"/>
          </a:xfrm>
          <a:prstGeom prst="rect">
            <a:avLst/>
          </a:prstGeom>
          <a:blipFill>
            <a:blip r:embed="rId2" cstate="print"/>
            <a:tile tx="0" ty="0" sx="100000" sy="100000" flip="none" algn="tl"/>
          </a:blipFill>
          <a:ln w="9525">
            <a:noFill/>
            <a:miter lim="800000"/>
          </a:ln>
        </p:spPr>
        <p:txBody>
          <a:bodyPr anchor="ctr"/>
          <a:lstStyle/>
          <a:p>
            <a:pPr marR="0" algn="ctr" defTabSz="914400">
              <a:buClrTx/>
              <a:buSzTx/>
              <a:buFontTx/>
              <a:buNone/>
              <a:defRPr/>
            </a:pPr>
            <a:r>
              <a:rPr kumimoji="0" lang="zh-CN" altLang="en-US" sz="3200" b="1" kern="0" cap="none" spc="0" normalizeH="0" baseline="0" noProof="0" dirty="0">
                <a:solidFill>
                  <a:srgbClr val="080808"/>
                </a:solidFill>
                <a:latin typeface="Times New Roman" panose="02020603050405020304" pitchFamily="18" charset="0"/>
                <a:ea typeface="+mj-ea"/>
                <a:cs typeface="+mj-cs"/>
              </a:rPr>
              <a:t>普朗克定律的应用</a:t>
            </a:r>
            <a:endParaRPr kumimoji="0" lang="zh-CN" altLang="en-US" sz="3200" b="1" kern="0" cap="none" spc="0" normalizeH="0" baseline="0" noProof="0" dirty="0">
              <a:solidFill>
                <a:srgbClr val="080808"/>
              </a:solidFill>
              <a:latin typeface="Times New Roman" panose="02020603050405020304" pitchFamily="18" charset="0"/>
              <a:ea typeface="+mj-ea"/>
              <a:cs typeface="+mj-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2"/>
          <p:cNvSpPr>
            <a:spLocks noGrp="1"/>
          </p:cNvSpPr>
          <p:nvPr>
            <p:ph idx="1"/>
          </p:nvPr>
        </p:nvSpPr>
        <p:spPr>
          <a:xfrm>
            <a:off x="0" y="1662113"/>
            <a:ext cx="5003800" cy="4481512"/>
          </a:xfrm>
          <a:ln/>
        </p:spPr>
        <p:txBody>
          <a:bodyPr vert="horz" wrap="square" lIns="91440" tIns="45720" rIns="91440" bIns="45720" anchor="t" anchorCtr="0"/>
          <a:p>
            <a:pPr>
              <a:spcBef>
                <a:spcPct val="25000"/>
              </a:spcBef>
              <a:spcAft>
                <a:spcPct val="25000"/>
              </a:spcAft>
              <a:buFontTx/>
              <a:buNone/>
            </a:pPr>
            <a:r>
              <a:rPr lang="en-US" altLang="zh-CN" dirty="0">
                <a:latin typeface="Times New Roman" panose="02020603050405020304" pitchFamily="18" charset="0"/>
                <a:ea typeface="楷体_GB2312" pitchFamily="49" charset="-122"/>
              </a:rPr>
              <a:t>     </a:t>
            </a:r>
            <a:r>
              <a:rPr lang="en-US" altLang="zh-CN" i="1" dirty="0">
                <a:latin typeface="Times New Roman" panose="02020603050405020304" pitchFamily="18" charset="0"/>
                <a:ea typeface="楷体_GB2312" pitchFamily="49" charset="-122"/>
              </a:rPr>
              <a:t>Joseph Stefan</a:t>
            </a:r>
            <a:r>
              <a:rPr lang="en-US" altLang="zh-CN" dirty="0">
                <a:latin typeface="Times New Roman" panose="02020603050405020304" pitchFamily="18" charset="0"/>
                <a:ea typeface="楷体_GB2312" pitchFamily="49" charset="-122"/>
              </a:rPr>
              <a:t> (1835-1893)</a:t>
            </a:r>
            <a:endParaRPr lang="en-US" altLang="zh-CN" dirty="0">
              <a:latin typeface="Times New Roman" panose="02020603050405020304" pitchFamily="18" charset="0"/>
              <a:ea typeface="楷体_GB2312" pitchFamily="49" charset="-122"/>
            </a:endParaRPr>
          </a:p>
          <a:p>
            <a:pPr lvl="1">
              <a:spcBef>
                <a:spcPct val="25000"/>
              </a:spcBef>
              <a:spcAft>
                <a:spcPct val="25000"/>
              </a:spcAft>
              <a:buFontTx/>
              <a:buNone/>
            </a:pPr>
            <a:r>
              <a:rPr lang="zh-CN" altLang="en-US" dirty="0">
                <a:latin typeface="Times New Roman" panose="02020603050405020304" pitchFamily="18" charset="0"/>
                <a:ea typeface="楷体_GB2312" pitchFamily="49" charset="-122"/>
              </a:rPr>
              <a:t>奥地利物理学家、诗人</a:t>
            </a:r>
            <a:endParaRPr lang="zh-CN" altLang="en-US" dirty="0">
              <a:latin typeface="Times New Roman" panose="02020603050405020304" pitchFamily="18" charset="0"/>
              <a:ea typeface="楷体_GB2312" pitchFamily="49" charset="-122"/>
            </a:endParaRPr>
          </a:p>
          <a:p>
            <a:pPr lvl="1">
              <a:spcBef>
                <a:spcPct val="25000"/>
              </a:spcBef>
              <a:spcAft>
                <a:spcPct val="25000"/>
              </a:spcAft>
              <a:buFontTx/>
              <a:buNone/>
            </a:pPr>
            <a:r>
              <a:rPr lang="en-US" altLang="zh-CN" dirty="0">
                <a:latin typeface="Times New Roman" panose="02020603050405020304" pitchFamily="18" charset="0"/>
                <a:ea typeface="楷体_GB2312" pitchFamily="49" charset="-122"/>
              </a:rPr>
              <a:t>1884: </a:t>
            </a:r>
            <a:r>
              <a:rPr lang="en-US" altLang="zh-CN" i="1" dirty="0">
                <a:latin typeface="Times New Roman" panose="02020603050405020304" pitchFamily="18" charset="0"/>
                <a:ea typeface="楷体_GB2312" pitchFamily="49" charset="-122"/>
              </a:rPr>
              <a:t>Stefan-Boltzmann law</a:t>
            </a:r>
            <a:endParaRPr lang="en-US" altLang="zh-CN" i="1" dirty="0">
              <a:latin typeface="Times New Roman" panose="02020603050405020304" pitchFamily="18" charset="0"/>
              <a:ea typeface="楷体_GB2312" pitchFamily="49" charset="-122"/>
            </a:endParaRPr>
          </a:p>
          <a:p>
            <a:pPr lvl="1">
              <a:spcBef>
                <a:spcPct val="25000"/>
              </a:spcBef>
              <a:spcAft>
                <a:spcPct val="25000"/>
              </a:spcAft>
              <a:buFontTx/>
              <a:buNone/>
            </a:pPr>
            <a:r>
              <a:rPr lang="en-US" altLang="zh-CN" i="1" dirty="0">
                <a:latin typeface="Times New Roman" panose="02020603050405020304" pitchFamily="18" charset="0"/>
                <a:ea typeface="楷体_GB2312" pitchFamily="49" charset="-122"/>
              </a:rPr>
              <a:t>Stefan flow</a:t>
            </a:r>
            <a:endParaRPr lang="en-US" altLang="zh-CN" i="1" dirty="0">
              <a:latin typeface="Times New Roman" panose="02020603050405020304" pitchFamily="18" charset="0"/>
              <a:ea typeface="楷体_GB2312" pitchFamily="49" charset="-122"/>
            </a:endParaRPr>
          </a:p>
          <a:p>
            <a:pPr lvl="1">
              <a:spcBef>
                <a:spcPct val="25000"/>
              </a:spcBef>
              <a:spcAft>
                <a:spcPct val="25000"/>
              </a:spcAft>
              <a:buFontTx/>
              <a:buNone/>
            </a:pPr>
            <a:r>
              <a:rPr lang="zh-CN" altLang="en-US" dirty="0">
                <a:latin typeface="Times New Roman" panose="02020603050405020304" pitchFamily="18" charset="0"/>
                <a:ea typeface="楷体_GB2312" pitchFamily="49" charset="-122"/>
              </a:rPr>
              <a:t>热学</a:t>
            </a:r>
            <a:endParaRPr lang="zh-CN" altLang="en-US" dirty="0">
              <a:latin typeface="Times New Roman" panose="02020603050405020304" pitchFamily="18" charset="0"/>
              <a:ea typeface="楷体_GB2312" pitchFamily="49" charset="-122"/>
            </a:endParaRPr>
          </a:p>
          <a:p>
            <a:pPr lvl="1">
              <a:spcBef>
                <a:spcPct val="25000"/>
              </a:spcBef>
              <a:spcAft>
                <a:spcPct val="25000"/>
              </a:spcAft>
              <a:buFontTx/>
              <a:buNone/>
            </a:pPr>
            <a:r>
              <a:rPr lang="zh-CN" altLang="en-US" dirty="0">
                <a:latin typeface="Times New Roman" panose="02020603050405020304" pitchFamily="18" charset="0"/>
                <a:ea typeface="楷体_GB2312" pitchFamily="49" charset="-122"/>
              </a:rPr>
              <a:t>电磁学</a:t>
            </a:r>
            <a:endParaRPr lang="zh-CN" altLang="en-US" dirty="0">
              <a:latin typeface="Times New Roman" panose="02020603050405020304" pitchFamily="18" charset="0"/>
              <a:ea typeface="楷体_GB2312" pitchFamily="49" charset="-122"/>
            </a:endParaRPr>
          </a:p>
          <a:p>
            <a:pPr lvl="1">
              <a:spcBef>
                <a:spcPct val="25000"/>
              </a:spcBef>
              <a:spcAft>
                <a:spcPct val="25000"/>
              </a:spcAft>
              <a:buFontTx/>
              <a:buNone/>
            </a:pPr>
            <a:r>
              <a:rPr lang="en-US" altLang="zh-CN" dirty="0">
                <a:latin typeface="Times New Roman" panose="02020603050405020304" pitchFamily="18" charset="0"/>
                <a:ea typeface="楷体_GB2312" pitchFamily="49" charset="-122"/>
              </a:rPr>
              <a:t>1904: </a:t>
            </a:r>
            <a:r>
              <a:rPr lang="en-US" altLang="zh-CN" i="1" dirty="0">
                <a:latin typeface="Times New Roman" panose="02020603050405020304" pitchFamily="18" charset="0"/>
                <a:ea typeface="楷体_GB2312" pitchFamily="49" charset="-122"/>
              </a:rPr>
              <a:t>Nobel Prize</a:t>
            </a:r>
            <a:endParaRPr lang="en-US" altLang="zh-CN" i="1" dirty="0">
              <a:latin typeface="Times New Roman" panose="02020603050405020304" pitchFamily="18" charset="0"/>
              <a:ea typeface="楷体_GB2312" pitchFamily="49" charset="-122"/>
            </a:endParaRPr>
          </a:p>
        </p:txBody>
      </p:sp>
      <p:pic>
        <p:nvPicPr>
          <p:cNvPr id="27651" name="Picture 4" descr="stefan"/>
          <p:cNvPicPr>
            <a:picLocks noChangeAspect="1"/>
          </p:cNvPicPr>
          <p:nvPr/>
        </p:nvPicPr>
        <p:blipFill>
          <a:blip r:embed="rId1"/>
          <a:stretch>
            <a:fillRect/>
          </a:stretch>
        </p:blipFill>
        <p:spPr>
          <a:xfrm>
            <a:off x="4760913" y="1085850"/>
            <a:ext cx="4344987" cy="5772150"/>
          </a:xfrm>
          <a:prstGeom prst="rect">
            <a:avLst/>
          </a:prstGeom>
          <a:noFill/>
          <a:ln w="9525">
            <a:noFill/>
          </a:ln>
        </p:spPr>
      </p:pic>
      <p:sp>
        <p:nvSpPr>
          <p:cNvPr id="27652" name="Rectangle 2"/>
          <p:cNvSpPr>
            <a:spLocks noGrp="1"/>
          </p:cNvSpPr>
          <p:nvPr>
            <p:ph type="title"/>
          </p:nvPr>
        </p:nvSpPr>
        <p:spPr>
          <a:xfrm>
            <a:off x="1357313" y="0"/>
            <a:ext cx="7786687" cy="1019175"/>
          </a:xfrm>
          <a:ln/>
        </p:spPr>
        <p:txBody>
          <a:bodyPr vert="horz" wrap="square" lIns="91440" tIns="45720" rIns="91440" bIns="45720" anchor="ctr" anchorCtr="0"/>
          <a:p>
            <a:r>
              <a:rPr lang="en-US" altLang="zh-CN" sz="3000" dirty="0">
                <a:solidFill>
                  <a:srgbClr val="FFFF00"/>
                </a:solidFill>
                <a:latin typeface="Times New Roman" panose="02020603050405020304" pitchFamily="18" charset="0"/>
              </a:rPr>
              <a:t>2.  </a:t>
            </a:r>
            <a:r>
              <a:rPr lang="zh-CN" altLang="en-US" sz="3000" dirty="0">
                <a:solidFill>
                  <a:srgbClr val="FFFF00"/>
                </a:solidFill>
                <a:latin typeface="Times New Roman" panose="02020603050405020304" pitchFamily="18" charset="0"/>
              </a:rPr>
              <a:t>斯蒂芬</a:t>
            </a:r>
            <a:r>
              <a:rPr lang="en-US" altLang="zh-CN" sz="3000" dirty="0">
                <a:solidFill>
                  <a:srgbClr val="FFFF00"/>
                </a:solidFill>
                <a:latin typeface="Times New Roman" panose="02020603050405020304" pitchFamily="18" charset="0"/>
              </a:rPr>
              <a:t>-</a:t>
            </a:r>
            <a:r>
              <a:rPr lang="zh-CN" altLang="en-US" sz="3000" dirty="0">
                <a:solidFill>
                  <a:srgbClr val="FFFF00"/>
                </a:solidFill>
                <a:latin typeface="Times New Roman" panose="02020603050405020304" pitchFamily="18" charset="0"/>
              </a:rPr>
              <a:t>波尔兹曼</a:t>
            </a:r>
            <a:r>
              <a:rPr lang="en-US" altLang="zh-CN" sz="3000" dirty="0">
                <a:solidFill>
                  <a:srgbClr val="FFFF00"/>
                </a:solidFill>
                <a:latin typeface="Times New Roman" panose="02020603050405020304" pitchFamily="18" charset="0"/>
              </a:rPr>
              <a:t>(Stefan-Boltzmann)</a:t>
            </a:r>
            <a:r>
              <a:rPr lang="zh-CN" altLang="en-US" sz="3000" dirty="0">
                <a:solidFill>
                  <a:srgbClr val="FFFF00"/>
                </a:solidFill>
                <a:latin typeface="Times New Roman" panose="02020603050405020304" pitchFamily="18" charset="0"/>
              </a:rPr>
              <a:t>定律</a:t>
            </a:r>
            <a:endParaRPr lang="zh-CN" altLang="en-US" sz="3000" dirty="0">
              <a:solidFill>
                <a:srgbClr val="FFFF00"/>
              </a:solidFill>
              <a:latin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p:cNvSpPr>
          <p:nvPr>
            <p:ph idx="1"/>
          </p:nvPr>
        </p:nvSpPr>
        <p:spPr>
          <a:xfrm>
            <a:off x="71438" y="1990725"/>
            <a:ext cx="5076825" cy="3438525"/>
          </a:xfrm>
          <a:ln/>
        </p:spPr>
        <p:txBody>
          <a:bodyPr vert="horz" wrap="square" lIns="91440" tIns="45720" rIns="91440" bIns="45720" anchor="t" anchorCtr="0"/>
          <a:p>
            <a:pPr>
              <a:spcBef>
                <a:spcPct val="25000"/>
              </a:spcBef>
              <a:spcAft>
                <a:spcPct val="25000"/>
              </a:spcAft>
              <a:buFontTx/>
              <a:buNone/>
            </a:pPr>
            <a:r>
              <a:rPr lang="en-US" altLang="zh-CN" i="1" dirty="0">
                <a:latin typeface="Times New Roman" panose="02020603050405020304" pitchFamily="18" charset="0"/>
                <a:ea typeface="楷体_GB2312" pitchFamily="49" charset="-122"/>
              </a:rPr>
              <a:t>      Ludwig Boltzmann</a:t>
            </a:r>
            <a:endParaRPr lang="en-US" altLang="zh-CN" i="1" dirty="0">
              <a:latin typeface="Times New Roman" panose="02020603050405020304" pitchFamily="18" charset="0"/>
              <a:ea typeface="楷体_GB2312" pitchFamily="49" charset="-122"/>
            </a:endParaRPr>
          </a:p>
          <a:p>
            <a:pPr>
              <a:spcBef>
                <a:spcPct val="25000"/>
              </a:spcBef>
              <a:spcAft>
                <a:spcPct val="25000"/>
              </a:spcAft>
              <a:buFontTx/>
              <a:buNone/>
            </a:pPr>
            <a:r>
              <a:rPr lang="en-US" altLang="zh-CN" dirty="0">
                <a:latin typeface="Times New Roman" panose="02020603050405020304" pitchFamily="18" charset="0"/>
                <a:ea typeface="楷体_GB2312" pitchFamily="49" charset="-122"/>
              </a:rPr>
              <a:t>      (1844-1906)</a:t>
            </a:r>
            <a:endParaRPr lang="en-US" altLang="zh-CN" dirty="0">
              <a:latin typeface="Times New Roman" panose="02020603050405020304" pitchFamily="18" charset="0"/>
              <a:ea typeface="楷体_GB2312" pitchFamily="49" charset="-122"/>
            </a:endParaRPr>
          </a:p>
          <a:p>
            <a:pPr lvl="1">
              <a:spcBef>
                <a:spcPct val="25000"/>
              </a:spcBef>
              <a:spcAft>
                <a:spcPct val="25000"/>
              </a:spcAft>
              <a:buFontTx/>
              <a:buNone/>
            </a:pPr>
            <a:r>
              <a:rPr lang="zh-CN" altLang="en-US" dirty="0">
                <a:latin typeface="Times New Roman" panose="02020603050405020304" pitchFamily="18" charset="0"/>
                <a:ea typeface="楷体_GB2312" pitchFamily="49" charset="-122"/>
              </a:rPr>
              <a:t>奥地利物理学家</a:t>
            </a:r>
            <a:endParaRPr lang="zh-CN" altLang="en-US" dirty="0">
              <a:latin typeface="Times New Roman" panose="02020603050405020304" pitchFamily="18" charset="0"/>
              <a:ea typeface="楷体_GB2312" pitchFamily="49" charset="-122"/>
            </a:endParaRPr>
          </a:p>
          <a:p>
            <a:pPr lvl="1">
              <a:spcBef>
                <a:spcPct val="25000"/>
              </a:spcBef>
              <a:spcAft>
                <a:spcPct val="25000"/>
              </a:spcAft>
              <a:buFontTx/>
              <a:buNone/>
            </a:pPr>
            <a:r>
              <a:rPr lang="en-US" altLang="zh-CN" dirty="0">
                <a:latin typeface="Times New Roman" panose="02020603050405020304" pitchFamily="18" charset="0"/>
                <a:ea typeface="楷体_GB2312" pitchFamily="49" charset="-122"/>
              </a:rPr>
              <a:t>1884: </a:t>
            </a:r>
            <a:r>
              <a:rPr lang="en-US" altLang="zh-CN" i="1" dirty="0">
                <a:latin typeface="Times New Roman" panose="02020603050405020304" pitchFamily="18" charset="0"/>
                <a:ea typeface="楷体_GB2312" pitchFamily="49" charset="-122"/>
              </a:rPr>
              <a:t>Stefan-Boltzmann law</a:t>
            </a:r>
            <a:endParaRPr lang="en-US" altLang="zh-CN" i="1" dirty="0">
              <a:latin typeface="Times New Roman" panose="02020603050405020304" pitchFamily="18" charset="0"/>
              <a:ea typeface="楷体_GB2312" pitchFamily="49" charset="-122"/>
            </a:endParaRPr>
          </a:p>
          <a:p>
            <a:pPr lvl="1">
              <a:spcBef>
                <a:spcPct val="25000"/>
              </a:spcBef>
              <a:spcAft>
                <a:spcPct val="25000"/>
              </a:spcAft>
              <a:buFontTx/>
              <a:buNone/>
            </a:pPr>
            <a:r>
              <a:rPr lang="zh-CN" altLang="en-US" dirty="0">
                <a:latin typeface="Times New Roman" panose="02020603050405020304" pitchFamily="18" charset="0"/>
                <a:ea typeface="楷体_GB2312" pitchFamily="49" charset="-122"/>
              </a:rPr>
              <a:t>理论推导</a:t>
            </a:r>
            <a:endParaRPr lang="zh-CN" altLang="en-US" dirty="0">
              <a:latin typeface="Times New Roman" panose="02020603050405020304" pitchFamily="18" charset="0"/>
              <a:ea typeface="楷体_GB2312" pitchFamily="49" charset="-122"/>
            </a:endParaRPr>
          </a:p>
          <a:p>
            <a:pPr lvl="1">
              <a:spcBef>
                <a:spcPct val="25000"/>
              </a:spcBef>
              <a:spcAft>
                <a:spcPct val="25000"/>
              </a:spcAft>
              <a:buFontTx/>
              <a:buNone/>
            </a:pPr>
            <a:r>
              <a:rPr lang="zh-CN" altLang="en-US" dirty="0">
                <a:latin typeface="Times New Roman" panose="02020603050405020304" pitchFamily="18" charset="0"/>
                <a:ea typeface="楷体_GB2312" pitchFamily="49" charset="-122"/>
              </a:rPr>
              <a:t>统计力学</a:t>
            </a:r>
            <a:endParaRPr lang="zh-CN" altLang="en-US" dirty="0">
              <a:latin typeface="Times New Roman" panose="02020603050405020304" pitchFamily="18" charset="0"/>
              <a:ea typeface="楷体_GB2312" pitchFamily="49" charset="-122"/>
            </a:endParaRPr>
          </a:p>
          <a:p>
            <a:pPr lvl="1">
              <a:spcBef>
                <a:spcPct val="25000"/>
              </a:spcBef>
              <a:spcAft>
                <a:spcPct val="25000"/>
              </a:spcAft>
              <a:buFontTx/>
              <a:buNone/>
            </a:pPr>
            <a:endParaRPr lang="en-US" altLang="zh-CN" dirty="0">
              <a:latin typeface="Times New Roman" panose="02020603050405020304" pitchFamily="18" charset="0"/>
              <a:ea typeface="楷体_GB2312" pitchFamily="49" charset="-122"/>
            </a:endParaRPr>
          </a:p>
        </p:txBody>
      </p:sp>
      <p:pic>
        <p:nvPicPr>
          <p:cNvPr id="29699" name="Picture 3" descr="Boltzmann"/>
          <p:cNvPicPr>
            <a:picLocks noChangeAspect="1"/>
          </p:cNvPicPr>
          <p:nvPr/>
        </p:nvPicPr>
        <p:blipFill>
          <a:blip r:embed="rId1"/>
          <a:stretch>
            <a:fillRect/>
          </a:stretch>
        </p:blipFill>
        <p:spPr>
          <a:xfrm>
            <a:off x="4859338" y="1090613"/>
            <a:ext cx="4244975" cy="5624512"/>
          </a:xfrm>
          <a:prstGeom prst="rect">
            <a:avLst/>
          </a:prstGeom>
          <a:noFill/>
          <a:ln w="9525">
            <a:noFill/>
          </a:ln>
        </p:spPr>
      </p:pic>
      <p:sp>
        <p:nvSpPr>
          <p:cNvPr id="29700" name="Rectangle 2"/>
          <p:cNvSpPr>
            <a:spLocks noGrp="1"/>
          </p:cNvSpPr>
          <p:nvPr>
            <p:ph type="title"/>
          </p:nvPr>
        </p:nvSpPr>
        <p:spPr>
          <a:xfrm>
            <a:off x="1357313" y="0"/>
            <a:ext cx="7786687" cy="1019175"/>
          </a:xfrm>
          <a:ln/>
        </p:spPr>
        <p:txBody>
          <a:bodyPr vert="horz" wrap="square" lIns="91440" tIns="45720" rIns="91440" bIns="45720" anchor="ctr" anchorCtr="0"/>
          <a:p>
            <a:r>
              <a:rPr lang="en-US" altLang="zh-CN" sz="3000" dirty="0">
                <a:solidFill>
                  <a:srgbClr val="FFFF00"/>
                </a:solidFill>
                <a:latin typeface="Times New Roman" panose="02020603050405020304" pitchFamily="18" charset="0"/>
              </a:rPr>
              <a:t>2.  </a:t>
            </a:r>
            <a:r>
              <a:rPr lang="zh-CN" altLang="en-US" sz="3000" dirty="0">
                <a:solidFill>
                  <a:srgbClr val="FFFF00"/>
                </a:solidFill>
                <a:latin typeface="Times New Roman" panose="02020603050405020304" pitchFamily="18" charset="0"/>
              </a:rPr>
              <a:t>斯蒂芬</a:t>
            </a:r>
            <a:r>
              <a:rPr lang="en-US" altLang="zh-CN" sz="3000" dirty="0">
                <a:solidFill>
                  <a:srgbClr val="FFFF00"/>
                </a:solidFill>
                <a:latin typeface="Times New Roman" panose="02020603050405020304" pitchFamily="18" charset="0"/>
              </a:rPr>
              <a:t>-</a:t>
            </a:r>
            <a:r>
              <a:rPr lang="zh-CN" altLang="en-US" sz="3000" dirty="0">
                <a:solidFill>
                  <a:srgbClr val="FFFF00"/>
                </a:solidFill>
                <a:latin typeface="Times New Roman" panose="02020603050405020304" pitchFamily="18" charset="0"/>
              </a:rPr>
              <a:t>波尔兹曼</a:t>
            </a:r>
            <a:r>
              <a:rPr lang="en-US" altLang="zh-CN" sz="3000" dirty="0">
                <a:solidFill>
                  <a:srgbClr val="FFFF00"/>
                </a:solidFill>
                <a:latin typeface="Times New Roman" panose="02020603050405020304" pitchFamily="18" charset="0"/>
              </a:rPr>
              <a:t>(Stefan-Boltzmann)</a:t>
            </a:r>
            <a:r>
              <a:rPr lang="zh-CN" altLang="en-US" sz="3000" dirty="0">
                <a:solidFill>
                  <a:srgbClr val="FFFF00"/>
                </a:solidFill>
                <a:latin typeface="Times New Roman" panose="02020603050405020304" pitchFamily="18" charset="0"/>
              </a:rPr>
              <a:t>定律</a:t>
            </a:r>
            <a:endParaRPr lang="zh-CN" altLang="en-US" sz="3000" dirty="0">
              <a:solidFill>
                <a:srgbClr val="FFFF00"/>
              </a:solidFill>
              <a:latin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2"/>
          <p:cNvSpPr>
            <a:spLocks noGrp="1"/>
          </p:cNvSpPr>
          <p:nvPr>
            <p:ph type="title"/>
          </p:nvPr>
        </p:nvSpPr>
        <p:spPr>
          <a:xfrm>
            <a:off x="1357313" y="0"/>
            <a:ext cx="7786687" cy="1019175"/>
          </a:xfrm>
          <a:ln/>
        </p:spPr>
        <p:txBody>
          <a:bodyPr vert="horz" wrap="square" lIns="91440" tIns="45720" rIns="91440" bIns="45720" anchor="ctr" anchorCtr="0"/>
          <a:p>
            <a:r>
              <a:rPr lang="en-US" altLang="zh-CN" sz="3000" dirty="0">
                <a:solidFill>
                  <a:srgbClr val="FFFF00"/>
                </a:solidFill>
                <a:latin typeface="Times New Roman" panose="02020603050405020304" pitchFamily="18" charset="0"/>
              </a:rPr>
              <a:t>2.  </a:t>
            </a:r>
            <a:r>
              <a:rPr lang="zh-CN" altLang="en-US" sz="3000" dirty="0">
                <a:solidFill>
                  <a:srgbClr val="FFFF00"/>
                </a:solidFill>
                <a:latin typeface="Times New Roman" panose="02020603050405020304" pitchFamily="18" charset="0"/>
              </a:rPr>
              <a:t>斯蒂芬</a:t>
            </a:r>
            <a:r>
              <a:rPr lang="en-US" altLang="zh-CN" sz="3000" dirty="0">
                <a:solidFill>
                  <a:srgbClr val="FFFF00"/>
                </a:solidFill>
                <a:latin typeface="Times New Roman" panose="02020603050405020304" pitchFamily="18" charset="0"/>
              </a:rPr>
              <a:t>-</a:t>
            </a:r>
            <a:r>
              <a:rPr lang="zh-CN" altLang="en-US" sz="3000" dirty="0">
                <a:solidFill>
                  <a:srgbClr val="FFFF00"/>
                </a:solidFill>
                <a:latin typeface="Times New Roman" panose="02020603050405020304" pitchFamily="18" charset="0"/>
              </a:rPr>
              <a:t>波尔兹曼</a:t>
            </a:r>
            <a:r>
              <a:rPr lang="en-US" altLang="zh-CN" sz="3000" dirty="0">
                <a:solidFill>
                  <a:srgbClr val="FFFF00"/>
                </a:solidFill>
                <a:latin typeface="Times New Roman" panose="02020603050405020304" pitchFamily="18" charset="0"/>
              </a:rPr>
              <a:t>(Stefan-Boltzmann)</a:t>
            </a:r>
            <a:r>
              <a:rPr lang="zh-CN" altLang="en-US" sz="3000" dirty="0">
                <a:solidFill>
                  <a:srgbClr val="FFFF00"/>
                </a:solidFill>
                <a:latin typeface="Times New Roman" panose="02020603050405020304" pitchFamily="18" charset="0"/>
              </a:rPr>
              <a:t>定律</a:t>
            </a:r>
            <a:endParaRPr lang="zh-CN" altLang="en-US" sz="3000" dirty="0">
              <a:solidFill>
                <a:srgbClr val="FFFF00"/>
              </a:solidFill>
              <a:latin typeface="Times New Roman" panose="02020603050405020304" pitchFamily="18" charset="0"/>
            </a:endParaRPr>
          </a:p>
        </p:txBody>
      </p:sp>
      <p:sp>
        <p:nvSpPr>
          <p:cNvPr id="17412" name="Rectangle 3"/>
          <p:cNvSpPr>
            <a:spLocks noGrp="1"/>
          </p:cNvSpPr>
          <p:nvPr>
            <p:ph idx="1"/>
          </p:nvPr>
        </p:nvSpPr>
        <p:spPr>
          <a:xfrm>
            <a:off x="323850" y="1484313"/>
            <a:ext cx="8391525" cy="5133975"/>
          </a:xfrm>
          <a:ln/>
        </p:spPr>
        <p:txBody>
          <a:bodyPr vert="horz" wrap="square" lIns="91440" tIns="45720" rIns="91440" bIns="45720" anchor="t" anchorCtr="0"/>
          <a:p>
            <a:pPr lvl="1">
              <a:spcAft>
                <a:spcPct val="20000"/>
              </a:spcAft>
              <a:buFontTx/>
              <a:buChar char="•"/>
            </a:pPr>
            <a:r>
              <a:rPr lang="zh-CN" altLang="en-US" sz="2600" dirty="0">
                <a:solidFill>
                  <a:srgbClr val="0000FF"/>
                </a:solidFill>
                <a:latin typeface="Times New Roman" panose="02020603050405020304" pitchFamily="18" charset="0"/>
                <a:ea typeface="楷体_GB2312" pitchFamily="49" charset="-122"/>
              </a:rPr>
              <a:t>绝对黑体的积分辐射通量密度与温度的</a:t>
            </a:r>
            <a:r>
              <a:rPr lang="en-US" altLang="zh-CN" sz="2600" dirty="0">
                <a:solidFill>
                  <a:srgbClr val="0000FF"/>
                </a:solidFill>
                <a:latin typeface="Times New Roman" panose="02020603050405020304" pitchFamily="18" charset="0"/>
                <a:ea typeface="楷体_GB2312" pitchFamily="49" charset="-122"/>
              </a:rPr>
              <a:t>4</a:t>
            </a:r>
            <a:r>
              <a:rPr lang="zh-CN" altLang="en-US" sz="2600" dirty="0">
                <a:solidFill>
                  <a:srgbClr val="0000FF"/>
                </a:solidFill>
                <a:latin typeface="Times New Roman" panose="02020603050405020304" pitchFamily="18" charset="0"/>
                <a:ea typeface="楷体_GB2312" pitchFamily="49" charset="-122"/>
              </a:rPr>
              <a:t>次方成正比</a:t>
            </a:r>
            <a:endParaRPr lang="zh-CN" altLang="en-US" sz="2600" dirty="0">
              <a:solidFill>
                <a:srgbClr val="0000FF"/>
              </a:solidFill>
              <a:latin typeface="Times New Roman" panose="02020603050405020304" pitchFamily="18" charset="0"/>
              <a:ea typeface="楷体_GB2312" pitchFamily="49" charset="-122"/>
            </a:endParaRPr>
          </a:p>
          <a:p>
            <a:pPr lvl="1">
              <a:spcAft>
                <a:spcPct val="20000"/>
              </a:spcAft>
              <a:buFontTx/>
              <a:buChar char="•"/>
            </a:pPr>
            <a:endParaRPr lang="zh-CN" altLang="en-US" sz="2600" dirty="0">
              <a:latin typeface="Times New Roman" panose="02020603050405020304" pitchFamily="18" charset="0"/>
              <a:ea typeface="楷体_GB2312" pitchFamily="49" charset="-122"/>
            </a:endParaRPr>
          </a:p>
          <a:p>
            <a:pPr lvl="1">
              <a:spcAft>
                <a:spcPct val="20000"/>
              </a:spcAft>
              <a:buFontTx/>
              <a:buChar char="•"/>
            </a:pPr>
            <a:endParaRPr lang="zh-CN" altLang="en-US" sz="2600" dirty="0">
              <a:latin typeface="Times New Roman" panose="02020603050405020304" pitchFamily="18" charset="0"/>
              <a:ea typeface="楷体_GB2312" pitchFamily="49" charset="-122"/>
            </a:endParaRPr>
          </a:p>
          <a:p>
            <a:pPr lvl="1">
              <a:lnSpc>
                <a:spcPct val="110000"/>
              </a:lnSpc>
              <a:spcAft>
                <a:spcPct val="20000"/>
              </a:spcAft>
              <a:buFontTx/>
              <a:buChar char="•"/>
            </a:pPr>
            <a:r>
              <a:rPr lang="zh-CN" altLang="en-US" sz="2400" dirty="0">
                <a:latin typeface="新宋体" panose="02010609030101010101" charset="-122"/>
                <a:ea typeface="新宋体" panose="02010609030101010101" charset="-122"/>
              </a:rPr>
              <a:t>由温度可以求出绝对黑体的积分辐射通量密度；反之，也可由积分辐射通量密度反求其温度，这就是用辐射方法</a:t>
            </a:r>
            <a:r>
              <a:rPr lang="zh-CN" altLang="en-US" sz="2400" dirty="0">
                <a:solidFill>
                  <a:srgbClr val="FF3300"/>
                </a:solidFill>
                <a:latin typeface="新宋体" panose="02010609030101010101" charset="-122"/>
                <a:ea typeface="新宋体" panose="02010609030101010101" charset="-122"/>
              </a:rPr>
              <a:t>测量物体温度</a:t>
            </a:r>
            <a:r>
              <a:rPr lang="zh-CN" altLang="en-US" sz="2400" dirty="0">
                <a:latin typeface="新宋体" panose="02010609030101010101" charset="-122"/>
                <a:ea typeface="新宋体" panose="02010609030101010101" charset="-122"/>
              </a:rPr>
              <a:t>的基础。</a:t>
            </a:r>
            <a:endParaRPr lang="zh-CN" altLang="en-US" sz="2400" dirty="0">
              <a:latin typeface="新宋体" panose="02010609030101010101" charset="-122"/>
              <a:ea typeface="新宋体" panose="02010609030101010101" charset="-122"/>
            </a:endParaRPr>
          </a:p>
          <a:p>
            <a:pPr lvl="1">
              <a:lnSpc>
                <a:spcPct val="110000"/>
              </a:lnSpc>
              <a:spcAft>
                <a:spcPct val="20000"/>
              </a:spcAft>
              <a:buFontTx/>
              <a:buChar char="•"/>
            </a:pPr>
            <a:r>
              <a:rPr lang="zh-CN" altLang="en-US" sz="2400" dirty="0">
                <a:latin typeface="新宋体" panose="02010609030101010101" charset="-122"/>
                <a:ea typeface="新宋体" panose="02010609030101010101" charset="-122"/>
              </a:rPr>
              <a:t>将物体视作绝对黑体而计算出的温度称为</a:t>
            </a:r>
            <a:r>
              <a:rPr lang="zh-CN" altLang="en-US" sz="2400" dirty="0">
                <a:solidFill>
                  <a:srgbClr val="FF3300"/>
                </a:solidFill>
                <a:latin typeface="新宋体" panose="02010609030101010101" charset="-122"/>
                <a:ea typeface="新宋体" panose="02010609030101010101" charset="-122"/>
              </a:rPr>
              <a:t>有效温度</a:t>
            </a:r>
            <a:r>
              <a:rPr lang="zh-CN" altLang="en-US" sz="2400" dirty="0">
                <a:latin typeface="新宋体" panose="02010609030101010101" charset="-122"/>
                <a:ea typeface="新宋体" panose="02010609030101010101" charset="-122"/>
              </a:rPr>
              <a:t>。</a:t>
            </a:r>
            <a:endParaRPr lang="en-US" altLang="zh-CN" sz="2400" dirty="0">
              <a:latin typeface="新宋体" panose="02010609030101010101" charset="-122"/>
              <a:ea typeface="新宋体" panose="02010609030101010101" charset="-122"/>
            </a:endParaRPr>
          </a:p>
          <a:p>
            <a:pPr lvl="1">
              <a:lnSpc>
                <a:spcPct val="110000"/>
              </a:lnSpc>
              <a:spcBef>
                <a:spcPct val="0"/>
              </a:spcBef>
              <a:spcAft>
                <a:spcPct val="20000"/>
              </a:spcAft>
              <a:buNone/>
            </a:pPr>
            <a:r>
              <a:rPr lang="en-US" altLang="zh-CN" sz="2400" dirty="0">
                <a:latin typeface="新宋体" panose="02010609030101010101" charset="-122"/>
                <a:ea typeface="新宋体" panose="02010609030101010101" charset="-122"/>
              </a:rPr>
              <a:t>  </a:t>
            </a:r>
            <a:r>
              <a:rPr lang="zh-CN" altLang="en-US" sz="2400" dirty="0">
                <a:latin typeface="新宋体" panose="02010609030101010101" charset="-122"/>
                <a:ea typeface="新宋体" panose="02010609030101010101" charset="-122"/>
              </a:rPr>
              <a:t>据此可估算出太阳表面的温度约为</a:t>
            </a:r>
            <a:r>
              <a:rPr lang="en-US" altLang="zh-CN" sz="2400" dirty="0">
                <a:latin typeface="新宋体" panose="02010609030101010101" charset="-122"/>
                <a:ea typeface="新宋体" panose="02010609030101010101" charset="-122"/>
              </a:rPr>
              <a:t>5777 K</a:t>
            </a:r>
            <a:r>
              <a:rPr lang="zh-CN" altLang="en-US" sz="2400" dirty="0">
                <a:latin typeface="新宋体" panose="02010609030101010101" charset="-122"/>
                <a:ea typeface="新宋体" panose="02010609030101010101" charset="-122"/>
              </a:rPr>
              <a:t>，与太阳表面的实际温度略有差异。</a:t>
            </a:r>
            <a:endParaRPr lang="zh-CN" altLang="en-US" sz="2400" dirty="0">
              <a:latin typeface="新宋体" panose="02010609030101010101" charset="-122"/>
              <a:ea typeface="新宋体" panose="02010609030101010101" charset="-122"/>
            </a:endParaRPr>
          </a:p>
          <a:p>
            <a:pPr lvl="1">
              <a:lnSpc>
                <a:spcPct val="110000"/>
              </a:lnSpc>
              <a:spcAft>
                <a:spcPct val="20000"/>
              </a:spcAft>
              <a:buFontTx/>
              <a:buChar char="•"/>
            </a:pPr>
            <a:r>
              <a:rPr lang="zh-CN" altLang="en-US" sz="2400" dirty="0">
                <a:solidFill>
                  <a:srgbClr val="FF0000"/>
                </a:solidFill>
                <a:latin typeface="新宋体" panose="02010609030101010101" charset="-122"/>
                <a:ea typeface="新宋体" panose="02010609030101010101" charset="-122"/>
              </a:rPr>
              <a:t>如果不是绝对黑体，反算出的温度就会偏高</a:t>
            </a:r>
            <a:r>
              <a:rPr lang="en-US" altLang="zh-CN" sz="2400" dirty="0">
                <a:solidFill>
                  <a:srgbClr val="FF0000"/>
                </a:solidFill>
                <a:latin typeface="新宋体" panose="02010609030101010101" charset="-122"/>
                <a:ea typeface="新宋体" panose="02010609030101010101" charset="-122"/>
              </a:rPr>
              <a:t>/</a:t>
            </a:r>
            <a:r>
              <a:rPr lang="zh-CN" altLang="en-US" sz="2400" dirty="0">
                <a:solidFill>
                  <a:srgbClr val="FF0000"/>
                </a:solidFill>
                <a:latin typeface="新宋体" panose="02010609030101010101" charset="-122"/>
                <a:ea typeface="新宋体" panose="02010609030101010101" charset="-122"/>
              </a:rPr>
              <a:t>低</a:t>
            </a:r>
            <a:r>
              <a:rPr lang="en-US" altLang="zh-CN" sz="2400" dirty="0">
                <a:solidFill>
                  <a:srgbClr val="FF0000"/>
                </a:solidFill>
                <a:latin typeface="新宋体" panose="02010609030101010101" charset="-122"/>
                <a:ea typeface="新宋体" panose="02010609030101010101" charset="-122"/>
              </a:rPr>
              <a:t>?</a:t>
            </a:r>
            <a:endParaRPr lang="zh-CN" altLang="en-US" sz="2400" dirty="0">
              <a:solidFill>
                <a:srgbClr val="FF0000"/>
              </a:solidFill>
              <a:latin typeface="新宋体" panose="02010609030101010101" charset="-122"/>
              <a:ea typeface="新宋体" panose="02010609030101010101" charset="-122"/>
            </a:endParaRPr>
          </a:p>
        </p:txBody>
      </p:sp>
      <p:graphicFrame>
        <p:nvGraphicFramePr>
          <p:cNvPr id="31748" name="Object 2"/>
          <p:cNvGraphicFramePr>
            <a:graphicFrameLocks noChangeAspect="1"/>
          </p:cNvGraphicFramePr>
          <p:nvPr/>
        </p:nvGraphicFramePr>
        <p:xfrm>
          <a:off x="2339975" y="1957388"/>
          <a:ext cx="4340225" cy="1042987"/>
        </p:xfrm>
        <a:graphic>
          <a:graphicData uri="http://schemas.openxmlformats.org/presentationml/2006/ole">
            <mc:AlternateContent xmlns:mc="http://schemas.openxmlformats.org/markup-compatibility/2006">
              <mc:Choice xmlns:v="urn:schemas-microsoft-com:vml" Requires="v">
                <p:oleObj spid="_x0000_s3079" name="" r:id="rId1" imgW="989965" imgH="241300" progId="Equation.DSMT4">
                  <p:embed/>
                </p:oleObj>
              </mc:Choice>
              <mc:Fallback>
                <p:oleObj name="" r:id="rId1" imgW="989965" imgH="241300" progId="Equation.DSMT4">
                  <p:embed/>
                  <p:pic>
                    <p:nvPicPr>
                      <p:cNvPr id="0" name="图片 3078"/>
                      <p:cNvPicPr/>
                      <p:nvPr/>
                    </p:nvPicPr>
                    <p:blipFill>
                      <a:blip r:embed="rId2"/>
                      <a:stretch>
                        <a:fillRect/>
                      </a:stretch>
                    </p:blipFill>
                    <p:spPr>
                      <a:xfrm>
                        <a:off x="2339975" y="1957388"/>
                        <a:ext cx="4340225" cy="1042987"/>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2">
                                            <p:txEl>
                                              <p:charRg st="26" end="8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412">
                                            <p:txEl>
                                              <p:charRg st="86" end="1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412">
                                            <p:txEl>
                                              <p:charRg st="110" end="15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412">
                                            <p:txEl>
                                              <p:charRg st="150" end="17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2"/>
          <p:cNvSpPr>
            <a:spLocks noGrp="1"/>
          </p:cNvSpPr>
          <p:nvPr>
            <p:ph idx="1"/>
          </p:nvPr>
        </p:nvSpPr>
        <p:spPr>
          <a:xfrm>
            <a:off x="0" y="1647825"/>
            <a:ext cx="5688013" cy="3941763"/>
          </a:xfrm>
          <a:ln/>
        </p:spPr>
        <p:txBody>
          <a:bodyPr vert="horz" wrap="square" lIns="91440" tIns="45720" rIns="91440" bIns="45720" anchor="t" anchorCtr="0"/>
          <a:p>
            <a:pPr>
              <a:spcBef>
                <a:spcPct val="25000"/>
              </a:spcBef>
              <a:spcAft>
                <a:spcPct val="25000"/>
              </a:spcAft>
              <a:buFontTx/>
              <a:buNone/>
            </a:pPr>
            <a:r>
              <a:rPr lang="en-US" altLang="zh-CN" dirty="0">
                <a:latin typeface="Times New Roman" panose="02020603050405020304" pitchFamily="18" charset="0"/>
                <a:ea typeface="楷体_GB2312" pitchFamily="49" charset="-122"/>
              </a:rPr>
              <a:t>     </a:t>
            </a:r>
            <a:r>
              <a:rPr lang="en-US" altLang="zh-CN" i="1" dirty="0">
                <a:latin typeface="Times New Roman" panose="02020603050405020304" pitchFamily="18" charset="0"/>
                <a:ea typeface="楷体_GB2312" pitchFamily="49" charset="-122"/>
              </a:rPr>
              <a:t>Wilhelm Wien</a:t>
            </a:r>
            <a:endParaRPr lang="en-US" altLang="zh-CN" i="1" dirty="0">
              <a:latin typeface="Times New Roman" panose="02020603050405020304" pitchFamily="18" charset="0"/>
              <a:ea typeface="楷体_GB2312" pitchFamily="49" charset="-122"/>
            </a:endParaRPr>
          </a:p>
          <a:p>
            <a:pPr>
              <a:spcBef>
                <a:spcPct val="25000"/>
              </a:spcBef>
              <a:spcAft>
                <a:spcPct val="25000"/>
              </a:spcAft>
              <a:buFontTx/>
              <a:buNone/>
            </a:pPr>
            <a:r>
              <a:rPr lang="en-US" altLang="zh-CN" dirty="0">
                <a:latin typeface="Times New Roman" panose="02020603050405020304" pitchFamily="18" charset="0"/>
                <a:ea typeface="楷体_GB2312" pitchFamily="49" charset="-122"/>
              </a:rPr>
              <a:t>      </a:t>
            </a:r>
            <a:r>
              <a:rPr lang="en-US" altLang="zh-CN" sz="2400" dirty="0">
                <a:latin typeface="Times New Roman" panose="02020603050405020304" pitchFamily="18" charset="0"/>
                <a:ea typeface="楷体_GB2312" pitchFamily="49" charset="-122"/>
              </a:rPr>
              <a:t>(1864-1928)</a:t>
            </a:r>
            <a:endParaRPr lang="en-US" altLang="zh-CN" sz="2400" dirty="0">
              <a:latin typeface="Times New Roman" panose="02020603050405020304" pitchFamily="18" charset="0"/>
              <a:ea typeface="楷体_GB2312" pitchFamily="49" charset="-122"/>
            </a:endParaRPr>
          </a:p>
          <a:p>
            <a:pPr lvl="1">
              <a:spcBef>
                <a:spcPct val="25000"/>
              </a:spcBef>
              <a:spcAft>
                <a:spcPct val="25000"/>
              </a:spcAft>
              <a:buFontTx/>
              <a:buNone/>
            </a:pPr>
            <a:r>
              <a:rPr lang="zh-CN" altLang="en-US" sz="2400" dirty="0">
                <a:latin typeface="Times New Roman" panose="02020603050405020304" pitchFamily="18" charset="0"/>
                <a:ea typeface="楷体_GB2312" pitchFamily="49" charset="-122"/>
              </a:rPr>
              <a:t>德国物理学家</a:t>
            </a:r>
            <a:endParaRPr lang="zh-CN" altLang="en-US" sz="2400" dirty="0">
              <a:latin typeface="Times New Roman" panose="02020603050405020304" pitchFamily="18" charset="0"/>
              <a:ea typeface="楷体_GB2312" pitchFamily="49" charset="-122"/>
            </a:endParaRPr>
          </a:p>
          <a:p>
            <a:pPr lvl="1">
              <a:spcBef>
                <a:spcPct val="25000"/>
              </a:spcBef>
              <a:spcAft>
                <a:spcPct val="25000"/>
              </a:spcAft>
              <a:buFontTx/>
              <a:buNone/>
            </a:pPr>
            <a:r>
              <a:rPr lang="en-US" altLang="zh-CN" sz="2400" dirty="0">
                <a:latin typeface="Times New Roman" panose="02020603050405020304" pitchFamily="18" charset="0"/>
                <a:ea typeface="楷体_GB2312" pitchFamily="49" charset="-122"/>
              </a:rPr>
              <a:t>1893: Wien’s Displacement Law</a:t>
            </a:r>
            <a:endParaRPr lang="en-US" altLang="zh-CN" sz="2400" dirty="0">
              <a:latin typeface="Times New Roman" panose="02020603050405020304" pitchFamily="18" charset="0"/>
              <a:ea typeface="楷体_GB2312" pitchFamily="49" charset="-122"/>
            </a:endParaRPr>
          </a:p>
          <a:p>
            <a:pPr lvl="1">
              <a:spcBef>
                <a:spcPct val="25000"/>
              </a:spcBef>
              <a:spcAft>
                <a:spcPct val="25000"/>
              </a:spcAft>
              <a:buFontTx/>
              <a:buNone/>
            </a:pPr>
            <a:r>
              <a:rPr lang="en-US" altLang="zh-CN" sz="2400" dirty="0">
                <a:latin typeface="Times New Roman" panose="02020603050405020304" pitchFamily="18" charset="0"/>
                <a:ea typeface="楷体_GB2312" pitchFamily="49" charset="-122"/>
              </a:rPr>
              <a:t>1911: Nobel Prize</a:t>
            </a:r>
            <a:endParaRPr lang="en-US" altLang="zh-CN" sz="2400" dirty="0">
              <a:latin typeface="Times New Roman" panose="02020603050405020304" pitchFamily="18" charset="0"/>
              <a:ea typeface="楷体_GB2312" pitchFamily="49" charset="-122"/>
            </a:endParaRPr>
          </a:p>
          <a:p>
            <a:pPr lvl="1">
              <a:spcBef>
                <a:spcPct val="25000"/>
              </a:spcBef>
              <a:spcAft>
                <a:spcPct val="25000"/>
              </a:spcAft>
              <a:buFontTx/>
              <a:buNone/>
            </a:pPr>
            <a:r>
              <a:rPr lang="zh-CN" altLang="en-US" sz="2400" dirty="0">
                <a:latin typeface="Times New Roman" panose="02020603050405020304" pitchFamily="18" charset="0"/>
                <a:ea typeface="楷体_GB2312" pitchFamily="49" charset="-122"/>
              </a:rPr>
              <a:t>定义 </a:t>
            </a:r>
            <a:r>
              <a:rPr lang="en-US" altLang="zh-CN" sz="2400" dirty="0">
                <a:latin typeface="dcr10" charset="0"/>
                <a:ea typeface="宋体" panose="02010600030101010101" pitchFamily="2" charset="-122"/>
              </a:rPr>
              <a:t>the wavelength of x-rays</a:t>
            </a:r>
            <a:endParaRPr lang="en-US" altLang="zh-CN" sz="2400" dirty="0">
              <a:latin typeface="Times New Roman" panose="02020603050405020304" pitchFamily="18" charset="0"/>
              <a:ea typeface="楷体_GB2312" pitchFamily="49" charset="-122"/>
            </a:endParaRPr>
          </a:p>
          <a:p>
            <a:pPr lvl="1">
              <a:spcBef>
                <a:spcPct val="25000"/>
              </a:spcBef>
              <a:spcAft>
                <a:spcPct val="25000"/>
              </a:spcAft>
              <a:buFontTx/>
              <a:buNone/>
            </a:pPr>
            <a:endParaRPr lang="en-US" altLang="zh-CN" sz="2400" dirty="0">
              <a:latin typeface="Times New Roman" panose="02020603050405020304" pitchFamily="18" charset="0"/>
              <a:ea typeface="楷体_GB2312" pitchFamily="49" charset="-122"/>
            </a:endParaRPr>
          </a:p>
        </p:txBody>
      </p:sp>
      <p:pic>
        <p:nvPicPr>
          <p:cNvPr id="33795" name="Picture 3" descr="wien"/>
          <p:cNvPicPr>
            <a:picLocks noChangeAspect="1"/>
          </p:cNvPicPr>
          <p:nvPr/>
        </p:nvPicPr>
        <p:blipFill>
          <a:blip r:embed="rId1"/>
          <a:stretch>
            <a:fillRect/>
          </a:stretch>
        </p:blipFill>
        <p:spPr>
          <a:xfrm>
            <a:off x="5038725" y="1052513"/>
            <a:ext cx="4105275" cy="5805487"/>
          </a:xfrm>
          <a:prstGeom prst="rect">
            <a:avLst/>
          </a:prstGeom>
          <a:noFill/>
          <a:ln w="9525">
            <a:noFill/>
          </a:ln>
        </p:spPr>
      </p:pic>
      <p:sp>
        <p:nvSpPr>
          <p:cNvPr id="6" name="Rectangle 2"/>
          <p:cNvSpPr txBox="1">
            <a:spLocks noChangeArrowheads="1"/>
          </p:cNvSpPr>
          <p:nvPr/>
        </p:nvSpPr>
        <p:spPr bwMode="auto">
          <a:xfrm>
            <a:off x="1371600" y="214313"/>
            <a:ext cx="7772400" cy="633413"/>
          </a:xfrm>
          <a:prstGeom prst="rect">
            <a:avLst/>
          </a:prstGeom>
          <a:noFill/>
          <a:ln w="9525">
            <a:noFill/>
            <a:miter lim="800000"/>
          </a:ln>
        </p:spPr>
        <p:txBody>
          <a:bodyPr anchor="ctr"/>
          <a:lstStyle/>
          <a:p>
            <a:pPr marR="0" algn="ctr" defTabSz="914400">
              <a:buClrTx/>
              <a:buSzTx/>
              <a:buFontTx/>
              <a:buNone/>
              <a:defRPr/>
            </a:pPr>
            <a:r>
              <a:rPr kumimoji="0" lang="en-US" altLang="zh-CN" sz="4000" b="1" kern="0" cap="none" spc="0" normalizeH="0" baseline="0" noProof="0" dirty="0">
                <a:solidFill>
                  <a:srgbClr val="FFFF00"/>
                </a:solidFill>
                <a:latin typeface="Times New Roman" panose="02020603050405020304" pitchFamily="18" charset="0"/>
                <a:ea typeface="+mj-ea"/>
                <a:cs typeface="+mj-cs"/>
              </a:rPr>
              <a:t>3.  </a:t>
            </a:r>
            <a:r>
              <a:rPr kumimoji="0" lang="zh-CN" altLang="en-US" sz="4000" b="1" kern="0" cap="none" spc="0" normalizeH="0" baseline="0" noProof="0" dirty="0">
                <a:solidFill>
                  <a:srgbClr val="FFFF00"/>
                </a:solidFill>
                <a:latin typeface="Times New Roman" panose="02020603050405020304" pitchFamily="18" charset="0"/>
                <a:ea typeface="+mj-ea"/>
                <a:cs typeface="+mj-cs"/>
              </a:rPr>
              <a:t>维恩（</a:t>
            </a:r>
            <a:r>
              <a:rPr kumimoji="0" lang="en-US" altLang="zh-CN" sz="4000" b="1" kern="0" cap="none" spc="0" normalizeH="0" baseline="0" noProof="0" dirty="0">
                <a:solidFill>
                  <a:srgbClr val="FFFF00"/>
                </a:solidFill>
                <a:latin typeface="Times New Roman" panose="02020603050405020304" pitchFamily="18" charset="0"/>
                <a:ea typeface="+mj-ea"/>
                <a:cs typeface="+mj-cs"/>
              </a:rPr>
              <a:t>Wien</a:t>
            </a:r>
            <a:r>
              <a:rPr kumimoji="0" lang="zh-CN" altLang="en-US" sz="4000" b="1" kern="0" cap="none" spc="0" normalizeH="0" baseline="0" noProof="0" dirty="0">
                <a:solidFill>
                  <a:srgbClr val="FFFF00"/>
                </a:solidFill>
                <a:latin typeface="Times New Roman" panose="02020603050405020304" pitchFamily="18" charset="0"/>
                <a:ea typeface="+mj-ea"/>
                <a:cs typeface="+mj-cs"/>
              </a:rPr>
              <a:t>）位移定律</a:t>
            </a:r>
            <a:endParaRPr kumimoji="0" lang="zh-CN" altLang="en-US" sz="4000" b="1" kern="0" cap="none" spc="0" normalizeH="0" baseline="0" noProof="0" dirty="0">
              <a:solidFill>
                <a:srgbClr val="FFFF00"/>
              </a:solidFill>
              <a:latin typeface="Times New Roman" panose="02020603050405020304" pitchFamily="18" charset="0"/>
              <a:ea typeface="+mj-ea"/>
              <a:cs typeface="+mj-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2"/>
          <p:cNvSpPr>
            <a:spLocks noGrp="1"/>
          </p:cNvSpPr>
          <p:nvPr>
            <p:ph type="title"/>
          </p:nvPr>
        </p:nvSpPr>
        <p:spPr>
          <a:xfrm>
            <a:off x="611188" y="2276475"/>
            <a:ext cx="8281987" cy="792163"/>
          </a:xfrm>
          <a:blipFill rotWithShape="1">
            <a:blip r:embed="rId1"/>
          </a:blipFill>
          <a:ln w="28575">
            <a:solidFill>
              <a:srgbClr val="CC00CC">
                <a:alpha val="100000"/>
              </a:srgbClr>
            </a:solidFill>
            <a:miter lim="800000"/>
          </a:ln>
        </p:spPr>
        <p:txBody>
          <a:bodyPr vert="horz" wrap="square" lIns="91440" tIns="45720" rIns="91440" bIns="45720" anchor="ctr" anchorCtr="0"/>
          <a:p>
            <a:pPr algn="ctr"/>
            <a:r>
              <a:rPr lang="en-US" altLang="zh-CN" sz="2800" dirty="0">
                <a:solidFill>
                  <a:srgbClr val="0000FF"/>
                </a:solidFill>
                <a:latin typeface="Times New Roman" panose="02020603050405020304" pitchFamily="18" charset="0"/>
              </a:rPr>
              <a:t>                                                ——Wien</a:t>
            </a:r>
            <a:r>
              <a:rPr lang="zh-CN" altLang="en-US" sz="2800" dirty="0">
                <a:solidFill>
                  <a:srgbClr val="0000FF"/>
                </a:solidFill>
                <a:latin typeface="Times New Roman" panose="02020603050405020304" pitchFamily="18" charset="0"/>
              </a:rPr>
              <a:t>位移定律</a:t>
            </a:r>
            <a:endParaRPr lang="zh-CN" altLang="en-US" sz="2800" dirty="0">
              <a:solidFill>
                <a:srgbClr val="0000FF"/>
              </a:solidFill>
              <a:latin typeface="Times New Roman" panose="02020603050405020304" pitchFamily="18" charset="0"/>
            </a:endParaRPr>
          </a:p>
        </p:txBody>
      </p:sp>
      <p:sp>
        <p:nvSpPr>
          <p:cNvPr id="35843" name="Rectangle 3"/>
          <p:cNvSpPr>
            <a:spLocks noGrp="1"/>
          </p:cNvSpPr>
          <p:nvPr>
            <p:ph idx="1"/>
          </p:nvPr>
        </p:nvSpPr>
        <p:spPr>
          <a:xfrm>
            <a:off x="-323850" y="3429000"/>
            <a:ext cx="6192838" cy="3024188"/>
          </a:xfrm>
          <a:ln/>
        </p:spPr>
        <p:txBody>
          <a:bodyPr vert="horz" wrap="square" lIns="91440" tIns="45720" rIns="91440" bIns="45720" anchor="t" anchorCtr="0"/>
          <a:p>
            <a:pPr lvl="1">
              <a:lnSpc>
                <a:spcPct val="120000"/>
              </a:lnSpc>
              <a:spcBef>
                <a:spcPts val="2400"/>
              </a:spcBef>
              <a:spcAft>
                <a:spcPct val="20000"/>
              </a:spcAft>
              <a:buFontTx/>
              <a:buNone/>
            </a:pPr>
            <a:endParaRPr lang="zh-CN" altLang="en-US" sz="2200" dirty="0">
              <a:solidFill>
                <a:srgbClr val="FF0000"/>
              </a:solidFill>
              <a:latin typeface="Times New Roman" panose="02020603050405020304" pitchFamily="18" charset="0"/>
              <a:ea typeface="楷体_GB2312" pitchFamily="49" charset="-122"/>
            </a:endParaRPr>
          </a:p>
          <a:p>
            <a:pPr lvl="1">
              <a:spcAft>
                <a:spcPct val="20000"/>
              </a:spcAft>
              <a:buFontTx/>
              <a:buChar char="•"/>
            </a:pPr>
            <a:r>
              <a:rPr lang="zh-CN" altLang="en-US" sz="2200" dirty="0">
                <a:solidFill>
                  <a:srgbClr val="0000FF"/>
                </a:solidFill>
                <a:latin typeface="Times New Roman" panose="02020603050405020304" pitchFamily="18" charset="0"/>
                <a:ea typeface="楷体_GB2312" pitchFamily="49" charset="-122"/>
              </a:rPr>
              <a:t>如对</a:t>
            </a:r>
            <a:r>
              <a:rPr lang="en-US" altLang="zh-CN" sz="2200" dirty="0">
                <a:solidFill>
                  <a:srgbClr val="0000FF"/>
                </a:solidFill>
                <a:latin typeface="Times New Roman" panose="02020603050405020304" pitchFamily="18" charset="0"/>
                <a:ea typeface="楷体_GB2312" pitchFamily="49" charset="-122"/>
              </a:rPr>
              <a:t>6000 K</a:t>
            </a:r>
            <a:r>
              <a:rPr lang="zh-CN" altLang="en-US" sz="2200" dirty="0">
                <a:solidFill>
                  <a:srgbClr val="0000FF"/>
                </a:solidFill>
                <a:latin typeface="Times New Roman" panose="02020603050405020304" pitchFamily="18" charset="0"/>
                <a:ea typeface="楷体_GB2312" pitchFamily="49" charset="-122"/>
              </a:rPr>
              <a:t>黑体，</a:t>
            </a:r>
            <a:r>
              <a:rPr lang="en-US" altLang="zh-CN" sz="2200" i="1" dirty="0">
                <a:solidFill>
                  <a:srgbClr val="0000FF"/>
                </a:solidFill>
                <a:latin typeface="Times New Roman" panose="02020603050405020304" pitchFamily="18" charset="0"/>
                <a:ea typeface="楷体_GB2312" pitchFamily="49" charset="-122"/>
              </a:rPr>
              <a:t>       </a:t>
            </a:r>
            <a:r>
              <a:rPr lang="en-US" altLang="zh-CN" sz="2200" dirty="0">
                <a:solidFill>
                  <a:srgbClr val="0000FF"/>
                </a:solidFill>
                <a:latin typeface="Times New Roman" panose="02020603050405020304" pitchFamily="18" charset="0"/>
                <a:ea typeface="楷体_GB2312" pitchFamily="49" charset="-122"/>
              </a:rPr>
              <a:t>= 0.483 </a:t>
            </a:r>
            <a:r>
              <a:rPr lang="en-US" altLang="zh-CN" sz="2200" dirty="0">
                <a:solidFill>
                  <a:srgbClr val="0000FF"/>
                </a:solidFill>
                <a:latin typeface="Times New Roman" panose="02020603050405020304" pitchFamily="18" charset="0"/>
                <a:ea typeface="楷体_GB2312" pitchFamily="49" charset="-122"/>
                <a:sym typeface="Symbol" panose="05050102010706020507" pitchFamily="18" charset="2"/>
              </a:rPr>
              <a:t>m(</a:t>
            </a:r>
            <a:r>
              <a:rPr lang="zh-CN" altLang="en-US" sz="2200" dirty="0">
                <a:solidFill>
                  <a:srgbClr val="0000FF"/>
                </a:solidFill>
                <a:latin typeface="Times New Roman" panose="02020603050405020304" pitchFamily="18" charset="0"/>
                <a:ea typeface="楷体_GB2312" pitchFamily="49" charset="-122"/>
              </a:rPr>
              <a:t>蓝色光</a:t>
            </a:r>
            <a:r>
              <a:rPr lang="en-US" altLang="zh-CN" sz="2200" dirty="0">
                <a:solidFill>
                  <a:srgbClr val="0000FF"/>
                </a:solidFill>
                <a:latin typeface="Times New Roman" panose="02020603050405020304" pitchFamily="18" charset="0"/>
                <a:ea typeface="楷体_GB2312" pitchFamily="49" charset="-122"/>
              </a:rPr>
              <a:t>)</a:t>
            </a:r>
            <a:endParaRPr lang="en-US" altLang="zh-CN" sz="2200" dirty="0">
              <a:solidFill>
                <a:srgbClr val="0000FF"/>
              </a:solidFill>
              <a:latin typeface="Times New Roman" panose="02020603050405020304" pitchFamily="18" charset="0"/>
              <a:ea typeface="楷体_GB2312" pitchFamily="49" charset="-122"/>
            </a:endParaRPr>
          </a:p>
          <a:p>
            <a:pPr lvl="1">
              <a:lnSpc>
                <a:spcPct val="150000"/>
              </a:lnSpc>
              <a:spcAft>
                <a:spcPct val="20000"/>
              </a:spcAft>
              <a:buFontTx/>
              <a:buChar char="•"/>
            </a:pPr>
            <a:r>
              <a:rPr lang="zh-CN" altLang="en-US" sz="2200" dirty="0">
                <a:solidFill>
                  <a:srgbClr val="0000FF"/>
                </a:solidFill>
                <a:latin typeface="Times New Roman" panose="02020603050405020304" pitchFamily="18" charset="0"/>
                <a:ea typeface="楷体_GB2312" pitchFamily="49" charset="-122"/>
              </a:rPr>
              <a:t>由辐射最强的波长也可以确定绝对黑体的温度</a:t>
            </a:r>
            <a:r>
              <a:rPr lang="en-US" altLang="zh-CN" sz="2200" dirty="0">
                <a:solidFill>
                  <a:srgbClr val="0000FF"/>
                </a:solidFill>
                <a:latin typeface="Times New Roman" panose="02020603050405020304" pitchFamily="18" charset="0"/>
                <a:ea typeface="楷体_GB2312" pitchFamily="49" charset="-122"/>
              </a:rPr>
              <a:t>—</a:t>
            </a:r>
            <a:r>
              <a:rPr lang="zh-CN" altLang="en-US" sz="2200" dirty="0">
                <a:solidFill>
                  <a:srgbClr val="0000FF"/>
                </a:solidFill>
                <a:latin typeface="Times New Roman" panose="02020603050405020304" pitchFamily="18" charset="0"/>
                <a:ea typeface="楷体_GB2312" pitchFamily="49" charset="-122"/>
              </a:rPr>
              <a:t>光谱方法</a:t>
            </a:r>
            <a:r>
              <a:rPr lang="zh-CN" altLang="en-US" sz="2200" dirty="0">
                <a:solidFill>
                  <a:srgbClr val="CC00CC"/>
                </a:solidFill>
                <a:latin typeface="Times New Roman" panose="02020603050405020304" pitchFamily="18" charset="0"/>
                <a:ea typeface="楷体_GB2312" pitchFamily="49" charset="-122"/>
              </a:rPr>
              <a:t>测定物体温度</a:t>
            </a:r>
            <a:r>
              <a:rPr lang="zh-CN" altLang="en-US" sz="2200" dirty="0">
                <a:solidFill>
                  <a:srgbClr val="0000FF"/>
                </a:solidFill>
                <a:latin typeface="Times New Roman" panose="02020603050405020304" pitchFamily="18" charset="0"/>
                <a:ea typeface="楷体_GB2312" pitchFamily="49" charset="-122"/>
              </a:rPr>
              <a:t>的基础。</a:t>
            </a:r>
            <a:endParaRPr lang="zh-CN" altLang="en-US" sz="2200" dirty="0">
              <a:solidFill>
                <a:srgbClr val="0000FF"/>
              </a:solidFill>
              <a:latin typeface="Times New Roman" panose="02020603050405020304" pitchFamily="18" charset="0"/>
              <a:ea typeface="楷体_GB2312" pitchFamily="49" charset="-122"/>
            </a:endParaRPr>
          </a:p>
          <a:p>
            <a:pPr lvl="1">
              <a:spcAft>
                <a:spcPct val="20000"/>
              </a:spcAft>
              <a:buFontTx/>
              <a:buChar char="•"/>
            </a:pPr>
            <a:r>
              <a:rPr lang="zh-CN" altLang="en-US" sz="2200" dirty="0">
                <a:solidFill>
                  <a:srgbClr val="0000FF"/>
                </a:solidFill>
                <a:latin typeface="Times New Roman" panose="02020603050405020304" pitchFamily="18" charset="0"/>
                <a:ea typeface="楷体_GB2312" pitchFamily="49" charset="-122"/>
              </a:rPr>
              <a:t>由维恩位移定律求出的温度称为</a:t>
            </a:r>
            <a:r>
              <a:rPr lang="zh-CN" altLang="en-US" sz="2200" dirty="0">
                <a:solidFill>
                  <a:srgbClr val="CC00CC"/>
                </a:solidFill>
                <a:latin typeface="Times New Roman" panose="02020603050405020304" pitchFamily="18" charset="0"/>
                <a:ea typeface="楷体_GB2312" pitchFamily="49" charset="-122"/>
              </a:rPr>
              <a:t>颜色温度</a:t>
            </a:r>
            <a:r>
              <a:rPr lang="zh-CN" altLang="en-US" sz="2200" dirty="0">
                <a:solidFill>
                  <a:srgbClr val="0000FF"/>
                </a:solidFill>
                <a:latin typeface="Times New Roman" panose="02020603050405020304" pitchFamily="18" charset="0"/>
                <a:ea typeface="楷体_GB2312" pitchFamily="49" charset="-122"/>
              </a:rPr>
              <a:t>，简称</a:t>
            </a:r>
            <a:r>
              <a:rPr lang="zh-CN" altLang="en-US" sz="2200" dirty="0">
                <a:solidFill>
                  <a:srgbClr val="CC00CC"/>
                </a:solidFill>
                <a:latin typeface="Times New Roman" panose="02020603050405020304" pitchFamily="18" charset="0"/>
                <a:ea typeface="楷体_GB2312" pitchFamily="49" charset="-122"/>
              </a:rPr>
              <a:t>色温</a:t>
            </a:r>
            <a:r>
              <a:rPr lang="zh-CN" altLang="en-US" sz="2200" dirty="0">
                <a:solidFill>
                  <a:srgbClr val="0000FF"/>
                </a:solidFill>
                <a:latin typeface="Times New Roman" panose="02020603050405020304" pitchFamily="18" charset="0"/>
                <a:ea typeface="楷体_GB2312" pitchFamily="49" charset="-122"/>
              </a:rPr>
              <a:t>。 </a:t>
            </a:r>
            <a:endParaRPr lang="zh-CN" altLang="en-US" sz="2200" dirty="0">
              <a:solidFill>
                <a:srgbClr val="0000FF"/>
              </a:solidFill>
              <a:latin typeface="Times New Roman" panose="02020603050405020304" pitchFamily="18" charset="0"/>
              <a:ea typeface="楷体_GB2312" pitchFamily="49" charset="-122"/>
            </a:endParaRPr>
          </a:p>
        </p:txBody>
      </p:sp>
      <p:graphicFrame>
        <p:nvGraphicFramePr>
          <p:cNvPr id="35844" name="Object 2"/>
          <p:cNvGraphicFramePr>
            <a:graphicFrameLocks noChangeAspect="1"/>
          </p:cNvGraphicFramePr>
          <p:nvPr/>
        </p:nvGraphicFramePr>
        <p:xfrm>
          <a:off x="1258888" y="2428875"/>
          <a:ext cx="3889375" cy="639763"/>
        </p:xfrm>
        <a:graphic>
          <a:graphicData uri="http://schemas.openxmlformats.org/presentationml/2006/ole">
            <mc:AlternateContent xmlns:mc="http://schemas.openxmlformats.org/markup-compatibility/2006">
              <mc:Choice xmlns:v="urn:schemas-microsoft-com:vml" Requires="v">
                <p:oleObj spid="_x0000_s3077" name="" r:id="rId2" imgW="1384300" imgH="228600" progId="Equation.DSMT4">
                  <p:embed/>
                </p:oleObj>
              </mc:Choice>
              <mc:Fallback>
                <p:oleObj name="" r:id="rId2" imgW="1384300" imgH="228600" progId="Equation.DSMT4">
                  <p:embed/>
                  <p:pic>
                    <p:nvPicPr>
                      <p:cNvPr id="0" name="图片 3076"/>
                      <p:cNvPicPr/>
                      <p:nvPr/>
                    </p:nvPicPr>
                    <p:blipFill>
                      <a:blip r:embed="rId3"/>
                      <a:stretch>
                        <a:fillRect/>
                      </a:stretch>
                    </p:blipFill>
                    <p:spPr>
                      <a:xfrm>
                        <a:off x="1258888" y="2428875"/>
                        <a:ext cx="3889375" cy="639763"/>
                      </a:xfrm>
                      <a:prstGeom prst="rect">
                        <a:avLst/>
                      </a:prstGeom>
                      <a:noFill/>
                      <a:ln w="38100">
                        <a:noFill/>
                        <a:miter/>
                      </a:ln>
                    </p:spPr>
                  </p:pic>
                </p:oleObj>
              </mc:Fallback>
            </mc:AlternateContent>
          </a:graphicData>
        </a:graphic>
      </p:graphicFrame>
      <p:pic>
        <p:nvPicPr>
          <p:cNvPr id="35845" name="Picture 5" descr="648px-Wiens_law"/>
          <p:cNvPicPr>
            <a:picLocks noChangeAspect="1"/>
          </p:cNvPicPr>
          <p:nvPr/>
        </p:nvPicPr>
        <p:blipFill>
          <a:blip r:embed="rId4"/>
          <a:srcRect r="1927"/>
          <a:stretch>
            <a:fillRect/>
          </a:stretch>
        </p:blipFill>
        <p:spPr>
          <a:xfrm>
            <a:off x="5505450" y="3455988"/>
            <a:ext cx="3638550" cy="3429000"/>
          </a:xfrm>
          <a:prstGeom prst="rect">
            <a:avLst/>
          </a:prstGeom>
          <a:noFill/>
          <a:ln w="9525">
            <a:noFill/>
          </a:ln>
        </p:spPr>
      </p:pic>
      <p:sp>
        <p:nvSpPr>
          <p:cNvPr id="6" name="Rectangle 2"/>
          <p:cNvSpPr txBox="1">
            <a:spLocks noChangeArrowheads="1"/>
          </p:cNvSpPr>
          <p:nvPr/>
        </p:nvSpPr>
        <p:spPr bwMode="auto">
          <a:xfrm>
            <a:off x="1371600" y="214313"/>
            <a:ext cx="7772400" cy="633413"/>
          </a:xfrm>
          <a:prstGeom prst="rect">
            <a:avLst/>
          </a:prstGeom>
          <a:noFill/>
          <a:ln w="9525">
            <a:noFill/>
            <a:miter lim="800000"/>
          </a:ln>
        </p:spPr>
        <p:txBody>
          <a:bodyPr anchor="ctr"/>
          <a:lstStyle/>
          <a:p>
            <a:pPr marR="0" algn="ctr" defTabSz="914400">
              <a:buClrTx/>
              <a:buSzTx/>
              <a:buFontTx/>
              <a:buNone/>
              <a:defRPr/>
            </a:pPr>
            <a:r>
              <a:rPr kumimoji="0" lang="en-US" altLang="zh-CN" sz="4000" b="1" kern="0" cap="none" spc="0" normalizeH="0" baseline="0" noProof="0" dirty="0">
                <a:solidFill>
                  <a:srgbClr val="FFFF00"/>
                </a:solidFill>
                <a:latin typeface="Times New Roman" panose="02020603050405020304" pitchFamily="18" charset="0"/>
                <a:ea typeface="+mj-ea"/>
                <a:cs typeface="+mj-cs"/>
              </a:rPr>
              <a:t>3.  </a:t>
            </a:r>
            <a:r>
              <a:rPr kumimoji="0" lang="zh-CN" altLang="en-US" sz="4000" b="1" kern="0" cap="none" spc="0" normalizeH="0" baseline="0" noProof="0" dirty="0">
                <a:solidFill>
                  <a:srgbClr val="FFFF00"/>
                </a:solidFill>
                <a:latin typeface="Times New Roman" panose="02020603050405020304" pitchFamily="18" charset="0"/>
                <a:ea typeface="+mj-ea"/>
                <a:cs typeface="+mj-cs"/>
              </a:rPr>
              <a:t>维恩（</a:t>
            </a:r>
            <a:r>
              <a:rPr kumimoji="0" lang="en-US" altLang="zh-CN" sz="4000" b="1" kern="0" cap="none" spc="0" normalizeH="0" baseline="0" noProof="0" dirty="0">
                <a:solidFill>
                  <a:srgbClr val="FFFF00"/>
                </a:solidFill>
                <a:latin typeface="Times New Roman" panose="02020603050405020304" pitchFamily="18" charset="0"/>
                <a:ea typeface="+mj-ea"/>
                <a:cs typeface="+mj-cs"/>
              </a:rPr>
              <a:t>Wien</a:t>
            </a:r>
            <a:r>
              <a:rPr kumimoji="0" lang="zh-CN" altLang="en-US" sz="4000" b="1" kern="0" cap="none" spc="0" normalizeH="0" baseline="0" noProof="0" dirty="0">
                <a:solidFill>
                  <a:srgbClr val="FFFF00"/>
                </a:solidFill>
                <a:latin typeface="Times New Roman" panose="02020603050405020304" pitchFamily="18" charset="0"/>
                <a:ea typeface="+mj-ea"/>
                <a:cs typeface="+mj-cs"/>
              </a:rPr>
              <a:t>）位移定律</a:t>
            </a:r>
            <a:endParaRPr kumimoji="0" lang="zh-CN" altLang="en-US" sz="4000" b="1" kern="0" cap="none" spc="0" normalizeH="0" baseline="0" noProof="0" dirty="0">
              <a:solidFill>
                <a:srgbClr val="FFFF00"/>
              </a:solidFill>
              <a:latin typeface="Times New Roman" panose="02020603050405020304" pitchFamily="18" charset="0"/>
              <a:ea typeface="+mj-ea"/>
              <a:cs typeface="+mj-cs"/>
            </a:endParaRPr>
          </a:p>
        </p:txBody>
      </p:sp>
      <p:graphicFrame>
        <p:nvGraphicFramePr>
          <p:cNvPr id="35847" name="Object 6"/>
          <p:cNvGraphicFramePr>
            <a:graphicFrameLocks noChangeAspect="1"/>
          </p:cNvGraphicFramePr>
          <p:nvPr/>
        </p:nvGraphicFramePr>
        <p:xfrm>
          <a:off x="2627313" y="3916363"/>
          <a:ext cx="931862" cy="449262"/>
        </p:xfrm>
        <a:graphic>
          <a:graphicData uri="http://schemas.openxmlformats.org/presentationml/2006/ole">
            <mc:AlternateContent xmlns:mc="http://schemas.openxmlformats.org/markup-compatibility/2006">
              <mc:Choice xmlns:v="urn:schemas-microsoft-com:vml" Requires="v">
                <p:oleObj spid="_x0000_s3078" name="" r:id="rId5" imgW="292100" imgH="228600" progId="Equation.3">
                  <p:embed/>
                </p:oleObj>
              </mc:Choice>
              <mc:Fallback>
                <p:oleObj name="" r:id="rId5" imgW="292100" imgH="228600" progId="Equation.3">
                  <p:embed/>
                  <p:pic>
                    <p:nvPicPr>
                      <p:cNvPr id="0" name="图片 3077"/>
                      <p:cNvPicPr/>
                      <p:nvPr/>
                    </p:nvPicPr>
                    <p:blipFill>
                      <a:blip r:embed="rId6"/>
                      <a:stretch>
                        <a:fillRect/>
                      </a:stretch>
                    </p:blipFill>
                    <p:spPr>
                      <a:xfrm>
                        <a:off x="2627313" y="3916363"/>
                        <a:ext cx="931862" cy="449262"/>
                      </a:xfrm>
                      <a:prstGeom prst="rect">
                        <a:avLst/>
                      </a:prstGeom>
                      <a:noFill/>
                      <a:ln w="38100">
                        <a:noFill/>
                        <a:miter/>
                      </a:ln>
                    </p:spPr>
                  </p:pic>
                </p:oleObj>
              </mc:Fallback>
            </mc:AlternateContent>
          </a:graphicData>
        </a:graphic>
      </p:graphicFrame>
      <p:sp>
        <p:nvSpPr>
          <p:cNvPr id="8" name="Rectangle 3"/>
          <p:cNvSpPr txBox="1">
            <a:spLocks noChangeArrowheads="1"/>
          </p:cNvSpPr>
          <p:nvPr/>
        </p:nvSpPr>
        <p:spPr bwMode="auto">
          <a:xfrm>
            <a:off x="250825" y="1484313"/>
            <a:ext cx="9074150" cy="1008063"/>
          </a:xfrm>
          <a:prstGeom prst="rect">
            <a:avLst/>
          </a:prstGeom>
          <a:noFill/>
          <a:ln w="9525">
            <a:noFill/>
            <a:miter lim="800000"/>
          </a:ln>
        </p:spPr>
        <p:txBody>
          <a:bodyPr/>
          <a:lstStyle/>
          <a:p>
            <a:pPr marL="742950" marR="0" lvl="1" indent="-285750" algn="l" defTabSz="914400" rtl="0" eaLnBrk="0" fontAlgn="base" latinLnBrk="0" hangingPunct="0">
              <a:lnSpc>
                <a:spcPct val="120000"/>
              </a:lnSpc>
              <a:spcBef>
                <a:spcPts val="2400"/>
              </a:spcBef>
              <a:spcAft>
                <a:spcPct val="20000"/>
              </a:spcAft>
              <a:buClr>
                <a:schemeClr val="accent1"/>
              </a:buClr>
              <a:buSzTx/>
              <a:buFontTx/>
              <a:buNone/>
              <a:defRPr/>
            </a:pPr>
            <a:r>
              <a:rPr kumimoji="0" lang="zh-CN" altLang="en-US" sz="26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mn-cs"/>
              </a:rPr>
              <a:t>黑体辐射光谱极大值对应的波长和温度的乘积为一常数。</a:t>
            </a:r>
            <a:endParaRPr kumimoji="0" lang="en-US" altLang="zh-CN" sz="26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7890" name="Picture 2" descr="FG03_07"/>
          <p:cNvPicPr>
            <a:picLocks noChangeAspect="1"/>
          </p:cNvPicPr>
          <p:nvPr/>
        </p:nvPicPr>
        <p:blipFill>
          <a:blip r:embed="rId1"/>
          <a:srcRect b="8020"/>
          <a:stretch>
            <a:fillRect/>
          </a:stretch>
        </p:blipFill>
        <p:spPr>
          <a:xfrm>
            <a:off x="250825" y="2790825"/>
            <a:ext cx="8858250" cy="2566988"/>
          </a:xfrm>
          <a:prstGeom prst="rect">
            <a:avLst/>
          </a:prstGeom>
          <a:noFill/>
          <a:ln w="9525">
            <a:noFill/>
          </a:ln>
        </p:spPr>
      </p:pic>
      <p:sp>
        <p:nvSpPr>
          <p:cNvPr id="37891" name="Text Box 3"/>
          <p:cNvSpPr txBox="1"/>
          <p:nvPr/>
        </p:nvSpPr>
        <p:spPr>
          <a:xfrm>
            <a:off x="571500" y="2185988"/>
            <a:ext cx="248602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50000"/>
              </a:spcBef>
              <a:buClrTx/>
              <a:buFont typeface="Arial" panose="020B0604020202020204" pitchFamily="34" charset="0"/>
              <a:buNone/>
            </a:pPr>
            <a:r>
              <a:rPr lang="en-US" altLang="zh-CN" sz="2400" b="0" dirty="0">
                <a:solidFill>
                  <a:srgbClr val="0066CC"/>
                </a:solidFill>
                <a:latin typeface="Comic Sans MS" panose="030F0702030302020204" pitchFamily="66" charset="0"/>
                <a:ea typeface="宋体" panose="02010600030101010101" pitchFamily="2" charset="-122"/>
              </a:rPr>
              <a:t>Planck function</a:t>
            </a:r>
            <a:endParaRPr lang="en-US" altLang="zh-CN" sz="2400" b="0" dirty="0">
              <a:solidFill>
                <a:srgbClr val="0066CC"/>
              </a:solidFill>
              <a:latin typeface="Comic Sans MS" panose="030F0702030302020204" pitchFamily="66" charset="0"/>
              <a:ea typeface="宋体" panose="02010600030101010101" pitchFamily="2" charset="-122"/>
            </a:endParaRPr>
          </a:p>
        </p:txBody>
      </p:sp>
      <p:sp>
        <p:nvSpPr>
          <p:cNvPr id="37892" name="Text Box 4"/>
          <p:cNvSpPr txBox="1"/>
          <p:nvPr/>
        </p:nvSpPr>
        <p:spPr>
          <a:xfrm>
            <a:off x="3771900" y="2214563"/>
            <a:ext cx="1752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50000"/>
              </a:spcBef>
              <a:buClrTx/>
              <a:buFont typeface="Arial" panose="020B0604020202020204" pitchFamily="34" charset="0"/>
              <a:buNone/>
            </a:pPr>
            <a:r>
              <a:rPr lang="en-US" altLang="zh-CN" sz="2400" b="0" dirty="0">
                <a:solidFill>
                  <a:srgbClr val="0066CC"/>
                </a:solidFill>
                <a:latin typeface="Comic Sans MS" panose="030F0702030302020204" pitchFamily="66" charset="0"/>
                <a:ea typeface="宋体" panose="02010600030101010101" pitchFamily="2" charset="-122"/>
              </a:rPr>
              <a:t>Wien’s Law</a:t>
            </a:r>
            <a:endParaRPr lang="en-US" altLang="zh-CN" sz="2400" b="0" dirty="0">
              <a:solidFill>
                <a:srgbClr val="0066CC"/>
              </a:solidFill>
              <a:latin typeface="Comic Sans MS" panose="030F0702030302020204" pitchFamily="66" charset="0"/>
              <a:ea typeface="宋体" panose="02010600030101010101" pitchFamily="2" charset="-122"/>
            </a:endParaRPr>
          </a:p>
        </p:txBody>
      </p:sp>
      <p:sp>
        <p:nvSpPr>
          <p:cNvPr id="37893" name="Text Box 5"/>
          <p:cNvSpPr txBox="1"/>
          <p:nvPr/>
        </p:nvSpPr>
        <p:spPr>
          <a:xfrm>
            <a:off x="6019800" y="2214563"/>
            <a:ext cx="3195638"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50000"/>
              </a:spcBef>
              <a:buClrTx/>
              <a:buFont typeface="Arial" panose="020B0604020202020204" pitchFamily="34" charset="0"/>
              <a:buNone/>
            </a:pPr>
            <a:r>
              <a:rPr lang="en-US" altLang="zh-CN" sz="2400" b="0" dirty="0">
                <a:solidFill>
                  <a:srgbClr val="0066CC"/>
                </a:solidFill>
                <a:latin typeface="Comic Sans MS" panose="030F0702030302020204" pitchFamily="66" charset="0"/>
                <a:ea typeface="宋体" panose="02010600030101010101" pitchFamily="2" charset="-122"/>
              </a:rPr>
              <a:t>Stefan-Boltzman law</a:t>
            </a:r>
            <a:endParaRPr lang="en-US" altLang="zh-CN" sz="2400" b="0" dirty="0">
              <a:solidFill>
                <a:srgbClr val="0066CC"/>
              </a:solidFill>
              <a:latin typeface="Comic Sans MS" panose="030F0702030302020204" pitchFamily="66" charset="0"/>
              <a:ea typeface="宋体" panose="02010600030101010101" pitchFamily="2" charset="-122"/>
            </a:endParaRPr>
          </a:p>
        </p:txBody>
      </p:sp>
      <p:sp>
        <p:nvSpPr>
          <p:cNvPr id="37894" name="Text Box 6"/>
          <p:cNvSpPr txBox="1"/>
          <p:nvPr/>
        </p:nvSpPr>
        <p:spPr>
          <a:xfrm>
            <a:off x="2500313" y="1333500"/>
            <a:ext cx="5072062" cy="523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50000"/>
              </a:spcBef>
              <a:buClrTx/>
              <a:buFont typeface="Arial" panose="020B0604020202020204" pitchFamily="34" charset="0"/>
              <a:buNone/>
            </a:pPr>
            <a:r>
              <a:rPr lang="en-US" altLang="zh-CN" b="0" dirty="0">
                <a:solidFill>
                  <a:srgbClr val="CC00CC"/>
                </a:solidFill>
                <a:latin typeface="Comic Sans MS" panose="030F0702030302020204" pitchFamily="66" charset="0"/>
                <a:ea typeface="宋体" panose="02010600030101010101" pitchFamily="2" charset="-122"/>
              </a:rPr>
              <a:t>BLACKBODY  RADIATION</a:t>
            </a:r>
            <a:endParaRPr lang="en-US" altLang="zh-CN" b="0" dirty="0">
              <a:solidFill>
                <a:srgbClr val="CC00CC"/>
              </a:solidFill>
              <a:latin typeface="Comic Sans MS" panose="030F0702030302020204" pitchFamily="66" charset="0"/>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2"/>
          <p:cNvSpPr>
            <a:spLocks noGrp="1"/>
          </p:cNvSpPr>
          <p:nvPr>
            <p:ph idx="1"/>
          </p:nvPr>
        </p:nvSpPr>
        <p:spPr>
          <a:xfrm>
            <a:off x="34925" y="1720850"/>
            <a:ext cx="4402138" cy="4405313"/>
          </a:xfrm>
          <a:ln/>
        </p:spPr>
        <p:txBody>
          <a:bodyPr vert="horz" wrap="square" lIns="91440" tIns="45720" rIns="91440" bIns="45720" anchor="t" anchorCtr="0"/>
          <a:p>
            <a:pPr>
              <a:spcBef>
                <a:spcPct val="25000"/>
              </a:spcBef>
              <a:spcAft>
                <a:spcPct val="25000"/>
              </a:spcAft>
              <a:buFontTx/>
              <a:buNone/>
            </a:pPr>
            <a:r>
              <a:rPr lang="en-US" altLang="zh-CN" dirty="0">
                <a:latin typeface="Times New Roman" panose="02020603050405020304" pitchFamily="18" charset="0"/>
                <a:ea typeface="楷体_GB2312" pitchFamily="49" charset="-122"/>
              </a:rPr>
              <a:t>     </a:t>
            </a:r>
            <a:r>
              <a:rPr lang="en-US" altLang="zh-CN" i="1" dirty="0">
                <a:latin typeface="Times New Roman" panose="02020603050405020304" pitchFamily="18" charset="0"/>
                <a:ea typeface="楷体_GB2312" pitchFamily="49" charset="-122"/>
              </a:rPr>
              <a:t>Gustav Robert Kirchhoff</a:t>
            </a:r>
            <a:endParaRPr lang="en-US" altLang="zh-CN" i="1" dirty="0">
              <a:latin typeface="Times New Roman" panose="02020603050405020304" pitchFamily="18" charset="0"/>
              <a:ea typeface="楷体_GB2312" pitchFamily="49" charset="-122"/>
            </a:endParaRPr>
          </a:p>
          <a:p>
            <a:pPr>
              <a:spcBef>
                <a:spcPct val="25000"/>
              </a:spcBef>
              <a:spcAft>
                <a:spcPct val="25000"/>
              </a:spcAft>
              <a:buFontTx/>
              <a:buNone/>
            </a:pPr>
            <a:r>
              <a:rPr lang="en-US" altLang="zh-CN" dirty="0">
                <a:latin typeface="Times New Roman" panose="02020603050405020304" pitchFamily="18" charset="0"/>
                <a:ea typeface="楷体_GB2312" pitchFamily="49" charset="-122"/>
              </a:rPr>
              <a:t>     (1824-1887)</a:t>
            </a:r>
            <a:endParaRPr lang="en-US" altLang="zh-CN" dirty="0">
              <a:latin typeface="Times New Roman" panose="02020603050405020304" pitchFamily="18" charset="0"/>
              <a:ea typeface="楷体_GB2312" pitchFamily="49" charset="-122"/>
            </a:endParaRPr>
          </a:p>
          <a:p>
            <a:pPr lvl="1">
              <a:spcBef>
                <a:spcPct val="25000"/>
              </a:spcBef>
              <a:spcAft>
                <a:spcPct val="25000"/>
              </a:spcAft>
              <a:buFontTx/>
              <a:buNone/>
            </a:pPr>
            <a:r>
              <a:rPr lang="zh-CN" altLang="en-US" dirty="0">
                <a:latin typeface="Times New Roman" panose="02020603050405020304" pitchFamily="18" charset="0"/>
                <a:ea typeface="楷体_GB2312" pitchFamily="49" charset="-122"/>
              </a:rPr>
              <a:t>德国物理学家</a:t>
            </a:r>
            <a:endParaRPr lang="zh-CN" altLang="en-US" dirty="0">
              <a:latin typeface="Times New Roman" panose="02020603050405020304" pitchFamily="18" charset="0"/>
              <a:ea typeface="楷体_GB2312" pitchFamily="49" charset="-122"/>
            </a:endParaRPr>
          </a:p>
          <a:p>
            <a:pPr lvl="1">
              <a:spcBef>
                <a:spcPct val="25000"/>
              </a:spcBef>
              <a:spcAft>
                <a:spcPct val="25000"/>
              </a:spcAft>
              <a:buFontTx/>
              <a:buNone/>
            </a:pPr>
            <a:r>
              <a:rPr lang="en-US" altLang="zh-CN" dirty="0">
                <a:latin typeface="Times New Roman" panose="02020603050405020304" pitchFamily="18" charset="0"/>
                <a:ea typeface="楷体_GB2312" pitchFamily="49" charset="-122"/>
              </a:rPr>
              <a:t>1859: Kirchhoff’s Law</a:t>
            </a:r>
            <a:endParaRPr lang="en-US" altLang="zh-CN" dirty="0">
              <a:latin typeface="Times New Roman" panose="02020603050405020304" pitchFamily="18" charset="0"/>
              <a:ea typeface="楷体_GB2312" pitchFamily="49" charset="-122"/>
            </a:endParaRPr>
          </a:p>
          <a:p>
            <a:pPr lvl="1">
              <a:spcBef>
                <a:spcPct val="25000"/>
              </a:spcBef>
              <a:spcAft>
                <a:spcPct val="25000"/>
              </a:spcAft>
              <a:buFontTx/>
              <a:buNone/>
            </a:pPr>
            <a:r>
              <a:rPr lang="zh-CN" altLang="en-US" dirty="0">
                <a:latin typeface="Times New Roman" panose="02020603050405020304" pitchFamily="18" charset="0"/>
                <a:ea typeface="楷体_GB2312" pitchFamily="49" charset="-122"/>
              </a:rPr>
              <a:t>光谱学</a:t>
            </a:r>
            <a:endParaRPr lang="zh-CN" altLang="en-US" dirty="0">
              <a:latin typeface="Times New Roman" panose="02020603050405020304" pitchFamily="18" charset="0"/>
              <a:ea typeface="楷体_GB2312" pitchFamily="49" charset="-122"/>
            </a:endParaRPr>
          </a:p>
          <a:p>
            <a:pPr lvl="1">
              <a:spcBef>
                <a:spcPct val="25000"/>
              </a:spcBef>
              <a:spcAft>
                <a:spcPct val="25000"/>
              </a:spcAft>
              <a:buFontTx/>
              <a:buNone/>
            </a:pPr>
            <a:r>
              <a:rPr lang="zh-CN" altLang="en-US" dirty="0">
                <a:latin typeface="Times New Roman" panose="02020603050405020304" pitchFamily="18" charset="0"/>
                <a:ea typeface="楷体_GB2312" pitchFamily="49" charset="-122"/>
              </a:rPr>
              <a:t>电学</a:t>
            </a:r>
            <a:endParaRPr lang="zh-CN" altLang="en-US" dirty="0">
              <a:latin typeface="Times New Roman" panose="02020603050405020304" pitchFamily="18" charset="0"/>
              <a:ea typeface="楷体_GB2312" pitchFamily="49" charset="-122"/>
            </a:endParaRPr>
          </a:p>
          <a:p>
            <a:pPr lvl="1">
              <a:spcBef>
                <a:spcPct val="25000"/>
              </a:spcBef>
              <a:spcAft>
                <a:spcPct val="25000"/>
              </a:spcAft>
              <a:buFontTx/>
              <a:buNone/>
            </a:pPr>
            <a:r>
              <a:rPr lang="zh-CN" altLang="en-US" dirty="0">
                <a:latin typeface="Times New Roman" panose="02020603050405020304" pitchFamily="18" charset="0"/>
                <a:ea typeface="楷体_GB2312" pitchFamily="49" charset="-122"/>
              </a:rPr>
              <a:t>发现了铯和铷</a:t>
            </a:r>
            <a:endParaRPr lang="zh-CN" altLang="en-US" dirty="0">
              <a:latin typeface="Times New Roman" panose="02020603050405020304" pitchFamily="18" charset="0"/>
              <a:ea typeface="楷体_GB2312" pitchFamily="49" charset="-122"/>
            </a:endParaRPr>
          </a:p>
        </p:txBody>
      </p:sp>
      <p:pic>
        <p:nvPicPr>
          <p:cNvPr id="38915" name="Picture 3" descr="Kirchhoff"/>
          <p:cNvPicPr>
            <a:picLocks noChangeAspect="1"/>
          </p:cNvPicPr>
          <p:nvPr/>
        </p:nvPicPr>
        <p:blipFill>
          <a:blip r:embed="rId1"/>
          <a:stretch>
            <a:fillRect/>
          </a:stretch>
        </p:blipFill>
        <p:spPr>
          <a:xfrm>
            <a:off x="4714875" y="1003300"/>
            <a:ext cx="4370388" cy="5815013"/>
          </a:xfrm>
          <a:prstGeom prst="rect">
            <a:avLst/>
          </a:prstGeom>
          <a:noFill/>
          <a:ln w="9525">
            <a:noFill/>
          </a:ln>
        </p:spPr>
      </p:pic>
      <p:sp>
        <p:nvSpPr>
          <p:cNvPr id="38916" name="Rectangle 5"/>
          <p:cNvSpPr/>
          <p:nvPr/>
        </p:nvSpPr>
        <p:spPr>
          <a:xfrm>
            <a:off x="1371600" y="71438"/>
            <a:ext cx="7772400" cy="814387"/>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algn="ctr" eaLnBrk="1" hangingPunct="1">
              <a:spcBef>
                <a:spcPct val="0"/>
              </a:spcBef>
              <a:buClrTx/>
              <a:buFont typeface="Arial" panose="020B0604020202020204" pitchFamily="34" charset="0"/>
              <a:buNone/>
            </a:pPr>
            <a:r>
              <a:rPr lang="en-US" altLang="zh-CN" sz="4000" dirty="0">
                <a:solidFill>
                  <a:srgbClr val="FFFF00"/>
                </a:solidFill>
                <a:latin typeface="Arial" panose="020B0604020202020204" pitchFamily="34" charset="0"/>
                <a:ea typeface="楷体_GB2312" pitchFamily="49" charset="-122"/>
              </a:rPr>
              <a:t>4. </a:t>
            </a:r>
            <a:r>
              <a:rPr lang="zh-CN" altLang="en-US" sz="4000" dirty="0">
                <a:solidFill>
                  <a:srgbClr val="FFFF00"/>
                </a:solidFill>
                <a:latin typeface="Arial" panose="020B0604020202020204" pitchFamily="34" charset="0"/>
                <a:ea typeface="楷体_GB2312" pitchFamily="49" charset="-122"/>
              </a:rPr>
              <a:t>基尔霍夫（</a:t>
            </a:r>
            <a:r>
              <a:rPr lang="en-US" altLang="zh-CN" sz="4000" dirty="0">
                <a:solidFill>
                  <a:srgbClr val="FFFF00"/>
                </a:solidFill>
                <a:latin typeface="Arial" panose="020B0604020202020204" pitchFamily="34" charset="0"/>
                <a:ea typeface="楷体_GB2312" pitchFamily="49" charset="-122"/>
              </a:rPr>
              <a:t>Kirchhoff</a:t>
            </a:r>
            <a:r>
              <a:rPr lang="zh-CN" altLang="en-US" sz="4000" dirty="0">
                <a:solidFill>
                  <a:srgbClr val="FFFF00"/>
                </a:solidFill>
                <a:latin typeface="Arial" panose="020B0604020202020204" pitchFamily="34" charset="0"/>
                <a:ea typeface="楷体_GB2312" pitchFamily="49" charset="-122"/>
              </a:rPr>
              <a:t>）定律</a:t>
            </a:r>
            <a:r>
              <a:rPr lang="zh-CN" altLang="en-US" sz="4000" b="0" i="1" dirty="0">
                <a:solidFill>
                  <a:srgbClr val="FFFF00"/>
                </a:solidFill>
                <a:latin typeface="Arial" panose="020B0604020202020204" pitchFamily="34" charset="0"/>
                <a:ea typeface="楷体_GB2312" pitchFamily="49" charset="-122"/>
              </a:rPr>
              <a:t> </a:t>
            </a:r>
            <a:endParaRPr lang="zh-CN" altLang="en-US" sz="4000" b="0" i="1" dirty="0">
              <a:solidFill>
                <a:srgbClr val="FFFF00"/>
              </a:solidFill>
              <a:latin typeface="Arial" panose="020B0604020202020204" pitchFamily="34" charset="0"/>
              <a:ea typeface="楷体_GB2312" pitchFamily="49"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3"/>
          <p:cNvSpPr>
            <a:spLocks noGrp="1"/>
          </p:cNvSpPr>
          <p:nvPr>
            <p:ph idx="1"/>
          </p:nvPr>
        </p:nvSpPr>
        <p:spPr>
          <a:xfrm>
            <a:off x="0" y="500063"/>
            <a:ext cx="8858250" cy="5214937"/>
          </a:xfrm>
          <a:ln/>
        </p:spPr>
        <p:txBody>
          <a:bodyPr vert="horz" wrap="square" lIns="91440" tIns="45720" rIns="91440" bIns="45720" anchor="t" anchorCtr="0"/>
          <a:p>
            <a:pPr lvl="1">
              <a:spcAft>
                <a:spcPct val="20000"/>
              </a:spcAft>
              <a:buFontTx/>
              <a:buNone/>
            </a:pPr>
            <a:endParaRPr lang="zh-CN" altLang="en-US" sz="3200" dirty="0">
              <a:latin typeface="Times New Roman" panose="02020603050405020304" pitchFamily="18" charset="0"/>
              <a:ea typeface="楷体_GB2312" pitchFamily="49" charset="-122"/>
            </a:endParaRPr>
          </a:p>
          <a:p>
            <a:pPr lvl="1" algn="just">
              <a:lnSpc>
                <a:spcPct val="130000"/>
              </a:lnSpc>
              <a:spcAft>
                <a:spcPct val="20000"/>
              </a:spcAft>
              <a:buFontTx/>
              <a:buChar char="•"/>
            </a:pPr>
            <a:r>
              <a:rPr lang="zh-CN" altLang="en-US" dirty="0">
                <a:latin typeface="Times New Roman" panose="02020603050405020304" pitchFamily="18" charset="0"/>
                <a:ea typeface="楷体_GB2312" pitchFamily="49" charset="-122"/>
              </a:rPr>
              <a:t>在辐射平衡条件下，任何物体的单色辐射通量密度</a:t>
            </a:r>
            <a:r>
              <a:rPr lang="en-US" altLang="zh-CN" i="1" dirty="0">
                <a:solidFill>
                  <a:srgbClr val="CC00CC"/>
                </a:solidFill>
                <a:latin typeface="Times New Roman" panose="02020603050405020304" pitchFamily="18" charset="0"/>
                <a:ea typeface="楷体_GB2312" pitchFamily="49" charset="-122"/>
              </a:rPr>
              <a:t>F</a:t>
            </a:r>
            <a:r>
              <a:rPr lang="en-US" altLang="zh-CN" baseline="-25000" dirty="0">
                <a:solidFill>
                  <a:srgbClr val="CC00CC"/>
                </a:solidFill>
                <a:latin typeface="Times New Roman" panose="02020603050405020304" pitchFamily="18" charset="0"/>
                <a:ea typeface="楷体_GB2312" pitchFamily="49" charset="-122"/>
              </a:rPr>
              <a:t>λ,T</a:t>
            </a:r>
            <a:r>
              <a:rPr lang="zh-CN" altLang="en-US" dirty="0">
                <a:latin typeface="Times New Roman" panose="02020603050405020304" pitchFamily="18" charset="0"/>
                <a:ea typeface="楷体_GB2312" pitchFamily="49" charset="-122"/>
              </a:rPr>
              <a:t>与吸收率</a:t>
            </a:r>
            <a:r>
              <a:rPr lang="en-US" altLang="zh-CN" i="1" dirty="0">
                <a:solidFill>
                  <a:srgbClr val="CC00CC"/>
                </a:solidFill>
                <a:latin typeface="Times New Roman" panose="02020603050405020304" pitchFamily="18" charset="0"/>
                <a:ea typeface="楷体_GB2312" pitchFamily="49" charset="-122"/>
              </a:rPr>
              <a:t>A</a:t>
            </a:r>
            <a:r>
              <a:rPr lang="en-US" altLang="zh-CN" baseline="-25000" dirty="0">
                <a:solidFill>
                  <a:srgbClr val="CC00CC"/>
                </a:solidFill>
                <a:latin typeface="Times New Roman" panose="02020603050405020304" pitchFamily="18" charset="0"/>
                <a:ea typeface="楷体_GB2312" pitchFamily="49" charset="-122"/>
              </a:rPr>
              <a:t>λ,T</a:t>
            </a:r>
            <a:r>
              <a:rPr lang="zh-CN" altLang="en-US" dirty="0">
                <a:latin typeface="Times New Roman" panose="02020603050405020304" pitchFamily="18" charset="0"/>
                <a:ea typeface="楷体_GB2312" pitchFamily="49" charset="-122"/>
              </a:rPr>
              <a:t>之比值是一个普适函数（该函数只是波长和温度的函数，与物体性质无关）。</a:t>
            </a:r>
            <a:endParaRPr lang="en-US" altLang="zh-CN" dirty="0">
              <a:latin typeface="Times New Roman" panose="02020603050405020304" pitchFamily="18" charset="0"/>
              <a:ea typeface="楷体_GB2312" pitchFamily="49" charset="-122"/>
            </a:endParaRPr>
          </a:p>
          <a:p>
            <a:pPr lvl="1" algn="just">
              <a:lnSpc>
                <a:spcPct val="130000"/>
              </a:lnSpc>
              <a:spcAft>
                <a:spcPct val="20000"/>
              </a:spcAft>
              <a:buFontTx/>
              <a:buChar char="•"/>
            </a:pPr>
            <a:endParaRPr lang="en-US" altLang="zh-CN" dirty="0">
              <a:latin typeface="Times New Roman" panose="02020603050405020304" pitchFamily="18" charset="0"/>
              <a:ea typeface="楷体_GB2312" pitchFamily="49" charset="-122"/>
            </a:endParaRPr>
          </a:p>
          <a:p>
            <a:pPr lvl="1" algn="just">
              <a:lnSpc>
                <a:spcPct val="130000"/>
              </a:lnSpc>
              <a:spcAft>
                <a:spcPct val="20000"/>
              </a:spcAft>
              <a:buFontTx/>
              <a:buChar char="•"/>
            </a:pPr>
            <a:endParaRPr lang="en-US" altLang="zh-CN" dirty="0">
              <a:latin typeface="Times New Roman" panose="02020603050405020304" pitchFamily="18" charset="0"/>
              <a:ea typeface="楷体_GB2312" pitchFamily="49" charset="-122"/>
            </a:endParaRPr>
          </a:p>
          <a:p>
            <a:pPr lvl="1" algn="just">
              <a:lnSpc>
                <a:spcPct val="130000"/>
              </a:lnSpc>
              <a:spcAft>
                <a:spcPct val="20000"/>
              </a:spcAft>
              <a:buFontTx/>
              <a:buChar char="•"/>
            </a:pPr>
            <a:r>
              <a:rPr lang="zh-CN" altLang="en-US" dirty="0">
                <a:latin typeface="Times New Roman" panose="02020603050405020304" pitchFamily="18" charset="0"/>
                <a:ea typeface="楷体_GB2312" pitchFamily="49" charset="-122"/>
              </a:rPr>
              <a:t>比值大小等于</a:t>
            </a:r>
            <a:r>
              <a:rPr lang="en-US" altLang="zh-CN" dirty="0">
                <a:latin typeface="Times New Roman" panose="02020603050405020304" pitchFamily="18" charset="0"/>
                <a:ea typeface="楷体_GB2312" pitchFamily="49" charset="-122"/>
              </a:rPr>
              <a:t>Planck</a:t>
            </a:r>
            <a:r>
              <a:rPr lang="zh-CN" altLang="en-US" dirty="0">
                <a:latin typeface="Times New Roman" panose="02020603050405020304" pitchFamily="18" charset="0"/>
                <a:ea typeface="楷体_GB2312" pitchFamily="49" charset="-122"/>
              </a:rPr>
              <a:t>函数的通量密度形式</a:t>
            </a:r>
            <a:endParaRPr lang="zh-CN" altLang="en-US" dirty="0">
              <a:latin typeface="Times New Roman" panose="02020603050405020304" pitchFamily="18" charset="0"/>
              <a:ea typeface="楷体_GB2312" pitchFamily="49" charset="-122"/>
            </a:endParaRPr>
          </a:p>
        </p:txBody>
      </p:sp>
      <p:graphicFrame>
        <p:nvGraphicFramePr>
          <p:cNvPr id="40963" name="Object 2"/>
          <p:cNvGraphicFramePr>
            <a:graphicFrameLocks noChangeAspect="1"/>
          </p:cNvGraphicFramePr>
          <p:nvPr/>
        </p:nvGraphicFramePr>
        <p:xfrm>
          <a:off x="3143250" y="5000625"/>
          <a:ext cx="3222625" cy="1412875"/>
        </p:xfrm>
        <a:graphic>
          <a:graphicData uri="http://schemas.openxmlformats.org/presentationml/2006/ole">
            <mc:AlternateContent xmlns:mc="http://schemas.openxmlformats.org/markup-compatibility/2006">
              <mc:Choice xmlns:v="urn:schemas-microsoft-com:vml" Requires="v">
                <p:oleObj spid="_x0000_s3084" name="" r:id="rId1" imgW="977900" imgH="431800" progId="Equation.DSMT4">
                  <p:embed/>
                </p:oleObj>
              </mc:Choice>
              <mc:Fallback>
                <p:oleObj name="" r:id="rId1" imgW="977900" imgH="431800" progId="Equation.DSMT4">
                  <p:embed/>
                  <p:pic>
                    <p:nvPicPr>
                      <p:cNvPr id="0" name="图片 3083"/>
                      <p:cNvPicPr/>
                      <p:nvPr/>
                    </p:nvPicPr>
                    <p:blipFill>
                      <a:blip r:embed="rId2"/>
                      <a:stretch>
                        <a:fillRect/>
                      </a:stretch>
                    </p:blipFill>
                    <p:spPr>
                      <a:xfrm>
                        <a:off x="3143250" y="5000625"/>
                        <a:ext cx="3222625" cy="1412875"/>
                      </a:xfrm>
                      <a:prstGeom prst="rect">
                        <a:avLst/>
                      </a:prstGeom>
                      <a:noFill/>
                      <a:ln w="38100">
                        <a:noFill/>
                        <a:miter/>
                      </a:ln>
                    </p:spPr>
                  </p:pic>
                </p:oleObj>
              </mc:Fallback>
            </mc:AlternateContent>
          </a:graphicData>
        </a:graphic>
      </p:graphicFrame>
      <p:sp>
        <p:nvSpPr>
          <p:cNvPr id="40964" name="Rectangle 5"/>
          <p:cNvSpPr/>
          <p:nvPr/>
        </p:nvSpPr>
        <p:spPr>
          <a:xfrm>
            <a:off x="1371600" y="71438"/>
            <a:ext cx="7772400" cy="814387"/>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en-US" altLang="zh-CN" sz="4000" dirty="0">
                <a:solidFill>
                  <a:srgbClr val="FFFF00"/>
                </a:solidFill>
                <a:latin typeface="Arial" panose="020B0604020202020204" pitchFamily="34" charset="0"/>
                <a:ea typeface="楷体_GB2312" pitchFamily="49" charset="-122"/>
              </a:rPr>
              <a:t>4. </a:t>
            </a:r>
            <a:r>
              <a:rPr lang="zh-CN" altLang="en-US" sz="4000" dirty="0">
                <a:solidFill>
                  <a:srgbClr val="FFFF00"/>
                </a:solidFill>
                <a:latin typeface="Arial" panose="020B0604020202020204" pitchFamily="34" charset="0"/>
                <a:ea typeface="楷体_GB2312" pitchFamily="49" charset="-122"/>
              </a:rPr>
              <a:t>基尔霍夫（</a:t>
            </a:r>
            <a:r>
              <a:rPr lang="en-US" altLang="zh-CN" sz="4000" dirty="0">
                <a:solidFill>
                  <a:srgbClr val="FFFF00"/>
                </a:solidFill>
                <a:latin typeface="Arial" panose="020B0604020202020204" pitchFamily="34" charset="0"/>
                <a:ea typeface="楷体_GB2312" pitchFamily="49" charset="-122"/>
              </a:rPr>
              <a:t>Kirchhoff</a:t>
            </a:r>
            <a:r>
              <a:rPr lang="zh-CN" altLang="en-US" sz="4000" dirty="0">
                <a:solidFill>
                  <a:srgbClr val="FFFF00"/>
                </a:solidFill>
                <a:latin typeface="Arial" panose="020B0604020202020204" pitchFamily="34" charset="0"/>
                <a:ea typeface="楷体_GB2312" pitchFamily="49" charset="-122"/>
              </a:rPr>
              <a:t>）定律</a:t>
            </a:r>
            <a:r>
              <a:rPr lang="zh-CN" altLang="en-US" sz="4000" b="0" i="1" dirty="0">
                <a:solidFill>
                  <a:srgbClr val="FFFF00"/>
                </a:solidFill>
                <a:latin typeface="Arial" panose="020B0604020202020204" pitchFamily="34" charset="0"/>
                <a:ea typeface="楷体_GB2312" pitchFamily="49" charset="-122"/>
              </a:rPr>
              <a:t> </a:t>
            </a:r>
            <a:endParaRPr lang="zh-CN" altLang="en-US" sz="4000" b="0" i="1" dirty="0">
              <a:solidFill>
                <a:srgbClr val="FFFF00"/>
              </a:solidFill>
              <a:latin typeface="Arial" panose="020B0604020202020204" pitchFamily="34" charset="0"/>
              <a:ea typeface="楷体_GB2312" pitchFamily="49" charset="-122"/>
            </a:endParaRPr>
          </a:p>
        </p:txBody>
      </p:sp>
      <p:graphicFrame>
        <p:nvGraphicFramePr>
          <p:cNvPr id="40965" name="Object 5"/>
          <p:cNvGraphicFramePr>
            <a:graphicFrameLocks noChangeAspect="1"/>
          </p:cNvGraphicFramePr>
          <p:nvPr/>
        </p:nvGraphicFramePr>
        <p:xfrm>
          <a:off x="3071813" y="3000375"/>
          <a:ext cx="2857500" cy="1250950"/>
        </p:xfrm>
        <a:graphic>
          <a:graphicData uri="http://schemas.openxmlformats.org/presentationml/2006/ole">
            <mc:AlternateContent xmlns:mc="http://schemas.openxmlformats.org/markup-compatibility/2006">
              <mc:Choice xmlns:v="urn:schemas-microsoft-com:vml" Requires="v">
                <p:oleObj spid="_x0000_s3083" name="" r:id="rId3" imgW="939800" imgH="457200" progId="Equation.3">
                  <p:embed/>
                </p:oleObj>
              </mc:Choice>
              <mc:Fallback>
                <p:oleObj name="" r:id="rId3" imgW="939800" imgH="457200" progId="Equation.3">
                  <p:embed/>
                  <p:pic>
                    <p:nvPicPr>
                      <p:cNvPr id="0" name="图片 3082"/>
                      <p:cNvPicPr/>
                      <p:nvPr/>
                    </p:nvPicPr>
                    <p:blipFill>
                      <a:blip r:embed="rId4"/>
                      <a:stretch>
                        <a:fillRect/>
                      </a:stretch>
                    </p:blipFill>
                    <p:spPr>
                      <a:xfrm>
                        <a:off x="3071813" y="3000375"/>
                        <a:ext cx="2857500" cy="1250950"/>
                      </a:xfrm>
                      <a:prstGeom prst="rect">
                        <a:avLst/>
                      </a:prstGeom>
                      <a:noFill/>
                      <a:ln w="38100">
                        <a:noFill/>
                        <a:miter/>
                      </a:ln>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3"/>
          <p:cNvSpPr>
            <a:spLocks noGrp="1"/>
          </p:cNvSpPr>
          <p:nvPr>
            <p:ph idx="1"/>
          </p:nvPr>
        </p:nvSpPr>
        <p:spPr>
          <a:xfrm>
            <a:off x="0" y="1201738"/>
            <a:ext cx="8929688" cy="5656262"/>
          </a:xfrm>
          <a:solidFill>
            <a:schemeClr val="bg1">
              <a:alpha val="100000"/>
            </a:schemeClr>
          </a:solidFill>
          <a:ln/>
        </p:spPr>
        <p:txBody>
          <a:bodyPr vert="horz" wrap="square" lIns="91440" tIns="45720" rIns="91440" bIns="45720" anchor="t" anchorCtr="0"/>
          <a:p>
            <a:pPr lvl="1">
              <a:lnSpc>
                <a:spcPct val="140000"/>
              </a:lnSpc>
              <a:spcAft>
                <a:spcPct val="20000"/>
              </a:spcAft>
              <a:buFontTx/>
              <a:buChar char="•"/>
            </a:pPr>
            <a:r>
              <a:rPr lang="zh-CN" altLang="en-US" dirty="0">
                <a:latin typeface="Times New Roman" panose="02020603050405020304" pitchFamily="18" charset="0"/>
                <a:ea typeface="楷体_GB2312" pitchFamily="49" charset="-122"/>
              </a:rPr>
              <a:t>若定义</a:t>
            </a:r>
            <a:r>
              <a:rPr lang="zh-CN" altLang="en-US" dirty="0">
                <a:solidFill>
                  <a:srgbClr val="FF0000"/>
                </a:solidFill>
                <a:latin typeface="Times New Roman" panose="02020603050405020304" pitchFamily="18" charset="0"/>
                <a:ea typeface="楷体_GB2312" pitchFamily="49" charset="-122"/>
              </a:rPr>
              <a:t>比辐射率 </a:t>
            </a:r>
            <a:r>
              <a:rPr lang="zh-CN" altLang="en-US" i="1" dirty="0">
                <a:solidFill>
                  <a:srgbClr val="FF0000"/>
                </a:solidFill>
                <a:latin typeface="Times New Roman" panose="02020603050405020304" pitchFamily="18" charset="0"/>
                <a:ea typeface="楷体_GB2312" pitchFamily="49" charset="-122"/>
                <a:sym typeface="Symbol" panose="05050102010706020507" pitchFamily="18" charset="2"/>
              </a:rPr>
              <a:t></a:t>
            </a:r>
            <a:r>
              <a:rPr lang="en-US" altLang="zh-CN" i="1" baseline="-30000" dirty="0">
                <a:solidFill>
                  <a:srgbClr val="FF0000"/>
                </a:solidFill>
                <a:latin typeface="Times New Roman" panose="02020603050405020304" pitchFamily="18" charset="0"/>
                <a:ea typeface="楷体_GB2312" pitchFamily="49" charset="-122"/>
              </a:rPr>
              <a:t>λ</a:t>
            </a:r>
            <a:r>
              <a:rPr lang="en-US" altLang="zh-CN" baseline="-30000" dirty="0">
                <a:solidFill>
                  <a:srgbClr val="FF0000"/>
                </a:solidFill>
                <a:latin typeface="Times New Roman" panose="02020603050405020304" pitchFamily="18" charset="0"/>
                <a:ea typeface="楷体_GB2312" pitchFamily="49" charset="-122"/>
              </a:rPr>
              <a:t> , </a:t>
            </a:r>
            <a:r>
              <a:rPr lang="en-US" altLang="zh-CN" i="1" baseline="-30000" dirty="0">
                <a:solidFill>
                  <a:srgbClr val="FF0000"/>
                </a:solidFill>
                <a:latin typeface="Times New Roman" panose="02020603050405020304" pitchFamily="18" charset="0"/>
                <a:ea typeface="楷体_GB2312" pitchFamily="49" charset="-122"/>
              </a:rPr>
              <a:t>T</a:t>
            </a:r>
            <a:r>
              <a:rPr lang="zh-CN" altLang="en-US" dirty="0">
                <a:latin typeface="Times New Roman" panose="02020603050405020304" pitchFamily="18" charset="0"/>
                <a:ea typeface="楷体_GB2312" pitchFamily="49" charset="-122"/>
              </a:rPr>
              <a:t>为物体的放射能力</a:t>
            </a:r>
            <a:r>
              <a:rPr lang="en-US" altLang="zh-CN" i="1" dirty="0">
                <a:solidFill>
                  <a:srgbClr val="FF3300"/>
                </a:solidFill>
                <a:latin typeface="Times New Roman" panose="02020603050405020304" pitchFamily="18" charset="0"/>
                <a:ea typeface="楷体_GB2312" pitchFamily="49" charset="-122"/>
              </a:rPr>
              <a:t>F</a:t>
            </a:r>
            <a:r>
              <a:rPr lang="en-US" altLang="zh-CN" i="1" baseline="-30000" dirty="0">
                <a:solidFill>
                  <a:srgbClr val="FF3300"/>
                </a:solidFill>
                <a:latin typeface="Times New Roman" panose="02020603050405020304" pitchFamily="18" charset="0"/>
                <a:ea typeface="楷体_GB2312" pitchFamily="49" charset="-122"/>
              </a:rPr>
              <a:t>λ</a:t>
            </a:r>
            <a:r>
              <a:rPr lang="en-US" altLang="zh-CN" baseline="-30000" dirty="0">
                <a:solidFill>
                  <a:srgbClr val="FF3300"/>
                </a:solidFill>
                <a:latin typeface="Times New Roman" panose="02020603050405020304" pitchFamily="18" charset="0"/>
                <a:ea typeface="楷体_GB2312" pitchFamily="49" charset="-122"/>
              </a:rPr>
              <a:t> , </a:t>
            </a:r>
            <a:r>
              <a:rPr lang="en-US" altLang="zh-CN" i="1" baseline="-30000" dirty="0">
                <a:solidFill>
                  <a:srgbClr val="FF3300"/>
                </a:solidFill>
                <a:latin typeface="Times New Roman" panose="02020603050405020304" pitchFamily="18" charset="0"/>
                <a:ea typeface="楷体_GB2312" pitchFamily="49" charset="-122"/>
              </a:rPr>
              <a:t>T</a:t>
            </a:r>
            <a:r>
              <a:rPr lang="zh-CN" altLang="en-US" dirty="0">
                <a:latin typeface="Times New Roman" panose="02020603050405020304" pitchFamily="18" charset="0"/>
                <a:ea typeface="楷体_GB2312" pitchFamily="49" charset="-122"/>
              </a:rPr>
              <a:t>和黑体的辐射能力</a:t>
            </a:r>
            <a:r>
              <a:rPr lang="en-US" altLang="zh-CN" i="1" dirty="0">
                <a:solidFill>
                  <a:srgbClr val="FF3300"/>
                </a:solidFill>
                <a:latin typeface="Times New Roman" panose="02020603050405020304" pitchFamily="18" charset="0"/>
                <a:ea typeface="楷体_GB2312" pitchFamily="49" charset="-122"/>
              </a:rPr>
              <a:t>F</a:t>
            </a:r>
            <a:r>
              <a:rPr lang="en-US" altLang="zh-CN" baseline="-30000" dirty="0">
                <a:solidFill>
                  <a:srgbClr val="FF3300"/>
                </a:solidFill>
                <a:latin typeface="Times New Roman" panose="02020603050405020304" pitchFamily="18" charset="0"/>
                <a:ea typeface="楷体_GB2312" pitchFamily="49" charset="-122"/>
              </a:rPr>
              <a:t>B</a:t>
            </a:r>
            <a:r>
              <a:rPr lang="en-US" altLang="zh-CN" i="1" dirty="0">
                <a:solidFill>
                  <a:srgbClr val="FF3300"/>
                </a:solidFill>
                <a:latin typeface="Times New Roman" panose="02020603050405020304" pitchFamily="18" charset="0"/>
                <a:ea typeface="楷体_GB2312" pitchFamily="49" charset="-122"/>
              </a:rPr>
              <a:t> </a:t>
            </a:r>
            <a:r>
              <a:rPr lang="en-US" altLang="zh-CN" dirty="0">
                <a:solidFill>
                  <a:srgbClr val="FF3300"/>
                </a:solidFill>
                <a:latin typeface="Times New Roman" panose="02020603050405020304" pitchFamily="18" charset="0"/>
                <a:ea typeface="楷体_GB2312" pitchFamily="49" charset="-122"/>
              </a:rPr>
              <a:t>(</a:t>
            </a:r>
            <a:r>
              <a:rPr lang="en-US" altLang="zh-CN" i="1" dirty="0">
                <a:solidFill>
                  <a:srgbClr val="FF3300"/>
                </a:solidFill>
                <a:latin typeface="Times New Roman" panose="02020603050405020304" pitchFamily="18" charset="0"/>
                <a:ea typeface="楷体_GB2312" pitchFamily="49" charset="-122"/>
              </a:rPr>
              <a:t>λ</a:t>
            </a:r>
            <a:r>
              <a:rPr lang="en-US" altLang="zh-CN" dirty="0">
                <a:solidFill>
                  <a:srgbClr val="FF3300"/>
                </a:solidFill>
                <a:latin typeface="Times New Roman" panose="02020603050405020304" pitchFamily="18" charset="0"/>
                <a:ea typeface="楷体_GB2312" pitchFamily="49" charset="-122"/>
              </a:rPr>
              <a:t>, </a:t>
            </a:r>
            <a:r>
              <a:rPr lang="en-US" altLang="zh-CN" i="1" dirty="0">
                <a:solidFill>
                  <a:srgbClr val="FF3300"/>
                </a:solidFill>
                <a:latin typeface="Times New Roman" panose="02020603050405020304" pitchFamily="18" charset="0"/>
                <a:ea typeface="楷体_GB2312" pitchFamily="49" charset="-122"/>
              </a:rPr>
              <a:t>T </a:t>
            </a:r>
            <a:r>
              <a:rPr lang="en-US" altLang="zh-CN" dirty="0">
                <a:solidFill>
                  <a:srgbClr val="FF3300"/>
                </a:solidFill>
                <a:latin typeface="Times New Roman" panose="02020603050405020304" pitchFamily="18" charset="0"/>
                <a:ea typeface="楷体_GB2312" pitchFamily="49" charset="-122"/>
              </a:rPr>
              <a:t>)</a:t>
            </a:r>
            <a:r>
              <a:rPr lang="zh-CN" altLang="en-US" dirty="0">
                <a:latin typeface="Times New Roman" panose="02020603050405020304" pitchFamily="18" charset="0"/>
                <a:ea typeface="楷体_GB2312" pitchFamily="49" charset="-122"/>
              </a:rPr>
              <a:t>之比，则基尔霍夫定律可以写成</a:t>
            </a:r>
            <a:endParaRPr lang="zh-CN" altLang="en-US" dirty="0">
              <a:latin typeface="Times New Roman" panose="02020603050405020304" pitchFamily="18" charset="0"/>
              <a:ea typeface="楷体_GB2312" pitchFamily="49" charset="-122"/>
            </a:endParaRPr>
          </a:p>
          <a:p>
            <a:pPr>
              <a:lnSpc>
                <a:spcPct val="140000"/>
              </a:lnSpc>
              <a:spcAft>
                <a:spcPct val="20000"/>
              </a:spcAft>
              <a:buFontTx/>
              <a:buNone/>
            </a:pPr>
            <a:r>
              <a:rPr lang="zh-CN" altLang="en-US" dirty="0">
                <a:latin typeface="Times New Roman" panose="02020603050405020304" pitchFamily="18" charset="0"/>
                <a:ea typeface="楷体_GB2312" pitchFamily="49" charset="-122"/>
              </a:rPr>
              <a:t>   </a:t>
            </a:r>
            <a:endParaRPr lang="en-US" altLang="zh-CN" dirty="0">
              <a:latin typeface="Times New Roman" panose="02020603050405020304" pitchFamily="18" charset="0"/>
              <a:ea typeface="楷体_GB2312" pitchFamily="49" charset="-122"/>
            </a:endParaRPr>
          </a:p>
          <a:p>
            <a:pPr>
              <a:lnSpc>
                <a:spcPct val="140000"/>
              </a:lnSpc>
              <a:spcAft>
                <a:spcPct val="20000"/>
              </a:spcAft>
              <a:buFontTx/>
              <a:buNone/>
            </a:pPr>
            <a:r>
              <a:rPr lang="en-US" altLang="zh-CN" dirty="0">
                <a:latin typeface="Times New Roman" panose="02020603050405020304" pitchFamily="18" charset="0"/>
                <a:ea typeface="楷体_GB2312" pitchFamily="49" charset="-122"/>
              </a:rPr>
              <a:t>        </a:t>
            </a:r>
            <a:r>
              <a:rPr lang="zh-CN" altLang="en-US" sz="2600" dirty="0">
                <a:solidFill>
                  <a:srgbClr val="CC00CC"/>
                </a:solidFill>
                <a:latin typeface="Times New Roman" panose="02020603050405020304" pitchFamily="18" charset="0"/>
                <a:ea typeface="楷体_GB2312" pitchFamily="49" charset="-122"/>
              </a:rPr>
              <a:t>意义：</a:t>
            </a:r>
            <a:endParaRPr lang="zh-CN" altLang="en-US" sz="2600" dirty="0">
              <a:solidFill>
                <a:srgbClr val="CC00CC"/>
              </a:solidFill>
              <a:latin typeface="Times New Roman" panose="02020603050405020304" pitchFamily="18" charset="0"/>
              <a:ea typeface="楷体_GB2312" pitchFamily="49" charset="-122"/>
            </a:endParaRPr>
          </a:p>
          <a:p>
            <a:pPr lvl="1">
              <a:lnSpc>
                <a:spcPct val="140000"/>
              </a:lnSpc>
              <a:spcAft>
                <a:spcPct val="20000"/>
              </a:spcAft>
              <a:buFont typeface="Wingdings" panose="05000000000000000000" pitchFamily="2" charset="2"/>
              <a:buChar char="§"/>
            </a:pPr>
            <a:r>
              <a:rPr lang="zh-CN" altLang="en-US" sz="2600" dirty="0">
                <a:latin typeface="Times New Roman" panose="02020603050405020304" pitchFamily="18" charset="0"/>
                <a:ea typeface="楷体_GB2312" pitchFamily="49" charset="-122"/>
              </a:rPr>
              <a:t>将物体的吸收能力和放射能力联系起来；</a:t>
            </a:r>
            <a:endParaRPr lang="zh-CN" altLang="en-US" sz="2600" dirty="0">
              <a:latin typeface="Times New Roman" panose="02020603050405020304" pitchFamily="18" charset="0"/>
              <a:ea typeface="楷体_GB2312" pitchFamily="49" charset="-122"/>
            </a:endParaRPr>
          </a:p>
          <a:p>
            <a:pPr lvl="1">
              <a:lnSpc>
                <a:spcPct val="140000"/>
              </a:lnSpc>
              <a:spcAft>
                <a:spcPct val="20000"/>
              </a:spcAft>
              <a:buFont typeface="Wingdings" panose="05000000000000000000" pitchFamily="2" charset="2"/>
              <a:buChar char="§"/>
            </a:pPr>
            <a:r>
              <a:rPr lang="zh-CN" altLang="en-US" sz="2600" dirty="0">
                <a:latin typeface="Times New Roman" panose="02020603050405020304" pitchFamily="18" charset="0"/>
                <a:ea typeface="楷体_GB2312" pitchFamily="49" charset="-122"/>
              </a:rPr>
              <a:t>将</a:t>
            </a:r>
            <a:r>
              <a:rPr lang="zh-CN" altLang="en-US" sz="2600" dirty="0">
                <a:solidFill>
                  <a:srgbClr val="CC00CC"/>
                </a:solidFill>
                <a:latin typeface="Times New Roman" panose="02020603050405020304" pitchFamily="18" charset="0"/>
                <a:ea typeface="楷体_GB2312" pitchFamily="49" charset="-122"/>
              </a:rPr>
              <a:t>各种物体</a:t>
            </a:r>
            <a:r>
              <a:rPr lang="zh-CN" altLang="en-US" sz="2600" dirty="0">
                <a:latin typeface="Times New Roman" panose="02020603050405020304" pitchFamily="18" charset="0"/>
                <a:ea typeface="楷体_GB2312" pitchFamily="49" charset="-122"/>
              </a:rPr>
              <a:t>的吸收、放射能力与</a:t>
            </a:r>
            <a:r>
              <a:rPr lang="zh-CN" altLang="en-US" sz="2600" dirty="0">
                <a:solidFill>
                  <a:srgbClr val="CC00CC"/>
                </a:solidFill>
                <a:latin typeface="Times New Roman" panose="02020603050405020304" pitchFamily="18" charset="0"/>
                <a:ea typeface="楷体_GB2312" pitchFamily="49" charset="-122"/>
              </a:rPr>
              <a:t>黑体</a:t>
            </a:r>
            <a:r>
              <a:rPr lang="zh-CN" altLang="en-US" sz="2600" dirty="0">
                <a:latin typeface="Times New Roman" panose="02020603050405020304" pitchFamily="18" charset="0"/>
                <a:ea typeface="楷体_GB2312" pitchFamily="49" charset="-122"/>
              </a:rPr>
              <a:t>的吸收放射能力联系起来。</a:t>
            </a:r>
            <a:endParaRPr lang="zh-CN" altLang="en-US" sz="2600" dirty="0">
              <a:latin typeface="Times New Roman" panose="02020603050405020304" pitchFamily="18" charset="0"/>
              <a:ea typeface="楷体_GB2312" pitchFamily="49" charset="-122"/>
            </a:endParaRPr>
          </a:p>
        </p:txBody>
      </p:sp>
      <p:graphicFrame>
        <p:nvGraphicFramePr>
          <p:cNvPr id="43011" name="Object 2"/>
          <p:cNvGraphicFramePr>
            <a:graphicFrameLocks noChangeAspect="1"/>
          </p:cNvGraphicFramePr>
          <p:nvPr/>
        </p:nvGraphicFramePr>
        <p:xfrm>
          <a:off x="2916238" y="2798763"/>
          <a:ext cx="3168650" cy="990600"/>
        </p:xfrm>
        <a:graphic>
          <a:graphicData uri="http://schemas.openxmlformats.org/presentationml/2006/ole">
            <mc:AlternateContent xmlns:mc="http://schemas.openxmlformats.org/markup-compatibility/2006">
              <mc:Choice xmlns:v="urn:schemas-microsoft-com:vml" Requires="v">
                <p:oleObj spid="_x0000_s3085" name="" r:id="rId1" imgW="761365" imgH="241300" progId="Equation.DSMT4">
                  <p:embed/>
                </p:oleObj>
              </mc:Choice>
              <mc:Fallback>
                <p:oleObj name="" r:id="rId1" imgW="761365" imgH="241300" progId="Equation.DSMT4">
                  <p:embed/>
                  <p:pic>
                    <p:nvPicPr>
                      <p:cNvPr id="0" name="图片 3084"/>
                      <p:cNvPicPr/>
                      <p:nvPr/>
                    </p:nvPicPr>
                    <p:blipFill>
                      <a:blip r:embed="rId2"/>
                      <a:stretch>
                        <a:fillRect/>
                      </a:stretch>
                    </p:blipFill>
                    <p:spPr>
                      <a:xfrm>
                        <a:off x="2916238" y="2798763"/>
                        <a:ext cx="3168650" cy="990600"/>
                      </a:xfrm>
                      <a:prstGeom prst="rect">
                        <a:avLst/>
                      </a:prstGeom>
                      <a:noFill/>
                      <a:ln w="38100">
                        <a:noFill/>
                        <a:miter/>
                      </a:ln>
                    </p:spPr>
                  </p:pic>
                </p:oleObj>
              </mc:Fallback>
            </mc:AlternateContent>
          </a:graphicData>
        </a:graphic>
      </p:graphicFrame>
      <p:sp>
        <p:nvSpPr>
          <p:cNvPr id="43012" name="Rectangle 5"/>
          <p:cNvSpPr/>
          <p:nvPr/>
        </p:nvSpPr>
        <p:spPr>
          <a:xfrm>
            <a:off x="1371600" y="71438"/>
            <a:ext cx="7772400" cy="814387"/>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en-US" altLang="zh-CN" sz="4000" dirty="0">
                <a:solidFill>
                  <a:srgbClr val="FFFF00"/>
                </a:solidFill>
                <a:latin typeface="Arial" panose="020B0604020202020204" pitchFamily="34" charset="0"/>
                <a:ea typeface="楷体_GB2312" pitchFamily="49" charset="-122"/>
              </a:rPr>
              <a:t>4. </a:t>
            </a:r>
            <a:r>
              <a:rPr lang="zh-CN" altLang="en-US" sz="4000" dirty="0">
                <a:solidFill>
                  <a:srgbClr val="FFFF00"/>
                </a:solidFill>
                <a:latin typeface="Arial" panose="020B0604020202020204" pitchFamily="34" charset="0"/>
                <a:ea typeface="楷体_GB2312" pitchFamily="49" charset="-122"/>
              </a:rPr>
              <a:t>基尔霍夫（</a:t>
            </a:r>
            <a:r>
              <a:rPr lang="en-US" altLang="zh-CN" sz="4000" dirty="0">
                <a:solidFill>
                  <a:srgbClr val="FFFF00"/>
                </a:solidFill>
                <a:latin typeface="Arial" panose="020B0604020202020204" pitchFamily="34" charset="0"/>
                <a:ea typeface="楷体_GB2312" pitchFamily="49" charset="-122"/>
              </a:rPr>
              <a:t>Kirchhoff</a:t>
            </a:r>
            <a:r>
              <a:rPr lang="zh-CN" altLang="en-US" sz="4000" dirty="0">
                <a:solidFill>
                  <a:srgbClr val="FFFF00"/>
                </a:solidFill>
                <a:latin typeface="Arial" panose="020B0604020202020204" pitchFamily="34" charset="0"/>
                <a:ea typeface="楷体_GB2312" pitchFamily="49" charset="-122"/>
              </a:rPr>
              <a:t>）定律</a:t>
            </a:r>
            <a:r>
              <a:rPr lang="zh-CN" altLang="en-US" sz="4000" b="0" i="1" dirty="0">
                <a:solidFill>
                  <a:srgbClr val="FFFF00"/>
                </a:solidFill>
                <a:latin typeface="Arial" panose="020B0604020202020204" pitchFamily="34" charset="0"/>
                <a:ea typeface="楷体_GB2312" pitchFamily="49" charset="-122"/>
              </a:rPr>
              <a:t> </a:t>
            </a:r>
            <a:endParaRPr lang="zh-CN" altLang="en-US" sz="4000" b="0" i="1" dirty="0">
              <a:solidFill>
                <a:srgbClr val="FFFF00"/>
              </a:solidFill>
              <a:latin typeface="Arial" panose="020B0604020202020204" pitchFamily="34" charset="0"/>
              <a:ea typeface="楷体_GB2312" pitchFamily="49"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2"/>
          <p:cNvSpPr>
            <a:spLocks noGrp="1"/>
          </p:cNvSpPr>
          <p:nvPr>
            <p:ph idx="1"/>
          </p:nvPr>
        </p:nvSpPr>
        <p:spPr>
          <a:xfrm>
            <a:off x="1331913" y="1844675"/>
            <a:ext cx="6873875" cy="4114800"/>
          </a:xfrm>
          <a:ln/>
        </p:spPr>
        <p:txBody>
          <a:bodyPr vert="horz" wrap="square" lIns="91440" tIns="45720" rIns="91440" bIns="45720" anchor="t" anchorCtr="0"/>
          <a:p>
            <a:pPr eaLnBrk="1" hangingPunct="1">
              <a:lnSpc>
                <a:spcPct val="150000"/>
              </a:lnSpc>
            </a:pPr>
            <a:r>
              <a:rPr lang="zh-CN" altLang="en-US" dirty="0">
                <a:ea typeface="宋体" panose="02010600030101010101" pitchFamily="2" charset="-122"/>
              </a:rPr>
              <a:t>有了上述四个规律，黑体辐射的规律就全部确定了。</a:t>
            </a:r>
            <a:endParaRPr lang="en-US" altLang="zh-CN" dirty="0">
              <a:ea typeface="宋体" panose="02010600030101010101" pitchFamily="2" charset="-122"/>
            </a:endParaRPr>
          </a:p>
          <a:p>
            <a:pPr eaLnBrk="1" hangingPunct="1">
              <a:lnSpc>
                <a:spcPct val="150000"/>
              </a:lnSpc>
            </a:pPr>
            <a:r>
              <a:rPr lang="zh-CN" altLang="en-US" dirty="0">
                <a:ea typeface="宋体" panose="02010600030101010101" pitchFamily="2" charset="-122"/>
              </a:rPr>
              <a:t>对于非黑体，只要知道了它的温度与吸收率，通过基尔霍夫定律，其辐射光谱也就确定了。</a:t>
            </a:r>
            <a:endParaRPr lang="en-US" altLang="zh-CN" dirty="0">
              <a:ea typeface="宋体" panose="02010600030101010101" pitchFamily="2" charset="-122"/>
            </a:endParaRPr>
          </a:p>
          <a:p>
            <a:pPr eaLnBrk="1" hangingPunct="1">
              <a:lnSpc>
                <a:spcPct val="150000"/>
              </a:lnSpc>
              <a:buNone/>
            </a:pPr>
            <a:endParaRPr lang="en-US" altLang="zh-CN" dirty="0">
              <a:ea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6082" name="Picture 2"/>
          <p:cNvPicPr>
            <a:picLocks noChangeAspect="1"/>
          </p:cNvPicPr>
          <p:nvPr/>
        </p:nvPicPr>
        <p:blipFill>
          <a:blip r:embed="rId1"/>
          <a:stretch>
            <a:fillRect/>
          </a:stretch>
        </p:blipFill>
        <p:spPr>
          <a:xfrm>
            <a:off x="1428750" y="1228725"/>
            <a:ext cx="6170613" cy="5629275"/>
          </a:xfrm>
          <a:prstGeom prst="rect">
            <a:avLst/>
          </a:prstGeom>
          <a:noFill/>
          <a:ln w="9525">
            <a:noFill/>
          </a:ln>
        </p:spPr>
      </p:pic>
      <p:sp>
        <p:nvSpPr>
          <p:cNvPr id="46083" name="Rectangle 3"/>
          <p:cNvSpPr>
            <a:spLocks noGrp="1"/>
          </p:cNvSpPr>
          <p:nvPr>
            <p:ph type="title"/>
          </p:nvPr>
        </p:nvSpPr>
        <p:spPr>
          <a:xfrm>
            <a:off x="1357313" y="0"/>
            <a:ext cx="7786687" cy="814388"/>
          </a:xfrm>
          <a:ln/>
        </p:spPr>
        <p:txBody>
          <a:bodyPr vert="horz" wrap="square" lIns="91440" tIns="45720" rIns="91440" bIns="45720" anchor="b" anchorCtr="0"/>
          <a:p>
            <a:pPr algn="ctr"/>
            <a:r>
              <a:rPr lang="zh-CN" altLang="en-US" sz="3600" dirty="0">
                <a:solidFill>
                  <a:srgbClr val="FFFF00"/>
                </a:solidFill>
                <a:latin typeface="Times New Roman" panose="02020603050405020304" pitchFamily="18" charset="0"/>
              </a:rPr>
              <a:t>三、太阳辐射和地球辐射</a:t>
            </a:r>
            <a:endParaRPr lang="zh-CN" altLang="en-US" sz="3600" dirty="0">
              <a:solidFill>
                <a:srgbClr val="FFFF00"/>
              </a:solidFill>
              <a:latin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2"/>
          <p:cNvSpPr>
            <a:spLocks noGrp="1"/>
          </p:cNvSpPr>
          <p:nvPr>
            <p:ph idx="1"/>
          </p:nvPr>
        </p:nvSpPr>
        <p:spPr>
          <a:xfrm>
            <a:off x="231775" y="1557338"/>
            <a:ext cx="8443913" cy="4824412"/>
          </a:xfrm>
          <a:ln/>
        </p:spPr>
        <p:txBody>
          <a:bodyPr vert="horz" wrap="square" lIns="0" tIns="0" rIns="0" bIns="0" anchor="t" anchorCtr="0"/>
          <a:p>
            <a:pPr lvl="1">
              <a:lnSpc>
                <a:spcPct val="130000"/>
              </a:lnSpc>
              <a:spcBef>
                <a:spcPct val="25000"/>
              </a:spcBef>
              <a:spcAft>
                <a:spcPct val="25000"/>
              </a:spcAft>
              <a:buFontTx/>
              <a:buChar char="•"/>
            </a:pPr>
            <a:r>
              <a:rPr lang="zh-CN" altLang="en-US" sz="2600" dirty="0">
                <a:latin typeface="Times New Roman" panose="02020603050405020304" pitchFamily="18" charset="0"/>
                <a:ea typeface="楷体_GB2312" pitchFamily="49" charset="-122"/>
              </a:rPr>
              <a:t>太阳辐射的能量集中在</a:t>
            </a:r>
            <a:r>
              <a:rPr lang="en-US" altLang="zh-CN" sz="2600" dirty="0">
                <a:solidFill>
                  <a:srgbClr val="008000"/>
                </a:solidFill>
                <a:latin typeface="Times New Roman" panose="02020603050405020304" pitchFamily="18" charset="0"/>
                <a:ea typeface="楷体_GB2312" pitchFamily="49" charset="-122"/>
              </a:rPr>
              <a:t>0.17 </a:t>
            </a:r>
            <a:r>
              <a:rPr lang="en-US" altLang="zh-CN" sz="2600" dirty="0">
                <a:solidFill>
                  <a:srgbClr val="008000"/>
                </a:solidFill>
                <a:latin typeface="Times New Roman" panose="02020603050405020304" pitchFamily="18" charset="0"/>
                <a:ea typeface="楷体_GB2312" pitchFamily="49" charset="-122"/>
                <a:sym typeface="Symbol" panose="05050102010706020507" pitchFamily="18" charset="2"/>
              </a:rPr>
              <a:t>m</a:t>
            </a:r>
            <a:r>
              <a:rPr lang="en-US" altLang="zh-CN" sz="2600" dirty="0">
                <a:solidFill>
                  <a:srgbClr val="008000"/>
                </a:solidFill>
                <a:latin typeface="Times New Roman" panose="02020603050405020304" pitchFamily="18" charset="0"/>
                <a:ea typeface="楷体_GB2312" pitchFamily="49" charset="-122"/>
              </a:rPr>
              <a:t>-4.0 </a:t>
            </a:r>
            <a:r>
              <a:rPr lang="en-US" altLang="zh-CN" sz="2600" dirty="0">
                <a:solidFill>
                  <a:srgbClr val="008000"/>
                </a:solidFill>
                <a:latin typeface="Times New Roman" panose="02020603050405020304" pitchFamily="18" charset="0"/>
                <a:ea typeface="楷体_GB2312" pitchFamily="49" charset="-122"/>
                <a:sym typeface="Symbol" panose="05050102010706020507" pitchFamily="18" charset="2"/>
              </a:rPr>
              <a:t>m</a:t>
            </a:r>
            <a:r>
              <a:rPr lang="zh-CN" altLang="en-US" sz="2600" dirty="0">
                <a:latin typeface="Times New Roman" panose="02020603050405020304" pitchFamily="18" charset="0"/>
                <a:ea typeface="楷体_GB2312" pitchFamily="49" charset="-122"/>
              </a:rPr>
              <a:t>之间</a:t>
            </a:r>
            <a:endParaRPr lang="zh-CN" altLang="en-US" sz="2600" dirty="0">
              <a:latin typeface="Times New Roman" panose="02020603050405020304" pitchFamily="18" charset="0"/>
              <a:ea typeface="楷体_GB2312" pitchFamily="49" charset="-122"/>
            </a:endParaRPr>
          </a:p>
          <a:p>
            <a:pPr lvl="1">
              <a:lnSpc>
                <a:spcPct val="130000"/>
              </a:lnSpc>
              <a:spcBef>
                <a:spcPct val="25000"/>
              </a:spcBef>
              <a:spcAft>
                <a:spcPct val="25000"/>
              </a:spcAft>
              <a:buFontTx/>
              <a:buChar char="•"/>
            </a:pPr>
            <a:r>
              <a:rPr lang="zh-CN" altLang="en-US" sz="2600" dirty="0">
                <a:latin typeface="Times New Roman" panose="02020603050405020304" pitchFamily="18" charset="0"/>
                <a:ea typeface="楷体_GB2312" pitchFamily="49" charset="-122"/>
              </a:rPr>
              <a:t>地球大气辐射的能量主要集中在</a:t>
            </a:r>
            <a:r>
              <a:rPr lang="en-US" altLang="zh-CN" sz="2600" dirty="0">
                <a:solidFill>
                  <a:srgbClr val="008000"/>
                </a:solidFill>
                <a:latin typeface="Times New Roman" panose="02020603050405020304" pitchFamily="18" charset="0"/>
                <a:ea typeface="楷体_GB2312" pitchFamily="49" charset="-122"/>
              </a:rPr>
              <a:t>4 </a:t>
            </a:r>
            <a:r>
              <a:rPr lang="en-US" altLang="zh-CN" sz="2600" dirty="0">
                <a:solidFill>
                  <a:srgbClr val="008000"/>
                </a:solidFill>
                <a:latin typeface="Times New Roman" panose="02020603050405020304" pitchFamily="18" charset="0"/>
                <a:ea typeface="楷体_GB2312" pitchFamily="49" charset="-122"/>
                <a:sym typeface="Symbol" panose="05050102010706020507" pitchFamily="18" charset="2"/>
              </a:rPr>
              <a:t>m</a:t>
            </a:r>
            <a:r>
              <a:rPr lang="en-US" altLang="zh-CN" sz="2600" dirty="0">
                <a:solidFill>
                  <a:srgbClr val="008000"/>
                </a:solidFill>
                <a:latin typeface="Times New Roman" panose="02020603050405020304" pitchFamily="18" charset="0"/>
                <a:ea typeface="楷体_GB2312" pitchFamily="49" charset="-122"/>
              </a:rPr>
              <a:t>-120 </a:t>
            </a:r>
            <a:r>
              <a:rPr lang="en-US" altLang="zh-CN" sz="2600" dirty="0">
                <a:solidFill>
                  <a:srgbClr val="008000"/>
                </a:solidFill>
                <a:latin typeface="Times New Roman" panose="02020603050405020304" pitchFamily="18" charset="0"/>
                <a:ea typeface="楷体_GB2312" pitchFamily="49" charset="-122"/>
                <a:sym typeface="Symbol" panose="05050102010706020507" pitchFamily="18" charset="2"/>
              </a:rPr>
              <a:t>m</a:t>
            </a:r>
            <a:r>
              <a:rPr lang="zh-CN" altLang="en-US" sz="2600" dirty="0">
                <a:latin typeface="Times New Roman" panose="02020603050405020304" pitchFamily="18" charset="0"/>
                <a:ea typeface="楷体_GB2312" pitchFamily="49" charset="-122"/>
              </a:rPr>
              <a:t>之间</a:t>
            </a:r>
            <a:endParaRPr lang="zh-CN" altLang="en-US" sz="2600" dirty="0">
              <a:latin typeface="Times New Roman" panose="02020603050405020304" pitchFamily="18" charset="0"/>
              <a:ea typeface="楷体_GB2312" pitchFamily="49" charset="-122"/>
            </a:endParaRPr>
          </a:p>
          <a:p>
            <a:pPr lvl="1">
              <a:lnSpc>
                <a:spcPct val="130000"/>
              </a:lnSpc>
              <a:spcBef>
                <a:spcPct val="25000"/>
              </a:spcBef>
              <a:spcAft>
                <a:spcPct val="25000"/>
              </a:spcAft>
              <a:buFontTx/>
              <a:buChar char="•"/>
            </a:pPr>
            <a:r>
              <a:rPr lang="zh-CN" altLang="en-US" sz="2600" dirty="0">
                <a:latin typeface="Times New Roman" panose="02020603050405020304" pitchFamily="18" charset="0"/>
                <a:ea typeface="楷体_GB2312" pitchFamily="49" charset="-122"/>
              </a:rPr>
              <a:t>在大气物理学中，常称</a:t>
            </a:r>
            <a:r>
              <a:rPr lang="zh-CN" altLang="en-US" sz="2600" dirty="0">
                <a:solidFill>
                  <a:srgbClr val="CC00CC"/>
                </a:solidFill>
                <a:latin typeface="Times New Roman" panose="02020603050405020304" pitchFamily="18" charset="0"/>
                <a:ea typeface="楷体_GB2312" pitchFamily="49" charset="-122"/>
              </a:rPr>
              <a:t>太阳辐射</a:t>
            </a:r>
            <a:r>
              <a:rPr lang="zh-CN" altLang="en-US" sz="2600" dirty="0">
                <a:latin typeface="Times New Roman" panose="02020603050405020304" pitchFamily="18" charset="0"/>
                <a:ea typeface="楷体_GB2312" pitchFamily="49" charset="-122"/>
              </a:rPr>
              <a:t>为</a:t>
            </a:r>
            <a:r>
              <a:rPr lang="zh-CN" altLang="en-US" sz="2600" dirty="0">
                <a:solidFill>
                  <a:srgbClr val="CC00CC"/>
                </a:solidFill>
                <a:latin typeface="Times New Roman" panose="02020603050405020304" pitchFamily="18" charset="0"/>
                <a:ea typeface="楷体_GB2312" pitchFamily="49" charset="-122"/>
              </a:rPr>
              <a:t>短波</a:t>
            </a:r>
            <a:r>
              <a:rPr lang="zh-CN" altLang="en-US" sz="2600" dirty="0">
                <a:latin typeface="Times New Roman" panose="02020603050405020304" pitchFamily="18" charset="0"/>
                <a:ea typeface="楷体_GB2312" pitchFamily="49" charset="-122"/>
              </a:rPr>
              <a:t>辐射</a:t>
            </a:r>
            <a:r>
              <a:rPr lang="en-US" altLang="zh-CN" sz="2600" dirty="0">
                <a:latin typeface="Times New Roman" panose="02020603050405020304" pitchFamily="18" charset="0"/>
                <a:ea typeface="楷体_GB2312" pitchFamily="49" charset="-122"/>
              </a:rPr>
              <a:t>;</a:t>
            </a:r>
            <a:endParaRPr lang="en-US" altLang="zh-CN" sz="2600" dirty="0">
              <a:latin typeface="Times New Roman" panose="02020603050405020304" pitchFamily="18" charset="0"/>
              <a:ea typeface="楷体_GB2312" pitchFamily="49" charset="-122"/>
            </a:endParaRPr>
          </a:p>
          <a:p>
            <a:pPr lvl="1">
              <a:lnSpc>
                <a:spcPct val="130000"/>
              </a:lnSpc>
              <a:spcBef>
                <a:spcPct val="25000"/>
              </a:spcBef>
              <a:spcAft>
                <a:spcPct val="25000"/>
              </a:spcAft>
              <a:buFontTx/>
              <a:buChar char="•"/>
            </a:pPr>
            <a:r>
              <a:rPr lang="zh-CN" altLang="en-US" sz="2600" dirty="0">
                <a:latin typeface="Times New Roman" panose="02020603050405020304" pitchFamily="18" charset="0"/>
                <a:ea typeface="楷体_GB2312" pitchFamily="49" charset="-122"/>
              </a:rPr>
              <a:t>称</a:t>
            </a:r>
            <a:r>
              <a:rPr lang="zh-CN" altLang="en-US" sz="2600" dirty="0">
                <a:solidFill>
                  <a:srgbClr val="CC00CC"/>
                </a:solidFill>
                <a:latin typeface="Times New Roman" panose="02020603050405020304" pitchFamily="18" charset="0"/>
                <a:ea typeface="楷体_GB2312" pitchFamily="49" charset="-122"/>
              </a:rPr>
              <a:t>地球</a:t>
            </a:r>
            <a:r>
              <a:rPr lang="zh-CN" altLang="en-US" sz="2600" dirty="0">
                <a:latin typeface="Times New Roman" panose="02020603050405020304" pitchFamily="18" charset="0"/>
                <a:ea typeface="楷体_GB2312" pitchFamily="49" charset="-122"/>
              </a:rPr>
              <a:t>辐射和</a:t>
            </a:r>
            <a:r>
              <a:rPr lang="zh-CN" altLang="en-US" sz="2600" dirty="0">
                <a:solidFill>
                  <a:srgbClr val="CC00CC"/>
                </a:solidFill>
                <a:latin typeface="Times New Roman" panose="02020603050405020304" pitchFamily="18" charset="0"/>
                <a:ea typeface="楷体_GB2312" pitchFamily="49" charset="-122"/>
              </a:rPr>
              <a:t>大气</a:t>
            </a:r>
            <a:r>
              <a:rPr lang="zh-CN" altLang="en-US" sz="2600" dirty="0">
                <a:latin typeface="Times New Roman" panose="02020603050405020304" pitchFamily="18" charset="0"/>
                <a:ea typeface="楷体_GB2312" pitchFamily="49" charset="-122"/>
              </a:rPr>
              <a:t>辐射为</a:t>
            </a:r>
            <a:r>
              <a:rPr lang="zh-CN" altLang="en-US" sz="2600" dirty="0">
                <a:solidFill>
                  <a:srgbClr val="CC00CC"/>
                </a:solidFill>
                <a:latin typeface="Times New Roman" panose="02020603050405020304" pitchFamily="18" charset="0"/>
                <a:ea typeface="楷体_GB2312" pitchFamily="49" charset="-122"/>
              </a:rPr>
              <a:t>长波</a:t>
            </a:r>
            <a:r>
              <a:rPr lang="zh-CN" altLang="en-US" sz="2600" dirty="0">
                <a:latin typeface="Times New Roman" panose="02020603050405020304" pitchFamily="18" charset="0"/>
                <a:ea typeface="楷体_GB2312" pitchFamily="49" charset="-122"/>
              </a:rPr>
              <a:t>辐射。</a:t>
            </a:r>
            <a:endParaRPr lang="en-US" altLang="zh-CN" sz="2600" dirty="0">
              <a:latin typeface="Times New Roman" panose="02020603050405020304" pitchFamily="18" charset="0"/>
              <a:ea typeface="楷体_GB2312" pitchFamily="49" charset="-122"/>
            </a:endParaRPr>
          </a:p>
          <a:p>
            <a:pPr lvl="1">
              <a:lnSpc>
                <a:spcPct val="130000"/>
              </a:lnSpc>
              <a:spcBef>
                <a:spcPct val="25000"/>
              </a:spcBef>
              <a:spcAft>
                <a:spcPct val="25000"/>
              </a:spcAft>
              <a:buFontTx/>
              <a:buChar char="•"/>
            </a:pPr>
            <a:r>
              <a:rPr lang="zh-CN" altLang="en-US" sz="2600" dirty="0">
                <a:latin typeface="Times New Roman" panose="02020603050405020304" pitchFamily="18" charset="0"/>
                <a:ea typeface="楷体_GB2312" pitchFamily="49" charset="-122"/>
              </a:rPr>
              <a:t>短波和长波辐射以</a:t>
            </a:r>
            <a:r>
              <a:rPr lang="en-US" altLang="zh-CN" sz="2600" dirty="0">
                <a:solidFill>
                  <a:srgbClr val="CC00CC"/>
                </a:solidFill>
                <a:latin typeface="Times New Roman" panose="02020603050405020304" pitchFamily="18" charset="0"/>
                <a:ea typeface="楷体_GB2312" pitchFamily="49" charset="-122"/>
              </a:rPr>
              <a:t>4 </a:t>
            </a:r>
            <a:r>
              <a:rPr lang="en-US" altLang="zh-CN" sz="2600" dirty="0">
                <a:solidFill>
                  <a:srgbClr val="CC00CC"/>
                </a:solidFill>
                <a:latin typeface="Times New Roman" panose="02020603050405020304" pitchFamily="18" charset="0"/>
                <a:ea typeface="楷体_GB2312" pitchFamily="49" charset="-122"/>
                <a:sym typeface="Symbol" panose="05050102010706020507" pitchFamily="18" charset="2"/>
              </a:rPr>
              <a:t>m</a:t>
            </a:r>
            <a:r>
              <a:rPr lang="zh-CN" altLang="en-US" sz="2600" dirty="0">
                <a:latin typeface="Times New Roman" panose="02020603050405020304" pitchFamily="18" charset="0"/>
                <a:ea typeface="楷体_GB2312" pitchFamily="49" charset="-122"/>
              </a:rPr>
              <a:t>分界。</a:t>
            </a:r>
            <a:endParaRPr lang="en-US" altLang="zh-CN" sz="2600" dirty="0">
              <a:latin typeface="Times New Roman" panose="02020603050405020304" pitchFamily="18" charset="0"/>
              <a:ea typeface="楷体_GB2312" pitchFamily="49" charset="-122"/>
            </a:endParaRPr>
          </a:p>
          <a:p>
            <a:pPr lvl="1">
              <a:lnSpc>
                <a:spcPct val="130000"/>
              </a:lnSpc>
              <a:spcBef>
                <a:spcPct val="25000"/>
              </a:spcBef>
              <a:spcAft>
                <a:spcPct val="25000"/>
              </a:spcAft>
              <a:buFontTx/>
              <a:buChar char="•"/>
            </a:pPr>
            <a:r>
              <a:rPr lang="zh-CN" altLang="en-US" sz="2600" dirty="0">
                <a:latin typeface="Times New Roman" panose="02020603050405020304" pitchFamily="18" charset="0"/>
                <a:ea typeface="楷体_GB2312" pitchFamily="49" charset="-122"/>
              </a:rPr>
              <a:t>在太阳光谱中，可见光区（</a:t>
            </a:r>
            <a:r>
              <a:rPr lang="en-US" altLang="zh-CN" sz="2600" dirty="0">
                <a:solidFill>
                  <a:srgbClr val="008000"/>
                </a:solidFill>
                <a:latin typeface="Times New Roman" panose="02020603050405020304" pitchFamily="18" charset="0"/>
                <a:ea typeface="楷体_GB2312" pitchFamily="49" charset="-122"/>
              </a:rPr>
              <a:t>0.40-0.76</a:t>
            </a:r>
            <a:r>
              <a:rPr lang="en-US" altLang="zh-CN" sz="2600" dirty="0">
                <a:solidFill>
                  <a:srgbClr val="008000"/>
                </a:solidFill>
                <a:latin typeface="Times New Roman" panose="02020603050405020304" pitchFamily="18" charset="0"/>
                <a:ea typeface="楷体_GB2312" pitchFamily="49" charset="-122"/>
                <a:sym typeface="Symbol" panose="05050102010706020507" pitchFamily="18" charset="2"/>
              </a:rPr>
              <a:t> m</a:t>
            </a:r>
            <a:r>
              <a:rPr lang="zh-CN" altLang="en-US" sz="2600" dirty="0">
                <a:latin typeface="Times New Roman" panose="02020603050405020304" pitchFamily="18" charset="0"/>
                <a:ea typeface="楷体_GB2312" pitchFamily="49" charset="-122"/>
              </a:rPr>
              <a:t>）的能量占积分能量的</a:t>
            </a:r>
            <a:r>
              <a:rPr lang="en-US" altLang="zh-CN" sz="2600" dirty="0">
                <a:latin typeface="Times New Roman" panose="02020603050405020304" pitchFamily="18" charset="0"/>
                <a:ea typeface="楷体_GB2312" pitchFamily="49" charset="-122"/>
              </a:rPr>
              <a:t>44%</a:t>
            </a:r>
            <a:r>
              <a:rPr lang="zh-CN" altLang="en-US" sz="2600" dirty="0">
                <a:latin typeface="Times New Roman" panose="02020603050405020304" pitchFamily="18" charset="0"/>
                <a:ea typeface="楷体_GB2312" pitchFamily="49" charset="-122"/>
              </a:rPr>
              <a:t>，紫外区占</a:t>
            </a:r>
            <a:r>
              <a:rPr lang="en-US" altLang="zh-CN" sz="2600" dirty="0">
                <a:latin typeface="Times New Roman" panose="02020603050405020304" pitchFamily="18" charset="0"/>
                <a:ea typeface="楷体_GB2312" pitchFamily="49" charset="-122"/>
              </a:rPr>
              <a:t>8%</a:t>
            </a:r>
            <a:r>
              <a:rPr lang="zh-CN" altLang="en-US" sz="2600" dirty="0">
                <a:latin typeface="Times New Roman" panose="02020603050405020304" pitchFamily="18" charset="0"/>
                <a:ea typeface="楷体_GB2312" pitchFamily="49" charset="-122"/>
              </a:rPr>
              <a:t>，红外区占</a:t>
            </a:r>
            <a:r>
              <a:rPr lang="en-US" altLang="zh-CN" sz="2600" dirty="0">
                <a:latin typeface="Times New Roman" panose="02020603050405020304" pitchFamily="18" charset="0"/>
                <a:ea typeface="楷体_GB2312" pitchFamily="49" charset="-122"/>
              </a:rPr>
              <a:t>48%</a:t>
            </a:r>
            <a:r>
              <a:rPr lang="zh-CN" altLang="en-US" sz="2600" dirty="0">
                <a:latin typeface="Times New Roman" panose="02020603050405020304" pitchFamily="18" charset="0"/>
                <a:ea typeface="楷体_GB2312" pitchFamily="49" charset="-122"/>
              </a:rPr>
              <a:t>。</a:t>
            </a:r>
            <a:endParaRPr lang="zh-CN" altLang="en-US" sz="2600" dirty="0">
              <a:latin typeface="Times New Roman" panose="02020603050405020304" pitchFamily="18" charset="0"/>
              <a:ea typeface="楷体_GB2312" pitchFamily="49"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2"/>
          <p:cNvSpPr>
            <a:spLocks noGrp="1"/>
          </p:cNvSpPr>
          <p:nvPr>
            <p:ph idx="1"/>
          </p:nvPr>
        </p:nvSpPr>
        <p:spPr>
          <a:xfrm>
            <a:off x="519113" y="1412875"/>
            <a:ext cx="8229600" cy="4679950"/>
          </a:xfrm>
          <a:ln/>
        </p:spPr>
        <p:txBody>
          <a:bodyPr vert="horz" wrap="square" lIns="91440" tIns="45720" rIns="91440" bIns="45720" anchor="t" anchorCtr="0"/>
          <a:p>
            <a:pPr lvl="1">
              <a:spcAft>
                <a:spcPct val="20000"/>
              </a:spcAft>
              <a:buFont typeface="Arial" panose="020B0604020202020204" pitchFamily="34" charset="0"/>
              <a:buChar char="•"/>
            </a:pPr>
            <a:r>
              <a:rPr lang="zh-CN" altLang="en-US" sz="2000" dirty="0">
                <a:latin typeface="Times New Roman" panose="02020603050405020304" pitchFamily="18" charset="0"/>
                <a:ea typeface="楷体_GB2312" pitchFamily="49" charset="-122"/>
              </a:rPr>
              <a:t>在所有的波长，太阳表面的辐射通量都远大于地球表面辐射通量</a:t>
            </a:r>
            <a:endParaRPr lang="en-US" altLang="zh-CN" sz="2000" dirty="0">
              <a:latin typeface="Times New Roman" panose="02020603050405020304" pitchFamily="18" charset="0"/>
              <a:ea typeface="楷体_GB2312" pitchFamily="49" charset="-122"/>
            </a:endParaRPr>
          </a:p>
          <a:p>
            <a:pPr lvl="1">
              <a:spcAft>
                <a:spcPct val="20000"/>
              </a:spcAft>
              <a:buFont typeface="Arial" panose="020B0604020202020204" pitchFamily="34" charset="0"/>
              <a:buChar char="•"/>
            </a:pPr>
            <a:endParaRPr lang="zh-CN" altLang="en-US" sz="1000" dirty="0">
              <a:latin typeface="Times New Roman" panose="02020603050405020304" pitchFamily="18" charset="0"/>
              <a:ea typeface="楷体_GB2312" pitchFamily="49" charset="-122"/>
            </a:endParaRPr>
          </a:p>
          <a:p>
            <a:pPr lvl="1">
              <a:spcAft>
                <a:spcPct val="20000"/>
              </a:spcAft>
              <a:buFontTx/>
              <a:buChar char="•"/>
            </a:pPr>
            <a:r>
              <a:rPr lang="zh-CN" altLang="en-US" sz="2000" dirty="0">
                <a:latin typeface="Times New Roman" panose="02020603050405020304" pitchFamily="18" charset="0"/>
                <a:ea typeface="楷体_GB2312" pitchFamily="49" charset="-122"/>
              </a:rPr>
              <a:t>但太阳辐射通量密度在传输过程中随距离的平方减小。在地球表面或离地面几百公里的范围内，在长波波段，地球的辐射通量密度远大于太阳的辐射通量密度，故常常可以忽略太阳的作用。</a:t>
            </a:r>
            <a:r>
              <a:rPr lang="zh-CN" altLang="en-US" sz="2000" dirty="0">
                <a:solidFill>
                  <a:srgbClr val="0066CC"/>
                </a:solidFill>
                <a:latin typeface="Times New Roman" panose="02020603050405020304" pitchFamily="18" charset="0"/>
                <a:ea typeface="楷体_GB2312" pitchFamily="49" charset="-122"/>
              </a:rPr>
              <a:t>例如，在大气上界，入射的太阳长波辐射通量密度</a:t>
            </a:r>
            <a:r>
              <a:rPr lang="en-US" altLang="zh-CN" sz="2000" dirty="0">
                <a:solidFill>
                  <a:srgbClr val="0066CC"/>
                </a:solidFill>
                <a:latin typeface="Times New Roman" panose="02020603050405020304" pitchFamily="18" charset="0"/>
                <a:ea typeface="楷体_GB2312" pitchFamily="49" charset="-122"/>
              </a:rPr>
              <a:t>10 Wm</a:t>
            </a:r>
            <a:r>
              <a:rPr lang="en-US" altLang="zh-CN" sz="2000" baseline="30000" dirty="0">
                <a:solidFill>
                  <a:srgbClr val="0066CC"/>
                </a:solidFill>
                <a:latin typeface="Times New Roman" panose="02020603050405020304" pitchFamily="18" charset="0"/>
                <a:ea typeface="楷体_GB2312" pitchFamily="49" charset="-122"/>
              </a:rPr>
              <a:t>-2</a:t>
            </a:r>
            <a:r>
              <a:rPr lang="zh-CN" altLang="en-US" sz="2000" dirty="0">
                <a:solidFill>
                  <a:srgbClr val="0066CC"/>
                </a:solidFill>
                <a:latin typeface="Times New Roman" panose="02020603050405020304" pitchFamily="18" charset="0"/>
                <a:ea typeface="楷体_GB2312" pitchFamily="49" charset="-122"/>
              </a:rPr>
              <a:t>，而地球出射的长波辐射通量密度约</a:t>
            </a:r>
            <a:r>
              <a:rPr lang="en-US" altLang="zh-CN" sz="2000" dirty="0">
                <a:solidFill>
                  <a:srgbClr val="0066CC"/>
                </a:solidFill>
                <a:latin typeface="Times New Roman" panose="02020603050405020304" pitchFamily="18" charset="0"/>
                <a:ea typeface="楷体_GB2312" pitchFamily="49" charset="-122"/>
              </a:rPr>
              <a:t>270 W m</a:t>
            </a:r>
            <a:r>
              <a:rPr lang="en-US" altLang="zh-CN" sz="2000" baseline="30000" dirty="0">
                <a:solidFill>
                  <a:srgbClr val="0066CC"/>
                </a:solidFill>
                <a:latin typeface="Times New Roman" panose="02020603050405020304" pitchFamily="18" charset="0"/>
                <a:ea typeface="楷体_GB2312" pitchFamily="49" charset="-122"/>
              </a:rPr>
              <a:t>-2</a:t>
            </a:r>
            <a:endParaRPr lang="en-US" altLang="zh-CN" sz="2000" baseline="30000" dirty="0">
              <a:solidFill>
                <a:srgbClr val="0066CC"/>
              </a:solidFill>
              <a:latin typeface="Times New Roman" panose="02020603050405020304" pitchFamily="18" charset="0"/>
              <a:ea typeface="楷体_GB2312" pitchFamily="49" charset="-122"/>
            </a:endParaRPr>
          </a:p>
          <a:p>
            <a:pPr lvl="1">
              <a:spcAft>
                <a:spcPct val="20000"/>
              </a:spcAft>
              <a:buFontTx/>
              <a:buChar char="•"/>
            </a:pPr>
            <a:endParaRPr lang="en-US" altLang="zh-CN" sz="1000" dirty="0">
              <a:solidFill>
                <a:srgbClr val="0066CC"/>
              </a:solidFill>
              <a:latin typeface="Times New Roman" panose="02020603050405020304" pitchFamily="18" charset="0"/>
              <a:ea typeface="楷体_GB2312" pitchFamily="49" charset="-122"/>
            </a:endParaRPr>
          </a:p>
          <a:p>
            <a:pPr lvl="1">
              <a:spcAft>
                <a:spcPct val="20000"/>
              </a:spcAft>
              <a:buFontTx/>
              <a:buChar char="•"/>
            </a:pPr>
            <a:r>
              <a:rPr lang="zh-CN" altLang="en-US" sz="2000" dirty="0">
                <a:latin typeface="Times New Roman" panose="02020603050405020304" pitchFamily="18" charset="0"/>
                <a:ea typeface="楷体_GB2312" pitchFamily="49" charset="-122"/>
              </a:rPr>
              <a:t>对可见光和近红外波段，可只考虑太阳辐射，忽略地球大气辐射</a:t>
            </a:r>
            <a:endParaRPr lang="en-US" altLang="zh-CN" sz="2000" dirty="0">
              <a:latin typeface="Times New Roman" panose="02020603050405020304" pitchFamily="18" charset="0"/>
              <a:ea typeface="楷体_GB2312" pitchFamily="49" charset="-122"/>
            </a:endParaRPr>
          </a:p>
          <a:p>
            <a:pPr lvl="1">
              <a:spcAft>
                <a:spcPct val="20000"/>
              </a:spcAft>
              <a:buFontTx/>
              <a:buChar char="•"/>
            </a:pPr>
            <a:endParaRPr lang="en-US" altLang="zh-CN" sz="1000" dirty="0">
              <a:latin typeface="Times New Roman" panose="02020603050405020304" pitchFamily="18" charset="0"/>
              <a:ea typeface="楷体_GB2312" pitchFamily="49" charset="-122"/>
            </a:endParaRPr>
          </a:p>
          <a:p>
            <a:pPr lvl="1">
              <a:spcAft>
                <a:spcPct val="20000"/>
              </a:spcAft>
              <a:buFontTx/>
              <a:buChar char="•"/>
            </a:pPr>
            <a:r>
              <a:rPr lang="zh-CN" altLang="en-US" sz="2000" dirty="0">
                <a:latin typeface="Times New Roman" panose="02020603050405020304" pitchFamily="18" charset="0"/>
                <a:ea typeface="楷体_GB2312" pitchFamily="49" charset="-122"/>
              </a:rPr>
              <a:t>对于红外和微波波段可只考虑地气热辐射</a:t>
            </a:r>
            <a:endParaRPr lang="en-US" altLang="zh-CN" sz="2000" dirty="0">
              <a:latin typeface="Times New Roman" panose="02020603050405020304" pitchFamily="18" charset="0"/>
              <a:ea typeface="楷体_GB2312" pitchFamily="49" charset="-122"/>
            </a:endParaRPr>
          </a:p>
          <a:p>
            <a:pPr lvl="1">
              <a:spcAft>
                <a:spcPct val="20000"/>
              </a:spcAft>
              <a:buFontTx/>
              <a:buChar char="•"/>
            </a:pPr>
            <a:endParaRPr lang="zh-CN" altLang="en-US" sz="1000" dirty="0">
              <a:latin typeface="Times New Roman" panose="02020603050405020304" pitchFamily="18" charset="0"/>
              <a:ea typeface="楷体_GB2312" pitchFamily="49" charset="-122"/>
            </a:endParaRPr>
          </a:p>
          <a:p>
            <a:pPr lvl="1">
              <a:spcAft>
                <a:spcPct val="20000"/>
              </a:spcAft>
              <a:buFontTx/>
              <a:buChar char="•"/>
            </a:pPr>
            <a:r>
              <a:rPr lang="zh-CN" altLang="en-US" sz="2000" dirty="0">
                <a:latin typeface="Times New Roman" panose="02020603050405020304" pitchFamily="18" charset="0"/>
                <a:ea typeface="楷体_GB2312" pitchFamily="49" charset="-122"/>
              </a:rPr>
              <a:t>对于过渡区域</a:t>
            </a:r>
            <a:r>
              <a:rPr lang="en-US" altLang="zh-CN" sz="2000" dirty="0">
                <a:latin typeface="Times New Roman" panose="02020603050405020304" pitchFamily="18" charset="0"/>
                <a:ea typeface="楷体_GB2312" pitchFamily="49" charset="-122"/>
              </a:rPr>
              <a:t>3-7 um</a:t>
            </a:r>
            <a:r>
              <a:rPr lang="zh-CN" altLang="en-US" sz="2000" dirty="0">
                <a:latin typeface="Times New Roman" panose="02020603050405020304" pitchFamily="18" charset="0"/>
                <a:ea typeface="楷体_GB2312" pitchFamily="49" charset="-122"/>
              </a:rPr>
              <a:t>，太阳、地球两者辐射通量密度数量级接近</a:t>
            </a:r>
            <a:endParaRPr lang="zh-CN" altLang="en-US" sz="2000" dirty="0">
              <a:latin typeface="Times New Roman" panose="02020603050405020304" pitchFamily="18" charset="0"/>
              <a:ea typeface="楷体_GB2312" pitchFamily="49" charset="-122"/>
            </a:endParaRPr>
          </a:p>
        </p:txBody>
      </p:sp>
      <p:sp>
        <p:nvSpPr>
          <p:cNvPr id="50179" name="Rectangle 3"/>
          <p:cNvSpPr>
            <a:spLocks noGrp="1"/>
          </p:cNvSpPr>
          <p:nvPr>
            <p:ph type="title"/>
          </p:nvPr>
        </p:nvSpPr>
        <p:spPr>
          <a:xfrm>
            <a:off x="1371600" y="142875"/>
            <a:ext cx="7772400" cy="777875"/>
          </a:xfrm>
          <a:ln/>
        </p:spPr>
        <p:txBody>
          <a:bodyPr vert="horz" wrap="square" lIns="91440" tIns="45720" rIns="91440" bIns="45720" anchor="b" anchorCtr="0"/>
          <a:p>
            <a:pPr algn="ctr"/>
            <a:r>
              <a:rPr lang="zh-CN" altLang="en-US" dirty="0">
                <a:solidFill>
                  <a:srgbClr val="FFFF00"/>
                </a:solidFill>
                <a:latin typeface="Times New Roman" panose="02020603050405020304" pitchFamily="18" charset="0"/>
              </a:rPr>
              <a:t>太阳辐射和地球辐射相对大小</a:t>
            </a:r>
            <a:endParaRPr lang="zh-CN" altLang="en-US" dirty="0">
              <a:solidFill>
                <a:srgbClr val="FFFF00"/>
              </a:solidFill>
              <a:latin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WordArt 3"/>
          <p:cNvSpPr>
            <a:spLocks noTextEdit="1"/>
          </p:cNvSpPr>
          <p:nvPr/>
        </p:nvSpPr>
        <p:spPr>
          <a:xfrm>
            <a:off x="3995738" y="1989138"/>
            <a:ext cx="1173162" cy="1008062"/>
          </a:xfrm>
          <a:prstGeom prst="rect">
            <a:avLst/>
          </a:prstGeom>
        </p:spPr>
        <p:txBody>
          <a:bodyPr wrap="none" fromWordArt="1">
            <a:prstTxWarp prst="textDeflate">
              <a:avLst>
                <a:gd name="adj" fmla="val 0"/>
              </a:avLst>
            </a:prstTxWarp>
            <a:normAutofit/>
          </a:bodyPr>
          <a:p>
            <a:pPr algn="ctr"/>
            <a:r>
              <a:rPr lang="zh-CN" altLang="en-US" sz="3600" b="1">
                <a:ln w="28575" cap="flat" cmpd="sng">
                  <a:solidFill>
                    <a:schemeClr val="bg1"/>
                  </a:solidFill>
                  <a:prstDash val="solid"/>
                  <a:headEnd type="none" w="med" len="med"/>
                  <a:tailEnd type="none" w="med" len="med"/>
                </a:ln>
                <a:solidFill>
                  <a:schemeClr val="folHlink">
                    <a:alpha val="76862"/>
                  </a:schemeClr>
                </a:solidFill>
                <a:effectLst>
                  <a:outerShdw dist="89803" dir="2699999" algn="ctr" rotWithShape="0">
                    <a:schemeClr val="tx2">
                      <a:alpha val="50000"/>
                    </a:schemeClr>
                  </a:outerShdw>
                </a:effectLst>
                <a:latin typeface="+mn-ea" charset="0"/>
                <a:ea typeface="+mn-ea" charset="0"/>
              </a:rPr>
              <a:t>完</a:t>
            </a:r>
            <a:endParaRPr lang="zh-CN" altLang="en-US" sz="3600" b="1">
              <a:ln w="28575" cap="flat" cmpd="sng">
                <a:solidFill>
                  <a:schemeClr val="bg1"/>
                </a:solidFill>
                <a:prstDash val="solid"/>
                <a:headEnd type="none" w="med" len="med"/>
                <a:tailEnd type="none" w="med" len="med"/>
              </a:ln>
              <a:solidFill>
                <a:schemeClr val="folHlink">
                  <a:alpha val="76862"/>
                </a:schemeClr>
              </a:solidFill>
              <a:effectLst>
                <a:outerShdw dist="89803" dir="2699999" algn="ctr" rotWithShape="0">
                  <a:schemeClr val="tx2">
                    <a:alpha val="50000"/>
                  </a:schemeClr>
                </a:outerShdw>
              </a:effectLst>
              <a:latin typeface="+mn-ea" charset="0"/>
              <a:ea typeface="+mn-ea"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2226"/>
                                        </p:tgtEl>
                                        <p:attrNameLst>
                                          <p:attrName>style.visibility</p:attrName>
                                        </p:attrNameLst>
                                      </p:cBhvr>
                                      <p:to>
                                        <p:strVal val="visible"/>
                                      </p:to>
                                    </p:set>
                                    <p:anim calcmode="lin" valueType="num">
                                      <p:cBhvr>
                                        <p:cTn id="7" dur="500" fill="hold"/>
                                        <p:tgtEl>
                                          <p:spTgt spid="52226"/>
                                        </p:tgtEl>
                                        <p:attrNameLst>
                                          <p:attrName>ppt_w</p:attrName>
                                        </p:attrNameLst>
                                      </p:cBhvr>
                                      <p:tavLst>
                                        <p:tav tm="0">
                                          <p:val>
                                            <p:fltVal val="0.000000"/>
                                          </p:val>
                                        </p:tav>
                                        <p:tav tm="100000">
                                          <p:val>
                                            <p:strVal val="#ppt_w"/>
                                          </p:val>
                                        </p:tav>
                                      </p:tavLst>
                                    </p:anim>
                                    <p:anim calcmode="lin" valueType="num">
                                      <p:cBhvr>
                                        <p:cTn id="8" dur="500" fill="hold"/>
                                        <p:tgtEl>
                                          <p:spTgt spid="52226"/>
                                        </p:tgtEl>
                                        <p:attrNameLst>
                                          <p:attrName>ppt_h</p:attrName>
                                        </p:attrNameLst>
                                      </p:cBhvr>
                                      <p:tavLst>
                                        <p:tav tm="0">
                                          <p:val>
                                            <p:fltVal val="0.000000"/>
                                          </p:val>
                                        </p:tav>
                                        <p:tav tm="100000">
                                          <p:val>
                                            <p:strVal val="#ppt_h"/>
                                          </p:val>
                                        </p:tav>
                                      </p:tavLst>
                                    </p:anim>
                                    <p:animEffect transition="in" filter="fade">
                                      <p:cBhvr>
                                        <p:cTn id="9" dur="500"/>
                                        <p:tgtEl>
                                          <p:spTgt spid="522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db2004132l">
  <a:themeElements>
    <a:clrScheme name="cdb2004132l 3">
      <a:dk1>
        <a:srgbClr val="1A1A70"/>
      </a:dk1>
      <a:lt1>
        <a:srgbClr val="FFFFFF"/>
      </a:lt1>
      <a:dk2>
        <a:srgbClr val="243D8C"/>
      </a:dk2>
      <a:lt2>
        <a:srgbClr val="DDDDDD"/>
      </a:lt2>
      <a:accent1>
        <a:srgbClr val="3E78C6"/>
      </a:accent1>
      <a:accent2>
        <a:srgbClr val="84A1E8"/>
      </a:accent2>
      <a:accent3>
        <a:srgbClr val="FFFFFF"/>
      </a:accent3>
      <a:accent4>
        <a:srgbClr val="14145F"/>
      </a:accent4>
      <a:accent5>
        <a:srgbClr val="AFBEDF"/>
      </a:accent5>
      <a:accent6>
        <a:srgbClr val="7791D2"/>
      </a:accent6>
      <a:hlink>
        <a:srgbClr val="90B54D"/>
      </a:hlink>
      <a:folHlink>
        <a:srgbClr val="F3C43F"/>
      </a:folHlink>
    </a:clrScheme>
    <a:fontScheme name="cdb2004132l">
      <a:majorFont>
        <a:latin typeface="楷体_GB2312"/>
        <a:ea typeface="楷体_GB2312"/>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cdb2004132l 1">
        <a:dk1>
          <a:srgbClr val="1D4940"/>
        </a:dk1>
        <a:lt1>
          <a:srgbClr val="FFFFFF"/>
        </a:lt1>
        <a:dk2>
          <a:srgbClr val="3F716F"/>
        </a:dk2>
        <a:lt2>
          <a:srgbClr val="DDDDDD"/>
        </a:lt2>
        <a:accent1>
          <a:srgbClr val="669E86"/>
        </a:accent1>
        <a:accent2>
          <a:srgbClr val="A2CAB4"/>
        </a:accent2>
        <a:accent3>
          <a:srgbClr val="FFFFFF"/>
        </a:accent3>
        <a:accent4>
          <a:srgbClr val="173D35"/>
        </a:accent4>
        <a:accent5>
          <a:srgbClr val="B8CCC3"/>
        </a:accent5>
        <a:accent6>
          <a:srgbClr val="92B7A3"/>
        </a:accent6>
        <a:hlink>
          <a:srgbClr val="8CA35F"/>
        </a:hlink>
        <a:folHlink>
          <a:srgbClr val="C1B05D"/>
        </a:folHlink>
      </a:clrScheme>
      <a:clrMap bg1="lt1" tx1="dk1" bg2="lt2" tx2="dk2" accent1="accent1" accent2="accent2" accent3="accent3" accent4="accent4" accent5="accent5" accent6="accent6" hlink="hlink" folHlink="folHlink"/>
    </a:extraClrScheme>
    <a:extraClrScheme>
      <a:clrScheme name="cdb2004132l 2">
        <a:dk1>
          <a:srgbClr val="2D4473"/>
        </a:dk1>
        <a:lt1>
          <a:srgbClr val="FFFFFF"/>
        </a:lt1>
        <a:dk2>
          <a:srgbClr val="2B6185"/>
        </a:dk2>
        <a:lt2>
          <a:srgbClr val="D3D9DD"/>
        </a:lt2>
        <a:accent1>
          <a:srgbClr val="638AA1"/>
        </a:accent1>
        <a:accent2>
          <a:srgbClr val="8CA8B5"/>
        </a:accent2>
        <a:accent3>
          <a:srgbClr val="FFFFFF"/>
        </a:accent3>
        <a:accent4>
          <a:srgbClr val="253961"/>
        </a:accent4>
        <a:accent5>
          <a:srgbClr val="B7C4CD"/>
        </a:accent5>
        <a:accent6>
          <a:srgbClr val="7E98A4"/>
        </a:accent6>
        <a:hlink>
          <a:srgbClr val="6FA2E7"/>
        </a:hlink>
        <a:folHlink>
          <a:srgbClr val="99C25C"/>
        </a:folHlink>
      </a:clrScheme>
      <a:clrMap bg1="lt1" tx1="dk1" bg2="lt2" tx2="dk2" accent1="accent1" accent2="accent2" accent3="accent3" accent4="accent4" accent5="accent5" accent6="accent6" hlink="hlink" folHlink="folHlink"/>
    </a:extraClrScheme>
    <a:extraClrScheme>
      <a:clrScheme name="cdb2004132l 3">
        <a:dk1>
          <a:srgbClr val="1A1A70"/>
        </a:dk1>
        <a:lt1>
          <a:srgbClr val="FFFFFF"/>
        </a:lt1>
        <a:dk2>
          <a:srgbClr val="243D8C"/>
        </a:dk2>
        <a:lt2>
          <a:srgbClr val="DDDDDD"/>
        </a:lt2>
        <a:accent1>
          <a:srgbClr val="3E78C6"/>
        </a:accent1>
        <a:accent2>
          <a:srgbClr val="84A1E8"/>
        </a:accent2>
        <a:accent3>
          <a:srgbClr val="FFFFFF"/>
        </a:accent3>
        <a:accent4>
          <a:srgbClr val="14145F"/>
        </a:accent4>
        <a:accent5>
          <a:srgbClr val="AFBEDF"/>
        </a:accent5>
        <a:accent6>
          <a:srgbClr val="7791D2"/>
        </a:accent6>
        <a:hlink>
          <a:srgbClr val="90B54D"/>
        </a:hlink>
        <a:folHlink>
          <a:srgbClr val="F3C43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db2004132l">
  <a:themeElements>
    <a:clrScheme name="1_cdb2004132l 3">
      <a:dk1>
        <a:srgbClr val="1A1A70"/>
      </a:dk1>
      <a:lt1>
        <a:srgbClr val="FFFFFF"/>
      </a:lt1>
      <a:dk2>
        <a:srgbClr val="243D8C"/>
      </a:dk2>
      <a:lt2>
        <a:srgbClr val="DDDDDD"/>
      </a:lt2>
      <a:accent1>
        <a:srgbClr val="3E78C6"/>
      </a:accent1>
      <a:accent2>
        <a:srgbClr val="84A1E8"/>
      </a:accent2>
      <a:accent3>
        <a:srgbClr val="FFFFFF"/>
      </a:accent3>
      <a:accent4>
        <a:srgbClr val="14145F"/>
      </a:accent4>
      <a:accent5>
        <a:srgbClr val="AFBEDF"/>
      </a:accent5>
      <a:accent6>
        <a:srgbClr val="7791D2"/>
      </a:accent6>
      <a:hlink>
        <a:srgbClr val="90B54D"/>
      </a:hlink>
      <a:folHlink>
        <a:srgbClr val="F3C43F"/>
      </a:folHlink>
    </a:clrScheme>
    <a:fontScheme name="1_cdb2004132l">
      <a:majorFont>
        <a:latin typeface="楷体_GB2312"/>
        <a:ea typeface="楷体_GB2312"/>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1_cdb2004132l 1">
        <a:dk1>
          <a:srgbClr val="1D4940"/>
        </a:dk1>
        <a:lt1>
          <a:srgbClr val="FFFFFF"/>
        </a:lt1>
        <a:dk2>
          <a:srgbClr val="3F716F"/>
        </a:dk2>
        <a:lt2>
          <a:srgbClr val="DDDDDD"/>
        </a:lt2>
        <a:accent1>
          <a:srgbClr val="669E86"/>
        </a:accent1>
        <a:accent2>
          <a:srgbClr val="A2CAB4"/>
        </a:accent2>
        <a:accent3>
          <a:srgbClr val="FFFFFF"/>
        </a:accent3>
        <a:accent4>
          <a:srgbClr val="173D35"/>
        </a:accent4>
        <a:accent5>
          <a:srgbClr val="B8CCC3"/>
        </a:accent5>
        <a:accent6>
          <a:srgbClr val="92B7A3"/>
        </a:accent6>
        <a:hlink>
          <a:srgbClr val="8CA35F"/>
        </a:hlink>
        <a:folHlink>
          <a:srgbClr val="C1B05D"/>
        </a:folHlink>
      </a:clrScheme>
      <a:clrMap bg1="lt1" tx1="dk1" bg2="lt2" tx2="dk2" accent1="accent1" accent2="accent2" accent3="accent3" accent4="accent4" accent5="accent5" accent6="accent6" hlink="hlink" folHlink="folHlink"/>
    </a:extraClrScheme>
    <a:extraClrScheme>
      <a:clrScheme name="1_cdb2004132l 2">
        <a:dk1>
          <a:srgbClr val="2D4473"/>
        </a:dk1>
        <a:lt1>
          <a:srgbClr val="FFFFFF"/>
        </a:lt1>
        <a:dk2>
          <a:srgbClr val="2B6185"/>
        </a:dk2>
        <a:lt2>
          <a:srgbClr val="D3D9DD"/>
        </a:lt2>
        <a:accent1>
          <a:srgbClr val="638AA1"/>
        </a:accent1>
        <a:accent2>
          <a:srgbClr val="8CA8B5"/>
        </a:accent2>
        <a:accent3>
          <a:srgbClr val="FFFFFF"/>
        </a:accent3>
        <a:accent4>
          <a:srgbClr val="253961"/>
        </a:accent4>
        <a:accent5>
          <a:srgbClr val="B7C4CD"/>
        </a:accent5>
        <a:accent6>
          <a:srgbClr val="7E98A4"/>
        </a:accent6>
        <a:hlink>
          <a:srgbClr val="6FA2E7"/>
        </a:hlink>
        <a:folHlink>
          <a:srgbClr val="99C25C"/>
        </a:folHlink>
      </a:clrScheme>
      <a:clrMap bg1="lt1" tx1="dk1" bg2="lt2" tx2="dk2" accent1="accent1" accent2="accent2" accent3="accent3" accent4="accent4" accent5="accent5" accent6="accent6" hlink="hlink" folHlink="folHlink"/>
    </a:extraClrScheme>
    <a:extraClrScheme>
      <a:clrScheme name="1_cdb2004132l 3">
        <a:dk1>
          <a:srgbClr val="1A1A70"/>
        </a:dk1>
        <a:lt1>
          <a:srgbClr val="FFFFFF"/>
        </a:lt1>
        <a:dk2>
          <a:srgbClr val="243D8C"/>
        </a:dk2>
        <a:lt2>
          <a:srgbClr val="DDDDDD"/>
        </a:lt2>
        <a:accent1>
          <a:srgbClr val="3E78C6"/>
        </a:accent1>
        <a:accent2>
          <a:srgbClr val="84A1E8"/>
        </a:accent2>
        <a:accent3>
          <a:srgbClr val="FFFFFF"/>
        </a:accent3>
        <a:accent4>
          <a:srgbClr val="14145F"/>
        </a:accent4>
        <a:accent5>
          <a:srgbClr val="AFBEDF"/>
        </a:accent5>
        <a:accent6>
          <a:srgbClr val="7791D2"/>
        </a:accent6>
        <a:hlink>
          <a:srgbClr val="90B54D"/>
        </a:hlink>
        <a:folHlink>
          <a:srgbClr val="F3C43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cdb2004132l</Template>
  <TotalTime>0</TotalTime>
  <Words>3051</Words>
  <Application>WPS 演示</Application>
  <PresentationFormat>全屏显示(4:3)</PresentationFormat>
  <Paragraphs>264</Paragraphs>
  <Slides>29</Slides>
  <Notes>19</Notes>
  <HiddenSlides>0</HiddenSlides>
  <MMClips>0</MMClips>
  <ScaleCrop>false</ScaleCrop>
  <HeadingPairs>
    <vt:vector size="8" baseType="variant">
      <vt:variant>
        <vt:lpstr>已用的字体</vt:lpstr>
      </vt:variant>
      <vt:variant>
        <vt:i4>25</vt:i4>
      </vt:variant>
      <vt:variant>
        <vt:lpstr>主题</vt:lpstr>
      </vt:variant>
      <vt:variant>
        <vt:i4>2</vt:i4>
      </vt:variant>
      <vt:variant>
        <vt:lpstr>嵌入 OLE 服务器</vt:lpstr>
      </vt:variant>
      <vt:variant>
        <vt:i4>19</vt:i4>
      </vt:variant>
      <vt:variant>
        <vt:lpstr>幻灯片标题</vt:lpstr>
      </vt:variant>
      <vt:variant>
        <vt:i4>29</vt:i4>
      </vt:variant>
    </vt:vector>
  </HeadingPairs>
  <TitlesOfParts>
    <vt:vector size="75" baseType="lpstr">
      <vt:lpstr>Arial</vt:lpstr>
      <vt:lpstr>宋体</vt:lpstr>
      <vt:lpstr>Wingdings</vt:lpstr>
      <vt:lpstr>楷体_GB2312</vt:lpstr>
      <vt:lpstr>新宋体</vt:lpstr>
      <vt:lpstr>Verdana</vt:lpstr>
      <vt:lpstr>Calibri</vt:lpstr>
      <vt:lpstr>Times New Roman</vt:lpstr>
      <vt:lpstr>Wingdings 2</vt:lpstr>
      <vt:lpstr>Wingdings</vt:lpstr>
      <vt:lpstr>Symbol</vt:lpstr>
      <vt:lpstr>MS PGothic</vt:lpstr>
      <vt:lpstr>隶书</vt:lpstr>
      <vt:lpstr>Arial Unicode MS</vt:lpstr>
      <vt:lpstr>PMingLiU</vt:lpstr>
      <vt:lpstr>Bookman Old Style</vt:lpstr>
      <vt:lpstr>Segoe Print</vt:lpstr>
      <vt:lpstr>Monotype Corsiva</vt:lpstr>
      <vt:lpstr>黑体</vt:lpstr>
      <vt:lpstr>dcr10</vt:lpstr>
      <vt:lpstr>Comic Sans MS</vt:lpstr>
      <vt:lpstr>dcbx10</vt:lpstr>
      <vt:lpstr>KSOF3FB35F8F</vt:lpstr>
      <vt:lpstr>微软雅黑</vt:lpstr>
      <vt:lpstr>+mn-ea</vt:lpstr>
      <vt:lpstr>cdb2004132l</vt:lpstr>
      <vt:lpstr>1_cdb2004132l</vt:lpstr>
      <vt:lpstr>Photoshop.Image.6</vt:lpstr>
      <vt:lpstr>Equation.3</vt:lpstr>
      <vt:lpstr>Equation.DSMT4</vt:lpstr>
      <vt:lpstr>Equation.DSMT4</vt:lpstr>
      <vt:lpstr>Equation.DSMT4</vt:lpstr>
      <vt:lpstr>Equation.DSMT4</vt:lpstr>
      <vt:lpstr>Equation.DSMT4</vt:lpstr>
      <vt:lpstr>Equation.3</vt:lpstr>
      <vt:lpstr>Equation.DSMT4</vt:lpstr>
      <vt:lpstr>Equation.3</vt:lpstr>
      <vt:lpstr>Equation.DSMT4</vt:lpstr>
      <vt:lpstr>Photoshop.Image.6</vt:lpstr>
      <vt:lpstr>Photoshop.Image.6</vt:lpstr>
      <vt:lpstr>Equation.3</vt:lpstr>
      <vt:lpstr>Equation.3</vt:lpstr>
      <vt:lpstr>Equation.3</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气象统计分析与预报方法 复习概要</dc:title>
  <dc:creator>User</dc:creator>
  <cp:lastModifiedBy>赵元丞</cp:lastModifiedBy>
  <cp:revision>582</cp:revision>
  <dcterms:created xsi:type="dcterms:W3CDTF">2008-12-05T07:55:53Z</dcterms:created>
  <dcterms:modified xsi:type="dcterms:W3CDTF">2026-10-10T00:50:50Z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2052-12.1.0.28802</vt:lpwstr>
  </property>
  <property fmtid="{D5CDD505-2E9C-101B-9397-08002B2CF9AE}" pid="3" name="ICV">
    <vt:lpwstr>35686C7F0F524CEE947EE2377C9E10AA_13</vt:lpwstr>
  </property>
</Properties>
</file>