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9"/>
  </p:notesMasterIdLst>
  <p:handoutMasterIdLst>
    <p:handoutMasterId r:id="rId40"/>
  </p:handoutMasterIdLst>
  <p:sldIdLst>
    <p:sldId id="941" r:id="rId3"/>
    <p:sldId id="922" r:id="rId4"/>
    <p:sldId id="923" r:id="rId5"/>
    <p:sldId id="924" r:id="rId6"/>
    <p:sldId id="925" r:id="rId7"/>
    <p:sldId id="926" r:id="rId8"/>
    <p:sldId id="927" r:id="rId10"/>
    <p:sldId id="928" r:id="rId11"/>
    <p:sldId id="940" r:id="rId12"/>
    <p:sldId id="929" r:id="rId13"/>
    <p:sldId id="930" r:id="rId14"/>
    <p:sldId id="931" r:id="rId15"/>
    <p:sldId id="932" r:id="rId16"/>
    <p:sldId id="943" r:id="rId17"/>
    <p:sldId id="933" r:id="rId18"/>
    <p:sldId id="935" r:id="rId19"/>
    <p:sldId id="936" r:id="rId20"/>
    <p:sldId id="937" r:id="rId21"/>
    <p:sldId id="905" r:id="rId22"/>
    <p:sldId id="938" r:id="rId23"/>
    <p:sldId id="942" r:id="rId24"/>
    <p:sldId id="906" r:id="rId25"/>
    <p:sldId id="949" r:id="rId26"/>
    <p:sldId id="950" r:id="rId27"/>
    <p:sldId id="907" r:id="rId28"/>
    <p:sldId id="908" r:id="rId29"/>
    <p:sldId id="909" r:id="rId30"/>
    <p:sldId id="910" r:id="rId31"/>
    <p:sldId id="911" r:id="rId32"/>
    <p:sldId id="912" r:id="rId33"/>
    <p:sldId id="944" r:id="rId34"/>
    <p:sldId id="945" r:id="rId35"/>
    <p:sldId id="946" r:id="rId36"/>
    <p:sldId id="947" r:id="rId37"/>
    <p:sldId id="948" r:id="rId38"/>
    <p:sldId id="939" r:id="rId39"/>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6600"/>
    <a:srgbClr val="006600"/>
    <a:srgbClr val="FF00FF"/>
    <a:srgbClr val="FF0000"/>
    <a:srgbClr val="3333CC"/>
    <a:srgbClr val="0000CC"/>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7766"/>
    <p:restoredTop sz="90129"/>
  </p:normalViewPr>
  <p:slideViewPr>
    <p:cSldViewPr showGuides="1">
      <p:cViewPr varScale="1">
        <p:scale>
          <a:sx n="88" d="100"/>
          <a:sy n="88" d="100"/>
        </p:scale>
        <p:origin x="-432" y="-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handoutMaster" Target="handoutMasters/handoutMaster1.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50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5059"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5060"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5061"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altLang="zh-CN" sz="1200" b="0" dirty="0"/>
            </a:fld>
            <a:endParaRPr lang="en-US" altLang="zh-CN" sz="1200" b="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897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979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2228"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8979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979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979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altLang="zh-CN" sz="1200" b="0" dirty="0"/>
            </a:fld>
            <a:endParaRPr lang="en-US" altLang="zh-CN" sz="1200" b="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Rot="1" noTextEdit="1"/>
          </p:cNvSpPr>
          <p:nvPr>
            <p:ph type="sldImg"/>
          </p:nvPr>
        </p:nvSpPr>
        <p:spPr>
          <a:ln/>
        </p:spPr>
      </p:sp>
      <p:sp>
        <p:nvSpPr>
          <p:cNvPr id="53251" name="Rectangle 3"/>
          <p:cNvSpPr>
            <a:spLocks noGrp="1"/>
          </p:cNvSpPr>
          <p:nvPr>
            <p:ph type="body" idx="1"/>
          </p:nvPr>
        </p:nvSpPr>
        <p:spPr>
          <a:ln/>
        </p:spPr>
        <p:txBody>
          <a:bodyPr wrap="square" lIns="91440" tIns="45720" rIns="91440" bIns="45720" anchor="t" anchorCtr="0"/>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Rot="1" noTextEdit="1"/>
          </p:cNvSpPr>
          <p:nvPr>
            <p:ph type="sldImg"/>
          </p:nvPr>
        </p:nvSpPr>
        <p:spPr>
          <a:ln/>
        </p:spPr>
      </p:sp>
      <p:sp>
        <p:nvSpPr>
          <p:cNvPr id="54275" name="Rectangle 3"/>
          <p:cNvSpPr>
            <a:spLocks noGrp="1"/>
          </p:cNvSpPr>
          <p:nvPr>
            <p:ph type="body" idx="1"/>
          </p:nvPr>
        </p:nvSpPr>
        <p:spPr>
          <a:ln/>
        </p:spPr>
        <p:txBody>
          <a:bodyPr wrap="square" lIns="91440" tIns="45720" rIns="91440" bIns="45720" anchor="t" anchorCtr="0"/>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Rot="1" noTextEdit="1"/>
          </p:cNvSpPr>
          <p:nvPr>
            <p:ph type="sldImg"/>
          </p:nvPr>
        </p:nvSpPr>
        <p:spPr>
          <a:ln/>
        </p:spPr>
      </p:sp>
      <p:sp>
        <p:nvSpPr>
          <p:cNvPr id="55299" name="Rectangle 3"/>
          <p:cNvSpPr>
            <a:spLocks noGrp="1"/>
          </p:cNvSpPr>
          <p:nvPr>
            <p:ph type="body" idx="1"/>
          </p:nvPr>
        </p:nvSpPr>
        <p:spPr>
          <a:ln/>
        </p:spPr>
        <p:txBody>
          <a:bodyPr wrap="square" lIns="91440" tIns="45720" rIns="91440" bIns="45720" anchor="t" anchorCtr="0"/>
          <a:p>
            <a:pPr lvl="0"/>
            <a:r>
              <a:rPr lang="en-US" altLang="zh-CN" dirty="0"/>
              <a:t>Tetens</a:t>
            </a:r>
            <a:r>
              <a:rPr lang="zh-CN" altLang="en-US" dirty="0"/>
              <a:t>：提顿斯。</a:t>
            </a:r>
            <a:r>
              <a:rPr lang="en-US" altLang="zh-CN" b="1" dirty="0"/>
              <a:t>Bolton</a:t>
            </a:r>
            <a:r>
              <a:rPr lang="zh-CN" altLang="en-US" b="1" dirty="0"/>
              <a:t>指出，在低温下</a:t>
            </a:r>
            <a:r>
              <a:rPr lang="en-US" altLang="zh-CN" b="1" dirty="0"/>
              <a:t>(2.2.9a)</a:t>
            </a:r>
            <a:r>
              <a:rPr lang="zh-CN" altLang="en-US" b="1" dirty="0"/>
              <a:t>式的误差较大，求</a:t>
            </a:r>
            <a:r>
              <a:rPr lang="en-US" altLang="zh-CN" b="1" dirty="0"/>
              <a:t>0℃</a:t>
            </a:r>
            <a:r>
              <a:rPr lang="zh-CN" altLang="en-US" b="1" dirty="0"/>
              <a:t>以下的水面饱和水汽压时，采用下式比较合适。</a:t>
            </a:r>
            <a:endParaRPr lang="zh-CN" altLang="en-US" b="1" dirty="0"/>
          </a:p>
          <a:p>
            <a:pPr lvl="0"/>
            <a:r>
              <a:rPr lang="zh-CN" altLang="en-US" b="1" dirty="0"/>
              <a:t>在一般情况下，</a:t>
            </a:r>
            <a:r>
              <a:rPr lang="en-US" altLang="zh-CN" b="1" dirty="0"/>
              <a:t>Tetens</a:t>
            </a:r>
            <a:r>
              <a:rPr lang="zh-CN" altLang="en-US" b="1" dirty="0"/>
              <a:t>经验公式已能满足对精度的要求。</a:t>
            </a:r>
            <a:endParaRPr lang="zh-CN" altLang="en-US" b="1" dirty="0"/>
          </a:p>
          <a:p>
            <a:pPr lvl="0"/>
            <a:r>
              <a:rPr lang="zh-CN" altLang="en-US" b="1" dirty="0"/>
              <a:t>水面和冰面的常数不同，反映了同温度下冰面饱和水汽压＜水面饱和水汽压的事实，在云雾降水的形成发展中具有重要意义。</a:t>
            </a:r>
            <a:endParaRPr lang="zh-CN" altLang="en-US" b="1"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b="0" dirty="0"/>
            </a:fld>
            <a:endParaRPr lang="zh-CN" altLang="en-CA" sz="1200" b="0" dirty="0"/>
          </a:p>
        </p:txBody>
      </p:sp>
      <p:sp>
        <p:nvSpPr>
          <p:cNvPr id="56323" name="Rectangle 2"/>
          <p:cNvSpPr>
            <a:spLocks noTextEdit="1"/>
          </p:cNvSpPr>
          <p:nvPr>
            <p:ph type="sldImg"/>
          </p:nvPr>
        </p:nvSpPr>
        <p:spPr>
          <a:ln/>
        </p:spPr>
      </p:sp>
      <p:sp>
        <p:nvSpPr>
          <p:cNvPr id="56324" name="Rectangle 3"/>
          <p:cNvSpPr>
            <a:spLocks noGrp="1"/>
          </p:cNvSpPr>
          <p:nvPr>
            <p:ph type="body" idx="1"/>
          </p:nvPr>
        </p:nvSpPr>
        <p:spPr>
          <a:ln/>
        </p:spPr>
        <p:txBody>
          <a:bodyPr wrap="square" lIns="91440" tIns="45720" rIns="91440" bIns="45720" anchor="t" anchorCtr="0"/>
          <a:p>
            <a:pPr lvl="0"/>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Rot="1" noTextEdit="1"/>
          </p:cNvSpPr>
          <p:nvPr>
            <p:ph type="sldImg"/>
          </p:nvPr>
        </p:nvSpPr>
        <p:spPr>
          <a:ln/>
        </p:spPr>
      </p:sp>
      <p:sp>
        <p:nvSpPr>
          <p:cNvPr id="57347" name="Rectangle 3"/>
          <p:cNvSpPr>
            <a:spLocks noGrp="1"/>
          </p:cNvSpPr>
          <p:nvPr>
            <p:ph type="body" idx="1"/>
          </p:nvPr>
        </p:nvSpPr>
        <p:spPr>
          <a:ln/>
        </p:spPr>
        <p:txBody>
          <a:bodyPr wrap="square" lIns="91440" tIns="45720" rIns="91440" bIns="45720" anchor="t" anchorCtr="0"/>
          <a:p>
            <a:pPr lvl="0"/>
            <a:r>
              <a:rPr lang="zh-CN" altLang="en-US" dirty="0"/>
              <a:t>其中，相对湿度表示空气接近饱和的程度，是相对量；其余的都表示水汽的绝对含量。</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Rot="1" noTextEdit="1"/>
          </p:cNvSpPr>
          <p:nvPr>
            <p:ph type="sldImg"/>
          </p:nvPr>
        </p:nvSpPr>
        <p:spPr>
          <a:ln/>
        </p:spPr>
      </p:sp>
      <p:sp>
        <p:nvSpPr>
          <p:cNvPr id="58371" name="Rectangle 3"/>
          <p:cNvSpPr>
            <a:spLocks noGrp="1"/>
          </p:cNvSpPr>
          <p:nvPr>
            <p:ph type="body" idx="1"/>
          </p:nvPr>
        </p:nvSpPr>
        <p:spPr>
          <a:ln/>
        </p:spPr>
        <p:txBody>
          <a:bodyPr wrap="square" lIns="91440" tIns="45720" rIns="91440" bIns="45720" anchor="t" anchorCtr="0"/>
          <a:p>
            <a:pPr lvl="0"/>
            <a:r>
              <a:rPr lang="zh-CN" altLang="en-US" dirty="0"/>
              <a:t>摩尔质量</a:t>
            </a:r>
            <a:r>
              <a:rPr lang="en-US" altLang="zh-CN" dirty="0"/>
              <a:t>=</a:t>
            </a:r>
            <a:r>
              <a:rPr lang="zh-CN" altLang="en-US" dirty="0"/>
              <a:t>质量</a:t>
            </a:r>
            <a:r>
              <a:rPr lang="en-US" altLang="zh-CN" dirty="0"/>
              <a:t>/</a:t>
            </a:r>
            <a:r>
              <a:rPr lang="zh-CN" altLang="en-US" dirty="0"/>
              <a:t>摩尔数，</a:t>
            </a:r>
            <a:r>
              <a:rPr lang="en-US" altLang="zh-CN" dirty="0"/>
              <a:t>Md</a:t>
            </a:r>
            <a:r>
              <a:rPr lang="zh-CN" altLang="en-US" dirty="0"/>
              <a:t>为干空气的平均摩尔质量，是个常数，</a:t>
            </a:r>
            <a:r>
              <a:rPr lang="en-US" altLang="zh-CN" dirty="0"/>
              <a:t>Md=28.9644*10</a:t>
            </a:r>
            <a:r>
              <a:rPr lang="zh-CN" altLang="en-US" dirty="0"/>
              <a:t>（</a:t>
            </a:r>
            <a:r>
              <a:rPr lang="en-US" altLang="zh-CN" dirty="0"/>
              <a:t>-3</a:t>
            </a:r>
            <a:r>
              <a:rPr lang="zh-CN" altLang="en-US" dirty="0"/>
              <a:t>）。</a:t>
            </a:r>
            <a:r>
              <a:rPr lang="en-US" altLang="zh-CN" dirty="0"/>
              <a:t>R*</a:t>
            </a:r>
            <a:r>
              <a:rPr lang="zh-CN" altLang="en-US" dirty="0"/>
              <a:t>为摩尔气体常数。</a:t>
            </a: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幻灯片图像占位符 1"/>
          <p:cNvSpPr>
            <a:spLocks noGrp="1" noRot="1" noChangeAspect="1" noTextEdit="1"/>
          </p:cNvSpPr>
          <p:nvPr>
            <p:ph type="sldImg"/>
          </p:nvPr>
        </p:nvSpPr>
        <p:spPr>
          <a:ln/>
        </p:spPr>
      </p:sp>
      <p:sp>
        <p:nvSpPr>
          <p:cNvPr id="59395" name="备注占位符 2"/>
          <p:cNvSpPr>
            <a:spLocks noGrp="1"/>
          </p:cNvSpPr>
          <p:nvPr>
            <p:ph type="body" idx="1"/>
          </p:nvPr>
        </p:nvSpPr>
        <p:spPr>
          <a:ln/>
        </p:spPr>
        <p:txBody>
          <a:bodyPr wrap="square" lIns="91440" tIns="45720" rIns="91440" bIns="45720" anchor="t" anchorCtr="0"/>
          <a:p>
            <a:pPr lvl="0"/>
            <a:r>
              <a:rPr lang="zh-CN" altLang="en-US" dirty="0"/>
              <a:t>在同一压力下，使干空气的密度等于湿空气的密度时，干空气所应具有的温度。</a:t>
            </a:r>
            <a:endParaRPr lang="zh-CN" altLang="en-US" dirty="0"/>
          </a:p>
        </p:txBody>
      </p:sp>
      <p:sp>
        <p:nvSpPr>
          <p:cNvPr id="593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b="0" dirty="0"/>
            </a:fld>
            <a:endParaRPr lang="zh-CN" altLang="en-CA" sz="1200" b="0" dirty="0"/>
          </a:p>
        </p:txBody>
      </p:sp>
      <p:sp>
        <p:nvSpPr>
          <p:cNvPr id="60419" name="Rectangle 2"/>
          <p:cNvSpPr>
            <a:spLocks noTextEdit="1"/>
          </p:cNvSpPr>
          <p:nvPr>
            <p:ph type="sldImg"/>
          </p:nvPr>
        </p:nvSpPr>
        <p:spPr>
          <a:ln/>
        </p:spPr>
      </p:sp>
      <p:sp>
        <p:nvSpPr>
          <p:cNvPr id="60420" name="Rectangle 3"/>
          <p:cNvSpPr>
            <a:spLocks noGrp="1"/>
          </p:cNvSpPr>
          <p:nvPr>
            <p:ph type="body" idx="1"/>
          </p:nvPr>
        </p:nvSpPr>
        <p:spPr>
          <a:ln/>
        </p:spPr>
        <p:txBody>
          <a:bodyPr wrap="square" lIns="91440" tIns="45720" rIns="91440" bIns="45720" anchor="t" anchorCtr="0"/>
          <a:p>
            <a:pPr lvl="0"/>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幻灯片图像占位符 1"/>
          <p:cNvSpPr>
            <a:spLocks noGrp="1" noRot="1" noChangeAspect="1" noTextEdit="1"/>
          </p:cNvSpPr>
          <p:nvPr>
            <p:ph type="sldImg"/>
          </p:nvPr>
        </p:nvSpPr>
        <p:spPr>
          <a:ln/>
        </p:spPr>
      </p:sp>
      <p:sp>
        <p:nvSpPr>
          <p:cNvPr id="61443" name="备注占位符 2"/>
          <p:cNvSpPr>
            <a:spLocks noGrp="1"/>
          </p:cNvSpPr>
          <p:nvPr>
            <p:ph type="body" idx="1"/>
          </p:nvPr>
        </p:nvSpPr>
        <p:spPr>
          <a:ln/>
        </p:spPr>
        <p:txBody>
          <a:bodyPr wrap="square" lIns="91440" tIns="45720" rIns="91440" bIns="45720" anchor="t" anchorCtr="0"/>
          <a:p>
            <a:pPr lvl="0"/>
            <a:r>
              <a:rPr lang="en-US" altLang="zh-CN" dirty="0"/>
              <a:t>TSP:</a:t>
            </a:r>
            <a:r>
              <a:rPr lang="zh-CN" altLang="en-US" dirty="0"/>
              <a:t>总悬浮颗粒物，</a:t>
            </a:r>
            <a:r>
              <a:rPr lang="en-US" altLang="zh-CN" dirty="0"/>
              <a:t>r</a:t>
            </a:r>
            <a:r>
              <a:rPr lang="zh-CN" altLang="en-US" dirty="0"/>
              <a:t>在</a:t>
            </a:r>
            <a:r>
              <a:rPr lang="en-US" altLang="zh-CN" dirty="0"/>
              <a:t>100um</a:t>
            </a:r>
            <a:r>
              <a:rPr lang="zh-CN" altLang="en-US" dirty="0"/>
              <a:t>以下。</a:t>
            </a:r>
            <a:endParaRPr lang="zh-CN" altLang="en-US" dirty="0"/>
          </a:p>
        </p:txBody>
      </p:sp>
      <p:sp>
        <p:nvSpPr>
          <p:cNvPr id="614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b="0" dirty="0"/>
            </a:fld>
            <a:endParaRPr lang="en-US" altLang="zh-CN" sz="1200" b="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b="0" dirty="0"/>
            </a:fld>
            <a:endParaRPr lang="zh-CN" altLang="en-CA" sz="1200" b="0" dirty="0"/>
          </a:p>
        </p:txBody>
      </p:sp>
      <p:sp>
        <p:nvSpPr>
          <p:cNvPr id="62467" name="Rectangle 2"/>
          <p:cNvSpPr>
            <a:spLocks noTextEdit="1"/>
          </p:cNvSpPr>
          <p:nvPr>
            <p:ph type="sldImg"/>
          </p:nvPr>
        </p:nvSpPr>
        <p:spPr>
          <a:ln/>
        </p:spPr>
      </p:sp>
      <p:sp>
        <p:nvSpPr>
          <p:cNvPr id="62468" name="Rectangle 3"/>
          <p:cNvSpPr>
            <a:spLocks noGrp="1"/>
          </p:cNvSpPr>
          <p:nvPr>
            <p:ph type="body" idx="1"/>
          </p:nvPr>
        </p:nvSpPr>
        <p:spPr>
          <a:ln/>
        </p:spPr>
        <p:txBody>
          <a:bodyPr wrap="square" lIns="91440" tIns="45720" rIns="91440" bIns="45720" anchor="t" anchorCtr="0"/>
          <a:p>
            <a:pPr lvl="0"/>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b="0" dirty="0"/>
            </a:fld>
            <a:endParaRPr lang="zh-CN" altLang="en-CA" sz="1200" b="0" dirty="0"/>
          </a:p>
        </p:txBody>
      </p:sp>
      <p:sp>
        <p:nvSpPr>
          <p:cNvPr id="63491" name="Rectangle 2"/>
          <p:cNvSpPr>
            <a:spLocks noTextEdit="1"/>
          </p:cNvSpPr>
          <p:nvPr>
            <p:ph type="sldImg"/>
          </p:nvPr>
        </p:nvSpPr>
        <p:spPr>
          <a:ln/>
        </p:spPr>
      </p:sp>
      <p:sp>
        <p:nvSpPr>
          <p:cNvPr id="63492" name="Rectangle 3"/>
          <p:cNvSpPr>
            <a:spLocks noGrp="1"/>
          </p:cNvSpPr>
          <p:nvPr>
            <p:ph type="body" idx="1"/>
          </p:nvPr>
        </p:nvSpPr>
        <p:spPr>
          <a:ln/>
        </p:spPr>
        <p:txBody>
          <a:bodyPr wrap="square" lIns="91440" tIns="45720" rIns="91440" bIns="45720" anchor="t" anchorCtr="0"/>
          <a:p>
            <a:pPr lvl="0"/>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b="0" dirty="0"/>
            </a:fld>
            <a:endParaRPr lang="zh-CN" altLang="en-CA" sz="1200" b="0" dirty="0"/>
          </a:p>
        </p:txBody>
      </p:sp>
      <p:sp>
        <p:nvSpPr>
          <p:cNvPr id="64515" name="Rectangle 2"/>
          <p:cNvSpPr>
            <a:spLocks noTextEdit="1"/>
          </p:cNvSpPr>
          <p:nvPr>
            <p:ph type="sldImg"/>
          </p:nvPr>
        </p:nvSpPr>
        <p:spPr>
          <a:ln/>
        </p:spPr>
      </p:sp>
      <p:sp>
        <p:nvSpPr>
          <p:cNvPr id="64516" name="Rectangle 3"/>
          <p:cNvSpPr>
            <a:spLocks noGrp="1"/>
          </p:cNvSpPr>
          <p:nvPr>
            <p:ph type="body" idx="1"/>
          </p:nvPr>
        </p:nvSpPr>
        <p:spPr>
          <a:ln/>
        </p:spPr>
        <p:txBody>
          <a:bodyPr wrap="square" lIns="91440" tIns="45720" rIns="91440" bIns="45720" anchor="t" anchorCtr="0"/>
          <a:p>
            <a:pPr lvl="0"/>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b="0" dirty="0"/>
            </a:fld>
            <a:endParaRPr lang="zh-CN" altLang="en-CA" sz="1200" b="0" dirty="0"/>
          </a:p>
        </p:txBody>
      </p:sp>
      <p:sp>
        <p:nvSpPr>
          <p:cNvPr id="65539" name="Rectangle 2"/>
          <p:cNvSpPr>
            <a:spLocks noTextEdit="1"/>
          </p:cNvSpPr>
          <p:nvPr>
            <p:ph type="sldImg"/>
          </p:nvPr>
        </p:nvSpPr>
        <p:spPr>
          <a:ln/>
        </p:spPr>
      </p:sp>
      <p:sp>
        <p:nvSpPr>
          <p:cNvPr id="65540" name="Rectangle 3"/>
          <p:cNvSpPr>
            <a:spLocks noGrp="1"/>
          </p:cNvSpPr>
          <p:nvPr>
            <p:ph type="body" idx="1"/>
          </p:nvPr>
        </p:nvSpPr>
        <p:spPr>
          <a:ln/>
        </p:spPr>
        <p:txBody>
          <a:bodyPr wrap="square" lIns="91440" tIns="45720" rIns="91440" bIns="45720" anchor="t" anchorCtr="0"/>
          <a:p>
            <a:pPr lvl="0"/>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b="0" dirty="0"/>
            </a:fld>
            <a:endParaRPr lang="zh-CN" altLang="en-CA" sz="1200" b="0" dirty="0"/>
          </a:p>
        </p:txBody>
      </p:sp>
      <p:sp>
        <p:nvSpPr>
          <p:cNvPr id="66563" name="Rectangle 2"/>
          <p:cNvSpPr>
            <a:spLocks noTextEdit="1"/>
          </p:cNvSpPr>
          <p:nvPr>
            <p:ph type="sldImg"/>
          </p:nvPr>
        </p:nvSpPr>
        <p:spPr>
          <a:ln/>
        </p:spPr>
      </p:sp>
      <p:sp>
        <p:nvSpPr>
          <p:cNvPr id="66564" name="Rectangle 3"/>
          <p:cNvSpPr>
            <a:spLocks noGrp="1"/>
          </p:cNvSpPr>
          <p:nvPr>
            <p:ph type="body" idx="1"/>
          </p:nvPr>
        </p:nvSpPr>
        <p:spPr>
          <a:ln/>
        </p:spPr>
        <p:txBody>
          <a:bodyPr wrap="square" lIns="91440" tIns="45720" rIns="91440" bIns="45720" anchor="t" anchorCtr="0"/>
          <a:p>
            <a:pPr lvl="0"/>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476250"/>
            <a:ext cx="9009063" cy="1052513"/>
            <a:chOff x="0" y="1536"/>
            <a:chExt cx="5675" cy="663"/>
          </a:xfrm>
        </p:grpSpPr>
        <p:grpSp>
          <p:nvGrpSpPr>
            <p:cNvPr id="2056" name="Group 3"/>
            <p:cNvGrpSpPr/>
            <p:nvPr/>
          </p:nvGrpSpPr>
          <p:grpSpPr>
            <a:xfrm>
              <a:off x="185" y="1604"/>
              <a:ext cx="449" cy="299"/>
              <a:chOff x="720" y="336"/>
              <a:chExt cx="624" cy="432"/>
            </a:xfrm>
          </p:grpSpPr>
          <p:sp>
            <p:nvSpPr>
              <p:cNvPr id="22" name="Rectangle 4"/>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grpSp>
          <p:nvGrpSpPr>
            <p:cNvPr id="2057" name="Group 6"/>
            <p:cNvGrpSpPr/>
            <p:nvPr/>
          </p:nvGrpSpPr>
          <p:grpSpPr>
            <a:xfrm>
              <a:off x="263" y="1870"/>
              <a:ext cx="466" cy="299"/>
              <a:chOff x="912" y="2640"/>
              <a:chExt cx="672" cy="432"/>
            </a:xfrm>
          </p:grpSpPr>
          <p:sp>
            <p:nvSpPr>
              <p:cNvPr id="20" name="Rectangle 7"/>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1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 name="Rectangle 10"/>
            <p:cNvSpPr>
              <a:spLocks noChangeArrowheads="1"/>
            </p:cNvSpPr>
            <p:nvPr/>
          </p:nvSpPr>
          <p:spPr bwMode="auto">
            <a:xfrm>
              <a:off x="400" y="1536"/>
              <a:ext cx="20" cy="663"/>
            </a:xfrm>
            <a:prstGeom prst="rect">
              <a:avLst/>
            </a:prstGeom>
            <a:solidFill>
              <a:schemeClr val="bg2"/>
            </a:soli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43020" name="Rectangle 12"/>
          <p:cNvSpPr>
            <a:spLocks noGrp="1" noChangeArrowheads="1"/>
          </p:cNvSpPr>
          <p:nvPr>
            <p:ph type="ctrTitle"/>
          </p:nvPr>
        </p:nvSpPr>
        <p:spPr>
          <a:xfrm>
            <a:off x="990600" y="1676400"/>
            <a:ext cx="7772400" cy="1462088"/>
          </a:xfrm>
        </p:spPr>
        <p:txBody>
          <a:bodyPr/>
          <a:lstStyle>
            <a:lvl1pPr>
              <a:defRPr/>
            </a:lvl1pPr>
          </a:lstStyle>
          <a:p>
            <a:r>
              <a:rPr lang="zh-CN" altLang="en-US"/>
              <a:t>单击此处编辑母版标题样式</a:t>
            </a:r>
            <a:endParaRPr lang="zh-CN" altLang="en-US"/>
          </a:p>
        </p:txBody>
      </p:sp>
      <p:sp>
        <p:nvSpPr>
          <p:cNvPr id="4302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24" name="Rectangle 14"/>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defRPr>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mn-lt"/>
              <a:ea typeface="宋体" panose="02010600030101010101" pitchFamily="2" charset="-122"/>
              <a:cs typeface="+mn-cs"/>
            </a:endParaRPr>
          </a:p>
        </p:txBody>
      </p:sp>
      <p:sp>
        <p:nvSpPr>
          <p:cNvPr id="25" name="Rectangle 15"/>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defRPr>
                <a:solidFill>
                  <a:schemeClr val="bg2"/>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mn-lt"/>
              <a:ea typeface="宋体" panose="02010600030101010101" pitchFamily="2" charset="-122"/>
              <a:cs typeface="+mn-cs"/>
            </a:endParaRPr>
          </a:p>
        </p:txBody>
      </p:sp>
      <p:sp>
        <p:nvSpPr>
          <p:cNvPr id="26"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p>
            <a:pPr algn="r" eaLnBrk="1" hangingPunct="1"/>
            <a:fld id="{9A0DB2DC-4C9A-4742-B13C-FB6460FD3503}" type="slidenum">
              <a:rPr lang="en-US" altLang="zh-CN" dirty="0">
                <a:solidFill>
                  <a:schemeClr val="bg2"/>
                </a:solidFill>
                <a:latin typeface="Tahoma" panose="020B0604030504040204" pitchFamily="34" charset="0"/>
              </a:rPr>
            </a:fld>
            <a:endParaRPr lang="en-US" altLang="zh-CN" dirty="0">
              <a:solidFill>
                <a:schemeClr val="bg2"/>
              </a:solidFill>
              <a:latin typeface="Tahoma" panose="020B0604030504040204" pitchFamily="34" charset="0"/>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1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1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1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1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bg>
      <p:bgPr>
        <a:solidFill>
          <a:schemeClr val="bg1"/>
        </a:solidFill>
        <a:effectLst/>
      </p:bgPr>
    </p:bg>
    <p:spTree>
      <p:nvGrpSpPr>
        <p:cNvPr id="1" name=""/>
        <p:cNvGrpSpPr/>
        <p:nvPr/>
      </p:nvGrpSpPr>
      <p:grpSpPr>
        <a:xfrm>
          <a:off x="0" y="0"/>
          <a:ext cx="0" cy="0"/>
          <a:chOff x="0" y="0"/>
          <a:chExt cx="0" cy="0"/>
        </a:xfrm>
      </p:grpSpPr>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4" name="Rectangle 11"/>
          <p:cNvSpPr>
            <a:spLocks noGrp="1" noChangeArrowheads="1"/>
          </p:cNvSpPr>
          <p:nvPr>
            <p:ph type="dt" sz="half" idx="1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4" name="Rectangle 11"/>
          <p:cNvSpPr>
            <a:spLocks noGrp="1" noChangeArrowheads="1"/>
          </p:cNvSpPr>
          <p:nvPr>
            <p:ph type="dt" sz="half" idx="1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showMasterSp="0">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214313"/>
            <a:ext cx="1951038" cy="59182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150938" y="214313"/>
            <a:ext cx="5700712" cy="59182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showMasterSp="0">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5145088" y="2017713"/>
            <a:ext cx="38100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5145088" y="4151313"/>
            <a:ext cx="38100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1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1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showMasterSp="0">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1150938" y="214313"/>
            <a:ext cx="7804150" cy="5918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8" name="Rectangle 4"/>
          <p:cNvSpPr>
            <a:spLocks noChangeArrowheads="1"/>
          </p:cNvSpPr>
          <p:nvPr/>
        </p:nvSpPr>
        <p:spPr bwMode="ltGray">
          <a:xfrm>
            <a:off x="541338" y="1196975"/>
            <a:ext cx="422275" cy="474663"/>
          </a:xfrm>
          <a:prstGeom prst="rect">
            <a:avLst/>
          </a:prstGeom>
          <a:solidFill>
            <a:schemeClr val="folHlink"/>
          </a:soli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ChangeArrowheads="1"/>
          </p:cNvSpPr>
          <p:nvPr/>
        </p:nvSpPr>
        <p:spPr bwMode="ltGray">
          <a:xfrm>
            <a:off x="911225" y="119697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0" name="Rectangle 6"/>
          <p:cNvSpPr>
            <a:spLocks noChangeArrowheads="1"/>
          </p:cNvSpPr>
          <p:nvPr/>
        </p:nvSpPr>
        <p:spPr bwMode="ltGray">
          <a:xfrm>
            <a:off x="127000" y="11255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1" name="Rectangle 7"/>
          <p:cNvSpPr>
            <a:spLocks noChangeArrowheads="1"/>
          </p:cNvSpPr>
          <p:nvPr/>
        </p:nvSpPr>
        <p:spPr bwMode="gray">
          <a:xfrm>
            <a:off x="762000" y="692150"/>
            <a:ext cx="31750" cy="1052513"/>
          </a:xfrm>
          <a:prstGeom prst="rect">
            <a:avLst/>
          </a:prstGeom>
          <a:solidFill>
            <a:schemeClr val="bg2"/>
          </a:soli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2" name="Rectangle 8"/>
          <p:cNvSpPr>
            <a:spLocks noChangeArrowheads="1"/>
          </p:cNvSpPr>
          <p:nvPr/>
        </p:nvSpPr>
        <p:spPr bwMode="gray">
          <a:xfrm>
            <a:off x="442913" y="1412875"/>
            <a:ext cx="8226425" cy="31750"/>
          </a:xfrm>
          <a:prstGeom prst="rect">
            <a:avLst/>
          </a:prstGeom>
          <a:gradFill rotWithShape="0">
            <a:gsLst>
              <a:gs pos="0">
                <a:schemeClr val="bg2"/>
              </a:gs>
              <a:gs pos="100000">
                <a:schemeClr val="bg1"/>
              </a:gs>
            </a:gsLst>
            <a:lin ang="0" scaled="1"/>
          </a:gradFill>
          <a:ln>
            <a:noFill/>
          </a:ln>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3" name="Rectangle 9"/>
          <p:cNvSpPr>
            <a:spLocks noGrp="1"/>
          </p:cNvSpPr>
          <p:nvPr>
            <p:ph type="title"/>
          </p:nvPr>
        </p:nvSpPr>
        <p:spPr>
          <a:xfrm>
            <a:off x="1150938" y="214313"/>
            <a:ext cx="7793037" cy="1462087"/>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34" name="Rectangle 10"/>
          <p:cNvSpPr>
            <a:spLocks noGrp="1"/>
          </p:cNvSpPr>
          <p:nvPr>
            <p:ph type="body" idx="1"/>
          </p:nvPr>
        </p:nvSpPr>
        <p:spPr>
          <a:xfrm>
            <a:off x="1182688" y="2017713"/>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1995"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400" b="0">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1996"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400" b="0">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1997"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sz="1400" b="0">
                <a:latin typeface="Tahoma" panose="020B0604030504040204" pitchFamily="34" charset="0"/>
              </a:defRPr>
            </a:lvl1pPr>
          </a:lstStyle>
          <a:p>
            <a:pPr lvl="0" eaLnBrk="1" hangingPunct="1"/>
            <a:fld id="{9A0DB2DC-4C9A-4742-B13C-FB6460FD3503}" type="slidenum">
              <a:rPr lang="en-US" altLang="zh-CN" dirty="0"/>
            </a:fld>
            <a:endParaRPr lang="en-US" altLang="zh-CN"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7.xml"/><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7.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jpe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0.wmf"/><Relationship Id="rId7" Type="http://schemas.openxmlformats.org/officeDocument/2006/relationships/oleObject" Target="../embeddings/oleObject4.bin"/><Relationship Id="rId6" Type="http://schemas.openxmlformats.org/officeDocument/2006/relationships/image" Target="../media/image19.wmf"/><Relationship Id="rId5" Type="http://schemas.openxmlformats.org/officeDocument/2006/relationships/oleObject" Target="../embeddings/oleObject3.bin"/><Relationship Id="rId4" Type="http://schemas.openxmlformats.org/officeDocument/2006/relationships/image" Target="../media/image18.wmf"/><Relationship Id="rId3" Type="http://schemas.openxmlformats.org/officeDocument/2006/relationships/oleObject" Target="../embeddings/oleObject2.bin"/><Relationship Id="rId2" Type="http://schemas.openxmlformats.org/officeDocument/2006/relationships/image" Target="../media/image17.wmf"/><Relationship Id="rId11" Type="http://schemas.openxmlformats.org/officeDocument/2006/relationships/notesSlide" Target="../notesSlides/notesSlide4.xml"/><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image" Target="../media/image21.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9.png"/><Relationship Id="rId1"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47.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47.jpeg"/><Relationship Id="rId1" Type="http://schemas.openxmlformats.org/officeDocument/2006/relationships/image" Target="../media/image48.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47.jpeg"/><Relationship Id="rId1" Type="http://schemas.openxmlformats.org/officeDocument/2006/relationships/image" Target="../media/image49.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47.jpeg"/><Relationship Id="rId1" Type="http://schemas.openxmlformats.org/officeDocument/2006/relationships/image" Target="../media/image50.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47.jpeg"/><Relationship Id="rId1" Type="http://schemas.openxmlformats.org/officeDocument/2006/relationships/image" Target="../media/image13.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47.jpeg"/><Relationship Id="rId1" Type="http://schemas.openxmlformats.org/officeDocument/2006/relationships/image" Target="../media/image51.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3"/>
          <p:cNvSpPr/>
          <p:nvPr/>
        </p:nvSpPr>
        <p:spPr>
          <a:xfrm>
            <a:off x="1331913" y="1628775"/>
            <a:ext cx="6934200" cy="2174875"/>
          </a:xfrm>
          <a:prstGeom prst="rect">
            <a:avLst/>
          </a:prstGeom>
          <a:noFill/>
          <a:ln w="9525">
            <a:noFill/>
          </a:ln>
        </p:spPr>
        <p:txBody>
          <a:bodyPr>
            <a:spAutoFit/>
          </a:bodyPr>
          <a:p>
            <a:pPr eaLnBrk="1" hangingPunct="1">
              <a:lnSpc>
                <a:spcPct val="200000"/>
              </a:lnSpc>
              <a:buFont typeface="Wingdings" panose="05000000000000000000" pitchFamily="2" charset="2"/>
              <a:buChar char="u"/>
            </a:pPr>
            <a:r>
              <a:rPr lang="en-US" altLang="zh-CN" sz="2400" b="0" dirty="0">
                <a:solidFill>
                  <a:srgbClr val="7030A0"/>
                </a:solidFill>
                <a:latin typeface="黑体" panose="02010609060101010101" pitchFamily="49" charset="-122"/>
                <a:ea typeface="黑体" panose="02010609060101010101" pitchFamily="49" charset="-122"/>
              </a:rPr>
              <a:t>    </a:t>
            </a:r>
            <a:r>
              <a:rPr lang="en-US" altLang="zh-CN" sz="2400" dirty="0">
                <a:solidFill>
                  <a:srgbClr val="7030A0"/>
                </a:solidFill>
                <a:latin typeface="黑体" panose="02010609060101010101" pitchFamily="49" charset="-122"/>
                <a:ea typeface="黑体" panose="02010609060101010101" pitchFamily="49" charset="-122"/>
              </a:rPr>
              <a:t>2.1</a:t>
            </a:r>
            <a:r>
              <a:rPr lang="zh-CN" altLang="en-US" sz="2400" dirty="0">
                <a:solidFill>
                  <a:srgbClr val="7030A0"/>
                </a:solidFill>
                <a:latin typeface="黑体" panose="02010609060101010101" pitchFamily="49" charset="-122"/>
                <a:ea typeface="黑体" panose="02010609060101010101" pitchFamily="49" charset="-122"/>
              </a:rPr>
              <a:t>  干洁大气</a:t>
            </a:r>
            <a:endParaRPr lang="zh-CN" altLang="en-US" sz="2400" dirty="0">
              <a:solidFill>
                <a:srgbClr val="7030A0"/>
              </a:solidFill>
              <a:latin typeface="黑体" panose="02010609060101010101" pitchFamily="49" charset="-122"/>
              <a:ea typeface="黑体" panose="02010609060101010101" pitchFamily="49" charset="-122"/>
            </a:endParaRPr>
          </a:p>
          <a:p>
            <a:pPr>
              <a:lnSpc>
                <a:spcPct val="200000"/>
              </a:lnSpc>
              <a:buFont typeface="Wingdings" panose="05000000000000000000" pitchFamily="2" charset="2"/>
              <a:buChar char="u"/>
            </a:pPr>
            <a:r>
              <a:rPr lang="zh-CN" altLang="en-US" sz="2400" dirty="0">
                <a:solidFill>
                  <a:srgbClr val="7030A0"/>
                </a:solidFill>
                <a:latin typeface="黑体" panose="02010609060101010101" pitchFamily="49" charset="-122"/>
                <a:ea typeface="黑体" panose="02010609060101010101" pitchFamily="49" charset="-122"/>
              </a:rPr>
              <a:t>	</a:t>
            </a:r>
            <a:r>
              <a:rPr lang="en-US" altLang="zh-CN" sz="2400" dirty="0">
                <a:solidFill>
                  <a:srgbClr val="FF0000"/>
                </a:solidFill>
                <a:latin typeface="黑体" panose="02010609060101010101" pitchFamily="49" charset="-122"/>
                <a:ea typeface="黑体" panose="02010609060101010101" pitchFamily="49" charset="-122"/>
              </a:rPr>
              <a:t>2.2</a:t>
            </a:r>
            <a:r>
              <a:rPr lang="zh-CN" altLang="en-US" sz="2400" dirty="0">
                <a:solidFill>
                  <a:srgbClr val="FF0000"/>
                </a:solidFill>
                <a:latin typeface="黑体" panose="02010609060101010101" pitchFamily="49" charset="-122"/>
                <a:ea typeface="黑体" panose="02010609060101010101" pitchFamily="49" charset="-122"/>
              </a:rPr>
              <a:t>  大气中的水汽</a:t>
            </a:r>
            <a:endParaRPr lang="en-US" altLang="zh-CN" sz="2400" dirty="0">
              <a:solidFill>
                <a:srgbClr val="FF0000"/>
              </a:solidFill>
              <a:latin typeface="黑体" panose="02010609060101010101" pitchFamily="49" charset="-122"/>
              <a:ea typeface="黑体" panose="02010609060101010101" pitchFamily="49" charset="-122"/>
            </a:endParaRPr>
          </a:p>
          <a:p>
            <a:pPr>
              <a:lnSpc>
                <a:spcPct val="200000"/>
              </a:lnSpc>
              <a:buFont typeface="Wingdings" panose="05000000000000000000" pitchFamily="2" charset="2"/>
              <a:buChar char="u"/>
            </a:pPr>
            <a:r>
              <a:rPr lang="en-US" altLang="zh-CN" sz="2400" dirty="0">
                <a:solidFill>
                  <a:srgbClr val="7030A0"/>
                </a:solidFill>
                <a:latin typeface="黑体" panose="02010609060101010101" pitchFamily="49" charset="-122"/>
                <a:ea typeface="黑体" panose="02010609060101010101" pitchFamily="49" charset="-122"/>
              </a:rPr>
              <a:t>    2.3  </a:t>
            </a:r>
            <a:r>
              <a:rPr lang="zh-CN" altLang="en-US" sz="2400" dirty="0">
                <a:solidFill>
                  <a:srgbClr val="7030A0"/>
                </a:solidFill>
                <a:latin typeface="黑体" panose="02010609060101010101" pitchFamily="49" charset="-122"/>
                <a:ea typeface="黑体" panose="02010609060101010101" pitchFamily="49" charset="-122"/>
              </a:rPr>
              <a:t>大气气溶胶</a:t>
            </a:r>
            <a:endParaRPr lang="zh-CN" altLang="en-US" sz="2400" dirty="0">
              <a:solidFill>
                <a:srgbClr val="7030A0"/>
              </a:solidFill>
              <a:latin typeface="黑体" panose="02010609060101010101" pitchFamily="49" charset="-122"/>
              <a:ea typeface="黑体" panose="02010609060101010101" pitchFamily="49" charset="-122"/>
            </a:endParaRPr>
          </a:p>
        </p:txBody>
      </p:sp>
      <p:sp>
        <p:nvSpPr>
          <p:cNvPr id="7" name="Rectangle 2"/>
          <p:cNvSpPr>
            <a:spLocks noChangeArrowheads="1"/>
          </p:cNvSpPr>
          <p:nvPr/>
        </p:nvSpPr>
        <p:spPr bwMode="auto">
          <a:xfrm>
            <a:off x="0" y="-26987"/>
            <a:ext cx="9144000" cy="719138"/>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第二章 地球大气的成分及分布</a:t>
            </a:r>
            <a:endPar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AutoShape 22"/>
          <p:cNvSpPr/>
          <p:nvPr/>
        </p:nvSpPr>
        <p:spPr>
          <a:xfrm>
            <a:off x="2254250" y="1773238"/>
            <a:ext cx="4800600" cy="3260725"/>
          </a:xfrm>
          <a:prstGeom prst="rightArrowCallout">
            <a:avLst>
              <a:gd name="adj1" fmla="val 25000"/>
              <a:gd name="adj2" fmla="val 25000"/>
              <a:gd name="adj3" fmla="val 24537"/>
              <a:gd name="adj4" fmla="val 66667"/>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16387" name="Text Box 11"/>
          <p:cNvSpPr txBox="1"/>
          <p:nvPr/>
        </p:nvSpPr>
        <p:spPr>
          <a:xfrm>
            <a:off x="2559050" y="1833563"/>
            <a:ext cx="3886200" cy="457200"/>
          </a:xfrm>
          <a:prstGeom prst="rect">
            <a:avLst/>
          </a:prstGeom>
          <a:noFill/>
          <a:ln w="9525">
            <a:noFill/>
          </a:ln>
        </p:spPr>
        <p:txBody>
          <a:bodyPr>
            <a:spAutoFit/>
          </a:bodyPr>
          <a:p>
            <a:pPr eaLnBrk="1" hangingPunct="1">
              <a:spcBef>
                <a:spcPct val="50000"/>
              </a:spcBef>
            </a:pPr>
            <a:r>
              <a:rPr lang="zh-CN" altLang="en-US" sz="2400" dirty="0">
                <a:solidFill>
                  <a:srgbClr val="FF0000"/>
                </a:solidFill>
                <a:latin typeface="Arial" panose="020B0604020202020204" pitchFamily="34" charset="0"/>
                <a:ea typeface="楷体_GB2312" pitchFamily="49" charset="-122"/>
              </a:rPr>
              <a:t>大气湿度的表示方法</a:t>
            </a:r>
            <a:endParaRPr lang="zh-CN" altLang="en-US" sz="2400" dirty="0">
              <a:solidFill>
                <a:srgbClr val="FF0000"/>
              </a:solidFill>
              <a:latin typeface="Arial" panose="020B0604020202020204" pitchFamily="34" charset="0"/>
              <a:ea typeface="楷体_GB2312" pitchFamily="49" charset="-122"/>
            </a:endParaRPr>
          </a:p>
        </p:txBody>
      </p:sp>
      <p:sp>
        <p:nvSpPr>
          <p:cNvPr id="16388" name="Text Box 12"/>
          <p:cNvSpPr txBox="1"/>
          <p:nvPr/>
        </p:nvSpPr>
        <p:spPr>
          <a:xfrm>
            <a:off x="2647950" y="2406650"/>
            <a:ext cx="2590800" cy="2017713"/>
          </a:xfrm>
          <a:prstGeom prst="rect">
            <a:avLst/>
          </a:prstGeom>
          <a:noFill/>
          <a:ln w="9525">
            <a:noFill/>
          </a:ln>
        </p:spPr>
        <p:txBody>
          <a:bodyPr>
            <a:spAutoFit/>
          </a:bodyPr>
          <a:p>
            <a:pPr eaLnBrk="1" hangingPunct="1">
              <a:spcBef>
                <a:spcPct val="50000"/>
              </a:spcBef>
            </a:pPr>
            <a:r>
              <a:rPr lang="en-US" altLang="zh-CN" dirty="0">
                <a:solidFill>
                  <a:srgbClr val="990000"/>
                </a:solidFill>
                <a:latin typeface="Arial" panose="020B0604020202020204" pitchFamily="34" charset="0"/>
              </a:rPr>
              <a:t>2.1 </a:t>
            </a:r>
            <a:r>
              <a:rPr lang="zh-CN" altLang="en-US" dirty="0">
                <a:solidFill>
                  <a:srgbClr val="990000"/>
                </a:solidFill>
                <a:latin typeface="Arial" panose="020B0604020202020204" pitchFamily="34" charset="0"/>
              </a:rPr>
              <a:t>混合比与比湿</a:t>
            </a:r>
            <a:endParaRPr lang="zh-CN" altLang="en-US" dirty="0">
              <a:solidFill>
                <a:srgbClr val="990000"/>
              </a:solidFill>
              <a:latin typeface="Arial" panose="020B0604020202020204" pitchFamily="34" charset="0"/>
            </a:endParaRPr>
          </a:p>
          <a:p>
            <a:pPr eaLnBrk="1" hangingPunct="1">
              <a:spcBef>
                <a:spcPct val="50000"/>
              </a:spcBef>
            </a:pPr>
            <a:r>
              <a:rPr lang="en-US" altLang="zh-CN" dirty="0">
                <a:solidFill>
                  <a:srgbClr val="990000"/>
                </a:solidFill>
                <a:latin typeface="Arial" panose="020B0604020202020204" pitchFamily="34" charset="0"/>
              </a:rPr>
              <a:t>2.2 </a:t>
            </a:r>
            <a:r>
              <a:rPr lang="zh-CN" altLang="en-US" dirty="0">
                <a:solidFill>
                  <a:srgbClr val="990000"/>
                </a:solidFill>
                <a:latin typeface="Arial" panose="020B0604020202020204" pitchFamily="34" charset="0"/>
              </a:rPr>
              <a:t>水汽压</a:t>
            </a:r>
            <a:endParaRPr lang="zh-CN" altLang="en-US" dirty="0">
              <a:solidFill>
                <a:srgbClr val="990000"/>
              </a:solidFill>
              <a:latin typeface="Arial" panose="020B0604020202020204" pitchFamily="34" charset="0"/>
            </a:endParaRPr>
          </a:p>
          <a:p>
            <a:pPr eaLnBrk="1" hangingPunct="1">
              <a:spcBef>
                <a:spcPct val="50000"/>
              </a:spcBef>
            </a:pPr>
            <a:r>
              <a:rPr lang="en-US" altLang="zh-CN" dirty="0">
                <a:solidFill>
                  <a:srgbClr val="990000"/>
                </a:solidFill>
                <a:latin typeface="Arial" panose="020B0604020202020204" pitchFamily="34" charset="0"/>
              </a:rPr>
              <a:t>2.3 </a:t>
            </a:r>
            <a:r>
              <a:rPr lang="zh-CN" altLang="en-US" dirty="0">
                <a:solidFill>
                  <a:srgbClr val="990000"/>
                </a:solidFill>
                <a:latin typeface="Arial" panose="020B0604020202020204" pitchFamily="34" charset="0"/>
              </a:rPr>
              <a:t>水汽密度</a:t>
            </a:r>
            <a:endParaRPr lang="zh-CN" altLang="en-US" dirty="0">
              <a:solidFill>
                <a:srgbClr val="990000"/>
              </a:solidFill>
              <a:latin typeface="Arial" panose="020B0604020202020204" pitchFamily="34" charset="0"/>
            </a:endParaRPr>
          </a:p>
          <a:p>
            <a:pPr eaLnBrk="1" hangingPunct="1">
              <a:spcBef>
                <a:spcPct val="50000"/>
              </a:spcBef>
            </a:pPr>
            <a:r>
              <a:rPr lang="en-US" altLang="zh-CN" dirty="0">
                <a:solidFill>
                  <a:srgbClr val="990000"/>
                </a:solidFill>
                <a:latin typeface="Arial" panose="020B0604020202020204" pitchFamily="34" charset="0"/>
              </a:rPr>
              <a:t>2.4 </a:t>
            </a:r>
            <a:r>
              <a:rPr lang="zh-CN" altLang="en-US" dirty="0">
                <a:solidFill>
                  <a:srgbClr val="990000"/>
                </a:solidFill>
                <a:latin typeface="Arial" panose="020B0604020202020204" pitchFamily="34" charset="0"/>
              </a:rPr>
              <a:t>相对湿度</a:t>
            </a:r>
            <a:endParaRPr lang="zh-CN" altLang="en-US" dirty="0">
              <a:solidFill>
                <a:srgbClr val="990000"/>
              </a:solidFill>
              <a:latin typeface="Arial" panose="020B0604020202020204" pitchFamily="34" charset="0"/>
            </a:endParaRPr>
          </a:p>
          <a:p>
            <a:pPr eaLnBrk="1" hangingPunct="1">
              <a:spcBef>
                <a:spcPct val="50000"/>
              </a:spcBef>
            </a:pPr>
            <a:r>
              <a:rPr lang="en-US" altLang="zh-CN" dirty="0">
                <a:solidFill>
                  <a:srgbClr val="990000"/>
                </a:solidFill>
                <a:latin typeface="Arial" panose="020B0604020202020204" pitchFamily="34" charset="0"/>
              </a:rPr>
              <a:t>2.5 </a:t>
            </a:r>
            <a:r>
              <a:rPr lang="zh-CN" altLang="en-US" dirty="0">
                <a:solidFill>
                  <a:srgbClr val="990000"/>
                </a:solidFill>
                <a:latin typeface="Arial" panose="020B0604020202020204" pitchFamily="34" charset="0"/>
              </a:rPr>
              <a:t>露点和霜点</a:t>
            </a:r>
            <a:endParaRPr lang="zh-CN" altLang="en-US" dirty="0">
              <a:solidFill>
                <a:srgbClr val="990000"/>
              </a:solidFill>
              <a:latin typeface="Arial" panose="020B0604020202020204" pitchFamily="34" charset="0"/>
            </a:endParaRPr>
          </a:p>
        </p:txBody>
      </p:sp>
      <p:sp>
        <p:nvSpPr>
          <p:cNvPr id="16389" name="Text Box 16"/>
          <p:cNvSpPr txBox="1"/>
          <p:nvPr/>
        </p:nvSpPr>
        <p:spPr>
          <a:xfrm>
            <a:off x="2635250" y="4500563"/>
            <a:ext cx="3886200" cy="457200"/>
          </a:xfrm>
          <a:prstGeom prst="rect">
            <a:avLst/>
          </a:prstGeom>
          <a:noFill/>
          <a:ln w="9525">
            <a:noFill/>
          </a:ln>
        </p:spPr>
        <p:txBody>
          <a:bodyPr>
            <a:spAutoFit/>
          </a:bodyPr>
          <a:p>
            <a:pPr eaLnBrk="1" hangingPunct="1">
              <a:spcBef>
                <a:spcPct val="50000"/>
              </a:spcBef>
            </a:pPr>
            <a:r>
              <a:rPr lang="zh-CN" altLang="en-US" sz="2400" dirty="0">
                <a:solidFill>
                  <a:srgbClr val="FF0000"/>
                </a:solidFill>
                <a:latin typeface="Arial" panose="020B0604020202020204" pitchFamily="34" charset="0"/>
                <a:ea typeface="楷体_GB2312" pitchFamily="49" charset="-122"/>
              </a:rPr>
              <a:t>湿空气的状态方程</a:t>
            </a:r>
            <a:endParaRPr lang="zh-CN" altLang="en-US" sz="2400" dirty="0">
              <a:solidFill>
                <a:srgbClr val="FF0000"/>
              </a:solidFill>
              <a:latin typeface="Arial" panose="020B0604020202020204" pitchFamily="34" charset="0"/>
              <a:ea typeface="楷体_GB2312" pitchFamily="49" charset="-122"/>
            </a:endParaRPr>
          </a:p>
        </p:txBody>
      </p:sp>
      <p:sp>
        <p:nvSpPr>
          <p:cNvPr id="16390" name="Text Box 20"/>
          <p:cNvSpPr txBox="1"/>
          <p:nvPr/>
        </p:nvSpPr>
        <p:spPr>
          <a:xfrm>
            <a:off x="2635250" y="5262563"/>
            <a:ext cx="3886200" cy="457200"/>
          </a:xfrm>
          <a:prstGeom prst="rect">
            <a:avLst/>
          </a:prstGeom>
          <a:noFill/>
          <a:ln w="9525">
            <a:noFill/>
          </a:ln>
        </p:spPr>
        <p:txBody>
          <a:bodyPr>
            <a:spAutoFit/>
          </a:bodyPr>
          <a:p>
            <a:pPr eaLnBrk="1" hangingPunct="1">
              <a:spcBef>
                <a:spcPct val="50000"/>
              </a:spcBef>
            </a:pPr>
            <a:r>
              <a:rPr lang="zh-CN" altLang="en-US" sz="2400" dirty="0">
                <a:latin typeface="Arial" panose="020B0604020202020204" pitchFamily="34" charset="0"/>
                <a:ea typeface="楷体_GB2312" pitchFamily="49" charset="-122"/>
              </a:rPr>
              <a:t>水汽的分布</a:t>
            </a:r>
            <a:r>
              <a:rPr lang="en-US" altLang="zh-CN" sz="2400" dirty="0">
                <a:latin typeface="Arial" panose="020B0604020202020204" pitchFamily="34" charset="0"/>
                <a:ea typeface="楷体_GB2312" pitchFamily="49" charset="-122"/>
              </a:rPr>
              <a:t>——</a:t>
            </a:r>
            <a:r>
              <a:rPr lang="zh-CN" altLang="en-US" sz="2400" dirty="0">
                <a:latin typeface="Arial" panose="020B0604020202020204" pitchFamily="34" charset="0"/>
                <a:ea typeface="楷体_GB2312" pitchFamily="49" charset="-122"/>
              </a:rPr>
              <a:t>了解</a:t>
            </a:r>
            <a:endParaRPr lang="zh-CN" altLang="en-US" sz="2400" dirty="0">
              <a:latin typeface="Arial" panose="020B0604020202020204" pitchFamily="34" charset="0"/>
              <a:ea typeface="楷体_GB2312" pitchFamily="49" charset="-122"/>
            </a:endParaRPr>
          </a:p>
        </p:txBody>
      </p:sp>
      <p:sp>
        <p:nvSpPr>
          <p:cNvPr id="16391" name="Oval 51"/>
          <p:cNvSpPr/>
          <p:nvPr/>
        </p:nvSpPr>
        <p:spPr>
          <a:xfrm rot="1758052">
            <a:off x="2254250" y="1881188"/>
            <a:ext cx="360363" cy="334962"/>
          </a:xfrm>
          <a:prstGeom prst="ellipse">
            <a:avLst/>
          </a:prstGeom>
          <a:gradFill rotWithShape="1">
            <a:gsLst>
              <a:gs pos="0">
                <a:srgbClr val="FF0000"/>
              </a:gs>
              <a:gs pos="100000">
                <a:srgbClr val="760000"/>
              </a:gs>
            </a:gsLst>
            <a:path path="shape">
              <a:fillToRect l="50000" t="50000" r="50000" b="50000"/>
            </a:path>
            <a:tileRect/>
          </a:gradFill>
          <a:ln w="9525">
            <a:noFill/>
          </a:ln>
        </p:spPr>
        <p:txBody>
          <a:bodyPr wrap="none" anchor="ctr" anchorCtr="0"/>
          <a:p>
            <a:pPr eaLnBrk="1" hangingPunct="1"/>
            <a:endParaRPr lang="zh-CN" altLang="en-US" dirty="0">
              <a:solidFill>
                <a:srgbClr val="FF0000"/>
              </a:solidFill>
              <a:latin typeface="Arial" panose="020B0604020202020204" pitchFamily="34" charset="0"/>
            </a:endParaRPr>
          </a:p>
        </p:txBody>
      </p:sp>
      <p:sp>
        <p:nvSpPr>
          <p:cNvPr id="16392" name="Text Box 54"/>
          <p:cNvSpPr txBox="1"/>
          <p:nvPr/>
        </p:nvSpPr>
        <p:spPr>
          <a:xfrm>
            <a:off x="2268538" y="1833563"/>
            <a:ext cx="311150" cy="400050"/>
          </a:xfrm>
          <a:prstGeom prst="rect">
            <a:avLst/>
          </a:prstGeom>
          <a:noFill/>
          <a:ln w="9525">
            <a:noFill/>
          </a:ln>
        </p:spPr>
        <p:txBody>
          <a:bodyPr wrap="none">
            <a:spAutoFit/>
          </a:bodyPr>
          <a:p>
            <a:pPr algn="ctr"/>
            <a:r>
              <a:rPr lang="en-US" altLang="zh-CN" sz="2000" dirty="0">
                <a:solidFill>
                  <a:schemeClr val="bg1"/>
                </a:solidFill>
                <a:latin typeface="Times New Roman" panose="02020603050405020304" pitchFamily="18" charset="0"/>
              </a:rPr>
              <a:t>1</a:t>
            </a:r>
            <a:endParaRPr lang="en-US" altLang="zh-CN" sz="2000" dirty="0">
              <a:solidFill>
                <a:schemeClr val="bg1"/>
              </a:solidFill>
              <a:latin typeface="Times New Roman" panose="02020603050405020304" pitchFamily="18" charset="0"/>
            </a:endParaRPr>
          </a:p>
        </p:txBody>
      </p:sp>
      <p:sp>
        <p:nvSpPr>
          <p:cNvPr id="16393" name="Oval 51"/>
          <p:cNvSpPr/>
          <p:nvPr/>
        </p:nvSpPr>
        <p:spPr>
          <a:xfrm rot="1758052">
            <a:off x="2274888" y="4576763"/>
            <a:ext cx="360362" cy="334962"/>
          </a:xfrm>
          <a:prstGeom prst="ellipse">
            <a:avLst/>
          </a:prstGeom>
          <a:gradFill rotWithShape="1">
            <a:gsLst>
              <a:gs pos="0">
                <a:srgbClr val="FF0000"/>
              </a:gs>
              <a:gs pos="100000">
                <a:srgbClr val="760000"/>
              </a:gs>
            </a:gsLst>
            <a:path path="shape">
              <a:fillToRect l="50000" t="50000" r="50000" b="50000"/>
            </a:path>
            <a:tileRect/>
          </a:gradFill>
          <a:ln w="9525">
            <a:noFill/>
          </a:ln>
        </p:spPr>
        <p:txBody>
          <a:bodyPr wrap="none" anchor="ctr" anchorCtr="0"/>
          <a:p>
            <a:pPr eaLnBrk="1" hangingPunct="1"/>
            <a:endParaRPr lang="zh-CN" altLang="en-US" dirty="0">
              <a:latin typeface="Arial" panose="020B0604020202020204" pitchFamily="34" charset="0"/>
            </a:endParaRPr>
          </a:p>
        </p:txBody>
      </p:sp>
      <p:sp>
        <p:nvSpPr>
          <p:cNvPr id="16394" name="Text Box 54"/>
          <p:cNvSpPr txBox="1"/>
          <p:nvPr/>
        </p:nvSpPr>
        <p:spPr>
          <a:xfrm>
            <a:off x="2314575" y="4541838"/>
            <a:ext cx="312738" cy="400050"/>
          </a:xfrm>
          <a:prstGeom prst="rect">
            <a:avLst/>
          </a:prstGeom>
          <a:noFill/>
          <a:ln w="9525">
            <a:noFill/>
          </a:ln>
        </p:spPr>
        <p:txBody>
          <a:bodyPr wrap="none">
            <a:spAutoFit/>
          </a:bodyPr>
          <a:p>
            <a:pPr algn="ctr"/>
            <a:r>
              <a:rPr lang="en-US" altLang="zh-CN" sz="2000" dirty="0">
                <a:solidFill>
                  <a:schemeClr val="bg1"/>
                </a:solidFill>
                <a:latin typeface="Times New Roman" panose="02020603050405020304" pitchFamily="18" charset="0"/>
              </a:rPr>
              <a:t>2</a:t>
            </a:r>
            <a:endParaRPr lang="en-US" altLang="zh-CN" sz="2000" dirty="0">
              <a:solidFill>
                <a:schemeClr val="bg1"/>
              </a:solidFill>
              <a:latin typeface="Times New Roman" panose="02020603050405020304" pitchFamily="18" charset="0"/>
            </a:endParaRPr>
          </a:p>
        </p:txBody>
      </p:sp>
      <p:grpSp>
        <p:nvGrpSpPr>
          <p:cNvPr id="16395" name="Group 27"/>
          <p:cNvGrpSpPr/>
          <p:nvPr/>
        </p:nvGrpSpPr>
        <p:grpSpPr>
          <a:xfrm>
            <a:off x="2266950" y="5335588"/>
            <a:ext cx="360363" cy="396875"/>
            <a:chOff x="442" y="838"/>
            <a:chExt cx="272" cy="322"/>
          </a:xfrm>
        </p:grpSpPr>
        <p:sp>
          <p:nvSpPr>
            <p:cNvPr id="41011" name="Oval 51"/>
            <p:cNvSpPr>
              <a:spLocks noChangeArrowheads="1"/>
            </p:cNvSpPr>
            <p:nvPr/>
          </p:nvSpPr>
          <p:spPr bwMode="gray">
            <a:xfrm rot="1758052">
              <a:off x="442" y="850"/>
              <a:ext cx="272" cy="272"/>
            </a:xfrm>
            <a:prstGeom prst="ellipse">
              <a:avLst/>
            </a:prstGeom>
            <a:gradFill rotWithShape="1">
              <a:gsLst>
                <a:gs pos="0">
                  <a:schemeClr val="accent2"/>
                </a:gs>
                <a:gs pos="100000">
                  <a:schemeClr val="accent2">
                    <a:gamma/>
                    <a:shade val="69804"/>
                    <a:invGamma/>
                  </a:schemeClr>
                </a:gs>
              </a:gsLst>
              <a:path path="shape">
                <a:fillToRect l="50000" t="50000" r="50000" b="50000"/>
              </a:path>
            </a:gradFill>
            <a:ln>
              <a:noFill/>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399" name="Text Box 54"/>
            <p:cNvSpPr txBox="1"/>
            <p:nvPr/>
          </p:nvSpPr>
          <p:spPr>
            <a:xfrm>
              <a:off x="472" y="838"/>
              <a:ext cx="234" cy="322"/>
            </a:xfrm>
            <a:prstGeom prst="rect">
              <a:avLst/>
            </a:prstGeom>
            <a:noFill/>
            <a:ln w="9525">
              <a:noFill/>
            </a:ln>
          </p:spPr>
          <p:txBody>
            <a:bodyPr wrap="none">
              <a:spAutoFit/>
            </a:bodyPr>
            <a:p>
              <a:pPr algn="ctr"/>
              <a:r>
                <a:rPr lang="en-US" altLang="zh-CN" sz="2000" dirty="0">
                  <a:solidFill>
                    <a:schemeClr val="bg1"/>
                  </a:solidFill>
                  <a:latin typeface="Times New Roman" panose="02020603050405020304" pitchFamily="18" charset="0"/>
                </a:rPr>
                <a:t>3</a:t>
              </a:r>
              <a:endParaRPr lang="en-US" altLang="zh-CN" sz="2000" dirty="0">
                <a:solidFill>
                  <a:schemeClr val="bg1"/>
                </a:solidFill>
                <a:latin typeface="Times New Roman" panose="02020603050405020304" pitchFamily="18" charset="0"/>
              </a:endParaRPr>
            </a:p>
          </p:txBody>
        </p:sp>
      </p:grpSp>
      <p:sp>
        <p:nvSpPr>
          <p:cNvPr id="16396" name="Text Box 23"/>
          <p:cNvSpPr txBox="1"/>
          <p:nvPr/>
        </p:nvSpPr>
        <p:spPr>
          <a:xfrm>
            <a:off x="7131050" y="2824163"/>
            <a:ext cx="1066800" cy="1198562"/>
          </a:xfrm>
          <a:prstGeom prst="rect">
            <a:avLst/>
          </a:prstGeom>
          <a:noFill/>
          <a:ln w="38100" cap="flat" cmpd="sng">
            <a:solidFill>
              <a:srgbClr val="800080"/>
            </a:solidFill>
            <a:prstDash val="solid"/>
            <a:miter/>
            <a:headEnd type="none" w="med" len="med"/>
            <a:tailEnd type="none" w="med" len="med"/>
          </a:ln>
        </p:spPr>
        <p:txBody>
          <a:bodyPr>
            <a:spAutoFit/>
          </a:bodyPr>
          <a:p>
            <a:pPr eaLnBrk="1" hangingPunct="1">
              <a:spcBef>
                <a:spcPct val="50000"/>
              </a:spcBef>
            </a:pPr>
            <a:r>
              <a:rPr lang="zh-CN" altLang="en-US" sz="2800" dirty="0">
                <a:solidFill>
                  <a:srgbClr val="FF0000"/>
                </a:solidFill>
                <a:latin typeface="Arial" panose="020B0604020202020204" pitchFamily="34" charset="0"/>
              </a:rPr>
              <a:t>重点</a:t>
            </a:r>
            <a:endParaRPr lang="zh-CN" altLang="en-US" sz="2800" dirty="0">
              <a:solidFill>
                <a:srgbClr val="FF0000"/>
              </a:solidFill>
              <a:latin typeface="Arial" panose="020B0604020202020204" pitchFamily="34" charset="0"/>
            </a:endParaRPr>
          </a:p>
          <a:p>
            <a:pPr eaLnBrk="1" hangingPunct="1">
              <a:spcBef>
                <a:spcPct val="50000"/>
              </a:spcBef>
            </a:pPr>
            <a:r>
              <a:rPr lang="zh-CN" altLang="en-US" sz="2800" dirty="0">
                <a:solidFill>
                  <a:srgbClr val="FF0000"/>
                </a:solidFill>
                <a:latin typeface="Arial" panose="020B0604020202020204" pitchFamily="34" charset="0"/>
              </a:rPr>
              <a:t>难点</a:t>
            </a:r>
            <a:endParaRPr lang="zh-CN" altLang="en-US" sz="2800" dirty="0">
              <a:solidFill>
                <a:srgbClr val="FF0000"/>
              </a:solidFill>
              <a:latin typeface="Arial" panose="020B0604020202020204" pitchFamily="34" charset="0"/>
            </a:endParaRPr>
          </a:p>
        </p:txBody>
      </p:sp>
      <p:sp>
        <p:nvSpPr>
          <p:cNvPr id="21" name="Rectangle 2"/>
          <p:cNvSpPr>
            <a:spLocks noChangeArrowheads="1"/>
          </p:cNvSpPr>
          <p:nvPr/>
        </p:nvSpPr>
        <p:spPr bwMode="auto">
          <a:xfrm>
            <a:off x="0" y="-52387"/>
            <a:ext cx="9144000" cy="769938"/>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Arial" panose="020B0604020202020204" pitchFamily="34" charset="0"/>
              </a:rPr>
              <a:t>2.2  </a:t>
            </a:r>
            <a:r>
              <a:rPr kumimoji="0" lang="zh-CN" altLang="en-US" sz="4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Arial" panose="020B0604020202020204" pitchFamily="34" charset="0"/>
              </a:rPr>
              <a:t>大气中的水汽</a:t>
            </a:r>
            <a:endParaRPr kumimoji="0" lang="zh-CN" altLang="en-US" sz="4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Arial" panose="020B0604020202020204" pitchFamily="3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ext Box 5"/>
          <p:cNvSpPr txBox="1"/>
          <p:nvPr/>
        </p:nvSpPr>
        <p:spPr>
          <a:xfrm>
            <a:off x="685800" y="1676400"/>
            <a:ext cx="8062913" cy="4302125"/>
          </a:xfrm>
          <a:prstGeom prst="rect">
            <a:avLst/>
          </a:prstGeom>
          <a:noFill/>
          <a:ln w="9525">
            <a:noFill/>
          </a:ln>
        </p:spPr>
        <p:txBody>
          <a:bodyPr>
            <a:spAutoFit/>
          </a:bodyPr>
          <a:p>
            <a:pPr algn="just" eaLnBrk="1" hangingPunct="1">
              <a:lnSpc>
                <a:spcPct val="130000"/>
              </a:lnSpc>
              <a:spcBef>
                <a:spcPct val="100000"/>
              </a:spcBef>
              <a:buClr>
                <a:srgbClr val="FF0000"/>
              </a:buClr>
              <a:buFont typeface="Wingdings" panose="05000000000000000000" pitchFamily="2" charset="2"/>
              <a:buChar char="ü"/>
            </a:pPr>
            <a:r>
              <a:rPr lang="en-US" altLang="zh-CN" sz="2400" dirty="0">
                <a:latin typeface="宋体" panose="02010600030101010101" pitchFamily="2" charset="-122"/>
              </a:rPr>
              <a:t> </a:t>
            </a:r>
            <a:r>
              <a:rPr lang="zh-CN" altLang="en-US" sz="2400" dirty="0">
                <a:latin typeface="宋体" panose="02010600030101010101" pitchFamily="2" charset="-122"/>
              </a:rPr>
              <a:t>水汽在大气中的比例很小，仅</a:t>
            </a:r>
            <a:r>
              <a:rPr lang="en-US" altLang="zh-CN" sz="2400" dirty="0">
                <a:solidFill>
                  <a:srgbClr val="FF0000"/>
                </a:solidFill>
                <a:latin typeface="宋体" panose="02010600030101010101" pitchFamily="2" charset="-122"/>
              </a:rPr>
              <a:t>0.1%</a:t>
            </a:r>
            <a:r>
              <a:rPr lang="en-US" altLang="zh-CN" sz="2400" dirty="0">
                <a:solidFill>
                  <a:srgbClr val="FF0000"/>
                </a:solidFill>
                <a:latin typeface="Times New Roman" panose="02020603050405020304" pitchFamily="18" charset="0"/>
              </a:rPr>
              <a:t>~</a:t>
            </a:r>
            <a:r>
              <a:rPr lang="en-US" altLang="zh-CN" sz="2400" dirty="0">
                <a:solidFill>
                  <a:srgbClr val="FF0000"/>
                </a:solidFill>
                <a:latin typeface="宋体" panose="02010600030101010101" pitchFamily="2" charset="-122"/>
              </a:rPr>
              <a:t>3%</a:t>
            </a:r>
            <a:r>
              <a:rPr lang="zh-CN" altLang="en-US" sz="2400" dirty="0">
                <a:latin typeface="宋体" panose="02010600030101010101" pitchFamily="2" charset="-122"/>
              </a:rPr>
              <a:t>。</a:t>
            </a:r>
            <a:endParaRPr lang="en-US" altLang="zh-CN" sz="2400" dirty="0">
              <a:latin typeface="宋体" panose="02010600030101010101" pitchFamily="2" charset="-122"/>
            </a:endParaRPr>
          </a:p>
          <a:p>
            <a:pPr algn="just" eaLnBrk="1" hangingPunct="1">
              <a:lnSpc>
                <a:spcPct val="130000"/>
              </a:lnSpc>
              <a:spcBef>
                <a:spcPct val="100000"/>
              </a:spcBef>
              <a:buClr>
                <a:srgbClr val="FF0000"/>
              </a:buClr>
              <a:buFont typeface="Wingdings" panose="05000000000000000000" pitchFamily="2" charset="2"/>
              <a:buChar char="ü"/>
            </a:pPr>
            <a:r>
              <a:rPr lang="zh-CN" altLang="en-US" sz="2400" dirty="0">
                <a:latin typeface="宋体" panose="02010600030101010101" pitchFamily="2" charset="-122"/>
              </a:rPr>
              <a:t> 大气中</a:t>
            </a:r>
            <a:r>
              <a:rPr lang="zh-CN" altLang="en-US" sz="2400" dirty="0">
                <a:solidFill>
                  <a:srgbClr val="FF0000"/>
                </a:solidFill>
                <a:latin typeface="宋体" panose="02010600030101010101" pitchFamily="2" charset="-122"/>
              </a:rPr>
              <a:t>最活跃</a:t>
            </a:r>
            <a:r>
              <a:rPr lang="zh-CN" altLang="en-US" sz="2400" dirty="0">
                <a:latin typeface="宋体" panose="02010600030101010101" pitchFamily="2" charset="-122"/>
              </a:rPr>
              <a:t>的成分，重要的</a:t>
            </a:r>
            <a:r>
              <a:rPr lang="zh-CN" altLang="en-US" sz="2400" dirty="0">
                <a:solidFill>
                  <a:srgbClr val="FF0000"/>
                </a:solidFill>
                <a:latin typeface="宋体" panose="02010600030101010101" pitchFamily="2" charset="-122"/>
              </a:rPr>
              <a:t>温室气体</a:t>
            </a:r>
            <a:r>
              <a:rPr lang="zh-CN" altLang="en-US" sz="2400" dirty="0">
                <a:latin typeface="宋体" panose="02010600030101010101" pitchFamily="2" charset="-122"/>
              </a:rPr>
              <a:t>。</a:t>
            </a:r>
            <a:endParaRPr lang="zh-CN" altLang="en-US" sz="2400" dirty="0">
              <a:latin typeface="宋体" panose="02010600030101010101" pitchFamily="2" charset="-122"/>
            </a:endParaRPr>
          </a:p>
          <a:p>
            <a:pPr algn="just" eaLnBrk="1" hangingPunct="1">
              <a:lnSpc>
                <a:spcPct val="130000"/>
              </a:lnSpc>
              <a:spcBef>
                <a:spcPct val="100000"/>
              </a:spcBef>
              <a:buClr>
                <a:srgbClr val="FF0000"/>
              </a:buClr>
              <a:buFont typeface="Wingdings" panose="05000000000000000000" pitchFamily="2" charset="2"/>
              <a:buChar char="ü"/>
            </a:pPr>
            <a:r>
              <a:rPr lang="zh-CN" altLang="en-US" sz="2400" dirty="0">
                <a:latin typeface="宋体" panose="02010600030101010101" pitchFamily="2" charset="-122"/>
              </a:rPr>
              <a:t> 水汽积极地参与了对流层内</a:t>
            </a:r>
            <a:r>
              <a:rPr lang="zh-CN" altLang="en-US" sz="2400" dirty="0">
                <a:solidFill>
                  <a:srgbClr val="FF0000"/>
                </a:solidFill>
                <a:latin typeface="宋体" panose="02010600030101010101" pitchFamily="2" charset="-122"/>
              </a:rPr>
              <a:t>天气现象的形成和消散</a:t>
            </a:r>
            <a:r>
              <a:rPr lang="zh-CN" altLang="en-US" sz="2400" dirty="0">
                <a:latin typeface="宋体" panose="02010600030101010101" pitchFamily="2" charset="-122"/>
              </a:rPr>
              <a:t>。</a:t>
            </a:r>
            <a:endParaRPr lang="en-US" altLang="zh-CN" sz="2400" dirty="0">
              <a:latin typeface="宋体" panose="02010600030101010101" pitchFamily="2" charset="-122"/>
            </a:endParaRPr>
          </a:p>
          <a:p>
            <a:pPr algn="just" eaLnBrk="1" hangingPunct="1">
              <a:lnSpc>
                <a:spcPct val="150000"/>
              </a:lnSpc>
              <a:spcBef>
                <a:spcPct val="100000"/>
              </a:spcBef>
              <a:buClr>
                <a:srgbClr val="FF0000"/>
              </a:buClr>
              <a:buFont typeface="Wingdings" panose="05000000000000000000" pitchFamily="2" charset="2"/>
              <a:buChar char="ü"/>
            </a:pPr>
            <a:r>
              <a:rPr lang="zh-CN" altLang="en-US" sz="2400" dirty="0">
                <a:latin typeface="Arial" panose="020B0604020202020204" pitchFamily="34" charset="0"/>
              </a:rPr>
              <a:t> 大气中的水汽只占全球总水量的</a:t>
            </a:r>
            <a:r>
              <a:rPr lang="en-US" altLang="zh-CN" sz="2400" dirty="0">
                <a:latin typeface="Arial" panose="020B0604020202020204" pitchFamily="34" charset="0"/>
              </a:rPr>
              <a:t>0.001%</a:t>
            </a:r>
            <a:r>
              <a:rPr lang="zh-CN" altLang="en-US" sz="2400" dirty="0">
                <a:latin typeface="Arial" panose="020B0604020202020204" pitchFamily="34" charset="0"/>
              </a:rPr>
              <a:t>，</a:t>
            </a:r>
            <a:r>
              <a:rPr lang="zh-CN" altLang="en-US" sz="2400" dirty="0">
                <a:solidFill>
                  <a:srgbClr val="FF0000"/>
                </a:solidFill>
                <a:latin typeface="Arial" panose="020B0604020202020204" pitchFamily="34" charset="0"/>
              </a:rPr>
              <a:t>海洋</a:t>
            </a:r>
            <a:r>
              <a:rPr lang="zh-CN" altLang="en-US" sz="2400" dirty="0">
                <a:latin typeface="Arial" panose="020B0604020202020204" pitchFamily="34" charset="0"/>
              </a:rPr>
              <a:t>储存了</a:t>
            </a:r>
            <a:r>
              <a:rPr lang="en-US" altLang="zh-CN" sz="2400" dirty="0">
                <a:latin typeface="Arial" panose="020B0604020202020204" pitchFamily="34" charset="0"/>
              </a:rPr>
              <a:t>97.6%</a:t>
            </a:r>
            <a:r>
              <a:rPr lang="zh-CN" altLang="en-US" sz="2400" dirty="0">
                <a:latin typeface="Arial" panose="020B0604020202020204" pitchFamily="34" charset="0"/>
              </a:rPr>
              <a:t>，</a:t>
            </a:r>
            <a:r>
              <a:rPr lang="zh-CN" altLang="en-US" sz="2400" dirty="0">
                <a:latin typeface="宋体" panose="02010600030101010101" pitchFamily="2" charset="-122"/>
              </a:rPr>
              <a:t>中国处于欧亚大陆东南部，水汽主要来源于</a:t>
            </a:r>
            <a:r>
              <a:rPr lang="zh-CN" altLang="en-US" sz="2400" dirty="0">
                <a:solidFill>
                  <a:srgbClr val="FF0000"/>
                </a:solidFill>
                <a:latin typeface="宋体" panose="02010600030101010101" pitchFamily="2" charset="-122"/>
              </a:rPr>
              <a:t>南海</a:t>
            </a:r>
            <a:r>
              <a:rPr lang="zh-CN" altLang="en-US" sz="2400" dirty="0">
                <a:latin typeface="宋体" panose="02010600030101010101" pitchFamily="2" charset="-122"/>
              </a:rPr>
              <a:t>和</a:t>
            </a:r>
            <a:r>
              <a:rPr lang="zh-CN" altLang="en-US" sz="2400" dirty="0">
                <a:solidFill>
                  <a:srgbClr val="FF0000"/>
                </a:solidFill>
                <a:latin typeface="宋体" panose="02010600030101010101" pitchFamily="2" charset="-122"/>
              </a:rPr>
              <a:t>印度洋</a:t>
            </a:r>
            <a:r>
              <a:rPr lang="zh-CN" altLang="en-US" sz="2400" dirty="0">
                <a:latin typeface="宋体" panose="02010600030101010101" pitchFamily="2" charset="-122"/>
              </a:rPr>
              <a:t>。 </a:t>
            </a:r>
            <a:endParaRPr lang="zh-CN" altLang="en-US" sz="2400" dirty="0">
              <a:latin typeface="宋体" panose="02010600030101010101" pitchFamily="2" charset="-122"/>
            </a:endParaRPr>
          </a:p>
        </p:txBody>
      </p:sp>
      <p:sp>
        <p:nvSpPr>
          <p:cNvPr id="4" name="Rectangle 2"/>
          <p:cNvSpPr>
            <a:spLocks noChangeArrowheads="1"/>
          </p:cNvSpPr>
          <p:nvPr/>
        </p:nvSpPr>
        <p:spPr bwMode="auto">
          <a:xfrm>
            <a:off x="0" y="-52387"/>
            <a:ext cx="9144000" cy="769938"/>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Arial" panose="020B0604020202020204" pitchFamily="34" charset="0"/>
              </a:rPr>
              <a:t>2.2  </a:t>
            </a:r>
            <a:r>
              <a:rPr kumimoji="0" lang="zh-CN" altLang="en-US" sz="4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Arial" panose="020B0604020202020204" pitchFamily="34" charset="0"/>
              </a:rPr>
              <a:t>大气中的水汽</a:t>
            </a:r>
            <a:endParaRPr kumimoji="0" lang="zh-CN" altLang="en-US" sz="4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Arial" panose="020B0604020202020204" pitchFamily="3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Rectangle 2"/>
          <p:cNvSpPr>
            <a:spLocks noChangeArrowheads="1"/>
          </p:cNvSpPr>
          <p:nvPr/>
        </p:nvSpPr>
        <p:spPr bwMode="auto">
          <a:xfrm>
            <a:off x="0" y="-52387"/>
            <a:ext cx="9144000" cy="647700"/>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Arial" panose="020B0604020202020204" pitchFamily="34" charset="0"/>
              </a:rPr>
              <a:t>2.2  </a:t>
            </a:r>
            <a:r>
              <a:rPr kumimoji="0" lang="zh-CN" altLang="en-US" sz="4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Arial" panose="020B0604020202020204" pitchFamily="34" charset="0"/>
              </a:rPr>
              <a:t>大气中的水汽</a:t>
            </a:r>
            <a:endParaRPr kumimoji="0" lang="zh-CN" altLang="en-US" sz="44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Arial" panose="020B0604020202020204" pitchFamily="34" charset="0"/>
            </a:endParaRPr>
          </a:p>
        </p:txBody>
      </p:sp>
      <p:pic>
        <p:nvPicPr>
          <p:cNvPr id="18435" name="Picture1" descr="0105"/>
          <p:cNvPicPr>
            <a:picLocks noChangeAspect="1"/>
          </p:cNvPicPr>
          <p:nvPr/>
        </p:nvPicPr>
        <p:blipFill>
          <a:blip r:embed="rId1"/>
          <a:srcRect b="2495"/>
          <a:stretch>
            <a:fillRect/>
          </a:stretch>
        </p:blipFill>
        <p:spPr>
          <a:xfrm>
            <a:off x="34925" y="1123950"/>
            <a:ext cx="9109075" cy="4608513"/>
          </a:xfrm>
          <a:prstGeom prst="rect">
            <a:avLst/>
          </a:prstGeom>
          <a:noFill/>
          <a:ln w="9525">
            <a:noFill/>
          </a:ln>
        </p:spPr>
      </p:pic>
      <p:sp>
        <p:nvSpPr>
          <p:cNvPr id="18436" name="矩形 8"/>
          <p:cNvSpPr/>
          <p:nvPr/>
        </p:nvSpPr>
        <p:spPr>
          <a:xfrm>
            <a:off x="3348038" y="5848350"/>
            <a:ext cx="2659062" cy="460375"/>
          </a:xfrm>
          <a:prstGeom prst="rect">
            <a:avLst/>
          </a:prstGeom>
          <a:noFill/>
          <a:ln w="28575" cap="flat" cmpd="sng">
            <a:solidFill>
              <a:srgbClr val="7030A0"/>
            </a:solidFill>
            <a:prstDash val="solid"/>
            <a:miter/>
            <a:headEnd type="none" w="med" len="med"/>
            <a:tailEnd type="none" w="med" len="med"/>
          </a:ln>
        </p:spPr>
        <p:txBody>
          <a:bodyPr wrap="none">
            <a:spAutoFit/>
          </a:bodyPr>
          <a:p>
            <a:pPr eaLnBrk="1" hangingPunct="1"/>
            <a:r>
              <a:rPr lang="zh-CN" altLang="en-US" sz="2400" dirty="0">
                <a:latin typeface="楷体_GB2312" pitchFamily="49" charset="-122"/>
                <a:ea typeface="楷体_GB2312" pitchFamily="49" charset="-122"/>
              </a:rPr>
              <a:t>地球上的水分循环</a:t>
            </a:r>
            <a:endParaRPr lang="zh-CN" altLang="en-US" sz="2400" dirty="0">
              <a:latin typeface="楷体_GB2312" pitchFamily="49" charset="-122"/>
              <a:ea typeface="楷体_GB2312" pitchFamily="49"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ChangeArrowheads="1"/>
          </p:cNvSpPr>
          <p:nvPr/>
        </p:nvSpPr>
        <p:spPr bwMode="auto">
          <a:xfrm>
            <a:off x="0" y="-88900"/>
            <a:ext cx="9144000" cy="72072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一、大气湿度的表示方法</a:t>
            </a:r>
            <a:endPar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
        <p:nvSpPr>
          <p:cNvPr id="7175" name="Text Box 9"/>
          <p:cNvSpPr txBox="1">
            <a:spLocks noChangeArrowheads="1"/>
          </p:cNvSpPr>
          <p:nvPr/>
        </p:nvSpPr>
        <p:spPr bwMode="auto">
          <a:xfrm>
            <a:off x="2844800" y="2852738"/>
            <a:ext cx="2590800" cy="3600450"/>
          </a:xfrm>
          <a:prstGeom prst="rect">
            <a:avLst/>
          </a:prstGeom>
          <a:noFill/>
          <a:ln w="9525">
            <a:noFill/>
            <a:miter lim="800000"/>
          </a:ln>
          <a:effectLst/>
        </p:spPr>
        <p:txBody>
          <a:bodyPr>
            <a:spAutoFit/>
          </a:bodyPr>
          <a:lstStyle/>
          <a:p>
            <a:pPr marL="457200" marR="0" indent="-457200" defTabSz="914400" eaLnBrk="1" hangingPunct="1">
              <a:lnSpc>
                <a:spcPct val="150000"/>
              </a:lnSpc>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1. </a:t>
            </a:r>
            <a:r>
              <a:rPr kumimoji="0" lang="zh-CN" altLang="en-US" sz="2400" kern="1200" cap="none" spc="0" normalizeH="0" baseline="0" noProof="0" dirty="0">
                <a:latin typeface="Arial" panose="020B0604020202020204" pitchFamily="34" charset="0"/>
                <a:ea typeface="宋体" panose="02010600030101010101" pitchFamily="2" charset="-122"/>
                <a:cs typeface="+mn-cs"/>
              </a:rPr>
              <a:t>混合比与比湿</a:t>
            </a:r>
            <a:endParaRPr kumimoji="0" lang="zh-CN" altLang="en-US" sz="2400" kern="1200" cap="none" spc="0" normalizeH="0" baseline="0" noProof="0" dirty="0">
              <a:latin typeface="Arial" panose="020B0604020202020204" pitchFamily="34" charset="0"/>
              <a:ea typeface="宋体" panose="02010600030101010101" pitchFamily="2" charset="-122"/>
              <a:cs typeface="+mn-cs"/>
            </a:endParaRPr>
          </a:p>
          <a:p>
            <a:pPr marL="457200" marR="0" indent="-457200" defTabSz="914400" eaLnBrk="1" hangingPunct="1">
              <a:lnSpc>
                <a:spcPct val="150000"/>
              </a:lnSpc>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2. </a:t>
            </a:r>
            <a:r>
              <a:rPr kumimoji="0" lang="zh-CN" altLang="en-US" sz="2400" kern="1200" cap="none" spc="0" normalizeH="0" baseline="0" noProof="0" dirty="0">
                <a:latin typeface="Arial" panose="020B0604020202020204" pitchFamily="34" charset="0"/>
                <a:ea typeface="宋体" panose="02010600030101010101" pitchFamily="2" charset="-122"/>
                <a:cs typeface="+mn-cs"/>
              </a:rPr>
              <a:t>水汽压</a:t>
            </a:r>
            <a:endParaRPr kumimoji="0" lang="zh-CN" altLang="en-US"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lnSpc>
                <a:spcPct val="150000"/>
              </a:lnSpc>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3. </a:t>
            </a:r>
            <a:r>
              <a:rPr kumimoji="0" lang="zh-CN" altLang="en-US" sz="2400" kern="1200" cap="none" spc="0" normalizeH="0" baseline="0" noProof="0" dirty="0">
                <a:latin typeface="Arial" panose="020B0604020202020204" pitchFamily="34" charset="0"/>
                <a:ea typeface="宋体" panose="02010600030101010101" pitchFamily="2" charset="-122"/>
                <a:cs typeface="+mn-cs"/>
              </a:rPr>
              <a:t>水汽密度</a:t>
            </a:r>
            <a:endParaRPr kumimoji="0" lang="zh-CN" altLang="en-US"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lnSpc>
                <a:spcPct val="150000"/>
              </a:lnSpc>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4. </a:t>
            </a:r>
            <a:r>
              <a:rPr kumimoji="0" lang="zh-CN" altLang="en-US" sz="2400" kern="1200" cap="none" spc="0" normalizeH="0" baseline="0" noProof="0" dirty="0">
                <a:latin typeface="Arial" panose="020B0604020202020204" pitchFamily="34" charset="0"/>
                <a:ea typeface="宋体" panose="02010600030101010101" pitchFamily="2" charset="-122"/>
                <a:cs typeface="+mn-cs"/>
              </a:rPr>
              <a:t>相对湿度</a:t>
            </a:r>
            <a:endParaRPr kumimoji="0" lang="zh-CN" altLang="en-US" sz="24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lnSpc>
                <a:spcPct val="150000"/>
              </a:lnSpc>
              <a:spcBef>
                <a:spcPct val="50000"/>
              </a:spcBef>
              <a:buClrTx/>
              <a:buSzTx/>
              <a:buFontTx/>
              <a:buNone/>
              <a:defRPr/>
            </a:pPr>
            <a:r>
              <a:rPr kumimoji="0" lang="en-US" altLang="zh-CN" sz="2400" kern="1200" cap="none" spc="0" normalizeH="0" baseline="0" noProof="0" dirty="0">
                <a:latin typeface="Arial" panose="020B0604020202020204" pitchFamily="34" charset="0"/>
                <a:ea typeface="宋体" panose="02010600030101010101" pitchFamily="2" charset="-122"/>
                <a:cs typeface="+mn-cs"/>
              </a:rPr>
              <a:t>5. </a:t>
            </a:r>
            <a:r>
              <a:rPr kumimoji="0" lang="zh-CN" altLang="en-US" sz="2400" kern="1200" cap="none" spc="0" normalizeH="0" baseline="0" noProof="0" dirty="0">
                <a:latin typeface="Arial" panose="020B0604020202020204" pitchFamily="34" charset="0"/>
                <a:ea typeface="宋体" panose="02010600030101010101" pitchFamily="2" charset="-122"/>
                <a:cs typeface="+mn-cs"/>
              </a:rPr>
              <a:t>露点和霜点</a:t>
            </a:r>
            <a:endParaRPr kumimoji="0" lang="zh-CN" altLang="en-US" sz="2400" kern="1200" cap="none" spc="0" normalizeH="0" baseline="0" noProof="0" dirty="0">
              <a:latin typeface="Arial" panose="020B0604020202020204" pitchFamily="34" charset="0"/>
              <a:ea typeface="宋体" panose="02010600030101010101" pitchFamily="2" charset="-122"/>
              <a:cs typeface="+mn-cs"/>
            </a:endParaRPr>
          </a:p>
        </p:txBody>
      </p:sp>
      <p:grpSp>
        <p:nvGrpSpPr>
          <p:cNvPr id="2" name="Group 28"/>
          <p:cNvGrpSpPr/>
          <p:nvPr/>
        </p:nvGrpSpPr>
        <p:grpSpPr>
          <a:xfrm>
            <a:off x="838200" y="987425"/>
            <a:ext cx="7848600" cy="1577975"/>
            <a:chOff x="528" y="622"/>
            <a:chExt cx="4944" cy="994"/>
          </a:xfrm>
        </p:grpSpPr>
        <p:sp>
          <p:nvSpPr>
            <p:cNvPr id="19461" name="Text Box 5"/>
            <p:cNvSpPr txBox="1"/>
            <p:nvPr/>
          </p:nvSpPr>
          <p:spPr>
            <a:xfrm>
              <a:off x="727" y="622"/>
              <a:ext cx="4745" cy="994"/>
            </a:xfrm>
            <a:prstGeom prst="rect">
              <a:avLst/>
            </a:prstGeom>
            <a:solidFill>
              <a:schemeClr val="accent1"/>
            </a:solidFill>
            <a:ln w="9525">
              <a:noFill/>
            </a:ln>
          </p:spPr>
          <p:txBody>
            <a:bodyPr>
              <a:spAutoFit/>
            </a:bodyPr>
            <a:p>
              <a:pPr eaLnBrk="1" hangingPunct="1">
                <a:spcBef>
                  <a:spcPct val="50000"/>
                </a:spcBef>
              </a:pPr>
              <a:r>
                <a:rPr lang="zh-CN" altLang="en-US" dirty="0">
                  <a:solidFill>
                    <a:srgbClr val="FF0000"/>
                  </a:solidFill>
                  <a:latin typeface="Arial" panose="020B0604020202020204" pitchFamily="34" charset="0"/>
                </a:rPr>
                <a:t>湿空气：</a:t>
              </a:r>
              <a:r>
                <a:rPr lang="zh-CN" altLang="en-US" dirty="0">
                  <a:latin typeface="Arial" panose="020B0604020202020204" pitchFamily="34" charset="0"/>
                </a:rPr>
                <a:t>水汽和干空气的混合气体。</a:t>
              </a:r>
              <a:endParaRPr lang="zh-CN" altLang="en-US" dirty="0">
                <a:latin typeface="Arial" panose="020B0604020202020204" pitchFamily="34" charset="0"/>
              </a:endParaRPr>
            </a:p>
            <a:p>
              <a:pPr eaLnBrk="1" hangingPunct="1">
                <a:spcBef>
                  <a:spcPct val="50000"/>
                </a:spcBef>
              </a:pPr>
              <a:r>
                <a:rPr lang="zh-CN" altLang="en-US" dirty="0">
                  <a:solidFill>
                    <a:srgbClr val="FF0000"/>
                  </a:solidFill>
                  <a:latin typeface="Arial" panose="020B0604020202020204" pitchFamily="34" charset="0"/>
                </a:rPr>
                <a:t>空气湿度：</a:t>
              </a:r>
              <a:r>
                <a:rPr lang="zh-CN" altLang="en-US" dirty="0">
                  <a:latin typeface="Arial" panose="020B0604020202020204" pitchFamily="34" charset="0"/>
                </a:rPr>
                <a:t>表示湿空气中水汽含量的物理量。</a:t>
              </a:r>
              <a:endParaRPr lang="zh-CN" altLang="en-US" dirty="0">
                <a:latin typeface="Arial" panose="020B0604020202020204" pitchFamily="34" charset="0"/>
              </a:endParaRPr>
            </a:p>
            <a:p>
              <a:pPr eaLnBrk="1" hangingPunct="1">
                <a:lnSpc>
                  <a:spcPct val="120000"/>
                </a:lnSpc>
                <a:spcBef>
                  <a:spcPct val="50000"/>
                </a:spcBef>
              </a:pPr>
              <a:r>
                <a:rPr lang="zh-CN" altLang="en-US" dirty="0">
                  <a:solidFill>
                    <a:srgbClr val="FF0000"/>
                  </a:solidFill>
                  <a:latin typeface="Arial" panose="020B0604020202020204" pitchFamily="34" charset="0"/>
                </a:rPr>
                <a:t>称重法：</a:t>
              </a:r>
              <a:r>
                <a:rPr lang="zh-CN" altLang="en-US" dirty="0">
                  <a:latin typeface="Arial" panose="020B0604020202020204" pitchFamily="34" charset="0"/>
                </a:rPr>
                <a:t>测量水汽含量的最基本方法，即直接测量一定体积湿空气中的水汽质量和干空气质量，⇒</a:t>
              </a:r>
              <a:r>
                <a:rPr lang="zh-CN" altLang="en-US" dirty="0">
                  <a:solidFill>
                    <a:srgbClr val="FF0000"/>
                  </a:solidFill>
                  <a:latin typeface="Arial" panose="020B0604020202020204" pitchFamily="34" charset="0"/>
                </a:rPr>
                <a:t>混合比与比湿</a:t>
              </a:r>
              <a:r>
                <a:rPr lang="zh-CN" altLang="en-US" dirty="0">
                  <a:latin typeface="Arial" panose="020B0604020202020204" pitchFamily="34" charset="0"/>
                </a:rPr>
                <a:t>，其他湿度参量是导出量。</a:t>
              </a:r>
              <a:endParaRPr lang="zh-CN" altLang="en-US" dirty="0">
                <a:latin typeface="Arial" panose="020B0604020202020204" pitchFamily="34" charset="0"/>
              </a:endParaRPr>
            </a:p>
          </p:txBody>
        </p:sp>
        <p:sp>
          <p:nvSpPr>
            <p:cNvPr id="19462" name="Oval 17"/>
            <p:cNvSpPr>
              <a:spLocks noChangeAspect="1"/>
            </p:cNvSpPr>
            <p:nvPr/>
          </p:nvSpPr>
          <p:spPr>
            <a:xfrm>
              <a:off x="528" y="696"/>
              <a:ext cx="136" cy="136"/>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19463" name="Oval 18"/>
            <p:cNvSpPr>
              <a:spLocks noChangeAspect="1"/>
            </p:cNvSpPr>
            <p:nvPr/>
          </p:nvSpPr>
          <p:spPr>
            <a:xfrm>
              <a:off x="528" y="1224"/>
              <a:ext cx="136" cy="136"/>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1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Rectangle 4"/>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1. </a:t>
            </a: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混合比</a:t>
            </a:r>
            <a:r>
              <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r</a:t>
            </a: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与比湿</a:t>
            </a:r>
            <a:r>
              <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q</a:t>
            </a:r>
            <a:endPar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
        <p:nvSpPr>
          <p:cNvPr id="19459" name="Text Box 6"/>
          <p:cNvSpPr txBox="1"/>
          <p:nvPr/>
        </p:nvSpPr>
        <p:spPr>
          <a:xfrm>
            <a:off x="685800" y="1268413"/>
            <a:ext cx="7620000" cy="427037"/>
          </a:xfrm>
          <a:prstGeom prst="rect">
            <a:avLst/>
          </a:prstGeom>
          <a:noFill/>
          <a:ln w="9525">
            <a:noFill/>
          </a:ln>
        </p:spPr>
        <p:txBody>
          <a:bodyPr>
            <a:spAutoFit/>
          </a:bodyPr>
          <a:p>
            <a:pPr eaLnBrk="1" hangingPunct="1">
              <a:spcBef>
                <a:spcPct val="50000"/>
              </a:spcBef>
            </a:pPr>
            <a:r>
              <a:rPr lang="zh-CN" altLang="en-US" sz="2200" dirty="0">
                <a:solidFill>
                  <a:srgbClr val="FF0000"/>
                </a:solidFill>
                <a:latin typeface="Arial" panose="020B0604020202020204" pitchFamily="34" charset="0"/>
              </a:rPr>
              <a:t>混合比</a:t>
            </a:r>
            <a:r>
              <a:rPr lang="en-US" altLang="zh-CN" sz="2200" dirty="0">
                <a:solidFill>
                  <a:srgbClr val="FF0000"/>
                </a:solidFill>
                <a:latin typeface="Arial" panose="020B0604020202020204" pitchFamily="34" charset="0"/>
              </a:rPr>
              <a:t>r</a:t>
            </a:r>
            <a:r>
              <a:rPr lang="zh-CN" altLang="en-US" sz="2200" dirty="0">
                <a:solidFill>
                  <a:srgbClr val="FF0000"/>
                </a:solidFill>
                <a:latin typeface="Arial" panose="020B0604020202020204" pitchFamily="34" charset="0"/>
              </a:rPr>
              <a:t>：</a:t>
            </a:r>
            <a:r>
              <a:rPr lang="zh-CN" altLang="en-US" sz="2200" dirty="0">
                <a:latin typeface="Arial" panose="020B0604020202020204" pitchFamily="34" charset="0"/>
              </a:rPr>
              <a:t>水汽与干空气的质量比，即</a:t>
            </a:r>
            <a:endParaRPr lang="zh-CN" altLang="en-US" sz="2200" dirty="0">
              <a:latin typeface="Arial" panose="020B0604020202020204" pitchFamily="34" charset="0"/>
            </a:endParaRPr>
          </a:p>
        </p:txBody>
      </p:sp>
      <p:pic>
        <p:nvPicPr>
          <p:cNvPr id="19460" name="Picture 8"/>
          <p:cNvPicPr>
            <a:picLocks noChangeAspect="1"/>
          </p:cNvPicPr>
          <p:nvPr/>
        </p:nvPicPr>
        <p:blipFill>
          <a:blip r:embed="rId1">
            <a:clrChange>
              <a:clrFrom>
                <a:srgbClr val="FFFFFF"/>
              </a:clrFrom>
              <a:clrTo>
                <a:srgbClr val="FFFFFF">
                  <a:alpha val="0"/>
                </a:srgbClr>
              </a:clrTo>
            </a:clrChange>
          </a:blip>
          <a:stretch>
            <a:fillRect/>
          </a:stretch>
        </p:blipFill>
        <p:spPr>
          <a:xfrm>
            <a:off x="3751263" y="1725613"/>
            <a:ext cx="777875" cy="827087"/>
          </a:xfrm>
          <a:prstGeom prst="rect">
            <a:avLst/>
          </a:prstGeom>
          <a:noFill/>
          <a:ln w="9525">
            <a:noFill/>
          </a:ln>
        </p:spPr>
      </p:pic>
      <p:sp>
        <p:nvSpPr>
          <p:cNvPr id="19461" name="Text Box 11"/>
          <p:cNvSpPr txBox="1"/>
          <p:nvPr/>
        </p:nvSpPr>
        <p:spPr>
          <a:xfrm>
            <a:off x="685800" y="2792413"/>
            <a:ext cx="6705600" cy="427037"/>
          </a:xfrm>
          <a:prstGeom prst="rect">
            <a:avLst/>
          </a:prstGeom>
          <a:noFill/>
          <a:ln w="9525">
            <a:noFill/>
          </a:ln>
        </p:spPr>
        <p:txBody>
          <a:bodyPr>
            <a:spAutoFit/>
          </a:bodyPr>
          <a:p>
            <a:pPr eaLnBrk="1" hangingPunct="1">
              <a:spcBef>
                <a:spcPct val="50000"/>
              </a:spcBef>
            </a:pPr>
            <a:r>
              <a:rPr lang="zh-CN" altLang="en-US" sz="2200" dirty="0">
                <a:solidFill>
                  <a:srgbClr val="FF0000"/>
                </a:solidFill>
                <a:latin typeface="Arial" panose="020B0604020202020204" pitchFamily="34" charset="0"/>
              </a:rPr>
              <a:t>比湿</a:t>
            </a:r>
            <a:r>
              <a:rPr lang="en-US" altLang="zh-CN" sz="2200" dirty="0">
                <a:solidFill>
                  <a:srgbClr val="FF0000"/>
                </a:solidFill>
                <a:latin typeface="Arial" panose="020B0604020202020204" pitchFamily="34" charset="0"/>
              </a:rPr>
              <a:t>q</a:t>
            </a:r>
            <a:r>
              <a:rPr lang="zh-CN" altLang="en-US" sz="2200" dirty="0">
                <a:solidFill>
                  <a:srgbClr val="FF0000"/>
                </a:solidFill>
                <a:latin typeface="Arial" panose="020B0604020202020204" pitchFamily="34" charset="0"/>
              </a:rPr>
              <a:t>：</a:t>
            </a:r>
            <a:r>
              <a:rPr lang="zh-CN" altLang="en-US" sz="2200" dirty="0">
                <a:latin typeface="Arial" panose="020B0604020202020204" pitchFamily="34" charset="0"/>
              </a:rPr>
              <a:t>水汽与湿空气的质量比，即</a:t>
            </a:r>
            <a:endParaRPr lang="zh-CN" altLang="en-US" sz="2200" dirty="0">
              <a:latin typeface="Arial" panose="020B0604020202020204" pitchFamily="34" charset="0"/>
            </a:endParaRPr>
          </a:p>
        </p:txBody>
      </p:sp>
      <p:pic>
        <p:nvPicPr>
          <p:cNvPr id="19462" name="Picture 12"/>
          <p:cNvPicPr>
            <a:picLocks noChangeAspect="1"/>
          </p:cNvPicPr>
          <p:nvPr/>
        </p:nvPicPr>
        <p:blipFill>
          <a:blip r:embed="rId2">
            <a:clrChange>
              <a:clrFrom>
                <a:srgbClr val="FFFFFF"/>
              </a:clrFrom>
              <a:clrTo>
                <a:srgbClr val="FFFFFF">
                  <a:alpha val="0"/>
                </a:srgbClr>
              </a:clrTo>
            </a:clrChange>
          </a:blip>
          <a:stretch>
            <a:fillRect/>
          </a:stretch>
        </p:blipFill>
        <p:spPr>
          <a:xfrm>
            <a:off x="3657600" y="3325813"/>
            <a:ext cx="1425575" cy="828675"/>
          </a:xfrm>
          <a:prstGeom prst="rect">
            <a:avLst/>
          </a:prstGeom>
          <a:noFill/>
          <a:ln w="9525">
            <a:noFill/>
          </a:ln>
        </p:spPr>
      </p:pic>
      <p:sp>
        <p:nvSpPr>
          <p:cNvPr id="19463" name="Text Box 13"/>
          <p:cNvSpPr txBox="1"/>
          <p:nvPr/>
        </p:nvSpPr>
        <p:spPr>
          <a:xfrm>
            <a:off x="685800" y="4403725"/>
            <a:ext cx="6705600" cy="427038"/>
          </a:xfrm>
          <a:prstGeom prst="rect">
            <a:avLst/>
          </a:prstGeom>
          <a:noFill/>
          <a:ln w="9525">
            <a:noFill/>
          </a:ln>
        </p:spPr>
        <p:txBody>
          <a:bodyPr>
            <a:spAutoFit/>
          </a:bodyPr>
          <a:p>
            <a:pPr eaLnBrk="1" hangingPunct="1">
              <a:spcBef>
                <a:spcPct val="50000"/>
              </a:spcBef>
            </a:pPr>
            <a:r>
              <a:rPr lang="en-US" altLang="zh-CN" sz="2200" dirty="0">
                <a:solidFill>
                  <a:srgbClr val="FF0000"/>
                </a:solidFill>
                <a:latin typeface="Arial" panose="020B0604020202020204" pitchFamily="34" charset="0"/>
              </a:rPr>
              <a:t>r</a:t>
            </a:r>
            <a:r>
              <a:rPr lang="zh-CN" altLang="en-US" sz="2200" dirty="0">
                <a:solidFill>
                  <a:srgbClr val="FF0000"/>
                </a:solidFill>
                <a:latin typeface="Arial" panose="020B0604020202020204" pitchFamily="34" charset="0"/>
              </a:rPr>
              <a:t>和</a:t>
            </a:r>
            <a:r>
              <a:rPr lang="en-US" altLang="zh-CN" sz="2200" dirty="0">
                <a:solidFill>
                  <a:srgbClr val="FF0000"/>
                </a:solidFill>
                <a:latin typeface="Arial" panose="020B0604020202020204" pitchFamily="34" charset="0"/>
              </a:rPr>
              <a:t>q</a:t>
            </a:r>
            <a:r>
              <a:rPr lang="zh-CN" altLang="en-US" sz="2200" dirty="0">
                <a:solidFill>
                  <a:srgbClr val="FF0000"/>
                </a:solidFill>
                <a:latin typeface="Arial" panose="020B0604020202020204" pitchFamily="34" charset="0"/>
              </a:rPr>
              <a:t>有对应关系：</a:t>
            </a:r>
            <a:endParaRPr lang="zh-CN" altLang="en-US" sz="2200" dirty="0">
              <a:latin typeface="Arial" panose="020B0604020202020204" pitchFamily="34" charset="0"/>
            </a:endParaRPr>
          </a:p>
        </p:txBody>
      </p:sp>
      <p:pic>
        <p:nvPicPr>
          <p:cNvPr id="19464" name="Picture 14"/>
          <p:cNvPicPr>
            <a:picLocks noChangeAspect="1"/>
          </p:cNvPicPr>
          <p:nvPr/>
        </p:nvPicPr>
        <p:blipFill>
          <a:blip r:embed="rId3">
            <a:clrChange>
              <a:clrFrom>
                <a:srgbClr val="FFFFFF"/>
              </a:clrFrom>
              <a:clrTo>
                <a:srgbClr val="FFFFFF">
                  <a:alpha val="0"/>
                </a:srgbClr>
              </a:clrTo>
            </a:clrChange>
          </a:blip>
          <a:stretch>
            <a:fillRect/>
          </a:stretch>
        </p:blipFill>
        <p:spPr>
          <a:xfrm>
            <a:off x="3733800" y="4846638"/>
            <a:ext cx="1116013" cy="612775"/>
          </a:xfrm>
          <a:prstGeom prst="rect">
            <a:avLst/>
          </a:prstGeom>
          <a:noFill/>
          <a:ln w="9525">
            <a:noFill/>
          </a:ln>
        </p:spPr>
      </p:pic>
      <p:sp>
        <p:nvSpPr>
          <p:cNvPr id="19465" name="Text Box 15"/>
          <p:cNvSpPr txBox="1"/>
          <p:nvPr/>
        </p:nvSpPr>
        <p:spPr>
          <a:xfrm>
            <a:off x="685800" y="5764213"/>
            <a:ext cx="8458200" cy="641350"/>
          </a:xfrm>
          <a:prstGeom prst="rect">
            <a:avLst/>
          </a:prstGeom>
          <a:noFill/>
          <a:ln w="9525">
            <a:noFill/>
          </a:ln>
        </p:spPr>
        <p:txBody>
          <a:bodyPr>
            <a:spAutoFit/>
          </a:bodyPr>
          <a:p>
            <a:pPr eaLnBrk="1" hangingPunct="1">
              <a:spcBef>
                <a:spcPct val="50000"/>
              </a:spcBef>
            </a:pPr>
            <a:r>
              <a:rPr lang="zh-CN" altLang="en-US" dirty="0">
                <a:latin typeface="宋体" panose="02010600030101010101" pitchFamily="2" charset="-122"/>
              </a:rPr>
              <a:t>通常大气中的混合比和比湿都小于</a:t>
            </a:r>
            <a:r>
              <a:rPr lang="en-US" altLang="zh-CN" dirty="0">
                <a:latin typeface="宋体" panose="02010600030101010101" pitchFamily="2" charset="-122"/>
              </a:rPr>
              <a:t>0.04</a:t>
            </a:r>
            <a:r>
              <a:rPr lang="zh-CN" altLang="en-US" dirty="0">
                <a:latin typeface="宋体" panose="02010600030101010101" pitchFamily="2" charset="-122"/>
              </a:rPr>
              <a:t>，因此可以认为     ，单位为</a:t>
            </a:r>
            <a:r>
              <a:rPr lang="en-US" altLang="zh-CN" dirty="0">
                <a:latin typeface="宋体" panose="02010600030101010101" pitchFamily="2" charset="-122"/>
              </a:rPr>
              <a:t>g/g</a:t>
            </a:r>
            <a:r>
              <a:rPr lang="zh-CN" altLang="en-US" dirty="0">
                <a:latin typeface="宋体" panose="02010600030101010101" pitchFamily="2" charset="-122"/>
              </a:rPr>
              <a:t>或者</a:t>
            </a:r>
            <a:r>
              <a:rPr lang="en-US" altLang="zh-CN" dirty="0">
                <a:latin typeface="宋体" panose="02010600030101010101" pitchFamily="2" charset="-122"/>
              </a:rPr>
              <a:t>g/kg</a:t>
            </a:r>
            <a:r>
              <a:rPr lang="zh-CN" altLang="en-US" dirty="0">
                <a:latin typeface="宋体" panose="02010600030101010101" pitchFamily="2" charset="-122"/>
              </a:rPr>
              <a:t>。</a:t>
            </a:r>
            <a:endParaRPr lang="zh-CN" altLang="en-US" dirty="0">
              <a:latin typeface="宋体" panose="02010600030101010101" pitchFamily="2" charset="-122"/>
            </a:endParaRPr>
          </a:p>
        </p:txBody>
      </p:sp>
      <p:pic>
        <p:nvPicPr>
          <p:cNvPr id="19466" name="Picture 16"/>
          <p:cNvPicPr>
            <a:picLocks noChangeAspect="1"/>
          </p:cNvPicPr>
          <p:nvPr/>
        </p:nvPicPr>
        <p:blipFill>
          <a:blip r:embed="rId4">
            <a:clrChange>
              <a:clrFrom>
                <a:srgbClr val="FFFFFF"/>
              </a:clrFrom>
              <a:clrTo>
                <a:srgbClr val="FFFFFF">
                  <a:alpha val="0"/>
                </a:srgbClr>
              </a:clrTo>
            </a:clrChange>
          </a:blip>
          <a:stretch>
            <a:fillRect/>
          </a:stretch>
        </p:blipFill>
        <p:spPr>
          <a:xfrm>
            <a:off x="6350000" y="5711825"/>
            <a:ext cx="508000" cy="433388"/>
          </a:xfrm>
          <a:prstGeom prst="rect">
            <a:avLst/>
          </a:prstGeom>
          <a:noFill/>
          <a:ln w="9525">
            <a:noFill/>
          </a:ln>
        </p:spPr>
      </p:pic>
      <p:sp>
        <p:nvSpPr>
          <p:cNvPr id="19467" name="Text Box 20"/>
          <p:cNvSpPr txBox="1"/>
          <p:nvPr/>
        </p:nvSpPr>
        <p:spPr>
          <a:xfrm>
            <a:off x="6172200" y="1957388"/>
            <a:ext cx="1600200" cy="366712"/>
          </a:xfrm>
          <a:prstGeom prst="rect">
            <a:avLst/>
          </a:prstGeom>
          <a:noFill/>
          <a:ln w="9525">
            <a:noFill/>
          </a:ln>
        </p:spPr>
        <p:txBody>
          <a:bodyPr>
            <a:spAutoFit/>
          </a:bodyPr>
          <a:p>
            <a:pPr eaLnBrk="1" hangingPunct="1">
              <a:spcBef>
                <a:spcPct val="50000"/>
              </a:spcBef>
            </a:pPr>
            <a:r>
              <a:rPr lang="en-US" altLang="zh-CN" dirty="0">
                <a:latin typeface="Arial" panose="020B0604020202020204" pitchFamily="34" charset="0"/>
              </a:rPr>
              <a:t>(2.2.1)</a:t>
            </a:r>
            <a:endParaRPr lang="en-US" altLang="zh-CN" dirty="0">
              <a:latin typeface="Arial" panose="020B0604020202020204" pitchFamily="34" charset="0"/>
            </a:endParaRPr>
          </a:p>
        </p:txBody>
      </p:sp>
      <p:sp>
        <p:nvSpPr>
          <p:cNvPr id="19468" name="Text Box 21"/>
          <p:cNvSpPr txBox="1"/>
          <p:nvPr/>
        </p:nvSpPr>
        <p:spPr>
          <a:xfrm>
            <a:off x="6172200" y="3568700"/>
            <a:ext cx="1600200" cy="366713"/>
          </a:xfrm>
          <a:prstGeom prst="rect">
            <a:avLst/>
          </a:prstGeom>
          <a:noFill/>
          <a:ln w="9525">
            <a:noFill/>
          </a:ln>
        </p:spPr>
        <p:txBody>
          <a:bodyPr>
            <a:spAutoFit/>
          </a:bodyPr>
          <a:p>
            <a:pPr eaLnBrk="1" hangingPunct="1">
              <a:spcBef>
                <a:spcPct val="50000"/>
              </a:spcBef>
            </a:pPr>
            <a:r>
              <a:rPr lang="en-US" altLang="zh-CN" dirty="0">
                <a:latin typeface="Arial" panose="020B0604020202020204" pitchFamily="34" charset="0"/>
              </a:rPr>
              <a:t>(2.2.2)</a:t>
            </a:r>
            <a:endParaRPr lang="en-US" altLang="zh-CN" dirty="0">
              <a:latin typeface="Arial" panose="020B0604020202020204" pitchFamily="34" charset="0"/>
            </a:endParaRPr>
          </a:p>
        </p:txBody>
      </p:sp>
      <p:sp>
        <p:nvSpPr>
          <p:cNvPr id="8212" name="Oval 19"/>
          <p:cNvSpPr>
            <a:spLocks noChangeAspect="1"/>
          </p:cNvSpPr>
          <p:nvPr/>
        </p:nvSpPr>
        <p:spPr>
          <a:xfrm>
            <a:off x="393700" y="1343025"/>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8213" name="Oval 19"/>
          <p:cNvSpPr>
            <a:spLocks noChangeAspect="1"/>
          </p:cNvSpPr>
          <p:nvPr/>
        </p:nvSpPr>
        <p:spPr>
          <a:xfrm>
            <a:off x="393700" y="2854325"/>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8215" name="Oval 19"/>
          <p:cNvSpPr>
            <a:spLocks noChangeAspect="1"/>
          </p:cNvSpPr>
          <p:nvPr/>
        </p:nvSpPr>
        <p:spPr>
          <a:xfrm>
            <a:off x="392113" y="4478338"/>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6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46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2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46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46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46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2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46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46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2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465"/>
                                        </p:tgtEl>
                                        <p:attrNameLst>
                                          <p:attrName>style.visibility</p:attrName>
                                        </p:attrNameLst>
                                      </p:cBhvr>
                                      <p:to>
                                        <p:strVal val="visible"/>
                                      </p:to>
                                    </p:set>
                                  </p:childTnLst>
                                </p:cTn>
                              </p:par>
                              <p:par>
                                <p:cTn id="35" presetID="1" presetClass="entr" presetSubtype="0" fill="hold" grpId="1" nodeType="withEffect">
                                  <p:stCondLst>
                                    <p:cond delay="0"/>
                                  </p:stCondLst>
                                  <p:childTnLst>
                                    <p:set>
                                      <p:cBhvr>
                                        <p:cTn id="36" dur="1" fill="hold">
                                          <p:stCondLst>
                                            <p:cond delay="0"/>
                                          </p:stCondLst>
                                        </p:cTn>
                                        <p:tgtEl>
                                          <p:spTgt spid="1946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4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19461" grpId="0"/>
      <p:bldP spid="19463" grpId="0"/>
      <p:bldP spid="19465" grpId="0"/>
      <p:bldP spid="19465" grpId="1"/>
      <p:bldP spid="19467" grpId="0"/>
      <p:bldP spid="19468" grpId="0"/>
      <p:bldP spid="8212" grpId="0" animBg="1"/>
      <p:bldP spid="8213" grpId="0" animBg="1"/>
      <p:bldP spid="82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6" name="Rectangle 4"/>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2. </a:t>
            </a: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水汽压</a:t>
            </a:r>
            <a:r>
              <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e</a:t>
            </a:r>
            <a:endPar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
        <p:nvSpPr>
          <p:cNvPr id="20483" name="Text Box 5"/>
          <p:cNvSpPr txBox="1"/>
          <p:nvPr/>
        </p:nvSpPr>
        <p:spPr>
          <a:xfrm>
            <a:off x="1066800" y="906463"/>
            <a:ext cx="6096000" cy="479425"/>
          </a:xfrm>
          <a:prstGeom prst="rect">
            <a:avLst/>
          </a:prstGeom>
          <a:noFill/>
          <a:ln w="9525">
            <a:noFill/>
          </a:ln>
        </p:spPr>
        <p:txBody>
          <a:bodyPr>
            <a:spAutoFit/>
          </a:bodyPr>
          <a:p>
            <a:pPr eaLnBrk="1" hangingPunct="1">
              <a:lnSpc>
                <a:spcPct val="140000"/>
              </a:lnSpc>
              <a:spcBef>
                <a:spcPct val="50000"/>
              </a:spcBef>
            </a:pPr>
            <a:r>
              <a:rPr lang="zh-CN" altLang="en-US" dirty="0">
                <a:solidFill>
                  <a:srgbClr val="FF0000"/>
                </a:solidFill>
                <a:latin typeface="Arial" panose="020B0604020202020204" pitchFamily="34" charset="0"/>
              </a:rPr>
              <a:t>水汽压</a:t>
            </a:r>
            <a:r>
              <a:rPr lang="zh-CN" altLang="en-US" dirty="0">
                <a:latin typeface="Arial" panose="020B0604020202020204" pitchFamily="34" charset="0"/>
              </a:rPr>
              <a:t>：大气中水汽的分压强，以</a:t>
            </a:r>
            <a:r>
              <a:rPr lang="en-US" altLang="zh-CN" dirty="0">
                <a:latin typeface="Arial" panose="020B0604020202020204" pitchFamily="34" charset="0"/>
              </a:rPr>
              <a:t>e</a:t>
            </a:r>
            <a:r>
              <a:rPr lang="zh-CN" altLang="en-US" dirty="0">
                <a:latin typeface="Arial" panose="020B0604020202020204" pitchFamily="34" charset="0"/>
              </a:rPr>
              <a:t>表示 。</a:t>
            </a:r>
            <a:endParaRPr lang="zh-CN" altLang="en-US" dirty="0">
              <a:latin typeface="Arial" panose="020B0604020202020204" pitchFamily="34" charset="0"/>
            </a:endParaRPr>
          </a:p>
        </p:txBody>
      </p:sp>
      <p:pic>
        <p:nvPicPr>
          <p:cNvPr id="20484" name="Picture 6"/>
          <p:cNvPicPr>
            <a:picLocks noChangeAspect="1"/>
          </p:cNvPicPr>
          <p:nvPr/>
        </p:nvPicPr>
        <p:blipFill>
          <a:blip r:embed="rId1">
            <a:clrChange>
              <a:clrFrom>
                <a:srgbClr val="FFFFFF"/>
              </a:clrFrom>
              <a:clrTo>
                <a:srgbClr val="FFFFFF">
                  <a:alpha val="0"/>
                </a:srgbClr>
              </a:clrTo>
            </a:clrChange>
          </a:blip>
          <a:stretch>
            <a:fillRect/>
          </a:stretch>
        </p:blipFill>
        <p:spPr>
          <a:xfrm>
            <a:off x="4114800" y="1800225"/>
            <a:ext cx="1346200" cy="790575"/>
          </a:xfrm>
          <a:prstGeom prst="rect">
            <a:avLst/>
          </a:prstGeom>
          <a:noFill/>
          <a:ln w="9525">
            <a:noFill/>
          </a:ln>
        </p:spPr>
      </p:pic>
      <p:sp>
        <p:nvSpPr>
          <p:cNvPr id="20485" name="Text Box 7"/>
          <p:cNvSpPr txBox="1"/>
          <p:nvPr/>
        </p:nvSpPr>
        <p:spPr>
          <a:xfrm>
            <a:off x="1143000" y="2586038"/>
            <a:ext cx="4953000" cy="422275"/>
          </a:xfrm>
          <a:prstGeom prst="rect">
            <a:avLst/>
          </a:prstGeom>
          <a:noFill/>
          <a:ln w="9525">
            <a:noFill/>
          </a:ln>
        </p:spPr>
        <p:txBody>
          <a:bodyPr>
            <a:spAutoFit/>
          </a:bodyPr>
          <a:p>
            <a:pPr eaLnBrk="1" hangingPunct="1">
              <a:lnSpc>
                <a:spcPct val="120000"/>
              </a:lnSpc>
              <a:spcBef>
                <a:spcPct val="50000"/>
              </a:spcBef>
            </a:pPr>
            <a:r>
              <a:rPr lang="zh-CN" altLang="en-US" dirty="0">
                <a:latin typeface="Arial" panose="020B0604020202020204" pitchFamily="34" charset="0"/>
              </a:rPr>
              <a:t>水汽的分压强是</a:t>
            </a:r>
            <a:endParaRPr lang="zh-CN" altLang="en-US" dirty="0">
              <a:latin typeface="Arial" panose="020B0604020202020204" pitchFamily="34" charset="0"/>
            </a:endParaRPr>
          </a:p>
        </p:txBody>
      </p:sp>
      <p:sp>
        <p:nvSpPr>
          <p:cNvPr id="20486" name="Text Box 13"/>
          <p:cNvSpPr txBox="1"/>
          <p:nvPr/>
        </p:nvSpPr>
        <p:spPr>
          <a:xfrm>
            <a:off x="1065213" y="3505200"/>
            <a:ext cx="7391400" cy="366713"/>
          </a:xfrm>
          <a:prstGeom prst="rect">
            <a:avLst/>
          </a:prstGeom>
          <a:noFill/>
          <a:ln w="9525">
            <a:noFill/>
          </a:ln>
        </p:spPr>
        <p:txBody>
          <a:bodyPr>
            <a:spAutoFit/>
          </a:bodyPr>
          <a:p>
            <a:pPr eaLnBrk="1" hangingPunct="1">
              <a:spcBef>
                <a:spcPct val="50000"/>
              </a:spcBef>
            </a:pPr>
            <a:r>
              <a:rPr lang="zh-CN" altLang="en-US" dirty="0">
                <a:latin typeface="宋体" panose="02010600030101010101" pitchFamily="2" charset="-122"/>
              </a:rPr>
              <a:t>定义                  ，由</a:t>
            </a:r>
            <a:r>
              <a:rPr lang="en-US" altLang="zh-CN" dirty="0">
                <a:latin typeface="宋体" panose="02010600030101010101" pitchFamily="2" charset="-122"/>
              </a:rPr>
              <a:t>(2.2.3)</a:t>
            </a:r>
            <a:r>
              <a:rPr lang="zh-CN" altLang="en-US" dirty="0">
                <a:latin typeface="宋体" panose="02010600030101010101" pitchFamily="2" charset="-122"/>
              </a:rPr>
              <a:t>式可导出</a:t>
            </a:r>
            <a:endParaRPr lang="zh-CN" altLang="en-US" dirty="0">
              <a:latin typeface="宋体" panose="02010600030101010101" pitchFamily="2" charset="-122"/>
            </a:endParaRPr>
          </a:p>
        </p:txBody>
      </p:sp>
      <p:pic>
        <p:nvPicPr>
          <p:cNvPr id="20487" name="Picture 14"/>
          <p:cNvPicPr>
            <a:picLocks noChangeAspect="1"/>
          </p:cNvPicPr>
          <p:nvPr/>
        </p:nvPicPr>
        <p:blipFill>
          <a:blip r:embed="rId2">
            <a:clrChange>
              <a:clrFrom>
                <a:srgbClr val="FFFFFF"/>
              </a:clrFrom>
              <a:clrTo>
                <a:srgbClr val="FFFFFF">
                  <a:alpha val="0"/>
                </a:srgbClr>
              </a:clrTo>
            </a:clrChange>
          </a:blip>
          <a:stretch>
            <a:fillRect/>
          </a:stretch>
        </p:blipFill>
        <p:spPr>
          <a:xfrm>
            <a:off x="1712913" y="3505200"/>
            <a:ext cx="1868487" cy="576263"/>
          </a:xfrm>
          <a:prstGeom prst="rect">
            <a:avLst/>
          </a:prstGeom>
          <a:noFill/>
          <a:ln w="9525">
            <a:noFill/>
          </a:ln>
        </p:spPr>
      </p:pic>
      <p:pic>
        <p:nvPicPr>
          <p:cNvPr id="20488" name="Picture 16"/>
          <p:cNvPicPr>
            <a:picLocks noChangeAspect="1"/>
          </p:cNvPicPr>
          <p:nvPr/>
        </p:nvPicPr>
        <p:blipFill>
          <a:blip r:embed="rId3">
            <a:clrChange>
              <a:clrFrom>
                <a:srgbClr val="FFFFFF"/>
              </a:clrFrom>
              <a:clrTo>
                <a:srgbClr val="FFFFFF">
                  <a:alpha val="0"/>
                </a:srgbClr>
              </a:clrTo>
            </a:clrChange>
          </a:blip>
          <a:stretch>
            <a:fillRect/>
          </a:stretch>
        </p:blipFill>
        <p:spPr>
          <a:xfrm>
            <a:off x="3276600" y="3962400"/>
            <a:ext cx="3332163" cy="539750"/>
          </a:xfrm>
          <a:prstGeom prst="rect">
            <a:avLst/>
          </a:prstGeom>
          <a:noFill/>
          <a:ln w="9525">
            <a:noFill/>
          </a:ln>
        </p:spPr>
      </p:pic>
      <p:sp>
        <p:nvSpPr>
          <p:cNvPr id="20489" name="Text Box 17"/>
          <p:cNvSpPr txBox="1"/>
          <p:nvPr/>
        </p:nvSpPr>
        <p:spPr>
          <a:xfrm>
            <a:off x="1066800" y="4648200"/>
            <a:ext cx="5715000" cy="366713"/>
          </a:xfrm>
          <a:prstGeom prst="rect">
            <a:avLst/>
          </a:prstGeom>
          <a:noFill/>
          <a:ln w="9525">
            <a:noFill/>
          </a:ln>
        </p:spPr>
        <p:txBody>
          <a:bodyPr>
            <a:spAutoFit/>
          </a:bodyPr>
          <a:p>
            <a:pPr eaLnBrk="1" hangingPunct="1">
              <a:spcBef>
                <a:spcPct val="50000"/>
              </a:spcBef>
            </a:pPr>
            <a:r>
              <a:rPr lang="zh-CN" altLang="en-US" dirty="0">
                <a:latin typeface="Arial" panose="020B0604020202020204" pitchFamily="34" charset="0"/>
              </a:rPr>
              <a:t>由此，水汽压与混合比及比湿的关系为： </a:t>
            </a:r>
            <a:endParaRPr lang="zh-CN" altLang="en-US" dirty="0">
              <a:latin typeface="Arial" panose="020B0604020202020204" pitchFamily="34" charset="0"/>
            </a:endParaRPr>
          </a:p>
        </p:txBody>
      </p:sp>
      <p:sp>
        <p:nvSpPr>
          <p:cNvPr id="20490" name="Text Box 18"/>
          <p:cNvSpPr txBox="1"/>
          <p:nvPr/>
        </p:nvSpPr>
        <p:spPr>
          <a:xfrm>
            <a:off x="1295400" y="6415088"/>
            <a:ext cx="5562600" cy="336550"/>
          </a:xfrm>
          <a:prstGeom prst="rect">
            <a:avLst/>
          </a:prstGeom>
          <a:noFill/>
          <a:ln w="9525">
            <a:noFill/>
          </a:ln>
        </p:spPr>
        <p:txBody>
          <a:bodyPr>
            <a:spAutoFit/>
          </a:bodyPr>
          <a:p>
            <a:pPr eaLnBrk="1" hangingPunct="1">
              <a:spcBef>
                <a:spcPct val="50000"/>
              </a:spcBef>
            </a:pPr>
            <a:r>
              <a:rPr lang="zh-CN" altLang="en-US" sz="1600" dirty="0">
                <a:latin typeface="Arial" panose="020B0604020202020204" pitchFamily="34" charset="0"/>
              </a:rPr>
              <a:t>由于大气中通常 </a:t>
            </a:r>
            <a:r>
              <a:rPr lang="en-US" altLang="zh-CN" sz="1600" dirty="0">
                <a:latin typeface="Arial" panose="020B0604020202020204" pitchFamily="34" charset="0"/>
              </a:rPr>
              <a:t>e&lt;60 hPa</a:t>
            </a:r>
            <a:r>
              <a:rPr lang="zh-CN" altLang="en-US" sz="1600" dirty="0">
                <a:latin typeface="Arial" panose="020B0604020202020204" pitchFamily="34" charset="0"/>
              </a:rPr>
              <a:t>，所以可以认为 </a:t>
            </a:r>
            <a:endParaRPr lang="zh-CN" altLang="en-US" sz="1600" dirty="0">
              <a:latin typeface="Arial" panose="020B0604020202020204" pitchFamily="34" charset="0"/>
            </a:endParaRPr>
          </a:p>
        </p:txBody>
      </p:sp>
      <p:pic>
        <p:nvPicPr>
          <p:cNvPr id="20491" name="Picture 19"/>
          <p:cNvPicPr>
            <a:picLocks noChangeAspect="1"/>
          </p:cNvPicPr>
          <p:nvPr/>
        </p:nvPicPr>
        <p:blipFill>
          <a:blip r:embed="rId4">
            <a:clrChange>
              <a:clrFrom>
                <a:srgbClr val="FFFFFF"/>
              </a:clrFrom>
              <a:clrTo>
                <a:srgbClr val="FFFFFF">
                  <a:alpha val="0"/>
                </a:srgbClr>
              </a:clrTo>
            </a:clrChange>
          </a:blip>
          <a:stretch>
            <a:fillRect/>
          </a:stretch>
        </p:blipFill>
        <p:spPr>
          <a:xfrm>
            <a:off x="5280025" y="6318250"/>
            <a:ext cx="892175" cy="539750"/>
          </a:xfrm>
          <a:prstGeom prst="rect">
            <a:avLst/>
          </a:prstGeom>
          <a:noFill/>
          <a:ln w="9525">
            <a:noFill/>
          </a:ln>
        </p:spPr>
      </p:pic>
      <p:pic>
        <p:nvPicPr>
          <p:cNvPr id="20492" name="Picture 20"/>
          <p:cNvPicPr>
            <a:picLocks noChangeAspect="1"/>
          </p:cNvPicPr>
          <p:nvPr/>
        </p:nvPicPr>
        <p:blipFill>
          <a:blip r:embed="rId5">
            <a:clrChange>
              <a:clrFrom>
                <a:srgbClr val="FFFFFF"/>
              </a:clrFrom>
              <a:clrTo>
                <a:srgbClr val="FFFFFF">
                  <a:alpha val="0"/>
                </a:srgbClr>
              </a:clrTo>
            </a:clrChange>
          </a:blip>
          <a:stretch>
            <a:fillRect/>
          </a:stretch>
        </p:blipFill>
        <p:spPr>
          <a:xfrm>
            <a:off x="4038600" y="5070475"/>
            <a:ext cx="871538" cy="720725"/>
          </a:xfrm>
          <a:prstGeom prst="rect">
            <a:avLst/>
          </a:prstGeom>
          <a:noFill/>
          <a:ln w="9525">
            <a:noFill/>
          </a:ln>
        </p:spPr>
      </p:pic>
      <p:pic>
        <p:nvPicPr>
          <p:cNvPr id="20493" name="Picture 23"/>
          <p:cNvPicPr>
            <a:picLocks noChangeAspect="1"/>
          </p:cNvPicPr>
          <p:nvPr/>
        </p:nvPicPr>
        <p:blipFill>
          <a:blip r:embed="rId6">
            <a:clrChange>
              <a:clrFrom>
                <a:srgbClr val="FFFFFF"/>
              </a:clrFrom>
              <a:clrTo>
                <a:srgbClr val="FFFFFF">
                  <a:alpha val="0"/>
                </a:srgbClr>
              </a:clrTo>
            </a:clrChange>
          </a:blip>
          <a:stretch>
            <a:fillRect/>
          </a:stretch>
        </p:blipFill>
        <p:spPr>
          <a:xfrm>
            <a:off x="4057650" y="5680075"/>
            <a:ext cx="1428750" cy="720725"/>
          </a:xfrm>
          <a:prstGeom prst="rect">
            <a:avLst/>
          </a:prstGeom>
          <a:noFill/>
          <a:ln w="9525">
            <a:noFill/>
          </a:ln>
        </p:spPr>
      </p:pic>
      <p:sp>
        <p:nvSpPr>
          <p:cNvPr id="9233" name="Oval 24"/>
          <p:cNvSpPr>
            <a:spLocks noChangeAspect="1"/>
          </p:cNvSpPr>
          <p:nvPr/>
        </p:nvSpPr>
        <p:spPr>
          <a:xfrm>
            <a:off x="774700" y="1052513"/>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9234" name="Oval 25"/>
          <p:cNvSpPr>
            <a:spLocks noChangeAspect="1"/>
          </p:cNvSpPr>
          <p:nvPr/>
        </p:nvSpPr>
        <p:spPr>
          <a:xfrm>
            <a:off x="773113" y="1557338"/>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9235" name="Oval 26"/>
          <p:cNvSpPr>
            <a:spLocks noChangeAspect="1"/>
          </p:cNvSpPr>
          <p:nvPr/>
        </p:nvSpPr>
        <p:spPr>
          <a:xfrm>
            <a:off x="773113" y="3594100"/>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9236" name="Oval 27"/>
          <p:cNvSpPr>
            <a:spLocks noChangeAspect="1"/>
          </p:cNvSpPr>
          <p:nvPr/>
        </p:nvSpPr>
        <p:spPr>
          <a:xfrm>
            <a:off x="774700" y="4737100"/>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pic>
        <p:nvPicPr>
          <p:cNvPr id="20498" name="Picture 30"/>
          <p:cNvPicPr>
            <a:picLocks noChangeAspect="1"/>
          </p:cNvPicPr>
          <p:nvPr/>
        </p:nvPicPr>
        <p:blipFill>
          <a:blip r:embed="rId7">
            <a:clrChange>
              <a:clrFrom>
                <a:srgbClr val="FFFFFF"/>
              </a:clrFrom>
              <a:clrTo>
                <a:srgbClr val="FFFFFF">
                  <a:alpha val="0"/>
                </a:srgbClr>
              </a:clrTo>
            </a:clrChange>
          </a:blip>
          <a:stretch>
            <a:fillRect/>
          </a:stretch>
        </p:blipFill>
        <p:spPr>
          <a:xfrm>
            <a:off x="4191000" y="2854325"/>
            <a:ext cx="874713" cy="574675"/>
          </a:xfrm>
          <a:prstGeom prst="rect">
            <a:avLst/>
          </a:prstGeom>
          <a:noFill/>
          <a:ln w="9525">
            <a:noFill/>
          </a:ln>
        </p:spPr>
      </p:pic>
      <p:sp>
        <p:nvSpPr>
          <p:cNvPr id="20499" name="Text Box 31"/>
          <p:cNvSpPr txBox="1"/>
          <p:nvPr/>
        </p:nvSpPr>
        <p:spPr>
          <a:xfrm>
            <a:off x="6705600" y="3048000"/>
            <a:ext cx="1066800" cy="366713"/>
          </a:xfrm>
          <a:prstGeom prst="rect">
            <a:avLst/>
          </a:prstGeom>
          <a:noFill/>
          <a:ln w="9525">
            <a:noFill/>
          </a:ln>
        </p:spPr>
        <p:txBody>
          <a:bodyPr>
            <a:spAutoFit/>
          </a:bodyPr>
          <a:p>
            <a:pPr eaLnBrk="1" hangingPunct="1">
              <a:spcBef>
                <a:spcPct val="50000"/>
              </a:spcBef>
            </a:pPr>
            <a:r>
              <a:rPr lang="en-US" altLang="zh-CN" dirty="0">
                <a:latin typeface="Arial" panose="020B0604020202020204" pitchFamily="34" charset="0"/>
              </a:rPr>
              <a:t>(2.2.3)</a:t>
            </a:r>
            <a:endParaRPr lang="en-US" altLang="zh-CN" dirty="0">
              <a:latin typeface="Arial" panose="020B0604020202020204" pitchFamily="34" charset="0"/>
            </a:endParaRPr>
          </a:p>
        </p:txBody>
      </p:sp>
      <p:sp>
        <p:nvSpPr>
          <p:cNvPr id="20500" name="Text Box 32"/>
          <p:cNvSpPr txBox="1"/>
          <p:nvPr/>
        </p:nvSpPr>
        <p:spPr>
          <a:xfrm>
            <a:off x="6705600" y="5272088"/>
            <a:ext cx="1066800" cy="366712"/>
          </a:xfrm>
          <a:prstGeom prst="rect">
            <a:avLst/>
          </a:prstGeom>
          <a:noFill/>
          <a:ln w="9525">
            <a:noFill/>
          </a:ln>
        </p:spPr>
        <p:txBody>
          <a:bodyPr>
            <a:spAutoFit/>
          </a:bodyPr>
          <a:p>
            <a:pPr eaLnBrk="1" hangingPunct="1">
              <a:spcBef>
                <a:spcPct val="50000"/>
              </a:spcBef>
            </a:pPr>
            <a:r>
              <a:rPr lang="en-US" altLang="zh-CN" dirty="0">
                <a:latin typeface="Arial" panose="020B0604020202020204" pitchFamily="34" charset="0"/>
              </a:rPr>
              <a:t>(2.2.4)</a:t>
            </a:r>
            <a:endParaRPr lang="en-US" altLang="zh-CN" dirty="0">
              <a:latin typeface="Arial" panose="020B0604020202020204" pitchFamily="34" charset="0"/>
            </a:endParaRPr>
          </a:p>
        </p:txBody>
      </p:sp>
      <p:sp>
        <p:nvSpPr>
          <p:cNvPr id="20501" name="Text Box 33"/>
          <p:cNvSpPr txBox="1"/>
          <p:nvPr/>
        </p:nvSpPr>
        <p:spPr>
          <a:xfrm>
            <a:off x="6705600" y="5881688"/>
            <a:ext cx="1066800" cy="366712"/>
          </a:xfrm>
          <a:prstGeom prst="rect">
            <a:avLst/>
          </a:prstGeom>
          <a:noFill/>
          <a:ln w="9525">
            <a:noFill/>
          </a:ln>
        </p:spPr>
        <p:txBody>
          <a:bodyPr>
            <a:spAutoFit/>
          </a:bodyPr>
          <a:p>
            <a:pPr eaLnBrk="1" hangingPunct="1">
              <a:spcBef>
                <a:spcPct val="50000"/>
              </a:spcBef>
            </a:pPr>
            <a:r>
              <a:rPr lang="en-US" altLang="zh-CN" dirty="0">
                <a:latin typeface="Arial" panose="020B0604020202020204" pitchFamily="34" charset="0"/>
              </a:rPr>
              <a:t>(2.2.5)</a:t>
            </a:r>
            <a:endParaRPr lang="en-US" altLang="zh-CN" dirty="0">
              <a:latin typeface="Arial" panose="020B0604020202020204" pitchFamily="34" charset="0"/>
            </a:endParaRPr>
          </a:p>
        </p:txBody>
      </p:sp>
      <p:sp>
        <p:nvSpPr>
          <p:cNvPr id="22" name="Text Box 5"/>
          <p:cNvSpPr txBox="1"/>
          <p:nvPr/>
        </p:nvSpPr>
        <p:spPr>
          <a:xfrm>
            <a:off x="1042988" y="1411288"/>
            <a:ext cx="6096000" cy="433387"/>
          </a:xfrm>
          <a:prstGeom prst="rect">
            <a:avLst/>
          </a:prstGeom>
          <a:noFill/>
          <a:ln w="9525">
            <a:noFill/>
          </a:ln>
        </p:spPr>
        <p:txBody>
          <a:bodyPr>
            <a:spAutoFit/>
          </a:bodyPr>
          <a:p>
            <a:pPr eaLnBrk="1" hangingPunct="1">
              <a:lnSpc>
                <a:spcPct val="140000"/>
              </a:lnSpc>
              <a:spcBef>
                <a:spcPct val="50000"/>
              </a:spcBef>
            </a:pPr>
            <a:r>
              <a:rPr lang="zh-CN" altLang="en-US" dirty="0">
                <a:latin typeface="Arial" panose="020B0604020202020204" pitchFamily="34" charset="0"/>
              </a:rPr>
              <a:t>假设湿空气中水汽的摩尔分数为： </a:t>
            </a:r>
            <a:endParaRPr lang="zh-CN" altLang="en-US"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48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2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48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4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4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48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48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48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23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48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2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49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50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049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049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50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04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p:bldP spid="20485" grpId="0"/>
      <p:bldP spid="20486" grpId="0"/>
      <p:bldP spid="20489" grpId="0"/>
      <p:bldP spid="20490" grpId="0"/>
      <p:bldP spid="9233" grpId="0" animBg="1"/>
      <p:bldP spid="9234" grpId="0" animBg="1"/>
      <p:bldP spid="9235" grpId="0" animBg="1"/>
      <p:bldP spid="9236" grpId="0" animBg="1"/>
      <p:bldP spid="20499" grpId="0"/>
      <p:bldP spid="20500" grpId="0"/>
      <p:bldP spid="20501"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矩形 21"/>
          <p:cNvSpPr/>
          <p:nvPr/>
        </p:nvSpPr>
        <p:spPr>
          <a:xfrm>
            <a:off x="3132138" y="2565400"/>
            <a:ext cx="2376487" cy="792163"/>
          </a:xfrm>
          <a:prstGeom prst="rect">
            <a:avLst/>
          </a:prstGeom>
          <a:blipFill rotWithShape="1">
            <a:blip r:embed="rId1"/>
          </a:blipFill>
          <a:ln w="9525" cap="flat" cmpd="sng">
            <a:solidFill>
              <a:srgbClr val="00B0F0"/>
            </a:solidFill>
            <a:prstDash val="solid"/>
            <a:round/>
            <a:headEnd type="none" w="med" len="med"/>
            <a:tailEnd type="none" w="med" len="med"/>
          </a:ln>
        </p:spPr>
        <p:txBody>
          <a:bodyPr/>
          <a:p>
            <a:pPr eaLnBrk="1" hangingPunct="1"/>
            <a:endParaRPr lang="zh-CN" altLang="en-US" dirty="0">
              <a:latin typeface="Arial" panose="020B0604020202020204" pitchFamily="34" charset="0"/>
            </a:endParaRPr>
          </a:p>
        </p:txBody>
      </p:sp>
      <p:sp>
        <p:nvSpPr>
          <p:cNvPr id="14340" name="Rectangle 4"/>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饱和水汽压</a:t>
            </a:r>
            <a:endParaRPr kumimoji="0" lang="zh-CN" altLang="en-US" sz="4000" b="1" i="0" u="none" strike="noStrike" kern="1200" cap="none" spc="0" normalizeH="0" baseline="0" noProof="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
        <p:nvSpPr>
          <p:cNvPr id="22532" name="Text Box 5"/>
          <p:cNvSpPr txBox="1"/>
          <p:nvPr/>
        </p:nvSpPr>
        <p:spPr>
          <a:xfrm>
            <a:off x="838200" y="990600"/>
            <a:ext cx="8077200" cy="812800"/>
          </a:xfrm>
          <a:prstGeom prst="rect">
            <a:avLst/>
          </a:prstGeom>
          <a:noFill/>
          <a:ln w="9525">
            <a:noFill/>
          </a:ln>
        </p:spPr>
        <p:txBody>
          <a:bodyPr>
            <a:spAutoFit/>
          </a:bodyPr>
          <a:p>
            <a:pPr eaLnBrk="1" hangingPunct="1">
              <a:lnSpc>
                <a:spcPct val="130000"/>
              </a:lnSpc>
              <a:spcBef>
                <a:spcPct val="50000"/>
              </a:spcBef>
            </a:pPr>
            <a:r>
              <a:rPr lang="zh-CN" altLang="en-US" dirty="0">
                <a:solidFill>
                  <a:srgbClr val="FF0000"/>
                </a:solidFill>
                <a:latin typeface="Arial" panose="020B0604020202020204" pitchFamily="34" charset="0"/>
              </a:rPr>
              <a:t>纯水汽的饱和水汽压</a:t>
            </a:r>
            <a:r>
              <a:rPr lang="en-US" altLang="zh-CN" sz="2000" dirty="0">
                <a:solidFill>
                  <a:srgbClr val="FF0000"/>
                </a:solidFill>
                <a:latin typeface="Arial" panose="020B0604020202020204" pitchFamily="34" charset="0"/>
              </a:rPr>
              <a:t>e</a:t>
            </a:r>
            <a:r>
              <a:rPr lang="en-US" altLang="zh-CN" sz="2000" baseline="-25000" dirty="0">
                <a:solidFill>
                  <a:srgbClr val="FF0000"/>
                </a:solidFill>
                <a:latin typeface="Arial" panose="020B0604020202020204" pitchFamily="34" charset="0"/>
              </a:rPr>
              <a:t>s</a:t>
            </a:r>
            <a:r>
              <a:rPr lang="zh-CN" altLang="en-US" dirty="0">
                <a:latin typeface="Arial" panose="020B0604020202020204" pitchFamily="34" charset="0"/>
              </a:rPr>
              <a:t>：一定温度下纯水汽与水（冰）处于相态平衡时的水汽压，仅与</a:t>
            </a:r>
            <a:r>
              <a:rPr lang="zh-CN" altLang="en-US" dirty="0">
                <a:solidFill>
                  <a:srgbClr val="FF0000"/>
                </a:solidFill>
                <a:latin typeface="Arial" panose="020B0604020202020204" pitchFamily="34" charset="0"/>
              </a:rPr>
              <a:t>温度</a:t>
            </a:r>
            <a:r>
              <a:rPr lang="zh-CN" altLang="en-US" dirty="0">
                <a:latin typeface="Arial" panose="020B0604020202020204" pitchFamily="34" charset="0"/>
              </a:rPr>
              <a:t>有关。 </a:t>
            </a:r>
            <a:endParaRPr lang="zh-CN" altLang="en-US" dirty="0">
              <a:latin typeface="Arial" panose="020B0604020202020204" pitchFamily="34" charset="0"/>
            </a:endParaRPr>
          </a:p>
        </p:txBody>
      </p:sp>
      <p:sp>
        <p:nvSpPr>
          <p:cNvPr id="22533" name="Oval 6"/>
          <p:cNvSpPr>
            <a:spLocks noChangeAspect="1"/>
          </p:cNvSpPr>
          <p:nvPr/>
        </p:nvSpPr>
        <p:spPr>
          <a:xfrm>
            <a:off x="539750" y="1143000"/>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21510" name="Text Box 7"/>
          <p:cNvSpPr txBox="1"/>
          <p:nvPr/>
        </p:nvSpPr>
        <p:spPr>
          <a:xfrm>
            <a:off x="838200" y="1965325"/>
            <a:ext cx="7162800" cy="396875"/>
          </a:xfrm>
          <a:prstGeom prst="rect">
            <a:avLst/>
          </a:prstGeom>
          <a:noFill/>
          <a:ln w="9525">
            <a:noFill/>
          </a:ln>
        </p:spPr>
        <p:txBody>
          <a:bodyPr>
            <a:spAutoFit/>
          </a:bodyPr>
          <a:p>
            <a:pPr eaLnBrk="1" hangingPunct="1">
              <a:spcBef>
                <a:spcPct val="50000"/>
              </a:spcBef>
            </a:pPr>
            <a:r>
              <a:rPr lang="zh-CN" altLang="en-US" dirty="0">
                <a:latin typeface="Arial" panose="020B0604020202020204" pitchFamily="34" charset="0"/>
              </a:rPr>
              <a:t>理论上， </a:t>
            </a:r>
            <a:r>
              <a:rPr lang="en-US" altLang="zh-CN" sz="2000" dirty="0">
                <a:latin typeface="Arial" panose="020B0604020202020204" pitchFamily="34" charset="0"/>
              </a:rPr>
              <a:t>e</a:t>
            </a:r>
            <a:r>
              <a:rPr lang="en-US" altLang="zh-CN" sz="2000" baseline="-25000" dirty="0">
                <a:latin typeface="Arial" panose="020B0604020202020204" pitchFamily="34" charset="0"/>
              </a:rPr>
              <a:t>s</a:t>
            </a:r>
            <a:r>
              <a:rPr lang="en-US" altLang="zh-CN" dirty="0">
                <a:latin typeface="Arial" panose="020B0604020202020204" pitchFamily="34" charset="0"/>
              </a:rPr>
              <a:t> </a:t>
            </a:r>
            <a:r>
              <a:rPr lang="zh-CN" altLang="en-US" dirty="0">
                <a:latin typeface="Arial" panose="020B0604020202020204" pitchFamily="34" charset="0"/>
              </a:rPr>
              <a:t>随温度的变化可由</a:t>
            </a:r>
            <a:r>
              <a:rPr lang="zh-CN" altLang="en-US" dirty="0">
                <a:solidFill>
                  <a:srgbClr val="FF0000"/>
                </a:solidFill>
                <a:latin typeface="Arial" panose="020B0604020202020204" pitchFamily="34" charset="0"/>
              </a:rPr>
              <a:t>克拉伯龙</a:t>
            </a:r>
            <a:r>
              <a:rPr lang="en-US" altLang="zh-CN" dirty="0">
                <a:solidFill>
                  <a:srgbClr val="FF0000"/>
                </a:solidFill>
                <a:latin typeface="Arial" panose="020B0604020202020204" pitchFamily="34" charset="0"/>
              </a:rPr>
              <a:t>-</a:t>
            </a:r>
            <a:r>
              <a:rPr lang="zh-CN" altLang="en-US" dirty="0">
                <a:solidFill>
                  <a:srgbClr val="FF0000"/>
                </a:solidFill>
                <a:latin typeface="Arial" panose="020B0604020202020204" pitchFamily="34" charset="0"/>
              </a:rPr>
              <a:t>克劳修斯方程</a:t>
            </a:r>
            <a:r>
              <a:rPr lang="zh-CN" altLang="en-US" dirty="0">
                <a:latin typeface="Arial" panose="020B0604020202020204" pitchFamily="34" charset="0"/>
              </a:rPr>
              <a:t>决定，即 </a:t>
            </a:r>
            <a:endParaRPr lang="zh-CN" altLang="en-US" dirty="0">
              <a:latin typeface="Arial" panose="020B0604020202020204" pitchFamily="34" charset="0"/>
            </a:endParaRPr>
          </a:p>
        </p:txBody>
      </p:sp>
      <p:sp>
        <p:nvSpPr>
          <p:cNvPr id="21511" name="Oval 8"/>
          <p:cNvSpPr>
            <a:spLocks noChangeAspect="1"/>
          </p:cNvSpPr>
          <p:nvPr/>
        </p:nvSpPr>
        <p:spPr>
          <a:xfrm>
            <a:off x="539750" y="2057400"/>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pic>
        <p:nvPicPr>
          <p:cNvPr id="21512" name="Picture 9"/>
          <p:cNvPicPr>
            <a:picLocks noChangeAspect="1"/>
          </p:cNvPicPr>
          <p:nvPr/>
        </p:nvPicPr>
        <p:blipFill>
          <a:blip r:embed="rId2">
            <a:clrChange>
              <a:clrFrom>
                <a:srgbClr val="FFFFFF"/>
              </a:clrFrom>
              <a:clrTo>
                <a:srgbClr val="FFFFFF">
                  <a:alpha val="0"/>
                </a:srgbClr>
              </a:clrTo>
            </a:clrChange>
          </a:blip>
          <a:stretch>
            <a:fillRect/>
          </a:stretch>
        </p:blipFill>
        <p:spPr>
          <a:xfrm>
            <a:off x="3657600" y="2565400"/>
            <a:ext cx="1292225" cy="863600"/>
          </a:xfrm>
          <a:prstGeom prst="rect">
            <a:avLst/>
          </a:prstGeom>
          <a:noFill/>
          <a:ln w="9525">
            <a:noFill/>
          </a:ln>
        </p:spPr>
      </p:pic>
      <p:sp>
        <p:nvSpPr>
          <p:cNvPr id="21513" name="Text Box 13"/>
          <p:cNvSpPr txBox="1"/>
          <p:nvPr/>
        </p:nvSpPr>
        <p:spPr>
          <a:xfrm>
            <a:off x="6934200" y="2730500"/>
            <a:ext cx="1219200" cy="366713"/>
          </a:xfrm>
          <a:prstGeom prst="rect">
            <a:avLst/>
          </a:prstGeom>
          <a:noFill/>
          <a:ln w="9525">
            <a:noFill/>
          </a:ln>
        </p:spPr>
        <p:txBody>
          <a:bodyPr>
            <a:spAutoFit/>
          </a:bodyPr>
          <a:p>
            <a:pPr eaLnBrk="1" hangingPunct="1">
              <a:spcBef>
                <a:spcPct val="50000"/>
              </a:spcBef>
            </a:pPr>
            <a:r>
              <a:rPr lang="en-US" altLang="zh-CN" dirty="0">
                <a:latin typeface="Arial" panose="020B0604020202020204" pitchFamily="34" charset="0"/>
              </a:rPr>
              <a:t>(2.2.6)</a:t>
            </a:r>
            <a:endParaRPr lang="en-US" altLang="zh-CN" dirty="0">
              <a:latin typeface="Arial" panose="020B0604020202020204" pitchFamily="34" charset="0"/>
            </a:endParaRPr>
          </a:p>
        </p:txBody>
      </p:sp>
      <p:sp>
        <p:nvSpPr>
          <p:cNvPr id="21516" name="Text Box 5"/>
          <p:cNvSpPr txBox="1"/>
          <p:nvPr/>
        </p:nvSpPr>
        <p:spPr>
          <a:xfrm>
            <a:off x="838200" y="3573463"/>
            <a:ext cx="8153400" cy="757237"/>
          </a:xfrm>
          <a:prstGeom prst="rect">
            <a:avLst/>
          </a:prstGeom>
          <a:noFill/>
          <a:ln w="9525">
            <a:noFill/>
          </a:ln>
        </p:spPr>
        <p:txBody>
          <a:bodyPr>
            <a:spAutoFit/>
          </a:bodyPr>
          <a:p>
            <a:pPr eaLnBrk="1" hangingPunct="1">
              <a:lnSpc>
                <a:spcPct val="120000"/>
              </a:lnSpc>
              <a:spcBef>
                <a:spcPct val="50000"/>
              </a:spcBef>
            </a:pPr>
            <a:r>
              <a:rPr lang="zh-CN" altLang="en-US" dirty="0">
                <a:latin typeface="Arial" panose="020B0604020202020204" pitchFamily="34" charset="0"/>
              </a:rPr>
              <a:t>在实际工作中，常采用简单的</a:t>
            </a:r>
            <a:r>
              <a:rPr lang="en-US" altLang="zh-CN" dirty="0">
                <a:solidFill>
                  <a:srgbClr val="FF0000"/>
                </a:solidFill>
                <a:latin typeface="Arial" panose="020B0604020202020204" pitchFamily="34" charset="0"/>
              </a:rPr>
              <a:t>Tetens</a:t>
            </a:r>
            <a:r>
              <a:rPr lang="zh-CN" altLang="en-US" dirty="0">
                <a:solidFill>
                  <a:srgbClr val="FF0000"/>
                </a:solidFill>
                <a:latin typeface="Arial" panose="020B0604020202020204" pitchFamily="34" charset="0"/>
              </a:rPr>
              <a:t>经验公式（或查表法）</a:t>
            </a:r>
            <a:r>
              <a:rPr lang="zh-CN" altLang="en-US" dirty="0">
                <a:latin typeface="Arial" panose="020B0604020202020204" pitchFamily="34" charset="0"/>
              </a:rPr>
              <a:t>计算水面和冰面的饱和水汽压：</a:t>
            </a:r>
            <a:endParaRPr lang="zh-CN" altLang="en-US" dirty="0">
              <a:latin typeface="Arial" panose="020B0604020202020204" pitchFamily="34" charset="0"/>
            </a:endParaRPr>
          </a:p>
        </p:txBody>
      </p:sp>
      <p:sp>
        <p:nvSpPr>
          <p:cNvPr id="21517" name="Oval 15"/>
          <p:cNvSpPr>
            <a:spLocks noChangeAspect="1"/>
          </p:cNvSpPr>
          <p:nvPr/>
        </p:nvSpPr>
        <p:spPr>
          <a:xfrm>
            <a:off x="533400" y="3649663"/>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pic>
        <p:nvPicPr>
          <p:cNvPr id="21518" name="Picture 17"/>
          <p:cNvPicPr>
            <a:picLocks noChangeAspect="1"/>
          </p:cNvPicPr>
          <p:nvPr/>
        </p:nvPicPr>
        <p:blipFill>
          <a:blip r:embed="rId3">
            <a:clrChange>
              <a:clrFrom>
                <a:srgbClr val="FFFFFF"/>
              </a:clrFrom>
              <a:clrTo>
                <a:srgbClr val="FFFFFF">
                  <a:alpha val="0"/>
                </a:srgbClr>
              </a:clrTo>
            </a:clrChange>
          </a:blip>
          <a:stretch>
            <a:fillRect/>
          </a:stretch>
        </p:blipFill>
        <p:spPr>
          <a:xfrm>
            <a:off x="1524000" y="4970463"/>
            <a:ext cx="5934075" cy="755650"/>
          </a:xfrm>
          <a:prstGeom prst="rect">
            <a:avLst/>
          </a:prstGeom>
          <a:noFill/>
          <a:ln w="9525">
            <a:noFill/>
          </a:ln>
        </p:spPr>
      </p:pic>
      <p:pic>
        <p:nvPicPr>
          <p:cNvPr id="21519" name="Picture 18"/>
          <p:cNvPicPr>
            <a:picLocks noChangeAspect="1"/>
          </p:cNvPicPr>
          <p:nvPr/>
        </p:nvPicPr>
        <p:blipFill>
          <a:blip r:embed="rId4">
            <a:clrChange>
              <a:clrFrom>
                <a:srgbClr val="FFFFFF"/>
              </a:clrFrom>
              <a:clrTo>
                <a:srgbClr val="FFFFFF">
                  <a:alpha val="0"/>
                </a:srgbClr>
              </a:clrTo>
            </a:clrChange>
          </a:blip>
          <a:stretch>
            <a:fillRect/>
          </a:stretch>
        </p:blipFill>
        <p:spPr>
          <a:xfrm>
            <a:off x="1524000" y="4149725"/>
            <a:ext cx="5865813" cy="755650"/>
          </a:xfrm>
          <a:prstGeom prst="rect">
            <a:avLst/>
          </a:prstGeom>
          <a:noFill/>
          <a:ln w="9525">
            <a:noFill/>
          </a:ln>
        </p:spPr>
      </p:pic>
      <p:sp>
        <p:nvSpPr>
          <p:cNvPr id="21520" name="Text Box 21"/>
          <p:cNvSpPr txBox="1"/>
          <p:nvPr/>
        </p:nvSpPr>
        <p:spPr>
          <a:xfrm>
            <a:off x="7848600" y="4295775"/>
            <a:ext cx="1143000" cy="396875"/>
          </a:xfrm>
          <a:prstGeom prst="rect">
            <a:avLst/>
          </a:prstGeom>
          <a:noFill/>
          <a:ln w="9525">
            <a:noFill/>
          </a:ln>
        </p:spPr>
        <p:txBody>
          <a:bodyPr>
            <a:spAutoFit/>
          </a:bodyPr>
          <a:p>
            <a:pPr eaLnBrk="1" hangingPunct="1">
              <a:spcBef>
                <a:spcPct val="50000"/>
              </a:spcBef>
            </a:pPr>
            <a:r>
              <a:rPr lang="en-US" altLang="zh-CN" sz="2000" dirty="0">
                <a:latin typeface="Arial" panose="020B0604020202020204" pitchFamily="34" charset="0"/>
              </a:rPr>
              <a:t>(2.2.9a)</a:t>
            </a:r>
            <a:endParaRPr lang="en-US" altLang="zh-CN" sz="2000" dirty="0">
              <a:latin typeface="Arial" panose="020B0604020202020204" pitchFamily="34" charset="0"/>
            </a:endParaRPr>
          </a:p>
        </p:txBody>
      </p:sp>
      <p:sp>
        <p:nvSpPr>
          <p:cNvPr id="21521" name="Text Box 22"/>
          <p:cNvSpPr txBox="1"/>
          <p:nvPr/>
        </p:nvSpPr>
        <p:spPr>
          <a:xfrm>
            <a:off x="7848600" y="5054600"/>
            <a:ext cx="1143000" cy="396875"/>
          </a:xfrm>
          <a:prstGeom prst="rect">
            <a:avLst/>
          </a:prstGeom>
          <a:noFill/>
          <a:ln w="9525">
            <a:noFill/>
          </a:ln>
        </p:spPr>
        <p:txBody>
          <a:bodyPr>
            <a:spAutoFit/>
          </a:bodyPr>
          <a:p>
            <a:pPr eaLnBrk="1" hangingPunct="1">
              <a:spcBef>
                <a:spcPct val="50000"/>
              </a:spcBef>
            </a:pPr>
            <a:r>
              <a:rPr lang="en-US" altLang="zh-CN" sz="2000" dirty="0">
                <a:latin typeface="Arial" panose="020B0604020202020204" pitchFamily="34" charset="0"/>
              </a:rPr>
              <a:t>(2.2.9b)</a:t>
            </a:r>
            <a:endParaRPr lang="en-US" altLang="zh-CN" sz="2000" dirty="0">
              <a:latin typeface="Arial" panose="020B0604020202020204" pitchFamily="34" charset="0"/>
            </a:endParaRPr>
          </a:p>
        </p:txBody>
      </p:sp>
      <p:sp>
        <p:nvSpPr>
          <p:cNvPr id="21522" name="Text Box 24"/>
          <p:cNvSpPr txBox="1"/>
          <p:nvPr/>
        </p:nvSpPr>
        <p:spPr>
          <a:xfrm>
            <a:off x="685800" y="4368800"/>
            <a:ext cx="1219200" cy="366713"/>
          </a:xfrm>
          <a:prstGeom prst="rect">
            <a:avLst/>
          </a:prstGeom>
          <a:noFill/>
          <a:ln w="9525">
            <a:noFill/>
          </a:ln>
        </p:spPr>
        <p:txBody>
          <a:bodyPr>
            <a:spAutoFit/>
          </a:bodyPr>
          <a:p>
            <a:pPr eaLnBrk="1" hangingPunct="1">
              <a:spcBef>
                <a:spcPct val="50000"/>
              </a:spcBef>
            </a:pPr>
            <a:r>
              <a:rPr lang="zh-CN" altLang="en-US" dirty="0">
                <a:solidFill>
                  <a:srgbClr val="006600"/>
                </a:solidFill>
                <a:latin typeface="Arial" panose="020B0604020202020204" pitchFamily="34" charset="0"/>
              </a:rPr>
              <a:t>水面：</a:t>
            </a:r>
            <a:endParaRPr lang="zh-CN" altLang="en-US" dirty="0">
              <a:solidFill>
                <a:srgbClr val="006600"/>
              </a:solidFill>
              <a:latin typeface="Arial" panose="020B0604020202020204" pitchFamily="34" charset="0"/>
            </a:endParaRPr>
          </a:p>
        </p:txBody>
      </p:sp>
      <p:sp>
        <p:nvSpPr>
          <p:cNvPr id="21523" name="Text Box 25"/>
          <p:cNvSpPr txBox="1"/>
          <p:nvPr/>
        </p:nvSpPr>
        <p:spPr>
          <a:xfrm>
            <a:off x="685800" y="5207000"/>
            <a:ext cx="1219200" cy="366713"/>
          </a:xfrm>
          <a:prstGeom prst="rect">
            <a:avLst/>
          </a:prstGeom>
          <a:noFill/>
          <a:ln w="9525">
            <a:noFill/>
          </a:ln>
        </p:spPr>
        <p:txBody>
          <a:bodyPr>
            <a:spAutoFit/>
          </a:bodyPr>
          <a:p>
            <a:pPr eaLnBrk="1" hangingPunct="1">
              <a:spcBef>
                <a:spcPct val="50000"/>
              </a:spcBef>
            </a:pPr>
            <a:r>
              <a:rPr lang="zh-CN" altLang="en-US" dirty="0">
                <a:solidFill>
                  <a:srgbClr val="006600"/>
                </a:solidFill>
                <a:latin typeface="Arial" panose="020B0604020202020204" pitchFamily="34" charset="0"/>
              </a:rPr>
              <a:t>冰面：</a:t>
            </a:r>
            <a:endParaRPr lang="zh-CN" altLang="en-US" dirty="0">
              <a:solidFill>
                <a:srgbClr val="006600"/>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5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5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5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5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1516"/>
                                        </p:tgtEl>
                                        <p:attrNameLst>
                                          <p:attrName>style.visibility</p:attrName>
                                        </p:attrNameLst>
                                      </p:cBhvr>
                                      <p:to>
                                        <p:strVal val="visible"/>
                                      </p:to>
                                    </p:set>
                                    <p:animEffect transition="in" filter="fade">
                                      <p:cBhvr>
                                        <p:cTn id="19" dur="500"/>
                                        <p:tgtEl>
                                          <p:spTgt spid="2151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517"/>
                                        </p:tgtEl>
                                        <p:attrNameLst>
                                          <p:attrName>style.visibility</p:attrName>
                                        </p:attrNameLst>
                                      </p:cBhvr>
                                      <p:to>
                                        <p:strVal val="visible"/>
                                      </p:to>
                                    </p:set>
                                    <p:animEffect transition="in" filter="fade">
                                      <p:cBhvr>
                                        <p:cTn id="22" dur="500"/>
                                        <p:tgtEl>
                                          <p:spTgt spid="21517"/>
                                        </p:tgtEl>
                                      </p:cBhvr>
                                    </p:animEffect>
                                  </p:childTnLst>
                                </p:cTn>
                              </p:par>
                              <p:par>
                                <p:cTn id="23" presetID="10" presetClass="entr" presetSubtype="0" fill="hold" nodeType="withEffect">
                                  <p:stCondLst>
                                    <p:cond delay="0"/>
                                  </p:stCondLst>
                                  <p:childTnLst>
                                    <p:set>
                                      <p:cBhvr>
                                        <p:cTn id="24" dur="1" fill="hold">
                                          <p:stCondLst>
                                            <p:cond delay="0"/>
                                          </p:stCondLst>
                                        </p:cTn>
                                        <p:tgtEl>
                                          <p:spTgt spid="21518"/>
                                        </p:tgtEl>
                                        <p:attrNameLst>
                                          <p:attrName>style.visibility</p:attrName>
                                        </p:attrNameLst>
                                      </p:cBhvr>
                                      <p:to>
                                        <p:strVal val="visible"/>
                                      </p:to>
                                    </p:set>
                                    <p:animEffect transition="in" filter="fade">
                                      <p:cBhvr>
                                        <p:cTn id="25" dur="500"/>
                                        <p:tgtEl>
                                          <p:spTgt spid="21518"/>
                                        </p:tgtEl>
                                      </p:cBhvr>
                                    </p:animEffect>
                                  </p:childTnLst>
                                </p:cTn>
                              </p:par>
                              <p:par>
                                <p:cTn id="26" presetID="10" presetClass="entr" presetSubtype="0" fill="hold" nodeType="withEffect">
                                  <p:stCondLst>
                                    <p:cond delay="0"/>
                                  </p:stCondLst>
                                  <p:childTnLst>
                                    <p:set>
                                      <p:cBhvr>
                                        <p:cTn id="27" dur="1" fill="hold">
                                          <p:stCondLst>
                                            <p:cond delay="0"/>
                                          </p:stCondLst>
                                        </p:cTn>
                                        <p:tgtEl>
                                          <p:spTgt spid="21519"/>
                                        </p:tgtEl>
                                        <p:attrNameLst>
                                          <p:attrName>style.visibility</p:attrName>
                                        </p:attrNameLst>
                                      </p:cBhvr>
                                      <p:to>
                                        <p:strVal val="visible"/>
                                      </p:to>
                                    </p:set>
                                    <p:animEffect transition="in" filter="fade">
                                      <p:cBhvr>
                                        <p:cTn id="28" dur="500"/>
                                        <p:tgtEl>
                                          <p:spTgt spid="215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520"/>
                                        </p:tgtEl>
                                        <p:attrNameLst>
                                          <p:attrName>style.visibility</p:attrName>
                                        </p:attrNameLst>
                                      </p:cBhvr>
                                      <p:to>
                                        <p:strVal val="visible"/>
                                      </p:to>
                                    </p:set>
                                    <p:animEffect transition="in" filter="fade">
                                      <p:cBhvr>
                                        <p:cTn id="31" dur="500"/>
                                        <p:tgtEl>
                                          <p:spTgt spid="2152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521"/>
                                        </p:tgtEl>
                                        <p:attrNameLst>
                                          <p:attrName>style.visibility</p:attrName>
                                        </p:attrNameLst>
                                      </p:cBhvr>
                                      <p:to>
                                        <p:strVal val="visible"/>
                                      </p:to>
                                    </p:set>
                                    <p:animEffect transition="in" filter="fade">
                                      <p:cBhvr>
                                        <p:cTn id="34" dur="500"/>
                                        <p:tgtEl>
                                          <p:spTgt spid="215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522"/>
                                        </p:tgtEl>
                                        <p:attrNameLst>
                                          <p:attrName>style.visibility</p:attrName>
                                        </p:attrNameLst>
                                      </p:cBhvr>
                                      <p:to>
                                        <p:strVal val="visible"/>
                                      </p:to>
                                    </p:set>
                                    <p:animEffect transition="in" filter="fade">
                                      <p:cBhvr>
                                        <p:cTn id="37" dur="500"/>
                                        <p:tgtEl>
                                          <p:spTgt spid="215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523"/>
                                        </p:tgtEl>
                                        <p:attrNameLst>
                                          <p:attrName>style.visibility</p:attrName>
                                        </p:attrNameLst>
                                      </p:cBhvr>
                                      <p:to>
                                        <p:strVal val="visible"/>
                                      </p:to>
                                    </p:set>
                                    <p:animEffect transition="in" filter="fade">
                                      <p:cBhvr>
                                        <p:cTn id="40" dur="500"/>
                                        <p:tgtEl>
                                          <p:spTgt spid="21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nimBg="1"/>
      <p:bldP spid="21510" grpId="0"/>
      <p:bldP spid="21511" grpId="0" animBg="1"/>
      <p:bldP spid="21513" grpId="0"/>
      <p:bldP spid="21516" grpId="0"/>
      <p:bldP spid="21517" grpId="0" animBg="1"/>
      <p:bldP spid="21520" grpId="0"/>
      <p:bldP spid="21521" grpId="0"/>
      <p:bldP spid="21522" grpId="0"/>
      <p:bldP spid="215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ext Box 3"/>
          <p:cNvSpPr txBox="1"/>
          <p:nvPr/>
        </p:nvSpPr>
        <p:spPr>
          <a:xfrm>
            <a:off x="4545013" y="1989138"/>
            <a:ext cx="41275" cy="114300"/>
          </a:xfrm>
          <a:prstGeom prst="rect">
            <a:avLst/>
          </a:prstGeom>
          <a:noFill/>
          <a:ln w="9525">
            <a:noFill/>
          </a:ln>
        </p:spPr>
        <p:txBody>
          <a:bodyPr wrap="none" lIns="20976" tIns="10488" rIns="20976" bIns="10488">
            <a:spAutoFit/>
          </a:bodyPr>
          <a:p>
            <a:pPr defTabSz="209550" eaLnBrk="1" hangingPunct="1"/>
            <a:endParaRPr lang="en-GB" altLang="zh-CN" sz="600" dirty="0">
              <a:latin typeface="Courier New" panose="02070309020205020404" pitchFamily="49" charset="0"/>
            </a:endParaRPr>
          </a:p>
        </p:txBody>
      </p:sp>
      <p:graphicFrame>
        <p:nvGraphicFramePr>
          <p:cNvPr id="23555" name="Object 2"/>
          <p:cNvGraphicFramePr>
            <a:graphicFrameLocks noChangeAspect="1"/>
          </p:cNvGraphicFramePr>
          <p:nvPr/>
        </p:nvGraphicFramePr>
        <p:xfrm>
          <a:off x="1692275" y="4941888"/>
          <a:ext cx="935038" cy="585787"/>
        </p:xfrm>
        <a:graphic>
          <a:graphicData uri="http://schemas.openxmlformats.org/presentationml/2006/ole">
            <mc:AlternateContent xmlns:mc="http://schemas.openxmlformats.org/markup-compatibility/2006">
              <mc:Choice xmlns:v="urn:schemas-microsoft-com:vml" Requires="v">
                <p:oleObj spid="_x0000_s3079" name="" r:id="rId1" imgW="355600" imgH="228600" progId="Equation.3">
                  <p:embed/>
                </p:oleObj>
              </mc:Choice>
              <mc:Fallback>
                <p:oleObj name="" r:id="rId1" imgW="355600" imgH="228600" progId="Equation.3">
                  <p:embed/>
                  <p:pic>
                    <p:nvPicPr>
                      <p:cNvPr id="0" name="图片 3078"/>
                      <p:cNvPicPr/>
                      <p:nvPr/>
                    </p:nvPicPr>
                    <p:blipFill>
                      <a:blip r:embed="rId2"/>
                      <a:stretch>
                        <a:fillRect/>
                      </a:stretch>
                    </p:blipFill>
                    <p:spPr>
                      <a:xfrm>
                        <a:off x="1692275" y="4941888"/>
                        <a:ext cx="935038" cy="585787"/>
                      </a:xfrm>
                      <a:prstGeom prst="rect">
                        <a:avLst/>
                      </a:prstGeom>
                      <a:noFill/>
                      <a:ln w="38100">
                        <a:noFill/>
                        <a:miter/>
                      </a:ln>
                    </p:spPr>
                  </p:pic>
                </p:oleObj>
              </mc:Fallback>
            </mc:AlternateContent>
          </a:graphicData>
        </a:graphic>
      </p:graphicFrame>
      <p:graphicFrame>
        <p:nvGraphicFramePr>
          <p:cNvPr id="23556" name="Object 3"/>
          <p:cNvGraphicFramePr>
            <a:graphicFrameLocks noChangeAspect="1"/>
          </p:cNvGraphicFramePr>
          <p:nvPr/>
        </p:nvGraphicFramePr>
        <p:xfrm>
          <a:off x="5435600" y="5300663"/>
          <a:ext cx="1368425" cy="504825"/>
        </p:xfrm>
        <a:graphic>
          <a:graphicData uri="http://schemas.openxmlformats.org/presentationml/2006/ole">
            <mc:AlternateContent xmlns:mc="http://schemas.openxmlformats.org/markup-compatibility/2006">
              <mc:Choice xmlns:v="urn:schemas-microsoft-com:vml" Requires="v">
                <p:oleObj spid="_x0000_s3076" name="" r:id="rId3" imgW="622300" imgH="228600" progId="Equation.3">
                  <p:embed/>
                </p:oleObj>
              </mc:Choice>
              <mc:Fallback>
                <p:oleObj name="" r:id="rId3" imgW="622300" imgH="228600" progId="Equation.3">
                  <p:embed/>
                  <p:pic>
                    <p:nvPicPr>
                      <p:cNvPr id="0" name="图片 3075"/>
                      <p:cNvPicPr/>
                      <p:nvPr/>
                    </p:nvPicPr>
                    <p:blipFill>
                      <a:blip r:embed="rId4"/>
                      <a:stretch>
                        <a:fillRect/>
                      </a:stretch>
                    </p:blipFill>
                    <p:spPr>
                      <a:xfrm>
                        <a:off x="5435600" y="5300663"/>
                        <a:ext cx="1368425" cy="504825"/>
                      </a:xfrm>
                      <a:prstGeom prst="rect">
                        <a:avLst/>
                      </a:prstGeom>
                      <a:noFill/>
                      <a:ln w="38100">
                        <a:noFill/>
                        <a:miter/>
                      </a:ln>
                    </p:spPr>
                  </p:pic>
                </p:oleObj>
              </mc:Fallback>
            </mc:AlternateContent>
          </a:graphicData>
        </a:graphic>
      </p:graphicFrame>
      <p:graphicFrame>
        <p:nvGraphicFramePr>
          <p:cNvPr id="23557" name="Object 4"/>
          <p:cNvGraphicFramePr>
            <a:graphicFrameLocks noChangeAspect="1"/>
          </p:cNvGraphicFramePr>
          <p:nvPr/>
        </p:nvGraphicFramePr>
        <p:xfrm>
          <a:off x="3348038" y="4162425"/>
          <a:ext cx="2376487" cy="619125"/>
        </p:xfrm>
        <a:graphic>
          <a:graphicData uri="http://schemas.openxmlformats.org/presentationml/2006/ole">
            <mc:AlternateContent xmlns:mc="http://schemas.openxmlformats.org/markup-compatibility/2006">
              <mc:Choice xmlns:v="urn:schemas-microsoft-com:vml" Requires="v">
                <p:oleObj spid="_x0000_s3077" name="" r:id="rId5" imgW="914400" imgH="241300" progId="Equation.3">
                  <p:embed/>
                </p:oleObj>
              </mc:Choice>
              <mc:Fallback>
                <p:oleObj name="" r:id="rId5" imgW="914400" imgH="241300" progId="Equation.3">
                  <p:embed/>
                  <p:pic>
                    <p:nvPicPr>
                      <p:cNvPr id="0" name="图片 3076"/>
                      <p:cNvPicPr/>
                      <p:nvPr/>
                    </p:nvPicPr>
                    <p:blipFill>
                      <a:blip r:embed="rId6"/>
                      <a:stretch>
                        <a:fillRect/>
                      </a:stretch>
                    </p:blipFill>
                    <p:spPr>
                      <a:xfrm>
                        <a:off x="3348038" y="4162425"/>
                        <a:ext cx="2376487" cy="619125"/>
                      </a:xfrm>
                      <a:prstGeom prst="rect">
                        <a:avLst/>
                      </a:prstGeom>
                      <a:noFill/>
                      <a:ln w="38100">
                        <a:noFill/>
                        <a:miter/>
                      </a:ln>
                    </p:spPr>
                  </p:pic>
                </p:oleObj>
              </mc:Fallback>
            </mc:AlternateContent>
          </a:graphicData>
        </a:graphic>
      </p:graphicFrame>
      <p:graphicFrame>
        <p:nvGraphicFramePr>
          <p:cNvPr id="23558" name="Object 5"/>
          <p:cNvGraphicFramePr>
            <a:graphicFrameLocks noChangeAspect="1"/>
          </p:cNvGraphicFramePr>
          <p:nvPr/>
        </p:nvGraphicFramePr>
        <p:xfrm>
          <a:off x="2916238" y="2911475"/>
          <a:ext cx="3382962" cy="949325"/>
        </p:xfrm>
        <a:graphic>
          <a:graphicData uri="http://schemas.openxmlformats.org/presentationml/2006/ole">
            <mc:AlternateContent xmlns:mc="http://schemas.openxmlformats.org/markup-compatibility/2006">
              <mc:Choice xmlns:v="urn:schemas-microsoft-com:vml" Requires="v">
                <p:oleObj spid="_x0000_s3078" name="" r:id="rId7" imgW="1625600" imgH="457200" progId="Equation.3">
                  <p:embed/>
                </p:oleObj>
              </mc:Choice>
              <mc:Fallback>
                <p:oleObj name="" r:id="rId7" imgW="1625600" imgH="457200" progId="Equation.3">
                  <p:embed/>
                  <p:pic>
                    <p:nvPicPr>
                      <p:cNvPr id="0" name="图片 3077"/>
                      <p:cNvPicPr/>
                      <p:nvPr/>
                    </p:nvPicPr>
                    <p:blipFill>
                      <a:blip r:embed="rId8"/>
                      <a:stretch>
                        <a:fillRect/>
                      </a:stretch>
                    </p:blipFill>
                    <p:spPr>
                      <a:xfrm>
                        <a:off x="2916238" y="2911475"/>
                        <a:ext cx="3382962" cy="949325"/>
                      </a:xfrm>
                      <a:prstGeom prst="rect">
                        <a:avLst/>
                      </a:prstGeom>
                      <a:noFill/>
                      <a:ln w="38100">
                        <a:noFill/>
                        <a:miter/>
                      </a:ln>
                    </p:spPr>
                  </p:pic>
                </p:oleObj>
              </mc:Fallback>
            </mc:AlternateContent>
          </a:graphicData>
        </a:graphic>
      </p:graphicFrame>
      <p:sp>
        <p:nvSpPr>
          <p:cNvPr id="23559" name="Rectangle 9"/>
          <p:cNvSpPr/>
          <p:nvPr/>
        </p:nvSpPr>
        <p:spPr>
          <a:xfrm>
            <a:off x="1476375" y="2024063"/>
            <a:ext cx="6911975" cy="701675"/>
          </a:xfrm>
          <a:prstGeom prst="rect">
            <a:avLst/>
          </a:prstGeom>
          <a:noFill/>
          <a:ln w="12700">
            <a:noFill/>
          </a:ln>
        </p:spPr>
        <p:txBody>
          <a:bodyPr anchor="ctr" anchorCtr="0">
            <a:spAutoFit/>
          </a:bodyPr>
          <a:p>
            <a:pPr eaLnBrk="1" hangingPunct="1"/>
            <a:r>
              <a:rPr lang="en-US" altLang="zh-CN" sz="2000" dirty="0">
                <a:latin typeface="Arial" panose="020B0604020202020204" pitchFamily="34" charset="0"/>
              </a:rPr>
              <a:t>Theoretical analysis (Kelvin’s formula) shows that  the</a:t>
            </a:r>
            <a:endParaRPr lang="en-US" altLang="zh-CN" sz="2000" dirty="0">
              <a:latin typeface="Arial" panose="020B0604020202020204" pitchFamily="34" charset="0"/>
            </a:endParaRPr>
          </a:p>
          <a:p>
            <a:pPr eaLnBrk="1" hangingPunct="1"/>
            <a:r>
              <a:rPr lang="en-US" altLang="zh-CN" sz="2000" dirty="0">
                <a:latin typeface="Arial" panose="020B0604020202020204" pitchFamily="34" charset="0"/>
              </a:rPr>
              <a:t> saturation vapor pressure over a curved surface </a:t>
            </a:r>
            <a:endParaRPr lang="en-US" altLang="zh-CN" sz="2000" dirty="0">
              <a:latin typeface="Arial" panose="020B0604020202020204" pitchFamily="34" charset="0"/>
            </a:endParaRPr>
          </a:p>
        </p:txBody>
      </p:sp>
      <p:sp>
        <p:nvSpPr>
          <p:cNvPr id="23560" name="Rectangle 10"/>
          <p:cNvSpPr/>
          <p:nvPr/>
        </p:nvSpPr>
        <p:spPr>
          <a:xfrm>
            <a:off x="2700338" y="5048250"/>
            <a:ext cx="6264275" cy="701675"/>
          </a:xfrm>
          <a:prstGeom prst="rect">
            <a:avLst/>
          </a:prstGeom>
          <a:noFill/>
          <a:ln w="12700">
            <a:noFill/>
          </a:ln>
        </p:spPr>
        <p:txBody>
          <a:bodyPr anchor="ctr" anchorCtr="0">
            <a:spAutoFit/>
          </a:bodyPr>
          <a:p>
            <a:pPr eaLnBrk="1" hangingPunct="1"/>
            <a:r>
              <a:rPr lang="zh-CN" altLang="en-US" sz="1000" dirty="0">
                <a:latin typeface="Arial" panose="020B0604020202020204" pitchFamily="34" charset="0"/>
              </a:rPr>
              <a:t>  </a:t>
            </a:r>
            <a:r>
              <a:rPr lang="en-US" altLang="zh-CN" sz="2000" dirty="0">
                <a:latin typeface="Arial" panose="020B0604020202020204" pitchFamily="34" charset="0"/>
              </a:rPr>
              <a:t>is </a:t>
            </a:r>
            <a:r>
              <a:rPr lang="en-US" altLang="zh-CN" sz="2000" dirty="0">
                <a:solidFill>
                  <a:srgbClr val="FF0066"/>
                </a:solidFill>
                <a:latin typeface="Arial" panose="020B0604020202020204" pitchFamily="34" charset="0"/>
              </a:rPr>
              <a:t>HIGHER </a:t>
            </a:r>
            <a:r>
              <a:rPr lang="en-US" altLang="zh-CN" sz="2000" dirty="0">
                <a:latin typeface="Arial" panose="020B0604020202020204" pitchFamily="34" charset="0"/>
              </a:rPr>
              <a:t>than the saturated vapor pressure over a planar surface</a:t>
            </a:r>
            <a:endParaRPr lang="en-US" altLang="zh-CN" sz="2000" dirty="0">
              <a:latin typeface="Arial" panose="020B0604020202020204" pitchFamily="34" charset="0"/>
            </a:endParaRPr>
          </a:p>
        </p:txBody>
      </p:sp>
      <p:sp>
        <p:nvSpPr>
          <p:cNvPr id="23561" name="Rectangle 11"/>
          <p:cNvSpPr/>
          <p:nvPr/>
        </p:nvSpPr>
        <p:spPr>
          <a:xfrm>
            <a:off x="1619250" y="3319463"/>
            <a:ext cx="5326063" cy="0"/>
          </a:xfrm>
          <a:prstGeom prst="rect">
            <a:avLst/>
          </a:prstGeom>
          <a:noFill/>
          <a:ln w="12700">
            <a:noFill/>
          </a:ln>
        </p:spPr>
        <p:txBody>
          <a:bodyPr wrap="none">
            <a:spAutoFit/>
          </a:bodyPr>
          <a:p>
            <a:pPr eaLnBrk="1" hangingPunct="1"/>
            <a:endParaRPr lang="zh-CN" altLang="en-US" dirty="0">
              <a:latin typeface="Arial" panose="020B0604020202020204" pitchFamily="34" charset="0"/>
            </a:endParaRPr>
          </a:p>
        </p:txBody>
      </p:sp>
      <p:sp>
        <p:nvSpPr>
          <p:cNvPr id="23562" name="Text Box 13"/>
          <p:cNvSpPr txBox="1"/>
          <p:nvPr/>
        </p:nvSpPr>
        <p:spPr>
          <a:xfrm>
            <a:off x="1547813" y="6127750"/>
            <a:ext cx="5022850" cy="400050"/>
          </a:xfrm>
          <a:prstGeom prst="rect">
            <a:avLst/>
          </a:prstGeom>
          <a:noFill/>
          <a:ln w="12700">
            <a:noFill/>
          </a:ln>
        </p:spPr>
        <p:txBody>
          <a:bodyPr wrap="none">
            <a:spAutoFit/>
          </a:bodyPr>
          <a:p>
            <a:pPr eaLnBrk="1" hangingPunct="1"/>
            <a:r>
              <a:rPr lang="en-US" altLang="zh-CN" sz="2000" dirty="0">
                <a:latin typeface="Arial" panose="020B0604020202020204" pitchFamily="34" charset="0"/>
                <a:cs typeface="Times New Roman" panose="02020603050405020304" pitchFamily="18" charset="0"/>
              </a:rPr>
              <a:t>Where, </a:t>
            </a:r>
            <a:r>
              <a:rPr lang="el-GR" altLang="zh-CN" sz="2000" dirty="0">
                <a:latin typeface="Arial" panose="020B0604020202020204" pitchFamily="34" charset="0"/>
                <a:cs typeface="Times New Roman" panose="02020603050405020304" pitchFamily="18" charset="0"/>
              </a:rPr>
              <a:t>σ</a:t>
            </a:r>
            <a:r>
              <a:rPr lang="en-US" altLang="zh-CN" sz="2000" dirty="0">
                <a:latin typeface="Arial" panose="020B0604020202020204" pitchFamily="34" charset="0"/>
                <a:cs typeface="Times New Roman" panose="02020603050405020304" pitchFamily="18" charset="0"/>
              </a:rPr>
              <a:t> is water vapor surface energy.</a:t>
            </a:r>
            <a:endParaRPr lang="el-GR" altLang="zh-CN" sz="2000" dirty="0">
              <a:latin typeface="Arial" panose="020B0604020202020204" pitchFamily="34" charset="0"/>
              <a:ea typeface="Times New Roman" panose="02020603050405020304" pitchFamily="18" charset="0"/>
            </a:endParaRPr>
          </a:p>
        </p:txBody>
      </p:sp>
      <p:sp>
        <p:nvSpPr>
          <p:cNvPr id="23563" name="AutoShape 14" descr="\begin{displaymath}&#10;e_s(T,r) = e_{s\infty}  \exp\left(\frac{2\sigma}{rR_v\rho_w T}\right),&#10;\end{displaymath}"/>
          <p:cNvSpPr>
            <a:spLocks noChangeAspect="1"/>
          </p:cNvSpPr>
          <p:nvPr/>
        </p:nvSpPr>
        <p:spPr>
          <a:xfrm>
            <a:off x="3492500" y="3503613"/>
            <a:ext cx="2951163" cy="1271587"/>
          </a:xfrm>
          <a:prstGeom prst="rect">
            <a:avLst/>
          </a:prstGeom>
          <a:noFill/>
          <a:ln w="9525">
            <a:noFill/>
          </a:ln>
        </p:spPr>
        <p:txBody>
          <a:bodyPr/>
          <a:p>
            <a:pPr eaLnBrk="1" hangingPunct="1"/>
            <a:endParaRPr lang="zh-CN" altLang="en-US" dirty="0">
              <a:latin typeface="Arial" panose="020B0604020202020204" pitchFamily="34" charset="0"/>
            </a:endParaRPr>
          </a:p>
        </p:txBody>
      </p:sp>
      <p:sp>
        <p:nvSpPr>
          <p:cNvPr id="23564" name="Text Box 15"/>
          <p:cNvSpPr txBox="1"/>
          <p:nvPr/>
        </p:nvSpPr>
        <p:spPr>
          <a:xfrm>
            <a:off x="2555875" y="1052513"/>
            <a:ext cx="4248150" cy="701675"/>
          </a:xfrm>
          <a:prstGeom prst="rect">
            <a:avLst/>
          </a:prstGeom>
          <a:noFill/>
          <a:ln w="9525">
            <a:noFill/>
          </a:ln>
        </p:spPr>
        <p:txBody>
          <a:bodyPr wrap="none">
            <a:spAutoFit/>
          </a:bodyPr>
          <a:p>
            <a:pPr eaLnBrk="1" hangingPunct="1"/>
            <a:r>
              <a:rPr lang="zh-CN" altLang="en-US" sz="4000" dirty="0">
                <a:latin typeface="Arial" panose="020B0604020202020204" pitchFamily="34" charset="0"/>
              </a:rPr>
              <a:t>深度知识（参考）</a:t>
            </a:r>
            <a:endParaRPr lang="zh-CN" altLang="en-US" sz="4000" dirty="0">
              <a:latin typeface="Arial" panose="020B0604020202020204" pitchFamily="34" charset="0"/>
            </a:endParaRPr>
          </a:p>
        </p:txBody>
      </p:sp>
      <p:sp>
        <p:nvSpPr>
          <p:cNvPr id="13" name="Rectangle 4"/>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饱和水汽压</a:t>
            </a:r>
            <a:endParaRPr kumimoji="0" lang="zh-CN" altLang="en-US" sz="4000" b="1" i="0" u="none" strike="noStrike" kern="1200" cap="none" spc="0" normalizeH="0" baseline="0" noProof="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8" name="Rectangle 4"/>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饱和水汽压</a:t>
            </a:r>
            <a:endParaRPr kumimoji="0" lang="zh-CN" altLang="en-US" sz="4000" b="1" i="0" u="none" strike="noStrike" kern="1200" cap="none" spc="0" normalizeH="0" baseline="0" noProof="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pic>
        <p:nvPicPr>
          <p:cNvPr id="22531" name="Picture 5"/>
          <p:cNvPicPr>
            <a:picLocks noChangeAspect="1"/>
          </p:cNvPicPr>
          <p:nvPr/>
        </p:nvPicPr>
        <p:blipFill>
          <a:blip r:embed="rId1">
            <a:clrChange>
              <a:clrFrom>
                <a:srgbClr val="FFFFFF"/>
              </a:clrFrom>
              <a:clrTo>
                <a:srgbClr val="FFFFFF">
                  <a:alpha val="0"/>
                </a:srgbClr>
              </a:clrTo>
            </a:clrChange>
          </a:blip>
          <a:stretch>
            <a:fillRect/>
          </a:stretch>
        </p:blipFill>
        <p:spPr>
          <a:xfrm>
            <a:off x="2286000" y="3962400"/>
            <a:ext cx="3328988" cy="1079500"/>
          </a:xfrm>
          <a:prstGeom prst="rect">
            <a:avLst/>
          </a:prstGeom>
          <a:noFill/>
          <a:ln w="9525">
            <a:noFill/>
          </a:ln>
        </p:spPr>
      </p:pic>
      <p:pic>
        <p:nvPicPr>
          <p:cNvPr id="22532" name="Picture 6"/>
          <p:cNvPicPr>
            <a:picLocks noChangeAspect="1"/>
          </p:cNvPicPr>
          <p:nvPr/>
        </p:nvPicPr>
        <p:blipFill>
          <a:blip r:embed="rId2">
            <a:clrChange>
              <a:clrFrom>
                <a:srgbClr val="FFFFFF"/>
              </a:clrFrom>
              <a:clrTo>
                <a:srgbClr val="FFFFFF">
                  <a:alpha val="0"/>
                </a:srgbClr>
              </a:clrTo>
            </a:clrChange>
          </a:blip>
          <a:stretch>
            <a:fillRect/>
          </a:stretch>
        </p:blipFill>
        <p:spPr>
          <a:xfrm>
            <a:off x="2290763" y="5181600"/>
            <a:ext cx="4186237" cy="1081088"/>
          </a:xfrm>
          <a:prstGeom prst="rect">
            <a:avLst/>
          </a:prstGeom>
          <a:noFill/>
          <a:ln w="9525">
            <a:noFill/>
          </a:ln>
        </p:spPr>
      </p:pic>
      <p:sp>
        <p:nvSpPr>
          <p:cNvPr id="24581" name="Text Box 7"/>
          <p:cNvSpPr txBox="1"/>
          <p:nvPr/>
        </p:nvSpPr>
        <p:spPr>
          <a:xfrm>
            <a:off x="838200" y="1066800"/>
            <a:ext cx="8305800" cy="1363663"/>
          </a:xfrm>
          <a:prstGeom prst="rect">
            <a:avLst/>
          </a:prstGeom>
          <a:noFill/>
          <a:ln w="9525">
            <a:noFill/>
          </a:ln>
        </p:spPr>
        <p:txBody>
          <a:bodyPr>
            <a:spAutoFit/>
          </a:bodyPr>
          <a:p>
            <a:pPr eaLnBrk="1" hangingPunct="1">
              <a:lnSpc>
                <a:spcPct val="130000"/>
              </a:lnSpc>
              <a:spcBef>
                <a:spcPct val="50000"/>
              </a:spcBef>
            </a:pPr>
            <a:r>
              <a:rPr lang="zh-CN" altLang="en-US" sz="2200" dirty="0">
                <a:latin typeface="Arial" panose="020B0604020202020204" pitchFamily="34" charset="0"/>
              </a:rPr>
              <a:t>一个大气压下，纯水汽的饱和水汽压与湿空气的饱和水汽压误差小于</a:t>
            </a:r>
            <a:r>
              <a:rPr lang="en-US" altLang="zh-CN" sz="2200" dirty="0">
                <a:latin typeface="Arial" panose="020B0604020202020204" pitchFamily="34" charset="0"/>
              </a:rPr>
              <a:t>1</a:t>
            </a:r>
            <a:r>
              <a:rPr lang="zh-CN" altLang="en-US" sz="2200" dirty="0">
                <a:latin typeface="Arial" panose="020B0604020202020204" pitchFamily="34" charset="0"/>
              </a:rPr>
              <a:t>％。因此，</a:t>
            </a:r>
            <a:r>
              <a:rPr lang="zh-CN" altLang="en-US" sz="2200" dirty="0">
                <a:solidFill>
                  <a:srgbClr val="FF0000"/>
                </a:solidFill>
                <a:latin typeface="Arial" panose="020B0604020202020204" pitchFamily="34" charset="0"/>
              </a:rPr>
              <a:t>饱和水汽压</a:t>
            </a:r>
            <a:r>
              <a:rPr lang="zh-CN" altLang="en-US" sz="2200" dirty="0">
                <a:latin typeface="Arial" panose="020B0604020202020204" pitchFamily="34" charset="0"/>
              </a:rPr>
              <a:t>就是指一定温度下湿空气中所能容纳的水汽分压强。 </a:t>
            </a:r>
            <a:endParaRPr lang="zh-CN" altLang="en-US" sz="2200" dirty="0">
              <a:latin typeface="Arial" panose="020B0604020202020204" pitchFamily="34" charset="0"/>
            </a:endParaRPr>
          </a:p>
        </p:txBody>
      </p:sp>
      <p:sp>
        <p:nvSpPr>
          <p:cNvPr id="22534" name="Text Box 8"/>
          <p:cNvSpPr txBox="1"/>
          <p:nvPr/>
        </p:nvSpPr>
        <p:spPr>
          <a:xfrm>
            <a:off x="838200" y="3306763"/>
            <a:ext cx="6248400" cy="427037"/>
          </a:xfrm>
          <a:prstGeom prst="rect">
            <a:avLst/>
          </a:prstGeom>
          <a:noFill/>
          <a:ln w="9525">
            <a:noFill/>
          </a:ln>
        </p:spPr>
        <p:txBody>
          <a:bodyPr>
            <a:spAutoFit/>
          </a:bodyPr>
          <a:p>
            <a:pPr eaLnBrk="1" hangingPunct="1">
              <a:spcBef>
                <a:spcPct val="50000"/>
              </a:spcBef>
            </a:pPr>
            <a:r>
              <a:rPr lang="zh-CN" altLang="en-US" sz="2200" dirty="0">
                <a:latin typeface="Arial" panose="020B0604020202020204" pitchFamily="34" charset="0"/>
              </a:rPr>
              <a:t>饱和混合比和饱和比湿的计算公式为：</a:t>
            </a:r>
            <a:endParaRPr lang="zh-CN" altLang="en-US" sz="2200" dirty="0">
              <a:latin typeface="Arial" panose="020B0604020202020204" pitchFamily="34" charset="0"/>
            </a:endParaRPr>
          </a:p>
        </p:txBody>
      </p:sp>
      <p:sp>
        <p:nvSpPr>
          <p:cNvPr id="24583" name="Oval 9"/>
          <p:cNvSpPr>
            <a:spLocks noChangeAspect="1"/>
          </p:cNvSpPr>
          <p:nvPr/>
        </p:nvSpPr>
        <p:spPr>
          <a:xfrm>
            <a:off x="469900" y="1236663"/>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22536" name="Oval 10"/>
          <p:cNvSpPr>
            <a:spLocks noChangeAspect="1"/>
          </p:cNvSpPr>
          <p:nvPr/>
        </p:nvSpPr>
        <p:spPr>
          <a:xfrm>
            <a:off x="469900" y="3429000"/>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22537" name="Text Box 22"/>
          <p:cNvSpPr txBox="1"/>
          <p:nvPr/>
        </p:nvSpPr>
        <p:spPr>
          <a:xfrm>
            <a:off x="7467600" y="4267200"/>
            <a:ext cx="1143000" cy="400050"/>
          </a:xfrm>
          <a:prstGeom prst="rect">
            <a:avLst/>
          </a:prstGeom>
          <a:noFill/>
          <a:ln w="9525">
            <a:noFill/>
          </a:ln>
        </p:spPr>
        <p:txBody>
          <a:bodyPr>
            <a:spAutoFit/>
          </a:bodyPr>
          <a:p>
            <a:pPr eaLnBrk="1" hangingPunct="1">
              <a:spcBef>
                <a:spcPct val="50000"/>
              </a:spcBef>
            </a:pPr>
            <a:r>
              <a:rPr lang="en-US" altLang="zh-CN" sz="2000" dirty="0">
                <a:latin typeface="Arial" panose="020B0604020202020204" pitchFamily="34" charset="0"/>
              </a:rPr>
              <a:t>(2.2.12a)</a:t>
            </a:r>
            <a:endParaRPr lang="en-US" altLang="zh-CN" sz="2000" dirty="0">
              <a:latin typeface="Arial" panose="020B0604020202020204" pitchFamily="34" charset="0"/>
            </a:endParaRPr>
          </a:p>
        </p:txBody>
      </p:sp>
      <p:sp>
        <p:nvSpPr>
          <p:cNvPr id="22538" name="Text Box 22"/>
          <p:cNvSpPr txBox="1"/>
          <p:nvPr/>
        </p:nvSpPr>
        <p:spPr>
          <a:xfrm>
            <a:off x="7467600" y="5546725"/>
            <a:ext cx="1143000" cy="396875"/>
          </a:xfrm>
          <a:prstGeom prst="rect">
            <a:avLst/>
          </a:prstGeom>
          <a:noFill/>
          <a:ln w="9525">
            <a:noFill/>
          </a:ln>
        </p:spPr>
        <p:txBody>
          <a:bodyPr>
            <a:spAutoFit/>
          </a:bodyPr>
          <a:p>
            <a:pPr eaLnBrk="1" hangingPunct="1">
              <a:spcBef>
                <a:spcPct val="50000"/>
              </a:spcBef>
            </a:pPr>
            <a:r>
              <a:rPr lang="en-US" altLang="zh-CN" sz="2000" dirty="0">
                <a:latin typeface="Arial" panose="020B0604020202020204" pitchFamily="34" charset="0"/>
              </a:rPr>
              <a:t>(2.2.12b)</a:t>
            </a:r>
            <a:endParaRPr lang="en-US" altLang="zh-CN" sz="2000"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31"/>
                                        </p:tgtEl>
                                        <p:attrNameLst>
                                          <p:attrName>style.visibility</p:attrName>
                                        </p:attrNameLst>
                                      </p:cBhvr>
                                      <p:to>
                                        <p:strVal val="visible"/>
                                      </p:to>
                                    </p:set>
                                    <p:animEffect transition="in" filter="fade">
                                      <p:cBhvr>
                                        <p:cTn id="7" dur="500"/>
                                        <p:tgtEl>
                                          <p:spTgt spid="22531"/>
                                        </p:tgtEl>
                                      </p:cBhvr>
                                    </p:animEffect>
                                  </p:childTnLst>
                                </p:cTn>
                              </p:par>
                              <p:par>
                                <p:cTn id="8" presetID="10" presetClass="entr" presetSubtype="0" fill="hold" nodeType="withEffect">
                                  <p:stCondLst>
                                    <p:cond delay="0"/>
                                  </p:stCondLst>
                                  <p:childTnLst>
                                    <p:set>
                                      <p:cBhvr>
                                        <p:cTn id="9" dur="1" fill="hold">
                                          <p:stCondLst>
                                            <p:cond delay="0"/>
                                          </p:stCondLst>
                                        </p:cTn>
                                        <p:tgtEl>
                                          <p:spTgt spid="22532"/>
                                        </p:tgtEl>
                                        <p:attrNameLst>
                                          <p:attrName>style.visibility</p:attrName>
                                        </p:attrNameLst>
                                      </p:cBhvr>
                                      <p:to>
                                        <p:strVal val="visible"/>
                                      </p:to>
                                    </p:set>
                                    <p:animEffect transition="in" filter="fade">
                                      <p:cBhvr>
                                        <p:cTn id="10" dur="500"/>
                                        <p:tgtEl>
                                          <p:spTgt spid="2253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534"/>
                                        </p:tgtEl>
                                        <p:attrNameLst>
                                          <p:attrName>style.visibility</p:attrName>
                                        </p:attrNameLst>
                                      </p:cBhvr>
                                      <p:to>
                                        <p:strVal val="visible"/>
                                      </p:to>
                                    </p:set>
                                    <p:animEffect transition="in" filter="fade">
                                      <p:cBhvr>
                                        <p:cTn id="13" dur="500"/>
                                        <p:tgtEl>
                                          <p:spTgt spid="2253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536"/>
                                        </p:tgtEl>
                                        <p:attrNameLst>
                                          <p:attrName>style.visibility</p:attrName>
                                        </p:attrNameLst>
                                      </p:cBhvr>
                                      <p:to>
                                        <p:strVal val="visible"/>
                                      </p:to>
                                    </p:set>
                                    <p:animEffect transition="in" filter="fade">
                                      <p:cBhvr>
                                        <p:cTn id="16" dur="500"/>
                                        <p:tgtEl>
                                          <p:spTgt spid="2253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537"/>
                                        </p:tgtEl>
                                        <p:attrNameLst>
                                          <p:attrName>style.visibility</p:attrName>
                                        </p:attrNameLst>
                                      </p:cBhvr>
                                      <p:to>
                                        <p:strVal val="visible"/>
                                      </p:to>
                                    </p:set>
                                    <p:animEffect transition="in" filter="fade">
                                      <p:cBhvr>
                                        <p:cTn id="19" dur="500"/>
                                        <p:tgtEl>
                                          <p:spTgt spid="2253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2538"/>
                                        </p:tgtEl>
                                        <p:attrNameLst>
                                          <p:attrName>style.visibility</p:attrName>
                                        </p:attrNameLst>
                                      </p:cBhvr>
                                      <p:to>
                                        <p:strVal val="visible"/>
                                      </p:to>
                                    </p:set>
                                    <p:animEffect transition="in" filter="fade">
                                      <p:cBhvr>
                                        <p:cTn id="22" dur="500"/>
                                        <p:tgtEl>
                                          <p:spTgt spid="22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4" grpId="0"/>
      <p:bldP spid="22536" grpId="0" animBg="1"/>
      <p:bldP spid="22537" grpId="0"/>
      <p:bldP spid="2253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554" name="Picture 4"/>
          <p:cNvPicPr>
            <a:picLocks noChangeAspect="1"/>
          </p:cNvPicPr>
          <p:nvPr/>
        </p:nvPicPr>
        <p:blipFill>
          <a:blip r:embed="rId1">
            <a:clrChange>
              <a:clrFrom>
                <a:srgbClr val="FFFFFF"/>
              </a:clrFrom>
              <a:clrTo>
                <a:srgbClr val="FFFFFF">
                  <a:alpha val="0"/>
                </a:srgbClr>
              </a:clrTo>
            </a:clrChange>
          </a:blip>
          <a:stretch>
            <a:fillRect/>
          </a:stretch>
        </p:blipFill>
        <p:spPr>
          <a:xfrm>
            <a:off x="3276600" y="1524000"/>
            <a:ext cx="1820863" cy="900113"/>
          </a:xfrm>
          <a:prstGeom prst="rect">
            <a:avLst/>
          </a:prstGeom>
          <a:noFill/>
          <a:ln w="9525">
            <a:noFill/>
          </a:ln>
        </p:spPr>
      </p:pic>
      <p:pic>
        <p:nvPicPr>
          <p:cNvPr id="23555" name="Picture 5"/>
          <p:cNvPicPr>
            <a:picLocks noChangeAspect="1"/>
          </p:cNvPicPr>
          <p:nvPr/>
        </p:nvPicPr>
        <p:blipFill>
          <a:blip r:embed="rId2">
            <a:clrChange>
              <a:clrFrom>
                <a:srgbClr val="FFFFFF"/>
              </a:clrFrom>
              <a:clrTo>
                <a:srgbClr val="FFFFFF">
                  <a:alpha val="0"/>
                </a:srgbClr>
              </a:clrTo>
            </a:clrChange>
          </a:blip>
          <a:stretch>
            <a:fillRect/>
          </a:stretch>
        </p:blipFill>
        <p:spPr>
          <a:xfrm>
            <a:off x="3048000" y="4287838"/>
            <a:ext cx="2698750" cy="1258887"/>
          </a:xfrm>
          <a:prstGeom prst="rect">
            <a:avLst/>
          </a:prstGeom>
          <a:noFill/>
          <a:ln w="9525">
            <a:noFill/>
          </a:ln>
        </p:spPr>
      </p:pic>
      <p:sp>
        <p:nvSpPr>
          <p:cNvPr id="22534" name="Rectangle 6"/>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3. </a:t>
            </a: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水汽密度</a:t>
            </a:r>
            <a:endPar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
        <p:nvSpPr>
          <p:cNvPr id="23557" name="Rectangle 7"/>
          <p:cNvSpPr/>
          <p:nvPr/>
        </p:nvSpPr>
        <p:spPr>
          <a:xfrm>
            <a:off x="762000" y="1112838"/>
            <a:ext cx="8229600" cy="427037"/>
          </a:xfrm>
          <a:prstGeom prst="rect">
            <a:avLst/>
          </a:prstGeom>
          <a:noFill/>
          <a:ln w="9525">
            <a:noFill/>
          </a:ln>
        </p:spPr>
        <p:txBody>
          <a:bodyPr anchor="ctr" anchorCtr="0">
            <a:spAutoFit/>
          </a:bodyPr>
          <a:p>
            <a:pPr eaLnBrk="1" hangingPunct="1"/>
            <a:r>
              <a:rPr lang="zh-CN" altLang="en-US" sz="2200" dirty="0">
                <a:latin typeface="Arial" panose="020B0604020202020204" pitchFamily="34" charset="0"/>
              </a:rPr>
              <a:t>在常温、常压下，纯水汽可以看成是理想气体，其状态方程是</a:t>
            </a:r>
            <a:endParaRPr lang="zh-CN" altLang="en-US" sz="2200" dirty="0">
              <a:latin typeface="Arial" panose="020B0604020202020204" pitchFamily="34" charset="0"/>
            </a:endParaRPr>
          </a:p>
        </p:txBody>
      </p:sp>
      <p:sp>
        <p:nvSpPr>
          <p:cNvPr id="23558" name="Text Box 14"/>
          <p:cNvSpPr txBox="1"/>
          <p:nvPr/>
        </p:nvSpPr>
        <p:spPr>
          <a:xfrm>
            <a:off x="990600" y="2605088"/>
            <a:ext cx="6781800" cy="396875"/>
          </a:xfrm>
          <a:prstGeom prst="rect">
            <a:avLst/>
          </a:prstGeom>
          <a:noFill/>
          <a:ln w="9525">
            <a:noFill/>
          </a:ln>
        </p:spPr>
        <p:txBody>
          <a:bodyPr>
            <a:spAutoFit/>
          </a:bodyPr>
          <a:p>
            <a:pPr eaLnBrk="1" hangingPunct="1">
              <a:spcBef>
                <a:spcPct val="50000"/>
              </a:spcBef>
            </a:pPr>
            <a:r>
              <a:rPr lang="zh-CN" altLang="en-US" sz="2000" dirty="0">
                <a:latin typeface="Arial" panose="020B0604020202020204" pitchFamily="34" charset="0"/>
              </a:rPr>
              <a:t>上式中，     是水汽的密度，      是水汽的比气体常数。</a:t>
            </a:r>
            <a:endParaRPr lang="zh-CN" altLang="en-US" sz="2000" dirty="0">
              <a:latin typeface="Arial" panose="020B0604020202020204" pitchFamily="34" charset="0"/>
            </a:endParaRPr>
          </a:p>
        </p:txBody>
      </p:sp>
      <p:sp>
        <p:nvSpPr>
          <p:cNvPr id="23559" name="Text Box 15"/>
          <p:cNvSpPr txBox="1"/>
          <p:nvPr/>
        </p:nvSpPr>
        <p:spPr>
          <a:xfrm>
            <a:off x="790575" y="3336925"/>
            <a:ext cx="7696200" cy="895350"/>
          </a:xfrm>
          <a:prstGeom prst="rect">
            <a:avLst/>
          </a:prstGeom>
          <a:noFill/>
          <a:ln w="9525">
            <a:noFill/>
          </a:ln>
        </p:spPr>
        <p:txBody>
          <a:bodyPr>
            <a:spAutoFit/>
          </a:bodyPr>
          <a:p>
            <a:pPr eaLnBrk="1" hangingPunct="1">
              <a:lnSpc>
                <a:spcPct val="120000"/>
              </a:lnSpc>
              <a:spcBef>
                <a:spcPct val="50000"/>
              </a:spcBef>
            </a:pPr>
            <a:r>
              <a:rPr lang="zh-CN" altLang="en-US" sz="2200" dirty="0">
                <a:latin typeface="Arial" panose="020B0604020202020204" pitchFamily="34" charset="0"/>
              </a:rPr>
              <a:t>假设上式对湿空气中的水汽也适用，利用干空气的比气体常数     ，水汽密度可写成</a:t>
            </a:r>
            <a:endParaRPr lang="zh-CN" altLang="en-US" sz="2200" dirty="0">
              <a:latin typeface="Arial" panose="020B0604020202020204" pitchFamily="34" charset="0"/>
            </a:endParaRPr>
          </a:p>
        </p:txBody>
      </p:sp>
      <p:sp>
        <p:nvSpPr>
          <p:cNvPr id="23560" name="Text Box 17"/>
          <p:cNvSpPr txBox="1"/>
          <p:nvPr/>
        </p:nvSpPr>
        <p:spPr>
          <a:xfrm>
            <a:off x="838200" y="5942013"/>
            <a:ext cx="7924800" cy="366712"/>
          </a:xfrm>
          <a:prstGeom prst="rect">
            <a:avLst/>
          </a:prstGeom>
          <a:noFill/>
          <a:ln w="9525">
            <a:noFill/>
          </a:ln>
        </p:spPr>
        <p:txBody>
          <a:bodyPr>
            <a:spAutoFit/>
          </a:bodyPr>
          <a:p>
            <a:pPr eaLnBrk="1" hangingPunct="1">
              <a:spcBef>
                <a:spcPct val="50000"/>
              </a:spcBef>
            </a:pPr>
            <a:r>
              <a:rPr lang="zh-CN" altLang="en-US" dirty="0">
                <a:latin typeface="Arial" panose="020B0604020202020204" pitchFamily="34" charset="0"/>
              </a:rPr>
              <a:t>它表示单位体积湿空气中含有的水汽质量，也称为</a:t>
            </a:r>
            <a:r>
              <a:rPr lang="zh-CN" altLang="en-US" dirty="0">
                <a:solidFill>
                  <a:srgbClr val="FF0000"/>
                </a:solidFill>
                <a:latin typeface="Arial" panose="020B0604020202020204" pitchFamily="34" charset="0"/>
              </a:rPr>
              <a:t>绝对湿度</a:t>
            </a:r>
            <a:r>
              <a:rPr lang="zh-CN" altLang="en-US" dirty="0">
                <a:latin typeface="Arial" panose="020B0604020202020204" pitchFamily="34" charset="0"/>
              </a:rPr>
              <a:t>，单位为</a:t>
            </a:r>
            <a:r>
              <a:rPr lang="en-US" altLang="zh-CN" dirty="0">
                <a:latin typeface="Arial" panose="020B0604020202020204" pitchFamily="34" charset="0"/>
              </a:rPr>
              <a:t>g/m</a:t>
            </a:r>
            <a:r>
              <a:rPr lang="en-US" altLang="zh-CN" baseline="30000" dirty="0">
                <a:latin typeface="Arial" panose="020B0604020202020204" pitchFamily="34" charset="0"/>
              </a:rPr>
              <a:t>3</a:t>
            </a:r>
            <a:r>
              <a:rPr lang="zh-CN" altLang="en-US" dirty="0">
                <a:latin typeface="Arial" panose="020B0604020202020204" pitchFamily="34" charset="0"/>
              </a:rPr>
              <a:t>。 </a:t>
            </a:r>
            <a:endParaRPr lang="zh-CN" altLang="en-US" dirty="0">
              <a:latin typeface="Arial" panose="020B0604020202020204" pitchFamily="34" charset="0"/>
            </a:endParaRPr>
          </a:p>
        </p:txBody>
      </p:sp>
      <p:sp>
        <p:nvSpPr>
          <p:cNvPr id="14345" name="Oval 18"/>
          <p:cNvSpPr>
            <a:spLocks noChangeAspect="1"/>
          </p:cNvSpPr>
          <p:nvPr/>
        </p:nvSpPr>
        <p:spPr>
          <a:xfrm>
            <a:off x="469900" y="1236663"/>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14346" name="Oval 19"/>
          <p:cNvSpPr>
            <a:spLocks noChangeAspect="1"/>
          </p:cNvSpPr>
          <p:nvPr/>
        </p:nvSpPr>
        <p:spPr>
          <a:xfrm>
            <a:off x="457200" y="3502025"/>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pic>
        <p:nvPicPr>
          <p:cNvPr id="23563" name="Picture 21"/>
          <p:cNvPicPr>
            <a:picLocks noChangeAspect="1"/>
          </p:cNvPicPr>
          <p:nvPr/>
        </p:nvPicPr>
        <p:blipFill>
          <a:blip r:embed="rId3">
            <a:clrChange>
              <a:clrFrom>
                <a:srgbClr val="FFFFFF"/>
              </a:clrFrom>
              <a:clrTo>
                <a:srgbClr val="FFFFFF">
                  <a:alpha val="0"/>
                </a:srgbClr>
              </a:clrTo>
            </a:clrChange>
          </a:blip>
          <a:stretch>
            <a:fillRect/>
          </a:stretch>
        </p:blipFill>
        <p:spPr>
          <a:xfrm>
            <a:off x="2051050" y="2370138"/>
            <a:ext cx="369888" cy="698500"/>
          </a:xfrm>
          <a:prstGeom prst="rect">
            <a:avLst/>
          </a:prstGeom>
          <a:noFill/>
          <a:ln w="9525">
            <a:noFill/>
          </a:ln>
        </p:spPr>
      </p:pic>
      <p:pic>
        <p:nvPicPr>
          <p:cNvPr id="23564" name="Picture 22"/>
          <p:cNvPicPr>
            <a:picLocks noChangeAspect="1"/>
          </p:cNvPicPr>
          <p:nvPr/>
        </p:nvPicPr>
        <p:blipFill>
          <a:blip r:embed="rId4">
            <a:clrChange>
              <a:clrFrom>
                <a:srgbClr val="FFFFFF"/>
              </a:clrFrom>
              <a:clrTo>
                <a:srgbClr val="FFFFFF">
                  <a:alpha val="0"/>
                </a:srgbClr>
              </a:clrTo>
            </a:clrChange>
          </a:blip>
          <a:stretch>
            <a:fillRect/>
          </a:stretch>
        </p:blipFill>
        <p:spPr>
          <a:xfrm>
            <a:off x="4211638" y="2419350"/>
            <a:ext cx="444500" cy="793750"/>
          </a:xfrm>
          <a:prstGeom prst="rect">
            <a:avLst/>
          </a:prstGeom>
          <a:noFill/>
          <a:ln w="9525">
            <a:noFill/>
          </a:ln>
        </p:spPr>
      </p:pic>
      <p:pic>
        <p:nvPicPr>
          <p:cNvPr id="23565" name="Picture 23" descr="0EESPLATTVM3$7$[N5@MRRB"/>
          <p:cNvPicPr>
            <a:picLocks noChangeAspect="1"/>
          </p:cNvPicPr>
          <p:nvPr/>
        </p:nvPicPr>
        <p:blipFill>
          <a:blip r:embed="rId5"/>
          <a:srcRect t="18900"/>
          <a:stretch>
            <a:fillRect/>
          </a:stretch>
        </p:blipFill>
        <p:spPr>
          <a:xfrm>
            <a:off x="1219200" y="3856038"/>
            <a:ext cx="266700" cy="395287"/>
          </a:xfrm>
          <a:prstGeom prst="rect">
            <a:avLst/>
          </a:prstGeom>
          <a:noFill/>
          <a:ln w="9525">
            <a:noFill/>
          </a:ln>
        </p:spPr>
      </p:pic>
      <p:sp>
        <p:nvSpPr>
          <p:cNvPr id="23566" name="Text Box 22"/>
          <p:cNvSpPr txBox="1"/>
          <p:nvPr/>
        </p:nvSpPr>
        <p:spPr>
          <a:xfrm>
            <a:off x="7239000" y="1828800"/>
            <a:ext cx="1143000" cy="396875"/>
          </a:xfrm>
          <a:prstGeom prst="rect">
            <a:avLst/>
          </a:prstGeom>
          <a:noFill/>
          <a:ln w="9525">
            <a:noFill/>
          </a:ln>
        </p:spPr>
        <p:txBody>
          <a:bodyPr>
            <a:spAutoFit/>
          </a:bodyPr>
          <a:p>
            <a:pPr eaLnBrk="1" hangingPunct="1">
              <a:spcBef>
                <a:spcPct val="50000"/>
              </a:spcBef>
            </a:pPr>
            <a:r>
              <a:rPr lang="en-US" altLang="zh-CN" sz="2000" dirty="0">
                <a:latin typeface="Arial" panose="020B0604020202020204" pitchFamily="34" charset="0"/>
              </a:rPr>
              <a:t>(2.2.13)</a:t>
            </a:r>
            <a:endParaRPr lang="en-US" altLang="zh-CN" sz="2000" dirty="0">
              <a:latin typeface="Arial" panose="020B0604020202020204" pitchFamily="34" charset="0"/>
            </a:endParaRPr>
          </a:p>
        </p:txBody>
      </p:sp>
      <p:sp>
        <p:nvSpPr>
          <p:cNvPr id="23567" name="Text Box 22"/>
          <p:cNvSpPr txBox="1"/>
          <p:nvPr/>
        </p:nvSpPr>
        <p:spPr>
          <a:xfrm>
            <a:off x="7239000" y="4708525"/>
            <a:ext cx="1143000" cy="396875"/>
          </a:xfrm>
          <a:prstGeom prst="rect">
            <a:avLst/>
          </a:prstGeom>
          <a:noFill/>
          <a:ln w="9525">
            <a:noFill/>
          </a:ln>
        </p:spPr>
        <p:txBody>
          <a:bodyPr>
            <a:spAutoFit/>
          </a:bodyPr>
          <a:p>
            <a:pPr eaLnBrk="1" hangingPunct="1">
              <a:spcBef>
                <a:spcPct val="50000"/>
              </a:spcBef>
            </a:pPr>
            <a:r>
              <a:rPr lang="en-US" altLang="zh-CN" sz="2000" dirty="0">
                <a:latin typeface="Arial" panose="020B0604020202020204" pitchFamily="34" charset="0"/>
              </a:rPr>
              <a:t>(2.2.14)</a:t>
            </a:r>
            <a:endParaRPr lang="en-US" altLang="zh-CN" sz="2000"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34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55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56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56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5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55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56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34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55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56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5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p:bldP spid="23558" grpId="0"/>
      <p:bldP spid="23559" grpId="0"/>
      <p:bldP spid="23560" grpId="0"/>
      <p:bldP spid="14345" grpId="0" animBg="1"/>
      <p:bldP spid="14346" grpId="0" animBg="1"/>
      <p:bldP spid="23566" grpId="0"/>
      <p:bldP spid="2356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578" name="Picture 4"/>
          <p:cNvPicPr>
            <a:picLocks noChangeAspect="1"/>
          </p:cNvPicPr>
          <p:nvPr/>
        </p:nvPicPr>
        <p:blipFill>
          <a:blip r:embed="rId1">
            <a:clrChange>
              <a:clrFrom>
                <a:srgbClr val="FFFFFF"/>
              </a:clrFrom>
              <a:clrTo>
                <a:srgbClr val="FFFFFF">
                  <a:alpha val="0"/>
                </a:srgbClr>
              </a:clrTo>
            </a:clrChange>
          </a:blip>
          <a:stretch>
            <a:fillRect/>
          </a:stretch>
        </p:blipFill>
        <p:spPr>
          <a:xfrm>
            <a:off x="1763713" y="2192338"/>
            <a:ext cx="5016500" cy="1008062"/>
          </a:xfrm>
          <a:prstGeom prst="rect">
            <a:avLst/>
          </a:prstGeom>
          <a:noFill/>
          <a:ln w="9525">
            <a:noFill/>
          </a:ln>
        </p:spPr>
      </p:pic>
      <p:pic>
        <p:nvPicPr>
          <p:cNvPr id="24579" name="Picture 5"/>
          <p:cNvPicPr>
            <a:picLocks noChangeAspect="1"/>
          </p:cNvPicPr>
          <p:nvPr/>
        </p:nvPicPr>
        <p:blipFill>
          <a:blip r:embed="rId2">
            <a:clrChange>
              <a:clrFrom>
                <a:srgbClr val="FFFFFF"/>
              </a:clrFrom>
              <a:clrTo>
                <a:srgbClr val="FFFFFF">
                  <a:alpha val="0"/>
                </a:srgbClr>
              </a:clrTo>
            </a:clrChange>
          </a:blip>
          <a:stretch>
            <a:fillRect/>
          </a:stretch>
        </p:blipFill>
        <p:spPr>
          <a:xfrm>
            <a:off x="2438400" y="4481513"/>
            <a:ext cx="3297238" cy="1081087"/>
          </a:xfrm>
          <a:prstGeom prst="rect">
            <a:avLst/>
          </a:prstGeom>
          <a:noFill/>
          <a:ln w="9525">
            <a:noFill/>
          </a:ln>
        </p:spPr>
      </p:pic>
      <p:sp>
        <p:nvSpPr>
          <p:cNvPr id="23558" name="Rectangle 6"/>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4 </a:t>
            </a: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相对湿度</a:t>
            </a:r>
            <a:endPar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
        <p:nvSpPr>
          <p:cNvPr id="24581" name="Text Box 7"/>
          <p:cNvSpPr txBox="1"/>
          <p:nvPr/>
        </p:nvSpPr>
        <p:spPr>
          <a:xfrm>
            <a:off x="990600" y="1157288"/>
            <a:ext cx="7315200" cy="904875"/>
          </a:xfrm>
          <a:prstGeom prst="rect">
            <a:avLst/>
          </a:prstGeom>
          <a:noFill/>
          <a:ln w="9525">
            <a:noFill/>
          </a:ln>
        </p:spPr>
        <p:txBody>
          <a:bodyPr>
            <a:spAutoFit/>
          </a:bodyPr>
          <a:p>
            <a:pPr eaLnBrk="1" hangingPunct="1">
              <a:lnSpc>
                <a:spcPct val="120000"/>
              </a:lnSpc>
              <a:spcBef>
                <a:spcPct val="50000"/>
              </a:spcBef>
            </a:pPr>
            <a:r>
              <a:rPr lang="zh-CN" altLang="en-US" sz="2200" dirty="0">
                <a:solidFill>
                  <a:srgbClr val="FF0000"/>
                </a:solidFill>
                <a:latin typeface="Arial" panose="020B0604020202020204" pitchFamily="34" charset="0"/>
              </a:rPr>
              <a:t>相对湿度</a:t>
            </a:r>
            <a:r>
              <a:rPr lang="zh-CN" altLang="en-US" sz="2200" dirty="0">
                <a:latin typeface="Arial" panose="020B0604020202020204" pitchFamily="34" charset="0"/>
              </a:rPr>
              <a:t>：一定温度和压强下，水汽和饱和水汽的摩尔分数之比，即：</a:t>
            </a:r>
            <a:endParaRPr lang="zh-CN" altLang="en-US" sz="2200" dirty="0">
              <a:latin typeface="Arial" panose="020B0604020202020204" pitchFamily="34" charset="0"/>
            </a:endParaRPr>
          </a:p>
        </p:txBody>
      </p:sp>
      <p:sp>
        <p:nvSpPr>
          <p:cNvPr id="24582" name="Text Box 8"/>
          <p:cNvSpPr txBox="1"/>
          <p:nvPr/>
        </p:nvSpPr>
        <p:spPr>
          <a:xfrm>
            <a:off x="989013" y="3763963"/>
            <a:ext cx="7315200" cy="427037"/>
          </a:xfrm>
          <a:prstGeom prst="rect">
            <a:avLst/>
          </a:prstGeom>
          <a:noFill/>
          <a:ln w="9525">
            <a:noFill/>
          </a:ln>
        </p:spPr>
        <p:txBody>
          <a:bodyPr>
            <a:spAutoFit/>
          </a:bodyPr>
          <a:p>
            <a:pPr eaLnBrk="1" hangingPunct="1">
              <a:spcBef>
                <a:spcPct val="50000"/>
              </a:spcBef>
            </a:pPr>
            <a:r>
              <a:rPr lang="zh-CN" altLang="en-US" sz="2200" dirty="0">
                <a:latin typeface="Arial" panose="020B0604020202020204" pitchFamily="34" charset="0"/>
              </a:rPr>
              <a:t>相对湿度与混合比、比湿的关系：</a:t>
            </a:r>
            <a:endParaRPr lang="zh-CN" altLang="en-US" sz="2200" dirty="0">
              <a:latin typeface="Arial" panose="020B0604020202020204" pitchFamily="34" charset="0"/>
            </a:endParaRPr>
          </a:p>
        </p:txBody>
      </p:sp>
      <p:sp>
        <p:nvSpPr>
          <p:cNvPr id="15367" name="Oval 9"/>
          <p:cNvSpPr>
            <a:spLocks noChangeAspect="1"/>
          </p:cNvSpPr>
          <p:nvPr/>
        </p:nvSpPr>
        <p:spPr>
          <a:xfrm>
            <a:off x="698500" y="1295400"/>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15368" name="Oval 10"/>
          <p:cNvSpPr>
            <a:spLocks noChangeAspect="1"/>
          </p:cNvSpPr>
          <p:nvPr/>
        </p:nvSpPr>
        <p:spPr>
          <a:xfrm>
            <a:off x="696913" y="3886200"/>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24585" name="Text Box 22"/>
          <p:cNvSpPr txBox="1"/>
          <p:nvPr/>
        </p:nvSpPr>
        <p:spPr>
          <a:xfrm>
            <a:off x="7239000" y="2514600"/>
            <a:ext cx="1143000" cy="396875"/>
          </a:xfrm>
          <a:prstGeom prst="rect">
            <a:avLst/>
          </a:prstGeom>
          <a:noFill/>
          <a:ln w="9525">
            <a:noFill/>
          </a:ln>
        </p:spPr>
        <p:txBody>
          <a:bodyPr>
            <a:spAutoFit/>
          </a:bodyPr>
          <a:p>
            <a:pPr eaLnBrk="1" hangingPunct="1">
              <a:spcBef>
                <a:spcPct val="50000"/>
              </a:spcBef>
            </a:pPr>
            <a:r>
              <a:rPr lang="en-US" altLang="zh-CN" sz="2000" dirty="0">
                <a:latin typeface="Arial" panose="020B0604020202020204" pitchFamily="34" charset="0"/>
              </a:rPr>
              <a:t>(2.2.15)</a:t>
            </a:r>
            <a:endParaRPr lang="en-US" altLang="zh-CN" sz="2000" dirty="0">
              <a:latin typeface="Arial" panose="020B0604020202020204" pitchFamily="34" charset="0"/>
            </a:endParaRPr>
          </a:p>
        </p:txBody>
      </p:sp>
      <p:sp>
        <p:nvSpPr>
          <p:cNvPr id="24586" name="Text Box 22"/>
          <p:cNvSpPr txBox="1"/>
          <p:nvPr/>
        </p:nvSpPr>
        <p:spPr>
          <a:xfrm>
            <a:off x="7239000" y="4860925"/>
            <a:ext cx="1143000" cy="396875"/>
          </a:xfrm>
          <a:prstGeom prst="rect">
            <a:avLst/>
          </a:prstGeom>
          <a:noFill/>
          <a:ln w="9525">
            <a:noFill/>
          </a:ln>
        </p:spPr>
        <p:txBody>
          <a:bodyPr>
            <a:spAutoFit/>
          </a:bodyPr>
          <a:p>
            <a:pPr eaLnBrk="1" hangingPunct="1">
              <a:spcBef>
                <a:spcPct val="50000"/>
              </a:spcBef>
            </a:pPr>
            <a:r>
              <a:rPr lang="en-US" altLang="zh-CN" sz="2000" dirty="0">
                <a:latin typeface="Arial" panose="020B0604020202020204" pitchFamily="34" charset="0"/>
              </a:rPr>
              <a:t>(2.2.16)</a:t>
            </a:r>
            <a:endParaRPr lang="en-US" altLang="zh-CN" sz="2000"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58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57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58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58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36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57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5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P spid="24582" grpId="0"/>
      <p:bldP spid="15367" grpId="0" animBg="1"/>
      <p:bldP spid="15368" grpId="0" animBg="1"/>
      <p:bldP spid="24585" grpId="0"/>
      <p:bldP spid="2458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80" name="Rectangle 4"/>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5 </a:t>
            </a: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露点和霜点</a:t>
            </a:r>
            <a:endPar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
        <p:nvSpPr>
          <p:cNvPr id="25603" name="Text Box 5"/>
          <p:cNvSpPr txBox="1"/>
          <p:nvPr/>
        </p:nvSpPr>
        <p:spPr>
          <a:xfrm>
            <a:off x="1143000" y="2286000"/>
            <a:ext cx="7086600" cy="630238"/>
          </a:xfrm>
          <a:prstGeom prst="rect">
            <a:avLst/>
          </a:prstGeom>
          <a:noFill/>
          <a:ln w="9525">
            <a:noFill/>
          </a:ln>
        </p:spPr>
        <p:txBody>
          <a:bodyPr>
            <a:spAutoFit/>
          </a:bodyPr>
          <a:p>
            <a:pPr eaLnBrk="1" hangingPunct="1">
              <a:lnSpc>
                <a:spcPct val="170000"/>
              </a:lnSpc>
              <a:spcBef>
                <a:spcPct val="50000"/>
              </a:spcBef>
            </a:pPr>
            <a:r>
              <a:rPr lang="zh-CN" altLang="en-US" sz="2400" dirty="0">
                <a:solidFill>
                  <a:srgbClr val="FF0000"/>
                </a:solidFill>
                <a:latin typeface="Arial" panose="020B0604020202020204" pitchFamily="34" charset="0"/>
              </a:rPr>
              <a:t>露点</a:t>
            </a:r>
            <a:r>
              <a:rPr lang="en-US" altLang="zh-CN" sz="2400" dirty="0">
                <a:solidFill>
                  <a:srgbClr val="FF0000"/>
                </a:solidFill>
                <a:latin typeface="Arial" panose="020B0604020202020204" pitchFamily="34" charset="0"/>
              </a:rPr>
              <a:t>T</a:t>
            </a:r>
            <a:r>
              <a:rPr lang="en-US" altLang="zh-CN" sz="2400" baseline="-25000" dirty="0">
                <a:solidFill>
                  <a:srgbClr val="FF0000"/>
                </a:solidFill>
                <a:latin typeface="Arial" panose="020B0604020202020204" pitchFamily="34" charset="0"/>
              </a:rPr>
              <a:t>d</a:t>
            </a:r>
            <a:r>
              <a:rPr lang="zh-CN" altLang="en-US" sz="2400" dirty="0">
                <a:latin typeface="Arial" panose="020B0604020202020204" pitchFamily="34" charset="0"/>
              </a:rPr>
              <a:t>：湿空气</a:t>
            </a:r>
            <a:r>
              <a:rPr lang="zh-CN" altLang="en-US" sz="2400" dirty="0">
                <a:solidFill>
                  <a:srgbClr val="006600"/>
                </a:solidFill>
                <a:latin typeface="Arial" panose="020B0604020202020204" pitchFamily="34" charset="0"/>
              </a:rPr>
              <a:t>定压降温</a:t>
            </a:r>
            <a:r>
              <a:rPr lang="zh-CN" altLang="en-US" sz="2400" dirty="0">
                <a:latin typeface="Arial" panose="020B0604020202020204" pitchFamily="34" charset="0"/>
              </a:rPr>
              <a:t>达到饱和时的温度。</a:t>
            </a:r>
            <a:endParaRPr lang="zh-CN" altLang="en-US" dirty="0">
              <a:latin typeface="Arial" panose="020B0604020202020204" pitchFamily="34" charset="0"/>
            </a:endParaRPr>
          </a:p>
        </p:txBody>
      </p:sp>
      <p:sp>
        <p:nvSpPr>
          <p:cNvPr id="16388" name="Oval 6"/>
          <p:cNvSpPr>
            <a:spLocks noChangeAspect="1"/>
          </p:cNvSpPr>
          <p:nvPr/>
        </p:nvSpPr>
        <p:spPr>
          <a:xfrm>
            <a:off x="774700" y="2590800"/>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16389" name="Oval 7"/>
          <p:cNvSpPr>
            <a:spLocks noChangeAspect="1"/>
          </p:cNvSpPr>
          <p:nvPr/>
        </p:nvSpPr>
        <p:spPr>
          <a:xfrm>
            <a:off x="762000" y="3213100"/>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25606" name="Text Box 7"/>
          <p:cNvSpPr txBox="1"/>
          <p:nvPr/>
        </p:nvSpPr>
        <p:spPr>
          <a:xfrm>
            <a:off x="609600" y="1219200"/>
            <a:ext cx="8153400" cy="946150"/>
          </a:xfrm>
          <a:prstGeom prst="rect">
            <a:avLst/>
          </a:prstGeom>
          <a:noFill/>
          <a:ln w="9525">
            <a:noFill/>
          </a:ln>
        </p:spPr>
        <p:txBody>
          <a:bodyPr>
            <a:spAutoFit/>
          </a:bodyPr>
          <a:p>
            <a:pPr eaLnBrk="1" hangingPunct="1">
              <a:lnSpc>
                <a:spcPct val="140000"/>
              </a:lnSpc>
              <a:spcBef>
                <a:spcPct val="50000"/>
              </a:spcBef>
            </a:pPr>
            <a:r>
              <a:rPr lang="zh-CN" altLang="en-US" sz="2000" dirty="0">
                <a:latin typeface="Arial" panose="020B0604020202020204" pitchFamily="34" charset="0"/>
              </a:rPr>
              <a:t>对于一定质量的空气，若令其定压冷却，则</a:t>
            </a:r>
            <a:r>
              <a:rPr lang="en-US" altLang="zh-CN" sz="2000" dirty="0">
                <a:latin typeface="Arial" panose="020B0604020202020204" pitchFamily="34" charset="0"/>
              </a:rPr>
              <a:t>q</a:t>
            </a:r>
            <a:r>
              <a:rPr lang="zh-CN" altLang="en-US" sz="2000" dirty="0">
                <a:latin typeface="Arial" panose="020B0604020202020204" pitchFamily="34" charset="0"/>
              </a:rPr>
              <a:t>，</a:t>
            </a:r>
            <a:r>
              <a:rPr lang="en-US" altLang="zh-CN" sz="2000" dirty="0">
                <a:latin typeface="Arial" panose="020B0604020202020204" pitchFamily="34" charset="0"/>
              </a:rPr>
              <a:t>r</a:t>
            </a:r>
            <a:r>
              <a:rPr lang="zh-CN" altLang="en-US" sz="2000" dirty="0">
                <a:latin typeface="Arial" panose="020B0604020202020204" pitchFamily="34" charset="0"/>
              </a:rPr>
              <a:t>和</a:t>
            </a:r>
            <a:r>
              <a:rPr lang="en-US" altLang="zh-CN" sz="2000" dirty="0">
                <a:latin typeface="Arial" panose="020B0604020202020204" pitchFamily="34" charset="0"/>
              </a:rPr>
              <a:t>e</a:t>
            </a:r>
            <a:r>
              <a:rPr lang="zh-CN" altLang="en-US" sz="2000" dirty="0">
                <a:latin typeface="Arial" panose="020B0604020202020204" pitchFamily="34" charset="0"/>
              </a:rPr>
              <a:t>都保持不变，饱和水汽压</a:t>
            </a:r>
            <a:r>
              <a:rPr lang="en-US" altLang="zh-CN" sz="2000" dirty="0">
                <a:latin typeface="Arial" panose="020B0604020202020204" pitchFamily="34" charset="0"/>
              </a:rPr>
              <a:t>e</a:t>
            </a:r>
            <a:r>
              <a:rPr lang="en-US" altLang="zh-CN" sz="2000" baseline="-25000" dirty="0">
                <a:latin typeface="Arial" panose="020B0604020202020204" pitchFamily="34" charset="0"/>
              </a:rPr>
              <a:t>s</a:t>
            </a:r>
            <a:r>
              <a:rPr lang="en-US" altLang="zh-CN" sz="2000" dirty="0">
                <a:latin typeface="Arial" panose="020B0604020202020204" pitchFamily="34" charset="0"/>
              </a:rPr>
              <a:t>(T)</a:t>
            </a:r>
            <a:r>
              <a:rPr lang="zh-CN" altLang="en-US" sz="2000" dirty="0">
                <a:latin typeface="Arial" panose="020B0604020202020204" pitchFamily="34" charset="0"/>
              </a:rPr>
              <a:t>却因温度的降低而减小。当</a:t>
            </a:r>
            <a:r>
              <a:rPr lang="en-US" altLang="zh-CN" sz="2000" dirty="0">
                <a:latin typeface="Arial" panose="020B0604020202020204" pitchFamily="34" charset="0"/>
              </a:rPr>
              <a:t>e</a:t>
            </a:r>
            <a:r>
              <a:rPr lang="en-US" altLang="zh-CN" sz="2000" baseline="-25000" dirty="0">
                <a:latin typeface="Arial" panose="020B0604020202020204" pitchFamily="34" charset="0"/>
              </a:rPr>
              <a:t>s</a:t>
            </a:r>
            <a:r>
              <a:rPr lang="en-US" altLang="zh-CN" sz="2000" dirty="0">
                <a:latin typeface="Arial" panose="020B0604020202020204" pitchFamily="34" charset="0"/>
              </a:rPr>
              <a:t>(T)=e</a:t>
            </a:r>
            <a:r>
              <a:rPr lang="zh-CN" altLang="en-US" sz="2000" dirty="0">
                <a:latin typeface="Arial" panose="020B0604020202020204" pitchFamily="34" charset="0"/>
              </a:rPr>
              <a:t>时，空气达到饱和。</a:t>
            </a:r>
            <a:endParaRPr lang="zh-CN" altLang="en-US" sz="2000" dirty="0">
              <a:latin typeface="Arial" panose="020B0604020202020204" pitchFamily="34" charset="0"/>
            </a:endParaRPr>
          </a:p>
        </p:txBody>
      </p:sp>
      <p:sp>
        <p:nvSpPr>
          <p:cNvPr id="25607" name="Text Box 10"/>
          <p:cNvSpPr txBox="1"/>
          <p:nvPr/>
        </p:nvSpPr>
        <p:spPr>
          <a:xfrm>
            <a:off x="1143000" y="3124200"/>
            <a:ext cx="6934200" cy="457200"/>
          </a:xfrm>
          <a:prstGeom prst="rect">
            <a:avLst/>
          </a:prstGeom>
          <a:noFill/>
          <a:ln w="9525">
            <a:noFill/>
          </a:ln>
        </p:spPr>
        <p:txBody>
          <a:bodyPr>
            <a:spAutoFit/>
          </a:bodyPr>
          <a:p>
            <a:pPr eaLnBrk="1" hangingPunct="1">
              <a:spcBef>
                <a:spcPct val="50000"/>
              </a:spcBef>
            </a:pPr>
            <a:r>
              <a:rPr lang="zh-CN" altLang="en-US" sz="2400" dirty="0">
                <a:solidFill>
                  <a:srgbClr val="FF0000"/>
                </a:solidFill>
                <a:latin typeface="Arial" panose="020B0604020202020204" pitchFamily="34" charset="0"/>
              </a:rPr>
              <a:t>霜点</a:t>
            </a:r>
            <a:r>
              <a:rPr lang="en-US" altLang="zh-CN" sz="2400" dirty="0">
                <a:solidFill>
                  <a:srgbClr val="FF0000"/>
                </a:solidFill>
                <a:latin typeface="Arial" panose="020B0604020202020204" pitchFamily="34" charset="0"/>
              </a:rPr>
              <a:t>T</a:t>
            </a:r>
            <a:r>
              <a:rPr lang="en-US" altLang="zh-CN" sz="2400" baseline="-25000" dirty="0">
                <a:solidFill>
                  <a:srgbClr val="FF0000"/>
                </a:solidFill>
                <a:latin typeface="Arial" panose="020B0604020202020204" pitchFamily="34" charset="0"/>
              </a:rPr>
              <a:t>f</a:t>
            </a:r>
            <a:r>
              <a:rPr lang="zh-CN" altLang="en-US" sz="2400" dirty="0">
                <a:latin typeface="Arial" panose="020B0604020202020204" pitchFamily="34" charset="0"/>
              </a:rPr>
              <a:t>：如果是对于</a:t>
            </a:r>
            <a:r>
              <a:rPr lang="zh-CN" altLang="en-US" sz="2400" dirty="0">
                <a:solidFill>
                  <a:srgbClr val="006600"/>
                </a:solidFill>
                <a:latin typeface="Arial" panose="020B0604020202020204" pitchFamily="34" charset="0"/>
              </a:rPr>
              <a:t>冰面</a:t>
            </a:r>
            <a:r>
              <a:rPr lang="zh-CN" altLang="en-US" sz="2400" dirty="0">
                <a:latin typeface="Arial" panose="020B0604020202020204" pitchFamily="34" charset="0"/>
              </a:rPr>
              <a:t>饱和，则就是霜点。</a:t>
            </a:r>
            <a:endParaRPr lang="zh-CN" altLang="en-US" sz="2400" dirty="0">
              <a:latin typeface="Arial" panose="020B0604020202020204" pitchFamily="34" charset="0"/>
            </a:endParaRPr>
          </a:p>
        </p:txBody>
      </p:sp>
      <p:sp>
        <p:nvSpPr>
          <p:cNvPr id="25608" name="Text Box 11"/>
          <p:cNvSpPr txBox="1"/>
          <p:nvPr/>
        </p:nvSpPr>
        <p:spPr>
          <a:xfrm>
            <a:off x="762000" y="3962400"/>
            <a:ext cx="8305800" cy="2446338"/>
          </a:xfrm>
          <a:prstGeom prst="rect">
            <a:avLst/>
          </a:prstGeom>
          <a:noFill/>
          <a:ln w="9525">
            <a:noFill/>
          </a:ln>
        </p:spPr>
        <p:txBody>
          <a:bodyPr>
            <a:spAutoFit/>
          </a:bodyPr>
          <a:p>
            <a:pPr eaLnBrk="1" hangingPunct="1">
              <a:lnSpc>
                <a:spcPct val="150000"/>
              </a:lnSpc>
              <a:spcBef>
                <a:spcPct val="50000"/>
              </a:spcBef>
            </a:pPr>
            <a:r>
              <a:rPr lang="zh-CN" altLang="en-US" dirty="0">
                <a:latin typeface="Arial" panose="020B0604020202020204" pitchFamily="34" charset="0"/>
              </a:rPr>
              <a:t>◆ 极为纯净的大气中，凝结和凝华过程都不容易发生，有可能达到过饱和状态。然而，大气中总含有丰富的凝结核或固体表面，气温降到露点就会在凝结核或固体表面上凝结，因而大气的相对湿度一般</a:t>
            </a:r>
            <a:r>
              <a:rPr lang="zh-CN" altLang="en-US" dirty="0">
                <a:solidFill>
                  <a:srgbClr val="FF0000"/>
                </a:solidFill>
                <a:latin typeface="Arial" panose="020B0604020202020204" pitchFamily="34" charset="0"/>
              </a:rPr>
              <a:t>不超过</a:t>
            </a:r>
            <a:r>
              <a:rPr lang="en-US" altLang="zh-CN" dirty="0">
                <a:solidFill>
                  <a:srgbClr val="FF0000"/>
                </a:solidFill>
                <a:latin typeface="Arial" panose="020B0604020202020204" pitchFamily="34" charset="0"/>
              </a:rPr>
              <a:t>101</a:t>
            </a:r>
            <a:r>
              <a:rPr lang="zh-CN" altLang="en-US" dirty="0">
                <a:solidFill>
                  <a:srgbClr val="FF0000"/>
                </a:solidFill>
                <a:latin typeface="Arial" panose="020B0604020202020204" pitchFamily="34" charset="0"/>
              </a:rPr>
              <a:t>％</a:t>
            </a:r>
            <a:r>
              <a:rPr lang="zh-CN" altLang="en-US" dirty="0">
                <a:latin typeface="Arial" panose="020B0604020202020204" pitchFamily="34" charset="0"/>
              </a:rPr>
              <a:t>。</a:t>
            </a:r>
            <a:endParaRPr lang="zh-CN" altLang="en-US" dirty="0">
              <a:latin typeface="Arial" panose="020B0604020202020204" pitchFamily="34" charset="0"/>
            </a:endParaRPr>
          </a:p>
          <a:p>
            <a:pPr eaLnBrk="1" hangingPunct="1">
              <a:lnSpc>
                <a:spcPct val="150000"/>
              </a:lnSpc>
              <a:spcBef>
                <a:spcPct val="50000"/>
              </a:spcBef>
            </a:pPr>
            <a:r>
              <a:rPr lang="zh-CN" altLang="en-US" dirty="0">
                <a:latin typeface="Arial" panose="020B0604020202020204" pitchFamily="34" charset="0"/>
              </a:rPr>
              <a:t>◆ 露点完全由空气的</a:t>
            </a:r>
            <a:r>
              <a:rPr lang="zh-CN" altLang="en-US" dirty="0">
                <a:solidFill>
                  <a:srgbClr val="FF0000"/>
                </a:solidFill>
                <a:latin typeface="Arial" panose="020B0604020202020204" pitchFamily="34" charset="0"/>
              </a:rPr>
              <a:t>水汽压</a:t>
            </a:r>
            <a:r>
              <a:rPr lang="zh-CN" altLang="en-US" dirty="0">
                <a:latin typeface="Arial" panose="020B0604020202020204" pitchFamily="34" charset="0"/>
              </a:rPr>
              <a:t>决定，在等压冷却过程中水汽压不变，露点也不变，</a:t>
            </a:r>
            <a:endParaRPr lang="en-US" altLang="zh-CN" dirty="0">
              <a:latin typeface="Arial" panose="020B0604020202020204" pitchFamily="34" charset="0"/>
            </a:endParaRPr>
          </a:p>
          <a:p>
            <a:pPr eaLnBrk="1" hangingPunct="1">
              <a:lnSpc>
                <a:spcPct val="150000"/>
              </a:lnSpc>
              <a:spcBef>
                <a:spcPct val="50000"/>
              </a:spcBef>
            </a:pPr>
            <a:r>
              <a:rPr lang="zh-CN" altLang="en-US" dirty="0">
                <a:latin typeface="Arial" panose="020B0604020202020204" pitchFamily="34" charset="0"/>
              </a:rPr>
              <a:t>所以它在等压过程中是保守量。可由露点仪直接测得。</a:t>
            </a:r>
            <a:endParaRPr lang="zh-CN" altLang="en-US"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8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60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38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60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6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p:bldP spid="16388" grpId="0" animBg="1"/>
      <p:bldP spid="16389" grpId="0" animBg="1"/>
      <p:bldP spid="25606" grpId="0"/>
      <p:bldP spid="25607" grpId="0"/>
      <p:bldP spid="2560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5" descr="饱和水汽压曲线图"/>
          <p:cNvPicPr>
            <a:picLocks noChangeAspect="1"/>
          </p:cNvPicPr>
          <p:nvPr/>
        </p:nvPicPr>
        <p:blipFill>
          <a:blip r:embed="rId1"/>
          <a:stretch>
            <a:fillRect/>
          </a:stretch>
        </p:blipFill>
        <p:spPr>
          <a:xfrm>
            <a:off x="971550" y="1484313"/>
            <a:ext cx="5929313" cy="5114925"/>
          </a:xfrm>
          <a:prstGeom prst="rect">
            <a:avLst/>
          </a:prstGeom>
          <a:noFill/>
          <a:ln w="9525">
            <a:noFill/>
          </a:ln>
        </p:spPr>
      </p:pic>
      <p:sp>
        <p:nvSpPr>
          <p:cNvPr id="28675" name="TextBox 3"/>
          <p:cNvSpPr txBox="1"/>
          <p:nvPr/>
        </p:nvSpPr>
        <p:spPr>
          <a:xfrm>
            <a:off x="827088" y="333375"/>
            <a:ext cx="7777162" cy="368300"/>
          </a:xfrm>
          <a:prstGeom prst="rect">
            <a:avLst/>
          </a:prstGeom>
          <a:noFill/>
          <a:ln w="9525">
            <a:noFill/>
          </a:ln>
        </p:spPr>
        <p:txBody>
          <a:bodyPr>
            <a:spAutoFit/>
          </a:bodyPr>
          <a:p>
            <a:pPr eaLnBrk="1" hangingPunct="1"/>
            <a:r>
              <a:rPr lang="zh-CN" altLang="en-US" dirty="0">
                <a:latin typeface="Arial" panose="020B0604020202020204" pitchFamily="34" charset="0"/>
              </a:rPr>
              <a:t>练习：气温为</a:t>
            </a:r>
            <a:r>
              <a:rPr lang="en-US" altLang="zh-CN" dirty="0">
                <a:latin typeface="Arial" panose="020B0604020202020204" pitchFamily="34" charset="0"/>
              </a:rPr>
              <a:t>3</a:t>
            </a:r>
            <a:r>
              <a:rPr lang="zh-CN" altLang="en-US" dirty="0">
                <a:latin typeface="Arial" panose="020B0604020202020204" pitchFamily="34" charset="0"/>
              </a:rPr>
              <a:t>℃，相对湿度为</a:t>
            </a:r>
            <a:r>
              <a:rPr lang="en-US" altLang="zh-CN" dirty="0">
                <a:latin typeface="Arial" panose="020B0604020202020204" pitchFamily="34" charset="0"/>
              </a:rPr>
              <a:t>30%</a:t>
            </a:r>
            <a:r>
              <a:rPr lang="zh-CN" altLang="en-US" dirty="0">
                <a:latin typeface="Arial" panose="020B0604020202020204" pitchFamily="34" charset="0"/>
              </a:rPr>
              <a:t>，求露点。</a:t>
            </a:r>
            <a:endParaRPr lang="zh-CN" altLang="en-US"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plus(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7463" name="Group 55"/>
          <p:cNvGraphicFramePr>
            <a:graphicFrameLocks noGrp="1"/>
          </p:cNvGraphicFramePr>
          <p:nvPr/>
        </p:nvGraphicFramePr>
        <p:xfrm>
          <a:off x="304800" y="1828800"/>
          <a:ext cx="8534400" cy="3803650"/>
        </p:xfrm>
        <a:graphic>
          <a:graphicData uri="http://schemas.openxmlformats.org/drawingml/2006/table">
            <a:tbl>
              <a:tblPr/>
              <a:tblGrid>
                <a:gridCol w="1295400"/>
                <a:gridCol w="944563"/>
                <a:gridCol w="1276350"/>
                <a:gridCol w="1701800"/>
                <a:gridCol w="3316287"/>
              </a:tblGrid>
              <a:tr h="640031">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名称</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惯用    符号</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单位</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测量方法</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应用</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571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混合比</a:t>
                      </a:r>
                      <a:endParaRPr kumimoji="0" lang="zh-CN" altLang="en-US" sz="18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g/g, g/kg</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绝对法（称重法）</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因在气块无相变的绝热过程中保持常量，故常用于理论计算</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6571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比湿</a:t>
                      </a:r>
                      <a:endParaRPr kumimoji="0" lang="zh-CN" altLang="en-US" sz="18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r>
              <a:tr h="640031">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水汽密度</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ρ</a:t>
                      </a:r>
                      <a:r>
                        <a:rPr kumimoji="0" lang="en-US" altLang="zh-CN" sz="18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g/m</a:t>
                      </a:r>
                      <a:r>
                        <a:rPr kumimoji="0" lang="en-US" altLang="zh-CN" sz="18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kg/m</a:t>
                      </a:r>
                      <a:r>
                        <a:rPr kumimoji="0" lang="en-US" altLang="zh-CN" sz="18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绝对法（称重法）</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表示水汽绝对含量，常用于理论计算</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6571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水汽压</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hPa</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通风干湿表</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表示水汽绝对含量</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6571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露点</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18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Calibri" panose="020F0502020204030204" pitchFamily="34" charset="0"/>
                          <a:ea typeface="宋体" panose="02010600030101010101" pitchFamily="2" charset="-122"/>
                        </a:rPr>
                        <a: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露点仪</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预报露、霜、云和雾等现象是否出现</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r>
              <a:tr h="36571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霜点</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0" lang="en-US" altLang="zh-CN" sz="18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vMerge="1">
                  <a:tcPr/>
                </a:tc>
                <a:tc vMerge="1">
                  <a:tcPr/>
                </a:tc>
                <a:tc vMerge="1">
                  <a:tcPr/>
                </a:tc>
              </a:tr>
              <a:tr h="69502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6600"/>
                          </a:solidFill>
                          <a:effectLst/>
                          <a:latin typeface="Times New Roman" panose="02020603050405020304" pitchFamily="18" charset="0"/>
                          <a:ea typeface="宋体" panose="02010600030101010101" pitchFamily="2" charset="-122"/>
                          <a:cs typeface="Times New Roman" panose="02020603050405020304" pitchFamily="18" charset="0"/>
                        </a:rPr>
                        <a:t>相对湿度</a:t>
                      </a:r>
                      <a:endParaRPr kumimoji="0" lang="zh-CN" altLang="en-US" sz="1800" b="1" i="0" u="none" strike="noStrike" cap="none" normalizeH="0" baseline="0">
                        <a:ln>
                          <a:noFill/>
                        </a:ln>
                        <a:solidFill>
                          <a:srgbClr val="006600"/>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a:t>
                      </a:r>
                      <a:r>
                        <a:rPr kumimoji="0" lang="en-US" altLang="zh-CN" sz="18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U</a:t>
                      </a:r>
                      <a:r>
                        <a:rPr kumimoji="0" lang="en-US" altLang="zh-CN" sz="18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通风干湿表和毛发湿度计</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表示空气接近饱和状态的程度，也可用来推算其他湿度参量</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7" marB="45697"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9748" name="Text Box 242"/>
          <p:cNvSpPr txBox="1"/>
          <p:nvPr/>
        </p:nvSpPr>
        <p:spPr>
          <a:xfrm>
            <a:off x="3733800" y="1219200"/>
            <a:ext cx="2286000" cy="457200"/>
          </a:xfrm>
          <a:prstGeom prst="rect">
            <a:avLst/>
          </a:prstGeom>
          <a:noFill/>
          <a:ln w="9525">
            <a:noFill/>
          </a:ln>
        </p:spPr>
        <p:txBody>
          <a:bodyPr>
            <a:spAutoFit/>
          </a:bodyPr>
          <a:p>
            <a:pPr eaLnBrk="1" hangingPunct="1">
              <a:spcBef>
                <a:spcPct val="50000"/>
              </a:spcBef>
            </a:pPr>
            <a:r>
              <a:rPr lang="zh-CN" altLang="en-US" sz="2400" dirty="0">
                <a:latin typeface="Arial" panose="020B0604020202020204" pitchFamily="34" charset="0"/>
              </a:rPr>
              <a:t>湿度参量</a:t>
            </a:r>
            <a:endParaRPr lang="zh-CN" altLang="en-US" sz="2400" dirty="0">
              <a:latin typeface="Arial" panose="020B0604020202020204" pitchFamily="34" charset="0"/>
            </a:endParaRPr>
          </a:p>
        </p:txBody>
      </p:sp>
      <p:sp>
        <p:nvSpPr>
          <p:cNvPr id="26867" name="Rectangle 243"/>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小 结</a:t>
            </a:r>
            <a:endParaRPr kumimoji="0" lang="zh-CN" altLang="en-US" sz="4000" b="1" i="0" u="none" strike="noStrike" kern="1200" cap="none" spc="0" normalizeH="0" baseline="0" noProof="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6" name="Rectangle 4"/>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二、</a:t>
            </a:r>
            <a:r>
              <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 </a:t>
            </a: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湿空气的状态方程</a:t>
            </a:r>
            <a:endPar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
        <p:nvSpPr>
          <p:cNvPr id="30723" name="Oval 24"/>
          <p:cNvSpPr>
            <a:spLocks noChangeAspect="1"/>
          </p:cNvSpPr>
          <p:nvPr/>
        </p:nvSpPr>
        <p:spPr>
          <a:xfrm>
            <a:off x="685800" y="1060450"/>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30724" name="Oval 25"/>
          <p:cNvSpPr>
            <a:spLocks noChangeAspect="1"/>
          </p:cNvSpPr>
          <p:nvPr/>
        </p:nvSpPr>
        <p:spPr>
          <a:xfrm>
            <a:off x="685800" y="2708275"/>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30725" name="Oval 26"/>
          <p:cNvSpPr>
            <a:spLocks noChangeAspect="1"/>
          </p:cNvSpPr>
          <p:nvPr/>
        </p:nvSpPr>
        <p:spPr>
          <a:xfrm>
            <a:off x="685800" y="4356100"/>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30726" name="Text Box 5"/>
          <p:cNvSpPr txBox="1"/>
          <p:nvPr/>
        </p:nvSpPr>
        <p:spPr>
          <a:xfrm>
            <a:off x="930275" y="868363"/>
            <a:ext cx="7604125" cy="4360862"/>
          </a:xfrm>
          <a:prstGeom prst="rect">
            <a:avLst/>
          </a:prstGeom>
          <a:noFill/>
          <a:ln w="9525">
            <a:noFill/>
          </a:ln>
        </p:spPr>
        <p:txBody>
          <a:bodyPr>
            <a:spAutoFit/>
          </a:bodyPr>
          <a:p>
            <a:pPr eaLnBrk="1" hangingPunct="1">
              <a:lnSpc>
                <a:spcPct val="150000"/>
              </a:lnSpc>
              <a:spcBef>
                <a:spcPct val="50000"/>
              </a:spcBef>
            </a:pPr>
            <a:r>
              <a:rPr lang="zh-CN" altLang="en-US" dirty="0">
                <a:latin typeface="Arial" panose="020B0604020202020204" pitchFamily="34" charset="0"/>
              </a:rPr>
              <a:t>湿空气（水汽和干空气组成的混合理想气体）的平均摩尔质量为：</a:t>
            </a:r>
            <a:endParaRPr lang="zh-CN" altLang="en-US" dirty="0">
              <a:latin typeface="Arial" panose="020B0604020202020204" pitchFamily="34" charset="0"/>
            </a:endParaRPr>
          </a:p>
          <a:p>
            <a:pPr eaLnBrk="1" hangingPunct="1">
              <a:lnSpc>
                <a:spcPct val="150000"/>
              </a:lnSpc>
              <a:spcBef>
                <a:spcPct val="50000"/>
              </a:spcBef>
            </a:pPr>
            <a:endParaRPr lang="zh-CN" altLang="en-US" dirty="0">
              <a:latin typeface="Arial" panose="020B0604020202020204" pitchFamily="34" charset="0"/>
            </a:endParaRPr>
          </a:p>
          <a:p>
            <a:pPr eaLnBrk="1" hangingPunct="1">
              <a:lnSpc>
                <a:spcPct val="150000"/>
              </a:lnSpc>
              <a:spcBef>
                <a:spcPct val="50000"/>
              </a:spcBef>
            </a:pPr>
            <a:endParaRPr lang="zh-CN" altLang="en-US" dirty="0">
              <a:latin typeface="Arial" panose="020B0604020202020204" pitchFamily="34" charset="0"/>
            </a:endParaRPr>
          </a:p>
          <a:p>
            <a:pPr eaLnBrk="1" hangingPunct="1">
              <a:lnSpc>
                <a:spcPct val="150000"/>
              </a:lnSpc>
              <a:spcBef>
                <a:spcPct val="50000"/>
              </a:spcBef>
            </a:pPr>
            <a:r>
              <a:rPr lang="zh-CN" altLang="en-US" dirty="0">
                <a:latin typeface="Arial" panose="020B0604020202020204" pitchFamily="34" charset="0"/>
              </a:rPr>
              <a:t>由此得出湿空气的比气体常数：</a:t>
            </a:r>
            <a:endParaRPr lang="zh-CN" altLang="en-US" dirty="0">
              <a:latin typeface="Arial" panose="020B0604020202020204" pitchFamily="34" charset="0"/>
            </a:endParaRPr>
          </a:p>
          <a:p>
            <a:pPr eaLnBrk="1" hangingPunct="1">
              <a:lnSpc>
                <a:spcPct val="150000"/>
              </a:lnSpc>
              <a:spcBef>
                <a:spcPct val="50000"/>
              </a:spcBef>
            </a:pPr>
            <a:endParaRPr lang="zh-CN" altLang="en-US" dirty="0">
              <a:latin typeface="Arial" panose="020B0604020202020204" pitchFamily="34" charset="0"/>
            </a:endParaRPr>
          </a:p>
          <a:p>
            <a:pPr eaLnBrk="1" hangingPunct="1">
              <a:lnSpc>
                <a:spcPct val="150000"/>
              </a:lnSpc>
              <a:spcBef>
                <a:spcPct val="50000"/>
              </a:spcBef>
            </a:pPr>
            <a:endParaRPr lang="zh-CN" altLang="en-US" dirty="0">
              <a:latin typeface="Arial" panose="020B0604020202020204" pitchFamily="34" charset="0"/>
            </a:endParaRPr>
          </a:p>
          <a:p>
            <a:pPr eaLnBrk="1" hangingPunct="1">
              <a:lnSpc>
                <a:spcPct val="150000"/>
              </a:lnSpc>
              <a:spcBef>
                <a:spcPct val="50000"/>
              </a:spcBef>
            </a:pPr>
            <a:r>
              <a:rPr lang="zh-CN" altLang="en-US" dirty="0">
                <a:latin typeface="Arial" panose="020B0604020202020204" pitchFamily="34" charset="0"/>
              </a:rPr>
              <a:t>所以湿空气的状态方程为：</a:t>
            </a:r>
            <a:endParaRPr lang="zh-CN" altLang="en-US" dirty="0">
              <a:latin typeface="Arial" panose="020B0604020202020204" pitchFamily="34" charset="0"/>
            </a:endParaRPr>
          </a:p>
          <a:p>
            <a:pPr eaLnBrk="1" hangingPunct="1">
              <a:lnSpc>
                <a:spcPct val="150000"/>
              </a:lnSpc>
              <a:spcBef>
                <a:spcPct val="50000"/>
              </a:spcBef>
            </a:pPr>
            <a:r>
              <a:rPr lang="zh-CN" altLang="en-US" dirty="0">
                <a:latin typeface="Arial" panose="020B0604020202020204" pitchFamily="34" charset="0"/>
              </a:rPr>
              <a:t>                                                               </a:t>
            </a:r>
            <a:endParaRPr lang="zh-CN" altLang="en-US" dirty="0">
              <a:latin typeface="Arial" panose="020B0604020202020204" pitchFamily="34" charset="0"/>
            </a:endParaRPr>
          </a:p>
        </p:txBody>
      </p:sp>
      <p:pic>
        <p:nvPicPr>
          <p:cNvPr id="30727" name="Picture 8"/>
          <p:cNvPicPr>
            <a:picLocks noChangeAspect="1"/>
          </p:cNvPicPr>
          <p:nvPr/>
        </p:nvPicPr>
        <p:blipFill>
          <a:blip r:embed="rId1">
            <a:clrChange>
              <a:clrFrom>
                <a:srgbClr val="FFFFFF"/>
              </a:clrFrom>
              <a:clrTo>
                <a:srgbClr val="FFFFFF">
                  <a:alpha val="0"/>
                </a:srgbClr>
              </a:clrTo>
            </a:clrChange>
          </a:blip>
          <a:stretch>
            <a:fillRect/>
          </a:stretch>
        </p:blipFill>
        <p:spPr>
          <a:xfrm>
            <a:off x="1676400" y="1447800"/>
            <a:ext cx="5426075" cy="914400"/>
          </a:xfrm>
          <a:prstGeom prst="rect">
            <a:avLst/>
          </a:prstGeom>
          <a:noFill/>
          <a:ln w="9525">
            <a:noFill/>
          </a:ln>
        </p:spPr>
      </p:pic>
      <p:pic>
        <p:nvPicPr>
          <p:cNvPr id="30728" name="Picture 9"/>
          <p:cNvPicPr>
            <a:picLocks noChangeAspect="1"/>
          </p:cNvPicPr>
          <p:nvPr/>
        </p:nvPicPr>
        <p:blipFill>
          <a:blip r:embed="rId2">
            <a:clrChange>
              <a:clrFrom>
                <a:srgbClr val="FFFFFF"/>
              </a:clrFrom>
              <a:clrTo>
                <a:srgbClr val="FFFFFF">
                  <a:alpha val="0"/>
                </a:srgbClr>
              </a:clrTo>
            </a:clrChange>
          </a:blip>
          <a:stretch>
            <a:fillRect/>
          </a:stretch>
        </p:blipFill>
        <p:spPr>
          <a:xfrm>
            <a:off x="3276600" y="3216275"/>
            <a:ext cx="2684463" cy="746125"/>
          </a:xfrm>
          <a:prstGeom prst="rect">
            <a:avLst/>
          </a:prstGeom>
          <a:noFill/>
          <a:ln w="9525">
            <a:noFill/>
          </a:ln>
        </p:spPr>
      </p:pic>
      <p:pic>
        <p:nvPicPr>
          <p:cNvPr id="30729" name="Picture 10"/>
          <p:cNvPicPr>
            <a:picLocks noChangeAspect="1"/>
          </p:cNvPicPr>
          <p:nvPr/>
        </p:nvPicPr>
        <p:blipFill>
          <a:blip r:embed="rId3">
            <a:clrChange>
              <a:clrFrom>
                <a:srgbClr val="FFFFFF"/>
              </a:clrFrom>
              <a:clrTo>
                <a:srgbClr val="FFFFFF">
                  <a:alpha val="0"/>
                </a:srgbClr>
              </a:clrTo>
            </a:clrChange>
          </a:blip>
          <a:stretch>
            <a:fillRect/>
          </a:stretch>
        </p:blipFill>
        <p:spPr>
          <a:xfrm>
            <a:off x="3170238" y="4699000"/>
            <a:ext cx="3271837" cy="539750"/>
          </a:xfrm>
          <a:prstGeom prst="rect">
            <a:avLst/>
          </a:prstGeom>
          <a:noFill/>
          <a:ln w="9525">
            <a:noFill/>
          </a:ln>
        </p:spPr>
      </p:pic>
      <p:sp>
        <p:nvSpPr>
          <p:cNvPr id="30730" name="矩形 4"/>
          <p:cNvSpPr/>
          <p:nvPr/>
        </p:nvSpPr>
        <p:spPr>
          <a:xfrm>
            <a:off x="990600" y="5348288"/>
            <a:ext cx="2025650" cy="366712"/>
          </a:xfrm>
          <a:prstGeom prst="rect">
            <a:avLst/>
          </a:prstGeom>
          <a:noFill/>
          <a:ln w="9525">
            <a:noFill/>
          </a:ln>
        </p:spPr>
        <p:txBody>
          <a:bodyPr wrap="none">
            <a:spAutoFit/>
          </a:bodyPr>
          <a:p>
            <a:pPr eaLnBrk="1" hangingPunct="1"/>
            <a:r>
              <a:rPr lang="en-US" altLang="zh-CN" dirty="0">
                <a:latin typeface="Arial" panose="020B0604020202020204" pitchFamily="34" charset="0"/>
              </a:rPr>
              <a:t>ρ</a:t>
            </a:r>
            <a:r>
              <a:rPr lang="zh-CN" altLang="en-US" dirty="0">
                <a:latin typeface="Arial" panose="020B0604020202020204" pitchFamily="34" charset="0"/>
              </a:rPr>
              <a:t>为湿空气的密度</a:t>
            </a:r>
            <a:endParaRPr lang="zh-CN" altLang="en-US" dirty="0">
              <a:latin typeface="Arial" panose="020B0604020202020204" pitchFamily="34" charset="0"/>
            </a:endParaRPr>
          </a:p>
        </p:txBody>
      </p:sp>
      <p:sp>
        <p:nvSpPr>
          <p:cNvPr id="30731" name="Text Box 11"/>
          <p:cNvSpPr txBox="1"/>
          <p:nvPr/>
        </p:nvSpPr>
        <p:spPr>
          <a:xfrm>
            <a:off x="990600" y="5867400"/>
            <a:ext cx="7467600" cy="752475"/>
          </a:xfrm>
          <a:prstGeom prst="rect">
            <a:avLst/>
          </a:prstGeom>
          <a:noFill/>
          <a:ln w="9525">
            <a:noFill/>
          </a:ln>
        </p:spPr>
        <p:txBody>
          <a:bodyPr>
            <a:spAutoFit/>
          </a:bodyPr>
          <a:p>
            <a:pPr eaLnBrk="1" hangingPunct="1">
              <a:lnSpc>
                <a:spcPct val="120000"/>
              </a:lnSpc>
              <a:spcBef>
                <a:spcPct val="50000"/>
              </a:spcBef>
            </a:pPr>
            <a:r>
              <a:rPr lang="zh-CN" altLang="en-US" dirty="0">
                <a:latin typeface="Arial" panose="020B0604020202020204" pitchFamily="34" charset="0"/>
              </a:rPr>
              <a:t>在同一压力和温度下，湿空气的密度比干空气的小，含有的水汽越多，密度越小。</a:t>
            </a:r>
            <a:endParaRPr lang="zh-CN" altLang="en-US" dirty="0">
              <a:latin typeface="Arial" panose="020B0604020202020204" pitchFamily="34" charset="0"/>
            </a:endParaRPr>
          </a:p>
        </p:txBody>
      </p:sp>
      <p:sp>
        <p:nvSpPr>
          <p:cNvPr id="30732" name="Oval 26"/>
          <p:cNvSpPr>
            <a:spLocks noChangeAspect="1"/>
          </p:cNvSpPr>
          <p:nvPr/>
        </p:nvSpPr>
        <p:spPr>
          <a:xfrm>
            <a:off x="685800" y="6010275"/>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30733" name="Text Box 22"/>
          <p:cNvSpPr txBox="1"/>
          <p:nvPr/>
        </p:nvSpPr>
        <p:spPr>
          <a:xfrm>
            <a:off x="7315200" y="1631950"/>
            <a:ext cx="1143000" cy="396875"/>
          </a:xfrm>
          <a:prstGeom prst="rect">
            <a:avLst/>
          </a:prstGeom>
          <a:noFill/>
          <a:ln w="9525">
            <a:noFill/>
          </a:ln>
        </p:spPr>
        <p:txBody>
          <a:bodyPr>
            <a:spAutoFit/>
          </a:bodyPr>
          <a:p>
            <a:pPr eaLnBrk="1" hangingPunct="1">
              <a:spcBef>
                <a:spcPct val="50000"/>
              </a:spcBef>
            </a:pPr>
            <a:r>
              <a:rPr lang="en-US" altLang="zh-CN" sz="2000" dirty="0">
                <a:latin typeface="Arial" panose="020B0604020202020204" pitchFamily="34" charset="0"/>
              </a:rPr>
              <a:t>(2.2.17)</a:t>
            </a:r>
            <a:endParaRPr lang="en-US" altLang="zh-CN" sz="2000" dirty="0">
              <a:latin typeface="Arial" panose="020B0604020202020204" pitchFamily="34" charset="0"/>
            </a:endParaRPr>
          </a:p>
        </p:txBody>
      </p:sp>
      <p:sp>
        <p:nvSpPr>
          <p:cNvPr id="30734" name="Text Box 22"/>
          <p:cNvSpPr txBox="1"/>
          <p:nvPr/>
        </p:nvSpPr>
        <p:spPr>
          <a:xfrm>
            <a:off x="7315200" y="3416300"/>
            <a:ext cx="1143000" cy="396875"/>
          </a:xfrm>
          <a:prstGeom prst="rect">
            <a:avLst/>
          </a:prstGeom>
          <a:noFill/>
          <a:ln w="9525">
            <a:noFill/>
          </a:ln>
        </p:spPr>
        <p:txBody>
          <a:bodyPr>
            <a:spAutoFit/>
          </a:bodyPr>
          <a:p>
            <a:pPr eaLnBrk="1" hangingPunct="1">
              <a:spcBef>
                <a:spcPct val="50000"/>
              </a:spcBef>
            </a:pPr>
            <a:r>
              <a:rPr lang="en-US" altLang="zh-CN" sz="2000" dirty="0">
                <a:latin typeface="Arial" panose="020B0604020202020204" pitchFamily="34" charset="0"/>
              </a:rPr>
              <a:t>(2.2.18)</a:t>
            </a:r>
            <a:endParaRPr lang="en-US" altLang="zh-CN" sz="2000" dirty="0">
              <a:latin typeface="Arial" panose="020B0604020202020204" pitchFamily="34" charset="0"/>
            </a:endParaRPr>
          </a:p>
        </p:txBody>
      </p:sp>
      <p:sp>
        <p:nvSpPr>
          <p:cNvPr id="30735" name="Text Box 22"/>
          <p:cNvSpPr txBox="1"/>
          <p:nvPr/>
        </p:nvSpPr>
        <p:spPr>
          <a:xfrm>
            <a:off x="7315200" y="4724400"/>
            <a:ext cx="1143000" cy="396875"/>
          </a:xfrm>
          <a:prstGeom prst="rect">
            <a:avLst/>
          </a:prstGeom>
          <a:noFill/>
          <a:ln w="9525">
            <a:noFill/>
          </a:ln>
        </p:spPr>
        <p:txBody>
          <a:bodyPr>
            <a:spAutoFit/>
          </a:bodyPr>
          <a:p>
            <a:pPr eaLnBrk="1" hangingPunct="1">
              <a:spcBef>
                <a:spcPct val="50000"/>
              </a:spcBef>
            </a:pPr>
            <a:r>
              <a:rPr lang="en-US" altLang="zh-CN" sz="2000" dirty="0">
                <a:latin typeface="Arial" panose="020B0604020202020204" pitchFamily="34" charset="0"/>
              </a:rPr>
              <a:t>(2.2.19)</a:t>
            </a:r>
            <a:endParaRPr lang="en-US" altLang="zh-CN" sz="2000" dirty="0">
              <a:latin typeface="Arial" panose="020B0604020202020204" pitchFamily="34"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6" name="Rectangle 4"/>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二、 湿空气的状态方程</a:t>
            </a:r>
            <a:endPar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
        <p:nvSpPr>
          <p:cNvPr id="31747" name="Oval 24"/>
          <p:cNvSpPr>
            <a:spLocks noChangeAspect="1"/>
          </p:cNvSpPr>
          <p:nvPr/>
        </p:nvSpPr>
        <p:spPr>
          <a:xfrm>
            <a:off x="685800" y="1003300"/>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31748" name="Oval 26"/>
          <p:cNvSpPr>
            <a:spLocks noChangeAspect="1"/>
          </p:cNvSpPr>
          <p:nvPr/>
        </p:nvSpPr>
        <p:spPr>
          <a:xfrm>
            <a:off x="714375" y="2133600"/>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31749" name="Oval 27"/>
          <p:cNvSpPr>
            <a:spLocks noChangeAspect="1"/>
          </p:cNvSpPr>
          <p:nvPr/>
        </p:nvSpPr>
        <p:spPr>
          <a:xfrm>
            <a:off x="746125" y="4356100"/>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31750" name="Text Box 5"/>
          <p:cNvSpPr txBox="1"/>
          <p:nvPr/>
        </p:nvSpPr>
        <p:spPr>
          <a:xfrm>
            <a:off x="1054100" y="850900"/>
            <a:ext cx="7404100" cy="5462588"/>
          </a:xfrm>
          <a:prstGeom prst="rect">
            <a:avLst/>
          </a:prstGeom>
          <a:noFill/>
          <a:ln w="9525">
            <a:noFill/>
          </a:ln>
        </p:spPr>
        <p:txBody>
          <a:bodyPr>
            <a:spAutoFit/>
          </a:bodyPr>
          <a:p>
            <a:pPr eaLnBrk="1" hangingPunct="1">
              <a:lnSpc>
                <a:spcPct val="150000"/>
              </a:lnSpc>
              <a:spcBef>
                <a:spcPct val="50000"/>
              </a:spcBef>
            </a:pPr>
            <a:r>
              <a:rPr lang="zh-CN" altLang="en-US" dirty="0">
                <a:latin typeface="Arial" panose="020B0604020202020204" pitchFamily="34" charset="0"/>
              </a:rPr>
              <a:t>引入虚温的定义：</a:t>
            </a:r>
            <a:endParaRPr lang="zh-CN" altLang="en-US" dirty="0">
              <a:latin typeface="Arial" panose="020B0604020202020204" pitchFamily="34" charset="0"/>
            </a:endParaRPr>
          </a:p>
          <a:p>
            <a:pPr eaLnBrk="1" hangingPunct="1">
              <a:lnSpc>
                <a:spcPct val="150000"/>
              </a:lnSpc>
              <a:spcBef>
                <a:spcPct val="50000"/>
              </a:spcBef>
            </a:pPr>
            <a:endParaRPr lang="zh-CN" altLang="en-US" dirty="0">
              <a:solidFill>
                <a:srgbClr val="FF0000"/>
              </a:solidFill>
              <a:latin typeface="Arial" panose="020B0604020202020204" pitchFamily="34" charset="0"/>
            </a:endParaRPr>
          </a:p>
          <a:p>
            <a:pPr eaLnBrk="1" hangingPunct="1">
              <a:lnSpc>
                <a:spcPct val="150000"/>
              </a:lnSpc>
              <a:spcBef>
                <a:spcPct val="50000"/>
              </a:spcBef>
            </a:pPr>
            <a:r>
              <a:rPr lang="zh-CN" altLang="en-US" dirty="0">
                <a:solidFill>
                  <a:srgbClr val="FF0000"/>
                </a:solidFill>
                <a:latin typeface="Arial" panose="020B0604020202020204" pitchFamily="34" charset="0"/>
              </a:rPr>
              <a:t>湿空气的状态方程</a:t>
            </a:r>
            <a:r>
              <a:rPr lang="zh-CN" altLang="en-US" dirty="0">
                <a:latin typeface="Arial" panose="020B0604020202020204" pitchFamily="34" charset="0"/>
              </a:rPr>
              <a:t>为：                         </a:t>
            </a:r>
            <a:endParaRPr lang="zh-CN" altLang="en-US" dirty="0">
              <a:latin typeface="Arial" panose="020B0604020202020204" pitchFamily="34" charset="0"/>
            </a:endParaRPr>
          </a:p>
          <a:p>
            <a:pPr eaLnBrk="1" hangingPunct="1">
              <a:lnSpc>
                <a:spcPct val="150000"/>
              </a:lnSpc>
              <a:spcBef>
                <a:spcPct val="50000"/>
              </a:spcBef>
            </a:pPr>
            <a:endParaRPr lang="zh-CN" altLang="en-US" dirty="0">
              <a:latin typeface="Arial" panose="020B0604020202020204" pitchFamily="34" charset="0"/>
            </a:endParaRPr>
          </a:p>
          <a:p>
            <a:pPr eaLnBrk="1" hangingPunct="1">
              <a:lnSpc>
                <a:spcPct val="150000"/>
              </a:lnSpc>
              <a:spcBef>
                <a:spcPct val="50000"/>
              </a:spcBef>
            </a:pPr>
            <a:r>
              <a:rPr lang="zh-CN" altLang="en-US" dirty="0">
                <a:latin typeface="Arial" panose="020B0604020202020204" pitchFamily="34" charset="0"/>
              </a:rPr>
              <a:t>引用虚温后，湿空气便可看成干空气，可用干空气的状态方程来表示。</a:t>
            </a:r>
            <a:endParaRPr lang="zh-CN" altLang="en-US" dirty="0">
              <a:latin typeface="Arial" panose="020B0604020202020204" pitchFamily="34" charset="0"/>
            </a:endParaRPr>
          </a:p>
          <a:p>
            <a:pPr eaLnBrk="1" hangingPunct="1">
              <a:lnSpc>
                <a:spcPct val="150000"/>
              </a:lnSpc>
              <a:spcBef>
                <a:spcPct val="50000"/>
              </a:spcBef>
            </a:pPr>
            <a:endParaRPr lang="zh-CN" altLang="en-US" dirty="0">
              <a:latin typeface="Arial" panose="020B0604020202020204" pitchFamily="34" charset="0"/>
            </a:endParaRPr>
          </a:p>
          <a:p>
            <a:pPr eaLnBrk="1" hangingPunct="1">
              <a:lnSpc>
                <a:spcPct val="150000"/>
              </a:lnSpc>
              <a:spcBef>
                <a:spcPct val="50000"/>
              </a:spcBef>
            </a:pPr>
            <a:r>
              <a:rPr lang="zh-CN" altLang="en-US" dirty="0">
                <a:latin typeface="Arial" panose="020B0604020202020204" pitchFamily="34" charset="0"/>
              </a:rPr>
              <a:t>另外可写出湿空气的</a:t>
            </a:r>
            <a:r>
              <a:rPr lang="zh-CN" altLang="en-US" dirty="0">
                <a:solidFill>
                  <a:srgbClr val="FF0000"/>
                </a:solidFill>
                <a:latin typeface="Arial" panose="020B0604020202020204" pitchFamily="34" charset="0"/>
              </a:rPr>
              <a:t>比定压热容</a:t>
            </a:r>
            <a:r>
              <a:rPr lang="zh-CN" altLang="en-US" dirty="0">
                <a:latin typeface="Arial" panose="020B0604020202020204" pitchFamily="34" charset="0"/>
              </a:rPr>
              <a:t>和</a:t>
            </a:r>
            <a:r>
              <a:rPr lang="zh-CN" altLang="en-US" dirty="0">
                <a:solidFill>
                  <a:srgbClr val="FF0000"/>
                </a:solidFill>
                <a:latin typeface="Arial" panose="020B0604020202020204" pitchFamily="34" charset="0"/>
              </a:rPr>
              <a:t>比定容热容</a:t>
            </a:r>
            <a:r>
              <a:rPr lang="zh-CN" altLang="en-US" dirty="0">
                <a:latin typeface="Arial" panose="020B0604020202020204" pitchFamily="34" charset="0"/>
              </a:rPr>
              <a:t>，分别为：</a:t>
            </a:r>
            <a:endParaRPr lang="zh-CN" altLang="en-US" dirty="0">
              <a:latin typeface="Arial" panose="020B0604020202020204" pitchFamily="34" charset="0"/>
            </a:endParaRPr>
          </a:p>
          <a:p>
            <a:pPr eaLnBrk="1" hangingPunct="1">
              <a:lnSpc>
                <a:spcPct val="150000"/>
              </a:lnSpc>
              <a:spcBef>
                <a:spcPct val="50000"/>
              </a:spcBef>
            </a:pPr>
            <a:endParaRPr lang="zh-CN" altLang="en-US" dirty="0">
              <a:latin typeface="Arial" panose="020B0604020202020204" pitchFamily="34" charset="0"/>
            </a:endParaRPr>
          </a:p>
          <a:p>
            <a:pPr eaLnBrk="1" hangingPunct="1">
              <a:lnSpc>
                <a:spcPct val="150000"/>
              </a:lnSpc>
              <a:spcBef>
                <a:spcPct val="50000"/>
              </a:spcBef>
            </a:pPr>
            <a:endParaRPr lang="zh-CN" altLang="en-US" dirty="0">
              <a:latin typeface="Arial" panose="020B0604020202020204" pitchFamily="34" charset="0"/>
            </a:endParaRPr>
          </a:p>
          <a:p>
            <a:pPr eaLnBrk="1" hangingPunct="1">
              <a:lnSpc>
                <a:spcPct val="150000"/>
              </a:lnSpc>
              <a:spcBef>
                <a:spcPct val="50000"/>
              </a:spcBef>
            </a:pPr>
            <a:r>
              <a:rPr lang="zh-CN" altLang="en-US" dirty="0">
                <a:latin typeface="Arial" panose="020B0604020202020204" pitchFamily="34" charset="0"/>
              </a:rPr>
              <a:t>在精度要求不高时，为使运算简便一些，可认为：                          </a:t>
            </a:r>
            <a:endParaRPr lang="zh-CN" altLang="en-US" dirty="0">
              <a:latin typeface="Arial" panose="020B0604020202020204" pitchFamily="34" charset="0"/>
            </a:endParaRPr>
          </a:p>
        </p:txBody>
      </p:sp>
      <p:pic>
        <p:nvPicPr>
          <p:cNvPr id="31751" name="Picture 8"/>
          <p:cNvPicPr>
            <a:picLocks noChangeAspect="1"/>
          </p:cNvPicPr>
          <p:nvPr/>
        </p:nvPicPr>
        <p:blipFill>
          <a:blip r:embed="rId1">
            <a:clrChange>
              <a:clrFrom>
                <a:srgbClr val="FFFFFF"/>
              </a:clrFrom>
              <a:clrTo>
                <a:srgbClr val="FFFFFF">
                  <a:alpha val="0"/>
                </a:srgbClr>
              </a:clrTo>
            </a:clrChange>
          </a:blip>
          <a:stretch>
            <a:fillRect/>
          </a:stretch>
        </p:blipFill>
        <p:spPr>
          <a:xfrm>
            <a:off x="3094038" y="914400"/>
            <a:ext cx="2087562" cy="514350"/>
          </a:xfrm>
          <a:prstGeom prst="rect">
            <a:avLst/>
          </a:prstGeom>
          <a:noFill/>
          <a:ln w="9525">
            <a:noFill/>
          </a:ln>
        </p:spPr>
      </p:pic>
      <p:pic>
        <p:nvPicPr>
          <p:cNvPr id="31752" name="Picture 9"/>
          <p:cNvPicPr>
            <a:picLocks noChangeAspect="1"/>
          </p:cNvPicPr>
          <p:nvPr/>
        </p:nvPicPr>
        <p:blipFill>
          <a:blip r:embed="rId2">
            <a:clrChange>
              <a:clrFrom>
                <a:srgbClr val="FFFFFF"/>
              </a:clrFrom>
              <a:clrTo>
                <a:srgbClr val="FFFFFF">
                  <a:alpha val="0"/>
                </a:srgbClr>
              </a:clrTo>
            </a:clrChange>
          </a:blip>
          <a:stretch>
            <a:fillRect/>
          </a:stretch>
        </p:blipFill>
        <p:spPr>
          <a:xfrm>
            <a:off x="3937000" y="1916113"/>
            <a:ext cx="1182688" cy="555625"/>
          </a:xfrm>
          <a:prstGeom prst="rect">
            <a:avLst/>
          </a:prstGeom>
          <a:noFill/>
          <a:ln w="9525">
            <a:noFill/>
          </a:ln>
        </p:spPr>
      </p:pic>
      <p:pic>
        <p:nvPicPr>
          <p:cNvPr id="31753" name="Picture 11"/>
          <p:cNvPicPr>
            <a:picLocks noChangeAspect="1"/>
          </p:cNvPicPr>
          <p:nvPr/>
        </p:nvPicPr>
        <p:blipFill>
          <a:blip r:embed="rId3">
            <a:clrChange>
              <a:clrFrom>
                <a:srgbClr val="FFFFFF"/>
              </a:clrFrom>
              <a:clrTo>
                <a:srgbClr val="FFFFFF">
                  <a:alpha val="0"/>
                </a:srgbClr>
              </a:clrTo>
            </a:clrChange>
          </a:blip>
          <a:stretch>
            <a:fillRect/>
          </a:stretch>
        </p:blipFill>
        <p:spPr>
          <a:xfrm>
            <a:off x="3497263" y="5172075"/>
            <a:ext cx="2217737" cy="542925"/>
          </a:xfrm>
          <a:prstGeom prst="rect">
            <a:avLst/>
          </a:prstGeom>
          <a:noFill/>
          <a:ln w="9525">
            <a:noFill/>
          </a:ln>
        </p:spPr>
      </p:pic>
      <p:pic>
        <p:nvPicPr>
          <p:cNvPr id="31754" name="Picture 12"/>
          <p:cNvPicPr>
            <a:picLocks noChangeAspect="1"/>
          </p:cNvPicPr>
          <p:nvPr/>
        </p:nvPicPr>
        <p:blipFill>
          <a:blip r:embed="rId4">
            <a:clrChange>
              <a:clrFrom>
                <a:srgbClr val="FFFFFF"/>
              </a:clrFrom>
              <a:clrTo>
                <a:srgbClr val="FFFFFF">
                  <a:alpha val="0"/>
                </a:srgbClr>
              </a:clrTo>
            </a:clrChange>
          </a:blip>
          <a:stretch>
            <a:fillRect/>
          </a:stretch>
        </p:blipFill>
        <p:spPr>
          <a:xfrm>
            <a:off x="3497263" y="4584700"/>
            <a:ext cx="2217737" cy="542925"/>
          </a:xfrm>
          <a:prstGeom prst="rect">
            <a:avLst/>
          </a:prstGeom>
          <a:noFill/>
          <a:ln w="9525">
            <a:noFill/>
          </a:ln>
        </p:spPr>
      </p:pic>
      <p:pic>
        <p:nvPicPr>
          <p:cNvPr id="31755" name="Picture 13"/>
          <p:cNvPicPr>
            <a:picLocks noChangeAspect="1"/>
          </p:cNvPicPr>
          <p:nvPr/>
        </p:nvPicPr>
        <p:blipFill>
          <a:blip r:embed="rId5">
            <a:clrChange>
              <a:clrFrom>
                <a:srgbClr val="FFFFFF"/>
              </a:clrFrom>
              <a:clrTo>
                <a:srgbClr val="FFFFFF">
                  <a:alpha val="0"/>
                </a:srgbClr>
              </a:clrTo>
            </a:clrChange>
          </a:blip>
          <a:stretch>
            <a:fillRect/>
          </a:stretch>
        </p:blipFill>
        <p:spPr>
          <a:xfrm>
            <a:off x="6172200" y="5778500"/>
            <a:ext cx="1011238" cy="604838"/>
          </a:xfrm>
          <a:prstGeom prst="rect">
            <a:avLst/>
          </a:prstGeom>
          <a:noFill/>
          <a:ln w="9525">
            <a:noFill/>
          </a:ln>
        </p:spPr>
      </p:pic>
      <p:pic>
        <p:nvPicPr>
          <p:cNvPr id="31756" name="Picture 14"/>
          <p:cNvPicPr>
            <a:picLocks noChangeAspect="1"/>
          </p:cNvPicPr>
          <p:nvPr/>
        </p:nvPicPr>
        <p:blipFill>
          <a:blip r:embed="rId6">
            <a:clrChange>
              <a:clrFrom>
                <a:srgbClr val="FFFFFF"/>
              </a:clrFrom>
              <a:clrTo>
                <a:srgbClr val="FFFFFF">
                  <a:alpha val="0"/>
                </a:srgbClr>
              </a:clrTo>
            </a:clrChange>
          </a:blip>
          <a:stretch>
            <a:fillRect/>
          </a:stretch>
        </p:blipFill>
        <p:spPr>
          <a:xfrm>
            <a:off x="7254875" y="5767388"/>
            <a:ext cx="1046163" cy="633412"/>
          </a:xfrm>
          <a:prstGeom prst="rect">
            <a:avLst/>
          </a:prstGeom>
          <a:noFill/>
          <a:ln w="9525">
            <a:noFill/>
          </a:ln>
        </p:spPr>
      </p:pic>
      <p:sp>
        <p:nvSpPr>
          <p:cNvPr id="31757" name="Text Box 22"/>
          <p:cNvSpPr txBox="1"/>
          <p:nvPr/>
        </p:nvSpPr>
        <p:spPr>
          <a:xfrm>
            <a:off x="7315200" y="2024063"/>
            <a:ext cx="1143000" cy="396875"/>
          </a:xfrm>
          <a:prstGeom prst="rect">
            <a:avLst/>
          </a:prstGeom>
          <a:noFill/>
          <a:ln w="9525">
            <a:noFill/>
          </a:ln>
        </p:spPr>
        <p:txBody>
          <a:bodyPr>
            <a:spAutoFit/>
          </a:bodyPr>
          <a:p>
            <a:pPr eaLnBrk="1" hangingPunct="1">
              <a:spcBef>
                <a:spcPct val="50000"/>
              </a:spcBef>
            </a:pPr>
            <a:r>
              <a:rPr lang="en-US" altLang="zh-CN" sz="2000" dirty="0">
                <a:latin typeface="Arial" panose="020B0604020202020204" pitchFamily="34" charset="0"/>
              </a:rPr>
              <a:t>(2.2.20)</a:t>
            </a:r>
            <a:endParaRPr lang="en-US" altLang="zh-CN" sz="2000" dirty="0">
              <a:latin typeface="Arial" panose="020B0604020202020204" pitchFamily="34" charset="0"/>
            </a:endParaRPr>
          </a:p>
        </p:txBody>
      </p:sp>
      <p:sp>
        <p:nvSpPr>
          <p:cNvPr id="31758" name="Text Box 22"/>
          <p:cNvSpPr txBox="1"/>
          <p:nvPr/>
        </p:nvSpPr>
        <p:spPr>
          <a:xfrm>
            <a:off x="7315200" y="4632325"/>
            <a:ext cx="1143000" cy="396875"/>
          </a:xfrm>
          <a:prstGeom prst="rect">
            <a:avLst/>
          </a:prstGeom>
          <a:noFill/>
          <a:ln w="9525">
            <a:noFill/>
          </a:ln>
        </p:spPr>
        <p:txBody>
          <a:bodyPr>
            <a:spAutoFit/>
          </a:bodyPr>
          <a:p>
            <a:pPr eaLnBrk="1" hangingPunct="1">
              <a:spcBef>
                <a:spcPct val="50000"/>
              </a:spcBef>
            </a:pPr>
            <a:r>
              <a:rPr lang="en-US" altLang="zh-CN" sz="2000" dirty="0">
                <a:latin typeface="Arial" panose="020B0604020202020204" pitchFamily="34" charset="0"/>
              </a:rPr>
              <a:t>(2.2.21)</a:t>
            </a:r>
            <a:endParaRPr lang="en-US" altLang="zh-CN" sz="2000" dirty="0">
              <a:latin typeface="Arial" panose="020B0604020202020204" pitchFamily="34" charset="0"/>
            </a:endParaRPr>
          </a:p>
        </p:txBody>
      </p:sp>
      <p:sp>
        <p:nvSpPr>
          <p:cNvPr id="31759" name="Text Box 22"/>
          <p:cNvSpPr txBox="1"/>
          <p:nvPr/>
        </p:nvSpPr>
        <p:spPr>
          <a:xfrm>
            <a:off x="7315200" y="5241925"/>
            <a:ext cx="1143000" cy="396875"/>
          </a:xfrm>
          <a:prstGeom prst="rect">
            <a:avLst/>
          </a:prstGeom>
          <a:noFill/>
          <a:ln w="9525">
            <a:noFill/>
          </a:ln>
        </p:spPr>
        <p:txBody>
          <a:bodyPr>
            <a:spAutoFit/>
          </a:bodyPr>
          <a:p>
            <a:pPr eaLnBrk="1" hangingPunct="1">
              <a:spcBef>
                <a:spcPct val="50000"/>
              </a:spcBef>
            </a:pPr>
            <a:r>
              <a:rPr lang="en-US" altLang="zh-CN" sz="2000" dirty="0">
                <a:latin typeface="Arial" panose="020B0604020202020204" pitchFamily="34" charset="0"/>
              </a:rPr>
              <a:t>(2.2.22)</a:t>
            </a:r>
            <a:endParaRPr lang="en-US" altLang="zh-CN" sz="2000" dirty="0">
              <a:latin typeface="Arial" panose="020B0604020202020204" pitchFamily="34"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6" name="Rectangle 4"/>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三、 水汽的分布</a:t>
            </a:r>
            <a:endPar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
        <p:nvSpPr>
          <p:cNvPr id="32771" name="Text Box 5"/>
          <p:cNvSpPr txBox="1"/>
          <p:nvPr/>
        </p:nvSpPr>
        <p:spPr>
          <a:xfrm>
            <a:off x="250825" y="1628775"/>
            <a:ext cx="8713788" cy="3970338"/>
          </a:xfrm>
          <a:prstGeom prst="rect">
            <a:avLst/>
          </a:prstGeom>
          <a:noFill/>
          <a:ln w="9525">
            <a:noFill/>
          </a:ln>
        </p:spPr>
        <p:txBody>
          <a:bodyPr>
            <a:spAutoFit/>
          </a:bodyPr>
          <a:p>
            <a:pPr eaLnBrk="1" hangingPunct="1">
              <a:lnSpc>
                <a:spcPct val="200000"/>
              </a:lnSpc>
              <a:spcBef>
                <a:spcPct val="50000"/>
              </a:spcBef>
            </a:pPr>
            <a:r>
              <a:rPr lang="en-US" altLang="zh-CN" sz="2400" dirty="0">
                <a:latin typeface="Arial" panose="020B0604020202020204" pitchFamily="34" charset="0"/>
              </a:rPr>
              <a:t>       </a:t>
            </a:r>
            <a:r>
              <a:rPr lang="zh-CN" altLang="en-US" sz="2400" dirty="0">
                <a:latin typeface="Arial" panose="020B0604020202020204" pitchFamily="34" charset="0"/>
              </a:rPr>
              <a:t>温度高有利于水面的蒸发，在温暖的大片水面附近，水汽含量较高；寒冷水源的区域水汽含量少。一般来说，热带地区大气内的水汽含量最多，随纬度的增加而减少。</a:t>
            </a:r>
            <a:endParaRPr lang="zh-CN" altLang="en-US" sz="2400" dirty="0">
              <a:latin typeface="Arial" panose="020B0604020202020204" pitchFamily="34" charset="0"/>
            </a:endParaRPr>
          </a:p>
          <a:p>
            <a:pPr eaLnBrk="1" hangingPunct="1">
              <a:lnSpc>
                <a:spcPct val="200000"/>
              </a:lnSpc>
              <a:spcBef>
                <a:spcPct val="50000"/>
              </a:spcBef>
            </a:pPr>
            <a:r>
              <a:rPr lang="zh-CN" altLang="en-US" sz="2400" dirty="0">
                <a:latin typeface="Arial" panose="020B0604020202020204" pitchFamily="34" charset="0"/>
              </a:rPr>
              <a:t>      对流层内水汽一般随高度减小，但有时可观测到逆湿现象。</a:t>
            </a:r>
            <a:endParaRPr lang="zh-CN" altLang="en-US" sz="2400" dirty="0">
              <a:latin typeface="Arial" panose="020B0604020202020204" pitchFamily="34" charset="0"/>
            </a:endParaRPr>
          </a:p>
          <a:p>
            <a:pPr eaLnBrk="1" hangingPunct="1">
              <a:lnSpc>
                <a:spcPct val="200000"/>
              </a:lnSpc>
            </a:pPr>
            <a:r>
              <a:rPr lang="zh-CN" altLang="en-US" sz="2400" dirty="0">
                <a:latin typeface="Arial" panose="020B0604020202020204" pitchFamily="34" charset="0"/>
              </a:rPr>
              <a:t>      平流层内水汽分布比较均匀，含量较小（贝母云和夜光云）。</a:t>
            </a:r>
            <a:endParaRPr lang="zh-CN" altLang="en-US" sz="2400" dirty="0">
              <a:latin typeface="Arial" panose="020B0604020202020204" pitchFamily="34" charset="0"/>
            </a:endParaRPr>
          </a:p>
        </p:txBody>
      </p:sp>
      <p:sp>
        <p:nvSpPr>
          <p:cNvPr id="32772" name="Oval 25"/>
          <p:cNvSpPr>
            <a:spLocks noChangeAspect="1"/>
          </p:cNvSpPr>
          <p:nvPr/>
        </p:nvSpPr>
        <p:spPr>
          <a:xfrm>
            <a:off x="539750" y="1989138"/>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32773" name="Oval 26"/>
          <p:cNvSpPr>
            <a:spLocks noChangeAspect="1"/>
          </p:cNvSpPr>
          <p:nvPr/>
        </p:nvSpPr>
        <p:spPr>
          <a:xfrm>
            <a:off x="539750" y="4365625"/>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
        <p:nvSpPr>
          <p:cNvPr id="32774" name="Oval 27"/>
          <p:cNvSpPr>
            <a:spLocks noChangeAspect="1"/>
          </p:cNvSpPr>
          <p:nvPr/>
        </p:nvSpPr>
        <p:spPr>
          <a:xfrm>
            <a:off x="539750" y="5013325"/>
            <a:ext cx="215900" cy="215900"/>
          </a:xfrm>
          <a:prstGeom prst="ellipse">
            <a:avLst/>
          </a:prstGeom>
          <a:gradFill rotWithShape="1">
            <a:gsLst>
              <a:gs pos="0">
                <a:srgbClr val="0000FF"/>
              </a:gs>
              <a:gs pos="100000">
                <a:srgbClr val="000000"/>
              </a:gs>
            </a:gsLst>
            <a:path path="shape">
              <a:fillToRect l="50000" t="50000" r="50000" b="50000"/>
            </a:path>
            <a:tileRect/>
          </a:gradFill>
          <a:ln w="19050" cap="flat" cmpd="sng">
            <a:solidFill>
              <a:srgbClr val="FFFFFF"/>
            </a:solidFill>
            <a:prstDash val="solid"/>
            <a:headEnd type="none" w="med" len="med"/>
            <a:tailEnd type="none" w="med" len="med"/>
          </a:ln>
          <a:effectLst>
            <a:outerShdw dist="63500" dir="2212193" algn="ctr" rotWithShape="0">
              <a:schemeClr val="bg2">
                <a:alpha val="50000"/>
              </a:schemeClr>
            </a:outerShdw>
          </a:effectLst>
        </p:spPr>
        <p:txBody>
          <a:bodyPr wrap="none" anchor="ctr" anchorCtr="0"/>
          <a:p>
            <a:pPr algn="ctr" eaLnBrk="1" hangingPunct="1"/>
            <a:endParaRPr lang="zh-CN" altLang="zh-CN" dirty="0">
              <a:latin typeface="Arial" panose="020B0604020202020204" pitchFamily="34"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xfrm>
            <a:off x="0" y="44450"/>
            <a:ext cx="9144000" cy="685800"/>
          </a:xfrm>
          <a:ln/>
        </p:spPr>
        <p:txBody>
          <a:bodyPr vert="horz" wrap="square" lIns="91440" tIns="45720" rIns="91440" bIns="45720" anchor="b" anchorCtr="0"/>
          <a:p>
            <a:r>
              <a:rPr lang="en-US" altLang="zh-TW" sz="3200" i="1" dirty="0">
                <a:solidFill>
                  <a:srgbClr val="0066CC"/>
                </a:solidFill>
                <a:latin typeface="Times New Roman" panose="02020603050405020304" pitchFamily="18" charset="0"/>
                <a:ea typeface="PMingLiU" panose="02020500000000000000" pitchFamily="18" charset="-120"/>
              </a:rPr>
              <a:t>Polar Stratospheric Clouds (PSCs)</a:t>
            </a:r>
            <a:endParaRPr lang="en-US" altLang="zh-TW" sz="3200" i="1" dirty="0">
              <a:solidFill>
                <a:srgbClr val="0066CC"/>
              </a:solidFill>
              <a:latin typeface="Times New Roman" panose="02020603050405020304" pitchFamily="18" charset="0"/>
              <a:ea typeface="PMingLiU" panose="02020500000000000000" pitchFamily="18" charset="-120"/>
            </a:endParaRPr>
          </a:p>
        </p:txBody>
      </p:sp>
      <p:sp>
        <p:nvSpPr>
          <p:cNvPr id="33795" name="Rectangle 3"/>
          <p:cNvSpPr>
            <a:spLocks noGrp="1"/>
          </p:cNvSpPr>
          <p:nvPr>
            <p:ph idx="1"/>
          </p:nvPr>
        </p:nvSpPr>
        <p:spPr>
          <a:xfrm>
            <a:off x="468313" y="5373688"/>
            <a:ext cx="8459787" cy="1209675"/>
          </a:xfrm>
          <a:ln/>
        </p:spPr>
        <p:txBody>
          <a:bodyPr vert="horz" wrap="square" lIns="91440" tIns="45720" rIns="91440" bIns="45720" anchor="t" anchorCtr="0"/>
          <a:p>
            <a:pPr>
              <a:spcBef>
                <a:spcPct val="60000"/>
              </a:spcBef>
            </a:pPr>
            <a:r>
              <a:rPr lang="en-US" altLang="zh-TW" sz="1800" dirty="0">
                <a:solidFill>
                  <a:srgbClr val="0066FF"/>
                </a:solidFill>
                <a:latin typeface="Times New Roman" panose="02020603050405020304" pitchFamily="18" charset="0"/>
                <a:ea typeface="PMingLiU" panose="02020500000000000000" pitchFamily="18" charset="-120"/>
              </a:rPr>
              <a:t>In winter the polar stratosphere is so cold (</a:t>
            </a:r>
            <a:r>
              <a:rPr lang="zh-CN" altLang="en-US" sz="1800" dirty="0">
                <a:solidFill>
                  <a:srgbClr val="0066FF"/>
                </a:solidFill>
                <a:latin typeface="Times New Roman" panose="02020603050405020304" pitchFamily="18" charset="0"/>
              </a:rPr>
              <a:t>－</a:t>
            </a:r>
            <a:r>
              <a:rPr lang="en-US" altLang="zh-TW" sz="1800" dirty="0">
                <a:solidFill>
                  <a:srgbClr val="0066FF"/>
                </a:solidFill>
                <a:latin typeface="Times New Roman" panose="02020603050405020304" pitchFamily="18" charset="0"/>
                <a:ea typeface="PMingLiU" panose="02020500000000000000" pitchFamily="18" charset="-120"/>
              </a:rPr>
              <a:t>80℃ or below) that certain trace atmospheric constituents can condense.</a:t>
            </a:r>
            <a:endParaRPr lang="en-US" altLang="zh-TW" sz="1800" dirty="0">
              <a:solidFill>
                <a:srgbClr val="0066FF"/>
              </a:solidFill>
              <a:latin typeface="Times New Roman" panose="02020603050405020304" pitchFamily="18" charset="0"/>
              <a:ea typeface="PMingLiU" panose="02020500000000000000" pitchFamily="18" charset="-120"/>
            </a:endParaRPr>
          </a:p>
          <a:p>
            <a:pPr>
              <a:spcBef>
                <a:spcPct val="60000"/>
              </a:spcBef>
            </a:pPr>
            <a:r>
              <a:rPr lang="en-US" altLang="zh-TW" sz="1800" dirty="0">
                <a:solidFill>
                  <a:srgbClr val="0066FF"/>
                </a:solidFill>
                <a:latin typeface="Times New Roman" panose="02020603050405020304" pitchFamily="18" charset="0"/>
                <a:ea typeface="PMingLiU" panose="02020500000000000000" pitchFamily="18" charset="-120"/>
              </a:rPr>
              <a:t>These clouds are called “polar stratospheric clouds” (PSCs).</a:t>
            </a:r>
            <a:endParaRPr lang="en-US" altLang="zh-TW" sz="1800" dirty="0">
              <a:solidFill>
                <a:srgbClr val="0066FF"/>
              </a:solidFill>
              <a:latin typeface="Times New Roman" panose="02020603050405020304" pitchFamily="18" charset="0"/>
              <a:ea typeface="PMingLiU" panose="02020500000000000000" pitchFamily="18" charset="-120"/>
            </a:endParaRPr>
          </a:p>
        </p:txBody>
      </p:sp>
      <p:pic>
        <p:nvPicPr>
          <p:cNvPr id="33796" name="Picture 4" descr="PCS"/>
          <p:cNvPicPr>
            <a:picLocks noChangeAspect="1"/>
          </p:cNvPicPr>
          <p:nvPr/>
        </p:nvPicPr>
        <p:blipFill>
          <a:blip r:embed="rId1"/>
          <a:stretch>
            <a:fillRect/>
          </a:stretch>
        </p:blipFill>
        <p:spPr>
          <a:xfrm>
            <a:off x="1331913" y="692150"/>
            <a:ext cx="6696075" cy="4349750"/>
          </a:xfrm>
          <a:prstGeom prst="rect">
            <a:avLst/>
          </a:prstGeom>
          <a:noFill/>
          <a:ln w="9525">
            <a:noFill/>
          </a:ln>
        </p:spPr>
      </p:pic>
      <p:sp>
        <p:nvSpPr>
          <p:cNvPr id="33797" name="Text Box 5"/>
          <p:cNvSpPr txBox="1"/>
          <p:nvPr/>
        </p:nvSpPr>
        <p:spPr>
          <a:xfrm>
            <a:off x="2908300" y="5035550"/>
            <a:ext cx="3463925" cy="304800"/>
          </a:xfrm>
          <a:prstGeom prst="rect">
            <a:avLst/>
          </a:prstGeom>
          <a:noFill/>
          <a:ln w="9525">
            <a:noFill/>
          </a:ln>
        </p:spPr>
        <p:txBody>
          <a:bodyPr wrap="none">
            <a:spAutoFit/>
          </a:bodyPr>
          <a:p>
            <a:pPr eaLnBrk="1" hangingPunct="1"/>
            <a:r>
              <a:rPr lang="en-US" altLang="zh-TW" sz="1400" dirty="0">
                <a:solidFill>
                  <a:srgbClr val="FF6600"/>
                </a:solidFill>
                <a:latin typeface="Arial" panose="020B0604020202020204" pitchFamily="34" charset="0"/>
                <a:ea typeface="PMingLiU" panose="02020500000000000000" pitchFamily="18" charset="-120"/>
              </a:rPr>
              <a:t>(Sweden, January 2000; from NASA website)</a:t>
            </a:r>
            <a:endParaRPr lang="en-US" altLang="zh-TW" sz="1400" dirty="0">
              <a:solidFill>
                <a:srgbClr val="FF6600"/>
              </a:solidFill>
              <a:latin typeface="Arial" panose="020B0604020202020204" pitchFamily="34" charset="0"/>
              <a:ea typeface="PMingLiU" panose="02020500000000000000" pitchFamily="18" charset="-12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AutoShape 23"/>
          <p:cNvSpPr/>
          <p:nvPr/>
        </p:nvSpPr>
        <p:spPr>
          <a:xfrm>
            <a:off x="2268538" y="1557338"/>
            <a:ext cx="4267200" cy="4319587"/>
          </a:xfrm>
          <a:prstGeom prst="roundRect">
            <a:avLst>
              <a:gd name="adj" fmla="val 16667"/>
            </a:avLst>
          </a:prstGeom>
          <a:noFill/>
          <a:ln w="38100" cap="flat" cmpd="sng">
            <a:solidFill>
              <a:srgbClr val="800080"/>
            </a:solidFill>
            <a:prstDash val="solid"/>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2" name="Rectangle 2"/>
          <p:cNvSpPr>
            <a:spLocks noChangeArrowheads="1"/>
          </p:cNvSpPr>
          <p:nvPr/>
        </p:nvSpPr>
        <p:spPr bwMode="auto">
          <a:xfrm>
            <a:off x="0" y="0"/>
            <a:ext cx="9144000" cy="823913"/>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小 结</a:t>
            </a:r>
            <a:endParaRPr kumimoji="0" lang="zh-CN" altLang="en-US" sz="48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
        <p:nvSpPr>
          <p:cNvPr id="34820" name="Text Box 8"/>
          <p:cNvSpPr txBox="1"/>
          <p:nvPr/>
        </p:nvSpPr>
        <p:spPr>
          <a:xfrm>
            <a:off x="2955925" y="1806575"/>
            <a:ext cx="3886200" cy="457200"/>
          </a:xfrm>
          <a:prstGeom prst="rect">
            <a:avLst/>
          </a:prstGeom>
          <a:noFill/>
          <a:ln w="9525">
            <a:noFill/>
          </a:ln>
        </p:spPr>
        <p:txBody>
          <a:bodyPr>
            <a:spAutoFit/>
          </a:bodyPr>
          <a:p>
            <a:pPr eaLnBrk="1" hangingPunct="1">
              <a:spcBef>
                <a:spcPct val="50000"/>
              </a:spcBef>
            </a:pPr>
            <a:r>
              <a:rPr lang="zh-CN" altLang="en-US" sz="2400" dirty="0">
                <a:solidFill>
                  <a:srgbClr val="FF0000"/>
                </a:solidFill>
                <a:latin typeface="Arial" panose="020B0604020202020204" pitchFamily="34" charset="0"/>
                <a:ea typeface="楷体_GB2312" pitchFamily="49" charset="-122"/>
              </a:rPr>
              <a:t>大气湿度的表示方法</a:t>
            </a:r>
            <a:endParaRPr lang="zh-CN" altLang="en-US" sz="2400" dirty="0">
              <a:solidFill>
                <a:srgbClr val="FF0000"/>
              </a:solidFill>
              <a:latin typeface="Arial" panose="020B0604020202020204" pitchFamily="34" charset="0"/>
              <a:ea typeface="楷体_GB2312" pitchFamily="49" charset="-122"/>
            </a:endParaRPr>
          </a:p>
        </p:txBody>
      </p:sp>
      <p:sp>
        <p:nvSpPr>
          <p:cNvPr id="34821" name="Text Box 9"/>
          <p:cNvSpPr txBox="1"/>
          <p:nvPr/>
        </p:nvSpPr>
        <p:spPr>
          <a:xfrm>
            <a:off x="3044825" y="2379663"/>
            <a:ext cx="4405313" cy="2225675"/>
          </a:xfrm>
          <a:prstGeom prst="rect">
            <a:avLst/>
          </a:prstGeom>
          <a:noFill/>
          <a:ln w="9525">
            <a:noFill/>
          </a:ln>
        </p:spPr>
        <p:txBody>
          <a:bodyPr>
            <a:spAutoFit/>
          </a:bodyPr>
          <a:p>
            <a:pPr eaLnBrk="1" hangingPunct="1">
              <a:spcBef>
                <a:spcPct val="50000"/>
              </a:spcBef>
            </a:pPr>
            <a:r>
              <a:rPr lang="en-US" altLang="zh-CN" sz="2000" dirty="0">
                <a:solidFill>
                  <a:srgbClr val="FF6600"/>
                </a:solidFill>
                <a:latin typeface="Arial" panose="020B0604020202020204" pitchFamily="34" charset="0"/>
              </a:rPr>
              <a:t>2.1 </a:t>
            </a:r>
            <a:r>
              <a:rPr lang="zh-CN" altLang="en-US" sz="2000" dirty="0">
                <a:solidFill>
                  <a:srgbClr val="FF6600"/>
                </a:solidFill>
                <a:latin typeface="Arial" panose="020B0604020202020204" pitchFamily="34" charset="0"/>
              </a:rPr>
              <a:t>混合比与比湿</a:t>
            </a:r>
            <a:r>
              <a:rPr lang="en-US" altLang="zh-CN" sz="2000" dirty="0">
                <a:solidFill>
                  <a:srgbClr val="FF6600"/>
                </a:solidFill>
                <a:latin typeface="Arial" panose="020B0604020202020204" pitchFamily="34" charset="0"/>
              </a:rPr>
              <a:t>——</a:t>
            </a:r>
            <a:r>
              <a:rPr lang="zh-CN" altLang="en-US" sz="2000" u="sng" dirty="0">
                <a:solidFill>
                  <a:srgbClr val="FF6600"/>
                </a:solidFill>
                <a:latin typeface="Arial" panose="020B0604020202020204" pitchFamily="34" charset="0"/>
              </a:rPr>
              <a:t>基本量</a:t>
            </a:r>
            <a:endParaRPr lang="zh-CN" altLang="en-US" sz="2000" u="sng" dirty="0">
              <a:solidFill>
                <a:srgbClr val="FF6600"/>
              </a:solidFill>
              <a:latin typeface="Arial" panose="020B0604020202020204" pitchFamily="34" charset="0"/>
            </a:endParaRPr>
          </a:p>
          <a:p>
            <a:pPr eaLnBrk="1" hangingPunct="1">
              <a:spcBef>
                <a:spcPct val="50000"/>
              </a:spcBef>
            </a:pPr>
            <a:r>
              <a:rPr lang="en-US" altLang="zh-CN" sz="2000" dirty="0">
                <a:latin typeface="Arial" panose="020B0604020202020204" pitchFamily="34" charset="0"/>
              </a:rPr>
              <a:t>2.2 </a:t>
            </a:r>
            <a:r>
              <a:rPr lang="zh-CN" altLang="en-US" sz="2000" dirty="0">
                <a:latin typeface="Arial" panose="020B0604020202020204" pitchFamily="34" charset="0"/>
              </a:rPr>
              <a:t>水汽压</a:t>
            </a:r>
            <a:endParaRPr lang="zh-CN" altLang="en-US" sz="2000" dirty="0">
              <a:latin typeface="Arial" panose="020B0604020202020204" pitchFamily="34" charset="0"/>
            </a:endParaRPr>
          </a:p>
          <a:p>
            <a:pPr eaLnBrk="1" hangingPunct="1">
              <a:spcBef>
                <a:spcPct val="50000"/>
              </a:spcBef>
            </a:pPr>
            <a:r>
              <a:rPr lang="en-US" altLang="zh-CN" sz="2000" dirty="0">
                <a:latin typeface="Arial" panose="020B0604020202020204" pitchFamily="34" charset="0"/>
              </a:rPr>
              <a:t>2.3 </a:t>
            </a:r>
            <a:r>
              <a:rPr lang="zh-CN" altLang="en-US" sz="2000" dirty="0">
                <a:latin typeface="Arial" panose="020B0604020202020204" pitchFamily="34" charset="0"/>
              </a:rPr>
              <a:t>水汽密度</a:t>
            </a:r>
            <a:endParaRPr lang="zh-CN" altLang="en-US" sz="2000" dirty="0">
              <a:latin typeface="Arial" panose="020B0604020202020204" pitchFamily="34" charset="0"/>
            </a:endParaRPr>
          </a:p>
          <a:p>
            <a:pPr eaLnBrk="1" hangingPunct="1">
              <a:spcBef>
                <a:spcPct val="50000"/>
              </a:spcBef>
            </a:pPr>
            <a:r>
              <a:rPr lang="en-US" altLang="zh-CN" sz="2000" dirty="0">
                <a:latin typeface="Arial" panose="020B0604020202020204" pitchFamily="34" charset="0"/>
              </a:rPr>
              <a:t>2.4 </a:t>
            </a:r>
            <a:r>
              <a:rPr lang="zh-CN" altLang="en-US" sz="2000" dirty="0">
                <a:latin typeface="Arial" panose="020B0604020202020204" pitchFamily="34" charset="0"/>
              </a:rPr>
              <a:t>相对湿度</a:t>
            </a:r>
            <a:endParaRPr lang="zh-CN" altLang="en-US" sz="2000" dirty="0">
              <a:latin typeface="Arial" panose="020B0604020202020204" pitchFamily="34" charset="0"/>
            </a:endParaRPr>
          </a:p>
          <a:p>
            <a:pPr eaLnBrk="1" hangingPunct="1">
              <a:spcBef>
                <a:spcPct val="50000"/>
              </a:spcBef>
            </a:pPr>
            <a:r>
              <a:rPr lang="en-US" altLang="zh-CN" sz="2000" dirty="0">
                <a:latin typeface="Arial" panose="020B0604020202020204" pitchFamily="34" charset="0"/>
              </a:rPr>
              <a:t>2.5 </a:t>
            </a:r>
            <a:r>
              <a:rPr lang="zh-CN" altLang="en-US" sz="2000" dirty="0">
                <a:latin typeface="Arial" panose="020B0604020202020204" pitchFamily="34" charset="0"/>
              </a:rPr>
              <a:t>露点和霜点</a:t>
            </a:r>
            <a:endParaRPr lang="zh-CN" altLang="en-US" sz="2000" dirty="0">
              <a:latin typeface="Arial" panose="020B0604020202020204" pitchFamily="34" charset="0"/>
            </a:endParaRPr>
          </a:p>
        </p:txBody>
      </p:sp>
      <p:sp>
        <p:nvSpPr>
          <p:cNvPr id="34822" name="Text Box 10"/>
          <p:cNvSpPr txBox="1"/>
          <p:nvPr/>
        </p:nvSpPr>
        <p:spPr>
          <a:xfrm>
            <a:off x="2955925" y="4625975"/>
            <a:ext cx="3886200" cy="457200"/>
          </a:xfrm>
          <a:prstGeom prst="rect">
            <a:avLst/>
          </a:prstGeom>
          <a:noFill/>
          <a:ln w="9525">
            <a:noFill/>
          </a:ln>
        </p:spPr>
        <p:txBody>
          <a:bodyPr>
            <a:spAutoFit/>
          </a:bodyPr>
          <a:p>
            <a:pPr eaLnBrk="1" hangingPunct="1">
              <a:spcBef>
                <a:spcPct val="50000"/>
              </a:spcBef>
            </a:pPr>
            <a:r>
              <a:rPr lang="zh-CN" altLang="en-US" sz="2400" dirty="0">
                <a:solidFill>
                  <a:srgbClr val="FF0000"/>
                </a:solidFill>
                <a:latin typeface="Arial" panose="020B0604020202020204" pitchFamily="34" charset="0"/>
                <a:ea typeface="楷体_GB2312" pitchFamily="49" charset="-122"/>
              </a:rPr>
              <a:t>湿空气的状态方程</a:t>
            </a:r>
            <a:endParaRPr lang="en-US" altLang="zh-CN" sz="2400" dirty="0">
              <a:solidFill>
                <a:srgbClr val="FF0000"/>
              </a:solidFill>
              <a:latin typeface="Arial" panose="020B0604020202020204" pitchFamily="34" charset="0"/>
              <a:ea typeface="楷体_GB2312" pitchFamily="49" charset="-122"/>
            </a:endParaRPr>
          </a:p>
        </p:txBody>
      </p:sp>
      <p:sp>
        <p:nvSpPr>
          <p:cNvPr id="34823" name="Text Box 11"/>
          <p:cNvSpPr txBox="1"/>
          <p:nvPr/>
        </p:nvSpPr>
        <p:spPr>
          <a:xfrm>
            <a:off x="2955925" y="5995988"/>
            <a:ext cx="3886200" cy="457200"/>
          </a:xfrm>
          <a:prstGeom prst="rect">
            <a:avLst/>
          </a:prstGeom>
          <a:noFill/>
          <a:ln w="9525">
            <a:noFill/>
          </a:ln>
        </p:spPr>
        <p:txBody>
          <a:bodyPr>
            <a:spAutoFit/>
          </a:bodyPr>
          <a:p>
            <a:pPr eaLnBrk="1" hangingPunct="1">
              <a:spcBef>
                <a:spcPct val="50000"/>
              </a:spcBef>
            </a:pPr>
            <a:r>
              <a:rPr lang="zh-CN" altLang="en-US" sz="2400" dirty="0">
                <a:latin typeface="Arial" panose="020B0604020202020204" pitchFamily="34" charset="0"/>
                <a:ea typeface="楷体_GB2312" pitchFamily="49" charset="-122"/>
              </a:rPr>
              <a:t>水汽的分布</a:t>
            </a:r>
            <a:endParaRPr lang="zh-CN" altLang="en-US" sz="2400" dirty="0">
              <a:latin typeface="Arial" panose="020B0604020202020204" pitchFamily="34" charset="0"/>
              <a:ea typeface="楷体_GB2312" pitchFamily="49" charset="-122"/>
            </a:endParaRPr>
          </a:p>
        </p:txBody>
      </p:sp>
      <p:sp>
        <p:nvSpPr>
          <p:cNvPr id="34824" name="Oval 51"/>
          <p:cNvSpPr/>
          <p:nvPr/>
        </p:nvSpPr>
        <p:spPr>
          <a:xfrm rot="1758052">
            <a:off x="2524125" y="1854200"/>
            <a:ext cx="360363" cy="334963"/>
          </a:xfrm>
          <a:prstGeom prst="ellipse">
            <a:avLst/>
          </a:prstGeom>
          <a:gradFill rotWithShape="1">
            <a:gsLst>
              <a:gs pos="0">
                <a:srgbClr val="FF0000"/>
              </a:gs>
              <a:gs pos="100000">
                <a:srgbClr val="760000"/>
              </a:gs>
            </a:gsLst>
            <a:path path="shape">
              <a:fillToRect l="50000" t="50000" r="50000" b="50000"/>
            </a:path>
            <a:tileRect/>
          </a:gradFill>
          <a:ln w="9525">
            <a:noFill/>
          </a:ln>
        </p:spPr>
        <p:txBody>
          <a:bodyPr wrap="none" anchor="ctr" anchorCtr="0"/>
          <a:p>
            <a:pPr eaLnBrk="1" hangingPunct="1"/>
            <a:endParaRPr lang="zh-CN" altLang="en-US" dirty="0">
              <a:latin typeface="Arial" panose="020B0604020202020204" pitchFamily="34" charset="0"/>
            </a:endParaRPr>
          </a:p>
        </p:txBody>
      </p:sp>
      <p:sp>
        <p:nvSpPr>
          <p:cNvPr id="34825" name="Text Box 54"/>
          <p:cNvSpPr txBox="1"/>
          <p:nvPr/>
        </p:nvSpPr>
        <p:spPr>
          <a:xfrm>
            <a:off x="2560638" y="1806575"/>
            <a:ext cx="314325" cy="400050"/>
          </a:xfrm>
          <a:prstGeom prst="rect">
            <a:avLst/>
          </a:prstGeom>
          <a:noFill/>
          <a:ln w="9525">
            <a:noFill/>
          </a:ln>
        </p:spPr>
        <p:txBody>
          <a:bodyPr wrap="none">
            <a:spAutoFit/>
          </a:bodyPr>
          <a:p>
            <a:pPr algn="ctr"/>
            <a:r>
              <a:rPr lang="en-US" altLang="zh-CN" sz="2000" dirty="0">
                <a:solidFill>
                  <a:schemeClr val="bg1"/>
                </a:solidFill>
                <a:latin typeface="Times New Roman" panose="02020603050405020304" pitchFamily="18" charset="0"/>
              </a:rPr>
              <a:t>1</a:t>
            </a:r>
            <a:endParaRPr lang="en-US" altLang="zh-CN" sz="2000" dirty="0">
              <a:solidFill>
                <a:schemeClr val="bg1"/>
              </a:solidFill>
              <a:latin typeface="Times New Roman" panose="02020603050405020304" pitchFamily="18" charset="0"/>
            </a:endParaRPr>
          </a:p>
        </p:txBody>
      </p:sp>
      <p:sp>
        <p:nvSpPr>
          <p:cNvPr id="34826" name="Oval 51"/>
          <p:cNvSpPr/>
          <p:nvPr/>
        </p:nvSpPr>
        <p:spPr>
          <a:xfrm rot="1758052">
            <a:off x="2524125" y="4702175"/>
            <a:ext cx="360363" cy="334963"/>
          </a:xfrm>
          <a:prstGeom prst="ellipse">
            <a:avLst/>
          </a:prstGeom>
          <a:gradFill rotWithShape="1">
            <a:gsLst>
              <a:gs pos="0">
                <a:srgbClr val="FF0000"/>
              </a:gs>
              <a:gs pos="100000">
                <a:srgbClr val="760000"/>
              </a:gs>
            </a:gsLst>
            <a:path path="shape">
              <a:fillToRect l="50000" t="50000" r="50000" b="50000"/>
            </a:path>
            <a:tileRect/>
          </a:gradFill>
          <a:ln w="9525">
            <a:noFill/>
          </a:ln>
        </p:spPr>
        <p:txBody>
          <a:bodyPr wrap="none" anchor="ctr" anchorCtr="0"/>
          <a:p>
            <a:pPr eaLnBrk="1" hangingPunct="1"/>
            <a:endParaRPr lang="zh-CN" altLang="en-US" dirty="0">
              <a:latin typeface="Arial" panose="020B0604020202020204" pitchFamily="34" charset="0"/>
            </a:endParaRPr>
          </a:p>
        </p:txBody>
      </p:sp>
      <p:sp>
        <p:nvSpPr>
          <p:cNvPr id="34827" name="Text Box 54"/>
          <p:cNvSpPr txBox="1"/>
          <p:nvPr/>
        </p:nvSpPr>
        <p:spPr>
          <a:xfrm>
            <a:off x="2565400" y="4686300"/>
            <a:ext cx="314325" cy="400050"/>
          </a:xfrm>
          <a:prstGeom prst="rect">
            <a:avLst/>
          </a:prstGeom>
          <a:noFill/>
          <a:ln w="9525">
            <a:noFill/>
          </a:ln>
        </p:spPr>
        <p:txBody>
          <a:bodyPr wrap="none">
            <a:spAutoFit/>
          </a:bodyPr>
          <a:p>
            <a:pPr algn="ctr"/>
            <a:r>
              <a:rPr lang="en-US" altLang="zh-CN" sz="2000" dirty="0">
                <a:solidFill>
                  <a:schemeClr val="bg1"/>
                </a:solidFill>
                <a:latin typeface="Times New Roman" panose="02020603050405020304" pitchFamily="18" charset="0"/>
              </a:rPr>
              <a:t>2</a:t>
            </a:r>
            <a:endParaRPr lang="en-US" altLang="zh-CN" sz="2000" dirty="0">
              <a:solidFill>
                <a:schemeClr val="bg1"/>
              </a:solidFill>
              <a:latin typeface="Times New Roman" panose="02020603050405020304" pitchFamily="18" charset="0"/>
            </a:endParaRPr>
          </a:p>
        </p:txBody>
      </p:sp>
      <p:grpSp>
        <p:nvGrpSpPr>
          <p:cNvPr id="34828" name="Group 18"/>
          <p:cNvGrpSpPr/>
          <p:nvPr/>
        </p:nvGrpSpPr>
        <p:grpSpPr>
          <a:xfrm>
            <a:off x="2524125" y="6042025"/>
            <a:ext cx="360363" cy="396875"/>
            <a:chOff x="442" y="838"/>
            <a:chExt cx="272" cy="322"/>
          </a:xfrm>
        </p:grpSpPr>
        <p:sp>
          <p:nvSpPr>
            <p:cNvPr id="41011" name="Oval 51"/>
            <p:cNvSpPr>
              <a:spLocks noChangeArrowheads="1"/>
            </p:cNvSpPr>
            <p:nvPr/>
          </p:nvSpPr>
          <p:spPr bwMode="gray">
            <a:xfrm rot="1758052">
              <a:off x="442" y="850"/>
              <a:ext cx="272" cy="272"/>
            </a:xfrm>
            <a:prstGeom prst="ellipse">
              <a:avLst/>
            </a:prstGeom>
            <a:gradFill rotWithShape="1">
              <a:gsLst>
                <a:gs pos="0">
                  <a:schemeClr val="accent2"/>
                </a:gs>
                <a:gs pos="100000">
                  <a:schemeClr val="accent2">
                    <a:gamma/>
                    <a:shade val="69804"/>
                    <a:invGamma/>
                  </a:schemeClr>
                </a:gs>
              </a:gsLst>
              <a:path path="shape">
                <a:fillToRect l="50000" t="50000" r="50000" b="50000"/>
              </a:path>
            </a:gradFill>
            <a:ln>
              <a:noFill/>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835" name="Text Box 54"/>
            <p:cNvSpPr txBox="1"/>
            <p:nvPr/>
          </p:nvSpPr>
          <p:spPr>
            <a:xfrm>
              <a:off x="472" y="838"/>
              <a:ext cx="234" cy="322"/>
            </a:xfrm>
            <a:prstGeom prst="rect">
              <a:avLst/>
            </a:prstGeom>
            <a:noFill/>
            <a:ln w="9525">
              <a:noFill/>
            </a:ln>
          </p:spPr>
          <p:txBody>
            <a:bodyPr wrap="none">
              <a:spAutoFit/>
            </a:bodyPr>
            <a:p>
              <a:pPr algn="ctr"/>
              <a:r>
                <a:rPr lang="en-US" altLang="zh-CN" sz="2000" dirty="0">
                  <a:solidFill>
                    <a:schemeClr val="bg1"/>
                  </a:solidFill>
                  <a:latin typeface="Times New Roman" panose="02020603050405020304" pitchFamily="18" charset="0"/>
                </a:rPr>
                <a:t>3</a:t>
              </a:r>
              <a:endParaRPr lang="en-US" altLang="zh-CN" sz="2000" dirty="0">
                <a:solidFill>
                  <a:schemeClr val="bg1"/>
                </a:solidFill>
                <a:latin typeface="Times New Roman" panose="02020603050405020304" pitchFamily="18" charset="0"/>
              </a:endParaRPr>
            </a:p>
          </p:txBody>
        </p:sp>
      </p:grpSp>
      <p:sp>
        <p:nvSpPr>
          <p:cNvPr id="34829" name="AutoShape 25"/>
          <p:cNvSpPr/>
          <p:nvPr/>
        </p:nvSpPr>
        <p:spPr>
          <a:xfrm>
            <a:off x="6611938" y="1196975"/>
            <a:ext cx="1447800" cy="990600"/>
          </a:xfrm>
          <a:prstGeom prst="cloudCallout">
            <a:avLst>
              <a:gd name="adj1" fmla="val -52412"/>
              <a:gd name="adj2" fmla="val 99838"/>
            </a:avLst>
          </a:prstGeom>
          <a:solidFill>
            <a:srgbClr val="FFFF00"/>
          </a:solidFill>
          <a:ln w="9525" cap="flat" cmpd="sng">
            <a:solidFill>
              <a:schemeClr val="tx1"/>
            </a:solidFill>
            <a:prstDash val="solid"/>
            <a:headEnd type="none" w="med" len="med"/>
            <a:tailEnd type="none" w="med" len="med"/>
          </a:ln>
        </p:spPr>
        <p:txBody>
          <a:bodyPr/>
          <a:p>
            <a:pPr algn="ctr" eaLnBrk="1" hangingPunct="1"/>
            <a:endParaRPr lang="zh-CN" altLang="en-US" dirty="0">
              <a:latin typeface="Arial" panose="020B0604020202020204" pitchFamily="34" charset="0"/>
            </a:endParaRPr>
          </a:p>
        </p:txBody>
      </p:sp>
      <p:sp>
        <p:nvSpPr>
          <p:cNvPr id="34830" name="Text Box 26"/>
          <p:cNvSpPr txBox="1"/>
          <p:nvPr/>
        </p:nvSpPr>
        <p:spPr>
          <a:xfrm>
            <a:off x="6840538" y="1349375"/>
            <a:ext cx="1066800" cy="549275"/>
          </a:xfrm>
          <a:prstGeom prst="rect">
            <a:avLst/>
          </a:prstGeom>
          <a:noFill/>
          <a:ln w="9525">
            <a:noFill/>
          </a:ln>
        </p:spPr>
        <p:txBody>
          <a:bodyPr>
            <a:spAutoFit/>
          </a:bodyPr>
          <a:p>
            <a:pPr eaLnBrk="1" hangingPunct="1">
              <a:spcBef>
                <a:spcPct val="50000"/>
              </a:spcBef>
            </a:pPr>
            <a:r>
              <a:rPr lang="zh-CN" altLang="en-US" sz="3000" dirty="0">
                <a:latin typeface="Arial" panose="020B0604020202020204" pitchFamily="34" charset="0"/>
              </a:rPr>
              <a:t>重点</a:t>
            </a:r>
            <a:endParaRPr lang="zh-CN" altLang="en-US" sz="3000" dirty="0">
              <a:latin typeface="Arial" panose="020B0604020202020204" pitchFamily="34" charset="0"/>
            </a:endParaRPr>
          </a:p>
        </p:txBody>
      </p:sp>
      <p:sp>
        <p:nvSpPr>
          <p:cNvPr id="34831" name="AutoShape 28"/>
          <p:cNvSpPr/>
          <p:nvPr/>
        </p:nvSpPr>
        <p:spPr>
          <a:xfrm>
            <a:off x="4859338" y="3025775"/>
            <a:ext cx="304800" cy="1439863"/>
          </a:xfrm>
          <a:prstGeom prst="rightBrace">
            <a:avLst>
              <a:gd name="adj1" fmla="val 39366"/>
              <a:gd name="adj2" fmla="val 50000"/>
            </a:avLst>
          </a:prstGeom>
          <a:noFill/>
          <a:ln w="25400" cap="flat" cmpd="sng">
            <a:solidFill>
              <a:srgbClr val="008080"/>
            </a:solidFill>
            <a:prstDash val="solid"/>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34832" name="Text Box 29"/>
          <p:cNvSpPr txBox="1"/>
          <p:nvPr/>
        </p:nvSpPr>
        <p:spPr>
          <a:xfrm>
            <a:off x="5164138" y="3467100"/>
            <a:ext cx="1143000" cy="396875"/>
          </a:xfrm>
          <a:prstGeom prst="rect">
            <a:avLst/>
          </a:prstGeom>
          <a:noFill/>
          <a:ln w="9525">
            <a:noFill/>
          </a:ln>
        </p:spPr>
        <p:txBody>
          <a:bodyPr>
            <a:spAutoFit/>
          </a:bodyPr>
          <a:p>
            <a:pPr eaLnBrk="1" hangingPunct="1">
              <a:spcBef>
                <a:spcPct val="50000"/>
              </a:spcBef>
            </a:pPr>
            <a:r>
              <a:rPr lang="zh-CN" altLang="en-US" sz="2000" u="sng" dirty="0">
                <a:solidFill>
                  <a:schemeClr val="hlink"/>
                </a:solidFill>
                <a:latin typeface="Arial" panose="020B0604020202020204" pitchFamily="34" charset="0"/>
              </a:rPr>
              <a:t>导出量</a:t>
            </a:r>
            <a:endParaRPr lang="zh-CN" altLang="en-US" sz="2000" u="sng" dirty="0">
              <a:solidFill>
                <a:schemeClr val="hlink"/>
              </a:solidFill>
              <a:latin typeface="Arial" panose="020B0604020202020204" pitchFamily="34" charset="0"/>
            </a:endParaRPr>
          </a:p>
        </p:txBody>
      </p:sp>
      <p:pic>
        <p:nvPicPr>
          <p:cNvPr id="34833" name="Picture 9"/>
          <p:cNvPicPr>
            <a:picLocks noChangeAspect="1"/>
          </p:cNvPicPr>
          <p:nvPr/>
        </p:nvPicPr>
        <p:blipFill>
          <a:blip r:embed="rId1">
            <a:clrChange>
              <a:clrFrom>
                <a:srgbClr val="FFFFFF"/>
              </a:clrFrom>
              <a:clrTo>
                <a:srgbClr val="FFFFFF">
                  <a:alpha val="0"/>
                </a:srgbClr>
              </a:clrTo>
            </a:clrChange>
          </a:blip>
          <a:stretch>
            <a:fillRect/>
          </a:stretch>
        </p:blipFill>
        <p:spPr>
          <a:xfrm>
            <a:off x="3419475" y="5060950"/>
            <a:ext cx="1620838" cy="760413"/>
          </a:xfrm>
          <a:prstGeom prst="rect">
            <a:avLst/>
          </a:prstGeom>
          <a:noFill/>
          <a:ln w="9525">
            <a:noFill/>
          </a:ln>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3"/>
          <p:cNvSpPr/>
          <p:nvPr/>
        </p:nvSpPr>
        <p:spPr>
          <a:xfrm>
            <a:off x="1331913" y="1628775"/>
            <a:ext cx="6934200" cy="2174875"/>
          </a:xfrm>
          <a:prstGeom prst="rect">
            <a:avLst/>
          </a:prstGeom>
          <a:noFill/>
          <a:ln w="9525">
            <a:noFill/>
          </a:ln>
        </p:spPr>
        <p:txBody>
          <a:bodyPr>
            <a:spAutoFit/>
          </a:bodyPr>
          <a:p>
            <a:pPr eaLnBrk="1" hangingPunct="1">
              <a:lnSpc>
                <a:spcPct val="200000"/>
              </a:lnSpc>
              <a:buFont typeface="Wingdings" panose="05000000000000000000" pitchFamily="2" charset="2"/>
              <a:buChar char="u"/>
            </a:pPr>
            <a:r>
              <a:rPr lang="en-US" altLang="zh-CN" sz="2400" b="0" dirty="0">
                <a:solidFill>
                  <a:srgbClr val="7030A0"/>
                </a:solidFill>
                <a:latin typeface="黑体" panose="02010609060101010101" pitchFamily="49" charset="-122"/>
                <a:ea typeface="黑体" panose="02010609060101010101" pitchFamily="49" charset="-122"/>
              </a:rPr>
              <a:t>    </a:t>
            </a:r>
            <a:r>
              <a:rPr lang="en-US" altLang="zh-CN" sz="2400" dirty="0">
                <a:solidFill>
                  <a:srgbClr val="7030A0"/>
                </a:solidFill>
                <a:latin typeface="黑体" panose="02010609060101010101" pitchFamily="49" charset="-122"/>
                <a:ea typeface="黑体" panose="02010609060101010101" pitchFamily="49" charset="-122"/>
              </a:rPr>
              <a:t>2.1</a:t>
            </a:r>
            <a:r>
              <a:rPr lang="zh-CN" altLang="en-US" sz="2400" dirty="0">
                <a:solidFill>
                  <a:srgbClr val="7030A0"/>
                </a:solidFill>
                <a:latin typeface="黑体" panose="02010609060101010101" pitchFamily="49" charset="-122"/>
                <a:ea typeface="黑体" panose="02010609060101010101" pitchFamily="49" charset="-122"/>
              </a:rPr>
              <a:t>  干洁大气</a:t>
            </a:r>
            <a:endParaRPr lang="zh-CN" altLang="en-US" sz="2400" dirty="0">
              <a:solidFill>
                <a:srgbClr val="7030A0"/>
              </a:solidFill>
              <a:latin typeface="黑体" panose="02010609060101010101" pitchFamily="49" charset="-122"/>
              <a:ea typeface="黑体" panose="02010609060101010101" pitchFamily="49" charset="-122"/>
            </a:endParaRPr>
          </a:p>
          <a:p>
            <a:pPr>
              <a:lnSpc>
                <a:spcPct val="200000"/>
              </a:lnSpc>
              <a:buFont typeface="Wingdings" panose="05000000000000000000" pitchFamily="2" charset="2"/>
              <a:buChar char="u"/>
            </a:pPr>
            <a:r>
              <a:rPr lang="zh-CN" altLang="en-US" sz="2400" dirty="0">
                <a:solidFill>
                  <a:srgbClr val="7030A0"/>
                </a:solidFill>
                <a:latin typeface="黑体" panose="02010609060101010101" pitchFamily="49" charset="-122"/>
                <a:ea typeface="黑体" panose="02010609060101010101" pitchFamily="49" charset="-122"/>
              </a:rPr>
              <a:t>	</a:t>
            </a:r>
            <a:r>
              <a:rPr lang="en-US" altLang="zh-CN" sz="2400" dirty="0">
                <a:solidFill>
                  <a:srgbClr val="7030A0"/>
                </a:solidFill>
                <a:latin typeface="黑体" panose="02010609060101010101" pitchFamily="49" charset="-122"/>
                <a:ea typeface="黑体" panose="02010609060101010101" pitchFamily="49" charset="-122"/>
              </a:rPr>
              <a:t>2.2</a:t>
            </a:r>
            <a:r>
              <a:rPr lang="zh-CN" altLang="en-US" sz="2400" dirty="0">
                <a:solidFill>
                  <a:srgbClr val="7030A0"/>
                </a:solidFill>
                <a:latin typeface="黑体" panose="02010609060101010101" pitchFamily="49" charset="-122"/>
                <a:ea typeface="黑体" panose="02010609060101010101" pitchFamily="49" charset="-122"/>
              </a:rPr>
              <a:t>  大气中的水汽</a:t>
            </a:r>
            <a:endParaRPr lang="en-US" altLang="zh-CN" sz="2400" dirty="0">
              <a:solidFill>
                <a:srgbClr val="7030A0"/>
              </a:solidFill>
              <a:latin typeface="黑体" panose="02010609060101010101" pitchFamily="49" charset="-122"/>
              <a:ea typeface="黑体" panose="02010609060101010101" pitchFamily="49" charset="-122"/>
            </a:endParaRPr>
          </a:p>
          <a:p>
            <a:pPr>
              <a:lnSpc>
                <a:spcPct val="200000"/>
              </a:lnSpc>
              <a:buFont typeface="Wingdings" panose="05000000000000000000" pitchFamily="2" charset="2"/>
              <a:buChar char="u"/>
            </a:pPr>
            <a:r>
              <a:rPr lang="en-US" altLang="zh-CN" sz="2400" dirty="0">
                <a:solidFill>
                  <a:srgbClr val="FF0000"/>
                </a:solidFill>
                <a:latin typeface="黑体" panose="02010609060101010101" pitchFamily="49" charset="-122"/>
                <a:ea typeface="黑体" panose="02010609060101010101" pitchFamily="49" charset="-122"/>
              </a:rPr>
              <a:t>    2.3  </a:t>
            </a:r>
            <a:r>
              <a:rPr lang="zh-CN" altLang="en-US" sz="2400" dirty="0">
                <a:solidFill>
                  <a:srgbClr val="FF0000"/>
                </a:solidFill>
                <a:latin typeface="黑体" panose="02010609060101010101" pitchFamily="49" charset="-122"/>
                <a:ea typeface="黑体" panose="02010609060101010101" pitchFamily="49" charset="-122"/>
              </a:rPr>
              <a:t>大气气溶胶</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7" name="Rectangle 2"/>
          <p:cNvSpPr>
            <a:spLocks noChangeArrowheads="1"/>
          </p:cNvSpPr>
          <p:nvPr/>
        </p:nvSpPr>
        <p:spPr bwMode="auto">
          <a:xfrm>
            <a:off x="0" y="-26987"/>
            <a:ext cx="9144000" cy="719138"/>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第二章 地球大气的成分及分布</a:t>
            </a:r>
            <a:endPar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ext Box 6"/>
          <p:cNvSpPr txBox="1"/>
          <p:nvPr/>
        </p:nvSpPr>
        <p:spPr>
          <a:xfrm>
            <a:off x="785813" y="1268413"/>
            <a:ext cx="5862637" cy="400050"/>
          </a:xfrm>
          <a:prstGeom prst="rect">
            <a:avLst/>
          </a:prstGeom>
          <a:noFill/>
          <a:ln w="9525">
            <a:noFill/>
          </a:ln>
        </p:spPr>
        <p:txBody>
          <a:bodyPr wrap="none">
            <a:spAutoFit/>
          </a:bodyPr>
          <a:p>
            <a:pPr eaLnBrk="1" hangingPunct="1"/>
            <a:r>
              <a:rPr lang="zh-CN" altLang="en-US" sz="2000" dirty="0">
                <a:solidFill>
                  <a:srgbClr val="CC3300"/>
                </a:solidFill>
                <a:latin typeface="Arial" panose="020B0604020202020204" pitchFamily="34" charset="0"/>
              </a:rPr>
              <a:t>气溶胶：指大气中悬浮着的各种固体和液体粒子。</a:t>
            </a:r>
            <a:endParaRPr lang="en-US" altLang="zh-CN" sz="2000" dirty="0">
              <a:solidFill>
                <a:srgbClr val="CC3300"/>
              </a:solidFill>
              <a:latin typeface="Arial" panose="020B0604020202020204" pitchFamily="34" charset="0"/>
            </a:endParaRPr>
          </a:p>
        </p:txBody>
      </p:sp>
      <p:pic>
        <p:nvPicPr>
          <p:cNvPr id="36867" name="Picture 7"/>
          <p:cNvPicPr>
            <a:picLocks noChangeAspect="1"/>
          </p:cNvPicPr>
          <p:nvPr/>
        </p:nvPicPr>
        <p:blipFill>
          <a:blip r:embed="rId1"/>
          <a:srcRect b="35338"/>
          <a:stretch>
            <a:fillRect/>
          </a:stretch>
        </p:blipFill>
        <p:spPr>
          <a:xfrm>
            <a:off x="1042988" y="2133600"/>
            <a:ext cx="7059612" cy="4406900"/>
          </a:xfrm>
          <a:prstGeom prst="rect">
            <a:avLst/>
          </a:prstGeom>
          <a:noFill/>
          <a:ln w="9525">
            <a:noFill/>
          </a:ln>
        </p:spPr>
      </p:pic>
      <p:sp>
        <p:nvSpPr>
          <p:cNvPr id="5" name="Rectangle 4"/>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2.3</a:t>
            </a: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 大气气溶胶</a:t>
            </a:r>
            <a:endPar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Text Box 2"/>
          <p:cNvSpPr txBox="1"/>
          <p:nvPr/>
        </p:nvSpPr>
        <p:spPr>
          <a:xfrm>
            <a:off x="1643063" y="6211888"/>
            <a:ext cx="5429250" cy="369887"/>
          </a:xfrm>
          <a:prstGeom prst="rect">
            <a:avLst/>
          </a:prstGeom>
          <a:noFill/>
          <a:ln w="9525">
            <a:noFill/>
          </a:ln>
        </p:spPr>
        <p:txBody>
          <a:bodyPr>
            <a:spAutoFit/>
          </a:bodyPr>
          <a:p>
            <a:pPr eaLnBrk="1" hangingPunct="1">
              <a:spcBef>
                <a:spcPct val="50000"/>
              </a:spcBef>
            </a:pPr>
            <a:r>
              <a:rPr lang="zh-CN" altLang="en-US" dirty="0">
                <a:latin typeface="Times New Roman" panose="02020603050405020304" pitchFamily="18" charset="0"/>
              </a:rPr>
              <a:t>太阳光度计</a:t>
            </a:r>
            <a:r>
              <a:rPr lang="en-US" altLang="zh-CN" dirty="0">
                <a:latin typeface="Times New Roman" panose="02020603050405020304" pitchFamily="18" charset="0"/>
              </a:rPr>
              <a:t>CE-318</a:t>
            </a:r>
            <a:r>
              <a:rPr lang="zh-CN" altLang="en-US" dirty="0">
                <a:latin typeface="Times New Roman" panose="02020603050405020304" pitchFamily="18" charset="0"/>
              </a:rPr>
              <a:t>和激光雷达</a:t>
            </a:r>
            <a:r>
              <a:rPr lang="en-US" altLang="zh-CN" dirty="0">
                <a:latin typeface="Times New Roman" panose="02020603050405020304" pitchFamily="18" charset="0"/>
              </a:rPr>
              <a:t> CAMLTM CE 370-2</a:t>
            </a:r>
            <a:endParaRPr lang="en-US" altLang="zh-CN" dirty="0">
              <a:latin typeface="Times New Roman" panose="02020603050405020304" pitchFamily="18" charset="0"/>
            </a:endParaRPr>
          </a:p>
        </p:txBody>
      </p:sp>
      <p:grpSp>
        <p:nvGrpSpPr>
          <p:cNvPr id="37891" name="组合 11"/>
          <p:cNvGrpSpPr/>
          <p:nvPr/>
        </p:nvGrpSpPr>
        <p:grpSpPr>
          <a:xfrm>
            <a:off x="1187450" y="1500188"/>
            <a:ext cx="6845300" cy="4665662"/>
            <a:chOff x="1187450" y="1844675"/>
            <a:chExt cx="6845300" cy="4665663"/>
          </a:xfrm>
        </p:grpSpPr>
        <p:grpSp>
          <p:nvGrpSpPr>
            <p:cNvPr id="37893" name="Group 3"/>
            <p:cNvGrpSpPr/>
            <p:nvPr/>
          </p:nvGrpSpPr>
          <p:grpSpPr>
            <a:xfrm>
              <a:off x="1187450" y="1844675"/>
              <a:ext cx="6845300" cy="4652963"/>
              <a:chOff x="748" y="1162"/>
              <a:chExt cx="4312" cy="2931"/>
            </a:xfrm>
          </p:grpSpPr>
          <p:grpSp>
            <p:nvGrpSpPr>
              <p:cNvPr id="37895" name="Group 4"/>
              <p:cNvGrpSpPr/>
              <p:nvPr/>
            </p:nvGrpSpPr>
            <p:grpSpPr>
              <a:xfrm>
                <a:off x="748" y="1162"/>
                <a:ext cx="2154" cy="2931"/>
                <a:chOff x="703" y="799"/>
                <a:chExt cx="2222" cy="3293"/>
              </a:xfrm>
            </p:grpSpPr>
            <p:pic>
              <p:nvPicPr>
                <p:cNvPr id="37897" name="Picture 5" descr="ce-318"/>
                <p:cNvPicPr>
                  <a:picLocks noChangeAspect="1"/>
                </p:cNvPicPr>
                <p:nvPr/>
              </p:nvPicPr>
              <p:blipFill>
                <a:blip r:embed="rId1"/>
                <a:stretch>
                  <a:fillRect/>
                </a:stretch>
              </p:blipFill>
              <p:spPr>
                <a:xfrm>
                  <a:off x="703" y="799"/>
                  <a:ext cx="2222" cy="1667"/>
                </a:xfrm>
                <a:prstGeom prst="rect">
                  <a:avLst/>
                </a:prstGeom>
                <a:noFill/>
                <a:ln w="9525">
                  <a:noFill/>
                </a:ln>
              </p:spPr>
            </p:pic>
            <p:pic>
              <p:nvPicPr>
                <p:cNvPr id="37898" name="Picture 6"/>
                <p:cNvPicPr>
                  <a:picLocks noChangeAspect="1"/>
                </p:cNvPicPr>
                <p:nvPr/>
              </p:nvPicPr>
              <p:blipFill>
                <a:blip r:embed="rId2"/>
                <a:stretch>
                  <a:fillRect/>
                </a:stretch>
              </p:blipFill>
              <p:spPr>
                <a:xfrm>
                  <a:off x="703" y="2478"/>
                  <a:ext cx="2222" cy="1614"/>
                </a:xfrm>
                <a:prstGeom prst="rect">
                  <a:avLst/>
                </a:prstGeom>
                <a:noFill/>
                <a:ln w="9525">
                  <a:noFill/>
                </a:ln>
              </p:spPr>
            </p:pic>
          </p:grpSp>
          <p:pic>
            <p:nvPicPr>
              <p:cNvPr id="37896" name="Picture 7"/>
              <p:cNvPicPr>
                <a:picLocks noChangeAspect="1"/>
              </p:cNvPicPr>
              <p:nvPr/>
            </p:nvPicPr>
            <p:blipFill>
              <a:blip r:embed="rId3"/>
              <a:stretch>
                <a:fillRect/>
              </a:stretch>
            </p:blipFill>
            <p:spPr>
              <a:xfrm>
                <a:off x="2902" y="1162"/>
                <a:ext cx="2158" cy="1467"/>
              </a:xfrm>
              <a:prstGeom prst="rect">
                <a:avLst/>
              </a:prstGeom>
              <a:noFill/>
              <a:ln w="9525">
                <a:noFill/>
              </a:ln>
            </p:spPr>
          </p:pic>
        </p:grpSp>
        <p:pic>
          <p:nvPicPr>
            <p:cNvPr id="37894" name="Picture 8"/>
            <p:cNvPicPr>
              <a:picLocks noChangeAspect="1"/>
            </p:cNvPicPr>
            <p:nvPr/>
          </p:nvPicPr>
          <p:blipFill>
            <a:blip r:embed="rId4"/>
            <a:stretch>
              <a:fillRect/>
            </a:stretch>
          </p:blipFill>
          <p:spPr>
            <a:xfrm>
              <a:off x="4606925" y="4191000"/>
              <a:ext cx="3419475" cy="2319338"/>
            </a:xfrm>
            <a:prstGeom prst="rect">
              <a:avLst/>
            </a:prstGeom>
            <a:noFill/>
            <a:ln w="9525">
              <a:noFill/>
            </a:ln>
          </p:spPr>
        </p:pic>
      </p:grpSp>
      <p:sp>
        <p:nvSpPr>
          <p:cNvPr id="37892" name="Rectangle 9" descr="图片1"/>
          <p:cNvSpPr/>
          <p:nvPr/>
        </p:nvSpPr>
        <p:spPr>
          <a:xfrm>
            <a:off x="571500" y="549275"/>
            <a:ext cx="7858125" cy="708025"/>
          </a:xfrm>
          <a:prstGeom prst="rect">
            <a:avLst/>
          </a:prstGeom>
          <a:noFill/>
          <a:ln w="9525">
            <a:noFill/>
          </a:ln>
        </p:spPr>
        <p:txBody>
          <a:bodyPr>
            <a:spAutoFit/>
          </a:bodyPr>
          <a:p>
            <a:pPr marL="342900" indent="-342900" algn="ctr" eaLnBrk="1" hangingPunct="1">
              <a:spcBef>
                <a:spcPct val="20000"/>
              </a:spcBef>
              <a:buClr>
                <a:schemeClr val="hlink"/>
              </a:buClr>
              <a:buFont typeface="Wingdings" panose="05000000000000000000" pitchFamily="2" charset="2"/>
            </a:pPr>
            <a:r>
              <a:rPr lang="zh-CN" altLang="en-US" sz="4000" dirty="0">
                <a:solidFill>
                  <a:srgbClr val="0000FF"/>
                </a:solidFill>
                <a:latin typeface="Times New Roman" panose="02020603050405020304" pitchFamily="18" charset="0"/>
                <a:ea typeface="黑体" panose="02010609060101010101" pitchFamily="49" charset="-122"/>
              </a:rPr>
              <a:t>大气气溶胶的观测</a:t>
            </a:r>
            <a:r>
              <a:rPr lang="en-US" altLang="zh-CN" sz="4000" dirty="0">
                <a:solidFill>
                  <a:srgbClr val="0000FF"/>
                </a:solidFill>
                <a:latin typeface="Times New Roman" panose="02020603050405020304" pitchFamily="18" charset="0"/>
                <a:ea typeface="黑体" panose="02010609060101010101" pitchFamily="49" charset="-122"/>
              </a:rPr>
              <a:t>—</a:t>
            </a:r>
            <a:r>
              <a:rPr lang="zh-CN" altLang="en-US" sz="4000" dirty="0">
                <a:solidFill>
                  <a:srgbClr val="0000FF"/>
                </a:solidFill>
                <a:latin typeface="Times New Roman" panose="02020603050405020304" pitchFamily="18" charset="0"/>
                <a:ea typeface="黑体" panose="02010609060101010101" pitchFamily="49" charset="-122"/>
              </a:rPr>
              <a:t>地基</a:t>
            </a:r>
            <a:endParaRPr lang="en-US" altLang="zh-CN" sz="4000" dirty="0">
              <a:solidFill>
                <a:srgbClr val="0000FF"/>
              </a:solidFill>
              <a:latin typeface="Times New Roman" panose="02020603050405020304" pitchFamily="18" charset="0"/>
              <a:ea typeface="黑体" panose="02010609060101010101" pitchFamily="49"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8914" name="Picture 3" descr="aerosol"/>
          <p:cNvPicPr>
            <a:picLocks noChangeAspect="1"/>
          </p:cNvPicPr>
          <p:nvPr/>
        </p:nvPicPr>
        <p:blipFill>
          <a:blip r:embed="rId1"/>
          <a:stretch>
            <a:fillRect/>
          </a:stretch>
        </p:blipFill>
        <p:spPr>
          <a:xfrm>
            <a:off x="71438" y="1071563"/>
            <a:ext cx="8964612" cy="4494212"/>
          </a:xfrm>
          <a:prstGeom prst="rect">
            <a:avLst/>
          </a:prstGeom>
          <a:noFill/>
          <a:ln w="9525">
            <a:noFill/>
          </a:ln>
        </p:spPr>
      </p:pic>
      <p:sp>
        <p:nvSpPr>
          <p:cNvPr id="38915" name="Text Box 5"/>
          <p:cNvSpPr txBox="1"/>
          <p:nvPr/>
        </p:nvSpPr>
        <p:spPr>
          <a:xfrm>
            <a:off x="2428875" y="5857875"/>
            <a:ext cx="4000500" cy="400050"/>
          </a:xfrm>
          <a:prstGeom prst="rect">
            <a:avLst/>
          </a:prstGeom>
          <a:noFill/>
          <a:ln w="9525">
            <a:noFill/>
          </a:ln>
        </p:spPr>
        <p:txBody>
          <a:bodyPr>
            <a:spAutoFit/>
          </a:bodyPr>
          <a:p>
            <a:pPr eaLnBrk="1" hangingPunct="1">
              <a:spcBef>
                <a:spcPct val="50000"/>
              </a:spcBef>
            </a:pPr>
            <a:r>
              <a:rPr lang="zh-CN" altLang="en-US" sz="2000" dirty="0">
                <a:latin typeface="Times New Roman" panose="02020603050405020304" pitchFamily="18" charset="0"/>
              </a:rPr>
              <a:t>全球太阳光度计观测网（</a:t>
            </a:r>
            <a:r>
              <a:rPr lang="en-US" altLang="zh-CN" sz="2000" dirty="0">
                <a:latin typeface="Times New Roman" panose="02020603050405020304" pitchFamily="18" charset="0"/>
              </a:rPr>
              <a:t>180</a:t>
            </a:r>
            <a:r>
              <a:rPr lang="zh-CN" altLang="en-US" sz="2000" dirty="0">
                <a:latin typeface="Times New Roman" panose="02020603050405020304" pitchFamily="18" charset="0"/>
              </a:rPr>
              <a:t>个）</a:t>
            </a:r>
            <a:endParaRPr lang="en-US" altLang="zh-CN" sz="2000" dirty="0">
              <a:latin typeface="Times New Roman" panose="02020603050405020304" pitchFamily="18"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5"/>
          <p:cNvSpPr/>
          <p:nvPr/>
        </p:nvSpPr>
        <p:spPr>
          <a:xfrm>
            <a:off x="539750" y="4714875"/>
            <a:ext cx="8604250" cy="1247775"/>
          </a:xfrm>
          <a:prstGeom prst="rect">
            <a:avLst/>
          </a:prstGeom>
          <a:noFill/>
          <a:ln w="9525">
            <a:noFill/>
          </a:ln>
        </p:spPr>
        <p:txBody>
          <a:bodyPr>
            <a:spAutoFit/>
          </a:bodyPr>
          <a:p>
            <a:pPr eaLnBrk="1" hangingPunct="1">
              <a:lnSpc>
                <a:spcPct val="150000"/>
              </a:lnSpc>
              <a:spcBef>
                <a:spcPct val="20000"/>
              </a:spcBef>
            </a:pPr>
            <a:r>
              <a:rPr lang="en-US" altLang="zh-CN" sz="2800" dirty="0">
                <a:solidFill>
                  <a:srgbClr val="0066FF"/>
                </a:solidFill>
                <a:latin typeface="楷体" panose="02010609060101010101" pitchFamily="49" charset="-122"/>
                <a:ea typeface="楷体" panose="02010609060101010101" pitchFamily="49" charset="-122"/>
              </a:rPr>
              <a:t>2</a:t>
            </a:r>
            <a:r>
              <a:rPr lang="zh-CN" altLang="en-US" sz="2800" dirty="0">
                <a:solidFill>
                  <a:srgbClr val="0066FF"/>
                </a:solidFill>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大气环境学分类</a:t>
            </a:r>
            <a:endParaRPr lang="zh-CN" altLang="en-US" sz="2800" dirty="0">
              <a:latin typeface="楷体" panose="02010609060101010101" pitchFamily="49" charset="-122"/>
              <a:ea typeface="楷体" panose="02010609060101010101" pitchFamily="49" charset="-122"/>
            </a:endParaRPr>
          </a:p>
          <a:p>
            <a:pPr eaLnBrk="1" hangingPunct="1">
              <a:lnSpc>
                <a:spcPct val="150000"/>
              </a:lnSpc>
              <a:spcBef>
                <a:spcPct val="20000"/>
              </a:spcBef>
            </a:pPr>
            <a:r>
              <a:rPr lang="zh-CN" altLang="en-US" sz="2200" dirty="0">
                <a:solidFill>
                  <a:srgbClr val="0066FF"/>
                </a:solidFill>
                <a:latin typeface="Arial" panose="020B0604020202020204" pitchFamily="34" charset="0"/>
                <a:ea typeface="楷体_GB2312" pitchFamily="49" charset="-122"/>
              </a:rPr>
              <a:t>      </a:t>
            </a:r>
            <a:r>
              <a:rPr lang="en-US" altLang="zh-CN" sz="2200" dirty="0">
                <a:solidFill>
                  <a:srgbClr val="0066FF"/>
                </a:solidFill>
                <a:latin typeface="Arial" panose="020B0604020202020204" pitchFamily="34" charset="0"/>
                <a:ea typeface="楷体_GB2312" pitchFamily="49" charset="-122"/>
              </a:rPr>
              <a:t>TSP</a:t>
            </a:r>
            <a:r>
              <a:rPr lang="zh-CN" altLang="en-US" sz="2200" dirty="0">
                <a:solidFill>
                  <a:srgbClr val="0066FF"/>
                </a:solidFill>
                <a:latin typeface="Arial" panose="020B0604020202020204" pitchFamily="34" charset="0"/>
                <a:ea typeface="楷体_GB2312" pitchFamily="49" charset="-122"/>
              </a:rPr>
              <a:t>、降尘、</a:t>
            </a:r>
            <a:r>
              <a:rPr lang="en-US" altLang="zh-CN" sz="2200" dirty="0">
                <a:solidFill>
                  <a:srgbClr val="FF0000"/>
                </a:solidFill>
                <a:latin typeface="Arial" panose="020B0604020202020204" pitchFamily="34" charset="0"/>
                <a:ea typeface="楷体_GB2312" pitchFamily="49" charset="-122"/>
              </a:rPr>
              <a:t>PM10</a:t>
            </a:r>
            <a:r>
              <a:rPr lang="zh-CN" altLang="en-US" sz="2200" dirty="0">
                <a:solidFill>
                  <a:srgbClr val="FF0000"/>
                </a:solidFill>
                <a:latin typeface="Arial" panose="020B0604020202020204" pitchFamily="34" charset="0"/>
                <a:ea typeface="楷体_GB2312" pitchFamily="49" charset="-122"/>
              </a:rPr>
              <a:t>、</a:t>
            </a:r>
            <a:r>
              <a:rPr lang="en-US" altLang="zh-CN" sz="2200" dirty="0">
                <a:solidFill>
                  <a:srgbClr val="FF0000"/>
                </a:solidFill>
                <a:latin typeface="Arial" panose="020B0604020202020204" pitchFamily="34" charset="0"/>
                <a:ea typeface="楷体_GB2312" pitchFamily="49" charset="-122"/>
              </a:rPr>
              <a:t>PM2.5</a:t>
            </a:r>
            <a:r>
              <a:rPr lang="zh-CN" altLang="en-US" sz="2200" dirty="0">
                <a:solidFill>
                  <a:srgbClr val="0066FF"/>
                </a:solidFill>
                <a:latin typeface="Arial" panose="020B0604020202020204" pitchFamily="34" charset="0"/>
                <a:ea typeface="楷体_GB2312" pitchFamily="49" charset="-122"/>
              </a:rPr>
              <a:t>、尘粒、粉尘、灰等。</a:t>
            </a:r>
            <a:endParaRPr lang="zh-CN" altLang="en-US" sz="2200" dirty="0">
              <a:solidFill>
                <a:srgbClr val="0066FF"/>
              </a:solidFill>
              <a:latin typeface="Arial" panose="020B0604020202020204" pitchFamily="34" charset="0"/>
              <a:ea typeface="楷体_GB2312" pitchFamily="49" charset="-122"/>
            </a:endParaRPr>
          </a:p>
        </p:txBody>
      </p:sp>
      <p:sp>
        <p:nvSpPr>
          <p:cNvPr id="39939" name="Rectangle 6"/>
          <p:cNvSpPr/>
          <p:nvPr/>
        </p:nvSpPr>
        <p:spPr>
          <a:xfrm>
            <a:off x="684213" y="2565400"/>
            <a:ext cx="6948487" cy="1754188"/>
          </a:xfrm>
          <a:prstGeom prst="rect">
            <a:avLst/>
          </a:prstGeom>
          <a:noFill/>
          <a:ln w="9525">
            <a:noFill/>
          </a:ln>
        </p:spPr>
        <p:txBody>
          <a:bodyPr>
            <a:spAutoFit/>
          </a:bodyPr>
          <a:p>
            <a:pPr lvl="1" eaLnBrk="1" hangingPunct="1">
              <a:lnSpc>
                <a:spcPct val="150000"/>
              </a:lnSpc>
              <a:buClr>
                <a:srgbClr val="0066FF"/>
              </a:buClr>
              <a:buChar char="•"/>
            </a:pPr>
            <a:r>
              <a:rPr lang="zh-CN" altLang="en-US" sz="2400" dirty="0">
                <a:solidFill>
                  <a:srgbClr val="FF6600"/>
                </a:solidFill>
                <a:latin typeface="Arial" panose="020B0604020202020204" pitchFamily="34" charset="0"/>
                <a:ea typeface="楷体_GB2312" pitchFamily="49" charset="-122"/>
              </a:rPr>
              <a:t> 爱根核</a:t>
            </a:r>
            <a:r>
              <a:rPr lang="zh-CN" altLang="en-US" sz="2400" dirty="0">
                <a:solidFill>
                  <a:srgbClr val="0066FF"/>
                </a:solidFill>
                <a:latin typeface="Arial" panose="020B0604020202020204" pitchFamily="34" charset="0"/>
                <a:ea typeface="楷体_GB2312" pitchFamily="49" charset="-122"/>
              </a:rPr>
              <a:t>：</a:t>
            </a:r>
            <a:r>
              <a:rPr lang="en-US" altLang="zh-CN" sz="2400" dirty="0">
                <a:solidFill>
                  <a:srgbClr val="0066FF"/>
                </a:solidFill>
                <a:latin typeface="Arial" panose="020B0604020202020204" pitchFamily="34" charset="0"/>
                <a:ea typeface="楷体_GB2312" pitchFamily="49" charset="-122"/>
              </a:rPr>
              <a:t>r &lt; 0.1 μm</a:t>
            </a:r>
            <a:endParaRPr lang="zh-CN" altLang="en-US" sz="2400" dirty="0">
              <a:solidFill>
                <a:srgbClr val="0066FF"/>
              </a:solidFill>
              <a:latin typeface="Arial" panose="020B0604020202020204" pitchFamily="34" charset="0"/>
              <a:ea typeface="楷体_GB2312" pitchFamily="49" charset="-122"/>
            </a:endParaRPr>
          </a:p>
          <a:p>
            <a:pPr lvl="1" eaLnBrk="1" hangingPunct="1">
              <a:lnSpc>
                <a:spcPct val="150000"/>
              </a:lnSpc>
              <a:buClr>
                <a:srgbClr val="0066FF"/>
              </a:buClr>
              <a:buChar char="•"/>
            </a:pPr>
            <a:r>
              <a:rPr lang="zh-CN" altLang="en-US" sz="2400" dirty="0">
                <a:solidFill>
                  <a:srgbClr val="FF6600"/>
                </a:solidFill>
                <a:latin typeface="Arial" panose="020B0604020202020204" pitchFamily="34" charset="0"/>
                <a:ea typeface="楷体_GB2312" pitchFamily="49" charset="-122"/>
              </a:rPr>
              <a:t> 大粒子</a:t>
            </a:r>
            <a:r>
              <a:rPr lang="zh-CN" altLang="en-US" sz="2400" dirty="0">
                <a:solidFill>
                  <a:srgbClr val="0066FF"/>
                </a:solidFill>
                <a:latin typeface="Arial" panose="020B0604020202020204" pitchFamily="34" charset="0"/>
                <a:ea typeface="楷体_GB2312" pitchFamily="49" charset="-122"/>
              </a:rPr>
              <a:t>：</a:t>
            </a:r>
            <a:r>
              <a:rPr lang="en-US" altLang="zh-CN" sz="2400" dirty="0">
                <a:solidFill>
                  <a:srgbClr val="0066FF"/>
                </a:solidFill>
                <a:latin typeface="Arial" panose="020B0604020202020204" pitchFamily="34" charset="0"/>
                <a:ea typeface="楷体_GB2312" pitchFamily="49" charset="-122"/>
              </a:rPr>
              <a:t>0.1 μm &lt; r &lt; 1.0 μm</a:t>
            </a:r>
            <a:endParaRPr lang="zh-CN" altLang="en-US" sz="2400" dirty="0">
              <a:solidFill>
                <a:srgbClr val="0066FF"/>
              </a:solidFill>
              <a:latin typeface="Arial" panose="020B0604020202020204" pitchFamily="34" charset="0"/>
              <a:ea typeface="楷体_GB2312" pitchFamily="49" charset="-122"/>
            </a:endParaRPr>
          </a:p>
          <a:p>
            <a:pPr lvl="1" eaLnBrk="1" hangingPunct="1">
              <a:lnSpc>
                <a:spcPct val="150000"/>
              </a:lnSpc>
              <a:buClr>
                <a:srgbClr val="0066FF"/>
              </a:buClr>
              <a:buChar char="•"/>
            </a:pPr>
            <a:r>
              <a:rPr lang="zh-CN" altLang="en-US" sz="2400" dirty="0">
                <a:solidFill>
                  <a:srgbClr val="0066FF"/>
                </a:solidFill>
                <a:latin typeface="Arial" panose="020B0604020202020204" pitchFamily="34" charset="0"/>
                <a:ea typeface="楷体_GB2312" pitchFamily="49" charset="-122"/>
              </a:rPr>
              <a:t> </a:t>
            </a:r>
            <a:r>
              <a:rPr lang="zh-CN" altLang="en-US" sz="2400" dirty="0">
                <a:solidFill>
                  <a:srgbClr val="FF6600"/>
                </a:solidFill>
                <a:latin typeface="Arial" panose="020B0604020202020204" pitchFamily="34" charset="0"/>
                <a:ea typeface="楷体_GB2312" pitchFamily="49" charset="-122"/>
              </a:rPr>
              <a:t>巨粒子</a:t>
            </a:r>
            <a:r>
              <a:rPr lang="zh-CN" altLang="en-US" sz="2400" dirty="0">
                <a:solidFill>
                  <a:srgbClr val="0066FF"/>
                </a:solidFill>
                <a:latin typeface="Arial" panose="020B0604020202020204" pitchFamily="34" charset="0"/>
                <a:ea typeface="楷体_GB2312" pitchFamily="49" charset="-122"/>
              </a:rPr>
              <a:t>：</a:t>
            </a:r>
            <a:r>
              <a:rPr lang="en-US" altLang="zh-CN" sz="2400" dirty="0">
                <a:solidFill>
                  <a:srgbClr val="0066FF"/>
                </a:solidFill>
                <a:latin typeface="Arial" panose="020B0604020202020204" pitchFamily="34" charset="0"/>
                <a:ea typeface="楷体_GB2312" pitchFamily="49" charset="-122"/>
              </a:rPr>
              <a:t> r &gt;1.0 μm </a:t>
            </a:r>
            <a:endParaRPr lang="zh-CN" altLang="en-US" sz="2400" dirty="0">
              <a:solidFill>
                <a:srgbClr val="0066FF"/>
              </a:solidFill>
              <a:latin typeface="Arial" panose="020B0604020202020204" pitchFamily="34" charset="0"/>
              <a:ea typeface="楷体_GB2312" pitchFamily="49" charset="-122"/>
            </a:endParaRPr>
          </a:p>
        </p:txBody>
      </p:sp>
      <p:sp>
        <p:nvSpPr>
          <p:cNvPr id="5" name="Rectangle 4"/>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2.3</a:t>
            </a: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 大气气溶胶</a:t>
            </a:r>
            <a:endPar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
        <p:nvSpPr>
          <p:cNvPr id="6" name="Rectangle 2"/>
          <p:cNvSpPr txBox="1">
            <a:spLocks noChangeArrowheads="1"/>
          </p:cNvSpPr>
          <p:nvPr/>
        </p:nvSpPr>
        <p:spPr bwMode="auto">
          <a:xfrm>
            <a:off x="595313" y="1916113"/>
            <a:ext cx="8153400" cy="541338"/>
          </a:xfrm>
          <a:prstGeom prst="rect">
            <a:avLst/>
          </a:prstGeom>
          <a:noFill/>
          <a:ln w="9525">
            <a:noFill/>
            <a:miter lim="800000"/>
          </a:ln>
        </p:spPr>
        <p:txBody>
          <a:bodyPr/>
          <a:lstStyle/>
          <a:p>
            <a:pPr marL="342900" marR="0" indent="-342900" defTabSz="914400">
              <a:lnSpc>
                <a:spcPct val="90000"/>
              </a:lnSpc>
              <a:spcBef>
                <a:spcPct val="20000"/>
              </a:spcBef>
              <a:buClr>
                <a:schemeClr val="folHlink"/>
              </a:buClr>
              <a:buSzPct val="60000"/>
              <a:buFontTx/>
              <a:buNone/>
              <a:defRPr/>
            </a:pPr>
            <a:r>
              <a:rPr kumimoji="0" lang="en-US" altLang="zh-CN" sz="2800" kern="0" cap="none" spc="0" normalizeH="0" baseline="0" noProof="0" dirty="0">
                <a:solidFill>
                  <a:srgbClr val="0066FF"/>
                </a:solidFill>
                <a:latin typeface="楷体" panose="02010609060101010101" pitchFamily="49" charset="-122"/>
                <a:ea typeface="楷体" panose="02010609060101010101" pitchFamily="49" charset="-122"/>
                <a:cs typeface="+mn-cs"/>
              </a:rPr>
              <a:t>1) </a:t>
            </a:r>
            <a:r>
              <a:rPr kumimoji="0" lang="zh-CN" altLang="en-US" sz="2800" kern="0" cap="none" spc="0" normalizeH="0" baseline="0" noProof="0" dirty="0">
                <a:latin typeface="楷体" panose="02010609060101010101" pitchFamily="49" charset="-122"/>
                <a:ea typeface="楷体" panose="02010609060101010101" pitchFamily="49" charset="-122"/>
                <a:cs typeface="+mn-cs"/>
              </a:rPr>
              <a:t>云降水学分类（按尺度大小分类）</a:t>
            </a:r>
            <a:endParaRPr kumimoji="0" lang="zh-CN" altLang="en-US" sz="2800" kern="0" cap="none" spc="0" normalizeH="0" baseline="0" noProof="0" dirty="0">
              <a:latin typeface="楷体" panose="02010609060101010101" pitchFamily="49" charset="-122"/>
              <a:ea typeface="楷体" panose="02010609060101010101" pitchFamily="49" charset="-122"/>
              <a:cs typeface="+mn-cs"/>
            </a:endParaRPr>
          </a:p>
        </p:txBody>
      </p:sp>
      <p:sp>
        <p:nvSpPr>
          <p:cNvPr id="39942" name="TextBox 9"/>
          <p:cNvSpPr txBox="1"/>
          <p:nvPr/>
        </p:nvSpPr>
        <p:spPr>
          <a:xfrm>
            <a:off x="395288" y="981075"/>
            <a:ext cx="3313112" cy="584200"/>
          </a:xfrm>
          <a:prstGeom prst="rect">
            <a:avLst/>
          </a:prstGeom>
          <a:blipFill rotWithShape="1">
            <a:blip r:embed="rId1"/>
          </a:blipFill>
          <a:ln w="9525">
            <a:noFill/>
          </a:ln>
        </p:spPr>
        <p:txBody>
          <a:bodyPr>
            <a:spAutoFit/>
          </a:bodyPr>
          <a:p>
            <a:pPr algn="ctr" eaLnBrk="1" hangingPunct="1"/>
            <a:r>
              <a:rPr lang="en-US" altLang="zh-CN" sz="3200" dirty="0">
                <a:latin typeface="Arial" panose="020B0604020202020204" pitchFamily="34" charset="0"/>
              </a:rPr>
              <a:t>1. </a:t>
            </a:r>
            <a:r>
              <a:rPr lang="zh-CN" altLang="en-US" sz="3200" dirty="0">
                <a:latin typeface="Arial" panose="020B0604020202020204" pitchFamily="34" charset="0"/>
              </a:rPr>
              <a:t>气溶胶的分类</a:t>
            </a:r>
            <a:endParaRPr lang="zh-CN" altLang="en-US" sz="3200" dirty="0">
              <a:latin typeface="Arial" panose="020B0604020202020204" pitchFamily="34"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ext Box 3"/>
          <p:cNvSpPr txBox="1"/>
          <p:nvPr/>
        </p:nvSpPr>
        <p:spPr>
          <a:xfrm>
            <a:off x="539750" y="1844675"/>
            <a:ext cx="7300913" cy="646113"/>
          </a:xfrm>
          <a:prstGeom prst="rect">
            <a:avLst/>
          </a:prstGeom>
          <a:noFill/>
          <a:ln w="9525">
            <a:noFill/>
          </a:ln>
        </p:spPr>
        <p:txBody>
          <a:bodyPr wrap="none">
            <a:spAutoFit/>
          </a:bodyPr>
          <a:p>
            <a:pPr eaLnBrk="1" hangingPunct="1">
              <a:lnSpc>
                <a:spcPct val="150000"/>
              </a:lnSpc>
            </a:pPr>
            <a:r>
              <a:rPr lang="zh-CN" altLang="en-US" sz="2400" dirty="0">
                <a:latin typeface="Arial" panose="020B0604020202020204" pitchFamily="34" charset="0"/>
              </a:rPr>
              <a:t>谱分布：表示粒子浓度与粒子大小之间的函数关系。</a:t>
            </a:r>
            <a:endParaRPr lang="zh-CN" altLang="en-US" sz="2400" dirty="0">
              <a:latin typeface="Arial" panose="020B0604020202020204" pitchFamily="34" charset="0"/>
            </a:endParaRPr>
          </a:p>
        </p:txBody>
      </p:sp>
      <p:pic>
        <p:nvPicPr>
          <p:cNvPr id="40963" name="Picture 4"/>
          <p:cNvPicPr>
            <a:picLocks noChangeAspect="1"/>
          </p:cNvPicPr>
          <p:nvPr/>
        </p:nvPicPr>
        <p:blipFill>
          <a:blip r:embed="rId1"/>
          <a:srcRect b="66096"/>
          <a:stretch>
            <a:fillRect/>
          </a:stretch>
        </p:blipFill>
        <p:spPr>
          <a:xfrm>
            <a:off x="1331913" y="2903538"/>
            <a:ext cx="5040312" cy="885825"/>
          </a:xfrm>
          <a:prstGeom prst="rect">
            <a:avLst/>
          </a:prstGeom>
          <a:noFill/>
          <a:ln w="9525">
            <a:noFill/>
          </a:ln>
        </p:spPr>
      </p:pic>
      <p:sp>
        <p:nvSpPr>
          <p:cNvPr id="40964" name="Text Box 5"/>
          <p:cNvSpPr txBox="1"/>
          <p:nvPr/>
        </p:nvSpPr>
        <p:spPr>
          <a:xfrm>
            <a:off x="1258888" y="3644900"/>
            <a:ext cx="495300" cy="461963"/>
          </a:xfrm>
          <a:prstGeom prst="rect">
            <a:avLst/>
          </a:prstGeom>
          <a:noFill/>
          <a:ln w="9525">
            <a:noFill/>
          </a:ln>
        </p:spPr>
        <p:txBody>
          <a:bodyPr wrap="none">
            <a:spAutoFit/>
          </a:bodyPr>
          <a:p>
            <a:pPr eaLnBrk="1" hangingPunct="1"/>
            <a:r>
              <a:rPr lang="zh-CN" altLang="en-US" sz="2400" dirty="0">
                <a:latin typeface="Arial" panose="020B0604020202020204" pitchFamily="34" charset="0"/>
              </a:rPr>
              <a:t>或</a:t>
            </a:r>
            <a:endParaRPr lang="zh-CN" altLang="en-US" sz="2400" dirty="0">
              <a:latin typeface="Arial" panose="020B0604020202020204" pitchFamily="34" charset="0"/>
            </a:endParaRPr>
          </a:p>
        </p:txBody>
      </p:sp>
      <p:sp>
        <p:nvSpPr>
          <p:cNvPr id="40965" name="Text Box 7"/>
          <p:cNvSpPr txBox="1"/>
          <p:nvPr/>
        </p:nvSpPr>
        <p:spPr>
          <a:xfrm>
            <a:off x="2555875" y="5883275"/>
            <a:ext cx="4464050" cy="523875"/>
          </a:xfrm>
          <a:prstGeom prst="rect">
            <a:avLst/>
          </a:prstGeom>
          <a:noFill/>
          <a:ln w="9525">
            <a:noFill/>
          </a:ln>
        </p:spPr>
        <p:txBody>
          <a:bodyPr>
            <a:spAutoFit/>
          </a:bodyPr>
          <a:p>
            <a:pPr eaLnBrk="1" hangingPunct="1"/>
            <a:r>
              <a:rPr lang="en-US" altLang="zh-CN" sz="2800" b="0" dirty="0">
                <a:latin typeface="Arial" panose="020B0604020202020204" pitchFamily="34" charset="0"/>
              </a:rPr>
              <a:t>dN(r)/dr = a r</a:t>
            </a:r>
            <a:r>
              <a:rPr lang="en-US" altLang="zh-CN" sz="2800" b="0" baseline="30000" dirty="0">
                <a:latin typeface="Arial" panose="020B0604020202020204" pitchFamily="34" charset="0"/>
              </a:rPr>
              <a:t>a</a:t>
            </a:r>
            <a:r>
              <a:rPr lang="en-US" altLang="zh-CN" sz="2800" b="0" dirty="0">
                <a:latin typeface="Arial" panose="020B0604020202020204" pitchFamily="34" charset="0"/>
              </a:rPr>
              <a:t> exp (-b r</a:t>
            </a:r>
            <a:r>
              <a:rPr lang="en-US" altLang="zh-CN" sz="2800" b="0" baseline="30000" dirty="0">
                <a:latin typeface="Arial" panose="020B0604020202020204" pitchFamily="34" charset="0"/>
              </a:rPr>
              <a:t>v</a:t>
            </a:r>
            <a:r>
              <a:rPr lang="en-US" altLang="zh-CN" sz="2800" b="0" dirty="0">
                <a:latin typeface="Arial" panose="020B0604020202020204" pitchFamily="34" charset="0"/>
              </a:rPr>
              <a:t> )</a:t>
            </a:r>
            <a:endParaRPr lang="en-US" altLang="zh-CN" sz="2800" b="0" dirty="0">
              <a:latin typeface="Arial" panose="020B0604020202020204" pitchFamily="34" charset="0"/>
            </a:endParaRPr>
          </a:p>
        </p:txBody>
      </p:sp>
      <p:sp>
        <p:nvSpPr>
          <p:cNvPr id="8" name="Rectangle 4"/>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2.3</a:t>
            </a: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 大气气溶胶</a:t>
            </a:r>
            <a:endPar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
        <p:nvSpPr>
          <p:cNvPr id="40967" name="TextBox 8"/>
          <p:cNvSpPr txBox="1"/>
          <p:nvPr/>
        </p:nvSpPr>
        <p:spPr>
          <a:xfrm>
            <a:off x="395288" y="981075"/>
            <a:ext cx="4537075" cy="584200"/>
          </a:xfrm>
          <a:prstGeom prst="rect">
            <a:avLst/>
          </a:prstGeom>
          <a:blipFill rotWithShape="1">
            <a:blip r:embed="rId2"/>
          </a:blipFill>
          <a:ln w="9525">
            <a:noFill/>
          </a:ln>
        </p:spPr>
        <p:txBody>
          <a:bodyPr>
            <a:spAutoFit/>
          </a:bodyPr>
          <a:p>
            <a:pPr algn="ctr" eaLnBrk="1" hangingPunct="1"/>
            <a:r>
              <a:rPr lang="en-US" altLang="zh-CN" sz="3200" dirty="0">
                <a:latin typeface="Arial" panose="020B0604020202020204" pitchFamily="34" charset="0"/>
              </a:rPr>
              <a:t>2. </a:t>
            </a:r>
            <a:r>
              <a:rPr lang="zh-CN" altLang="en-US" sz="3200" dirty="0">
                <a:latin typeface="Arial" panose="020B0604020202020204" pitchFamily="34" charset="0"/>
              </a:rPr>
              <a:t>气溶胶粒子的谱分布</a:t>
            </a:r>
            <a:endParaRPr lang="zh-CN" altLang="en-US" sz="3200" dirty="0">
              <a:latin typeface="Arial" panose="020B0604020202020204" pitchFamily="34" charset="0"/>
            </a:endParaRPr>
          </a:p>
        </p:txBody>
      </p:sp>
      <p:sp>
        <p:nvSpPr>
          <p:cNvPr id="12" name="内容占位符 2"/>
          <p:cNvSpPr txBox="1"/>
          <p:nvPr/>
        </p:nvSpPr>
        <p:spPr>
          <a:xfrm>
            <a:off x="684213" y="2420938"/>
            <a:ext cx="2374900" cy="647700"/>
          </a:xfrm>
          <a:prstGeom prst="rect">
            <a:avLst/>
          </a:prstGeom>
        </p:spPr>
        <p:txBody>
          <a:bodyPr/>
          <a:lstStyle/>
          <a:p>
            <a:pPr marL="342900" marR="0" indent="-342900" algn="just" defTabSz="914400">
              <a:lnSpc>
                <a:spcPct val="150000"/>
              </a:lnSpc>
              <a:spcBef>
                <a:spcPct val="20000"/>
              </a:spcBef>
              <a:buClr>
                <a:schemeClr val="folHlink"/>
              </a:buClr>
              <a:buSzPct val="60000"/>
              <a:buFont typeface="Wingdings" panose="05000000000000000000" pitchFamily="2" charset="2"/>
              <a:buChar char="n"/>
              <a:defRPr/>
            </a:pPr>
            <a:r>
              <a:rPr kumimoji="0" lang="en-US" altLang="zh-CN" sz="2400" kern="0" cap="none" spc="0" normalizeH="0" baseline="0" noProof="0" dirty="0" err="1">
                <a:solidFill>
                  <a:srgbClr val="FF00FF"/>
                </a:solidFill>
                <a:latin typeface="Arial" panose="020B0604020202020204" pitchFamily="34" charset="0"/>
                <a:ea typeface="宋体" panose="02010600030101010101" pitchFamily="2" charset="-122"/>
                <a:cs typeface="Arial" panose="020B0604020202020204" pitchFamily="34" charset="0"/>
              </a:rPr>
              <a:t>Junge</a:t>
            </a:r>
            <a:r>
              <a:rPr kumimoji="0" lang="zh-CN" altLang="en-US" sz="2400" kern="0" cap="none" spc="0" normalizeH="0" baseline="0" noProof="0" dirty="0">
                <a:solidFill>
                  <a:srgbClr val="FF00FF"/>
                </a:solidFill>
                <a:latin typeface="Arial" panose="020B0604020202020204" pitchFamily="34" charset="0"/>
                <a:ea typeface="宋体" panose="02010600030101010101" pitchFamily="2" charset="-122"/>
                <a:cs typeface="Arial" panose="020B0604020202020204" pitchFamily="34" charset="0"/>
              </a:rPr>
              <a:t>谱 </a:t>
            </a:r>
            <a:endParaRPr kumimoji="0" lang="en-US" altLang="zh-CN" sz="2400" kern="0" cap="none" spc="0" normalizeH="0" baseline="0" noProof="0" dirty="0">
              <a:solidFill>
                <a:srgbClr val="FF00FF"/>
              </a:solidFill>
              <a:latin typeface="Arial" panose="020B0604020202020204" pitchFamily="34" charset="0"/>
              <a:ea typeface="宋体" panose="02010600030101010101" pitchFamily="2" charset="-122"/>
              <a:cs typeface="Arial" panose="020B0604020202020204" pitchFamily="34" charset="0"/>
            </a:endParaRPr>
          </a:p>
          <a:p>
            <a:pPr marL="742950" marR="0" lvl="1" indent="-285750" algn="just" defTabSz="914400" rtl="0" eaLnBrk="0" fontAlgn="base" latinLnBrk="0" hangingPunct="0">
              <a:lnSpc>
                <a:spcPct val="150000"/>
              </a:lnSpc>
              <a:spcBef>
                <a:spcPct val="20000"/>
              </a:spcBef>
              <a:spcAft>
                <a:spcPct val="0"/>
              </a:spcAft>
              <a:buClr>
                <a:schemeClr val="hlink"/>
              </a:buClr>
              <a:buSzPct val="55000"/>
              <a:buFont typeface="Wingdings" panose="05000000000000000000" pitchFamily="2" charset="2"/>
              <a:buChar char="n"/>
              <a:defRPr/>
            </a:pPr>
            <a:endParaRPr kumimoji="0" lang="en-US" altLang="zh-CN" sz="2400" b="1" i="0" u="none" strike="noStrike" kern="0" cap="none" spc="0" normalizeH="0" baseline="0" noProof="0" dirty="0">
              <a:ln>
                <a:noFill/>
              </a:ln>
              <a:solidFill>
                <a:srgbClr val="FF00FF"/>
              </a:solidFill>
              <a:effectLst/>
              <a:uLnTx/>
              <a:uFillTx/>
              <a:latin typeface="Arial" panose="020B0604020202020204" pitchFamily="34" charset="0"/>
              <a:ea typeface="宋体" panose="02010600030101010101" pitchFamily="2" charset="-122"/>
              <a:cs typeface="Arial" panose="020B0604020202020204" pitchFamily="34" charset="0"/>
            </a:endParaRPr>
          </a:p>
          <a:p>
            <a:pPr marL="742950" marR="0" lvl="1" indent="-285750" algn="just" defTabSz="914400" rtl="0" eaLnBrk="0" fontAlgn="base" latinLnBrk="0" hangingPunct="0">
              <a:lnSpc>
                <a:spcPct val="150000"/>
              </a:lnSpc>
              <a:spcBef>
                <a:spcPct val="20000"/>
              </a:spcBef>
              <a:spcAft>
                <a:spcPct val="0"/>
              </a:spcAft>
              <a:buClr>
                <a:schemeClr val="hlink"/>
              </a:buClr>
              <a:buSzPct val="55000"/>
              <a:buFont typeface="Wingdings" panose="05000000000000000000" pitchFamily="2" charset="2"/>
              <a:buChar char="n"/>
              <a:defRPr/>
            </a:pPr>
            <a:endParaRPr kumimoji="0" lang="en-US" altLang="zh-CN" sz="2400" b="1" i="0" u="none" strike="noStrike" kern="0" cap="none" spc="0" normalizeH="0" baseline="0" noProof="0" dirty="0">
              <a:ln>
                <a:noFill/>
              </a:ln>
              <a:solidFill>
                <a:srgbClr val="FF00FF"/>
              </a:solidFill>
              <a:effectLst/>
              <a:uLnTx/>
              <a:uFillTx/>
              <a:latin typeface="Arial" panose="020B0604020202020204" pitchFamily="34" charset="0"/>
              <a:ea typeface="宋体" panose="02010600030101010101" pitchFamily="2" charset="-122"/>
              <a:cs typeface="Arial" panose="020B0604020202020204" pitchFamily="34" charset="0"/>
            </a:endParaRPr>
          </a:p>
          <a:p>
            <a:pPr marL="742950" marR="0" lvl="1" indent="-285750" algn="just" defTabSz="914400" rtl="0" eaLnBrk="0" fontAlgn="base" latinLnBrk="0" hangingPunct="0">
              <a:lnSpc>
                <a:spcPct val="150000"/>
              </a:lnSpc>
              <a:spcBef>
                <a:spcPct val="20000"/>
              </a:spcBef>
              <a:spcAft>
                <a:spcPct val="0"/>
              </a:spcAft>
              <a:buClr>
                <a:schemeClr val="hlink"/>
              </a:buClr>
              <a:buSzPct val="55000"/>
              <a:buFont typeface="Wingdings" panose="05000000000000000000" pitchFamily="2" charset="2"/>
              <a:buChar char="n"/>
              <a:defRPr/>
            </a:pPr>
            <a:endParaRPr kumimoji="0" lang="en-US" altLang="zh-CN" sz="2400" b="1" i="0" u="none" strike="noStrike" kern="0" cap="none" spc="0" normalizeH="0" baseline="0" noProof="0" dirty="0">
              <a:ln>
                <a:noFill/>
              </a:ln>
              <a:solidFill>
                <a:srgbClr val="FF00FF"/>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13" name="内容占位符 2"/>
          <p:cNvSpPr txBox="1"/>
          <p:nvPr/>
        </p:nvSpPr>
        <p:spPr>
          <a:xfrm>
            <a:off x="684213" y="5013325"/>
            <a:ext cx="4535488" cy="647700"/>
          </a:xfrm>
          <a:prstGeom prst="rect">
            <a:avLst/>
          </a:prstGeom>
        </p:spPr>
        <p:txBody>
          <a:bodyPr/>
          <a:lstStyle/>
          <a:p>
            <a:pPr marL="342900" marR="0" indent="-342900" algn="just" defTabSz="914400">
              <a:lnSpc>
                <a:spcPct val="150000"/>
              </a:lnSpc>
              <a:spcBef>
                <a:spcPct val="20000"/>
              </a:spcBef>
              <a:buClr>
                <a:schemeClr val="folHlink"/>
              </a:buClr>
              <a:buSzPct val="60000"/>
              <a:buFont typeface="Wingdings" panose="05000000000000000000" pitchFamily="2" charset="2"/>
              <a:buChar char="n"/>
              <a:defRPr/>
            </a:pPr>
            <a:r>
              <a:rPr kumimoji="0" lang="zh-CN" altLang="en-US" sz="2400" kern="1200" cap="none" spc="0" normalizeH="0" baseline="0" noProof="0" dirty="0">
                <a:solidFill>
                  <a:srgbClr val="FF00FF"/>
                </a:solidFill>
                <a:latin typeface="Arial" panose="020B0604020202020204" pitchFamily="34" charset="0"/>
                <a:ea typeface="宋体" panose="02010600030101010101" pitchFamily="2" charset="-122"/>
                <a:cs typeface="+mn-cs"/>
              </a:rPr>
              <a:t>广义</a:t>
            </a:r>
            <a:r>
              <a:rPr kumimoji="0" lang="el-GR" altLang="zh-CN" sz="2400" kern="1200" cap="none" spc="0" normalizeH="0" baseline="0" noProof="0" dirty="0">
                <a:solidFill>
                  <a:srgbClr val="FF00FF"/>
                </a:solidFill>
                <a:latin typeface="Arial" panose="020B0604020202020204" pitchFamily="34" charset="0"/>
                <a:ea typeface="宋体" panose="02010600030101010101" pitchFamily="2" charset="-122"/>
                <a:cs typeface="Times New Roman" panose="02020603050405020304" pitchFamily="18" charset="0"/>
              </a:rPr>
              <a:t>Γ</a:t>
            </a:r>
            <a:r>
              <a:rPr kumimoji="0" lang="zh-CN" altLang="en-US" sz="2400" kern="1200" cap="none" spc="0" normalizeH="0" baseline="0" noProof="0" dirty="0">
                <a:solidFill>
                  <a:srgbClr val="FF00FF"/>
                </a:solidFill>
                <a:latin typeface="Arial" panose="020B0604020202020204" pitchFamily="34" charset="0"/>
                <a:ea typeface="宋体" panose="02010600030101010101" pitchFamily="2" charset="-122"/>
                <a:cs typeface="Times New Roman" panose="02020603050405020304" pitchFamily="18" charset="0"/>
              </a:rPr>
              <a:t>谱（</a:t>
            </a:r>
            <a:r>
              <a:rPr kumimoji="0" lang="en-US" altLang="zh-CN" sz="2400" kern="1200" cap="none" spc="0" normalizeH="0" baseline="0" noProof="0" dirty="0" err="1">
                <a:solidFill>
                  <a:srgbClr val="FF00FF"/>
                </a:solidFill>
                <a:latin typeface="Arial" panose="020B0604020202020204" pitchFamily="34" charset="0"/>
                <a:ea typeface="宋体" panose="02010600030101010101" pitchFamily="2" charset="-122"/>
                <a:cs typeface="Times New Roman" panose="02020603050405020304" pitchFamily="18" charset="0"/>
              </a:rPr>
              <a:t>Deirmandjian</a:t>
            </a:r>
            <a:r>
              <a:rPr kumimoji="0" lang="en-US" altLang="zh-CN" sz="2400" kern="1200" cap="none" spc="0" normalizeH="0" baseline="0" noProof="0" dirty="0">
                <a:solidFill>
                  <a:srgbClr val="FF00FF"/>
                </a:solidFill>
                <a:latin typeface="Arial" panose="020B0604020202020204" pitchFamily="34" charset="0"/>
                <a:ea typeface="宋体" panose="02010600030101010101" pitchFamily="2" charset="-122"/>
                <a:cs typeface="Times New Roman" panose="02020603050405020304" pitchFamily="18" charset="0"/>
              </a:rPr>
              <a:t> </a:t>
            </a:r>
            <a:r>
              <a:rPr kumimoji="0" lang="zh-CN" altLang="en-US" sz="2400" kern="1200" cap="none" spc="0" normalizeH="0" baseline="0" noProof="0" dirty="0">
                <a:solidFill>
                  <a:srgbClr val="FF00FF"/>
                </a:solidFill>
                <a:latin typeface="Arial" panose="020B0604020202020204" pitchFamily="34" charset="0"/>
                <a:ea typeface="宋体" panose="02010600030101010101" pitchFamily="2" charset="-122"/>
                <a:cs typeface="Times New Roman" panose="02020603050405020304" pitchFamily="18" charset="0"/>
              </a:rPr>
              <a:t>谱</a:t>
            </a:r>
            <a:r>
              <a:rPr kumimoji="0" lang="en-US" altLang="zh-CN" sz="2400" kern="1200" cap="none" spc="0" normalizeH="0" baseline="0" noProof="0" dirty="0">
                <a:solidFill>
                  <a:srgbClr val="FF00FF"/>
                </a:solidFill>
                <a:latin typeface="Arial" panose="020B0604020202020204" pitchFamily="34" charset="0"/>
                <a:ea typeface="宋体" panose="02010600030101010101" pitchFamily="2" charset="-122"/>
                <a:cs typeface="Times New Roman" panose="02020603050405020304" pitchFamily="18" charset="0"/>
              </a:rPr>
              <a:t>):</a:t>
            </a:r>
            <a:r>
              <a:rPr kumimoji="0" lang="zh-CN" altLang="en-US" sz="2400" kern="0" cap="none" spc="0" normalizeH="0" baseline="0" noProof="0" dirty="0">
                <a:solidFill>
                  <a:srgbClr val="FF00FF"/>
                </a:solidFill>
                <a:latin typeface="Arial" panose="020B0604020202020204" pitchFamily="34" charset="0"/>
                <a:ea typeface="宋体" panose="02010600030101010101" pitchFamily="2" charset="-122"/>
                <a:cs typeface="Arial" panose="020B0604020202020204" pitchFamily="34" charset="0"/>
              </a:rPr>
              <a:t> </a:t>
            </a:r>
            <a:endParaRPr kumimoji="0" lang="en-US" altLang="zh-CN" sz="2400" kern="0" cap="none" spc="0" normalizeH="0" baseline="0" noProof="0" dirty="0">
              <a:solidFill>
                <a:srgbClr val="FF00FF"/>
              </a:solidFill>
              <a:latin typeface="Arial" panose="020B0604020202020204" pitchFamily="34" charset="0"/>
              <a:ea typeface="宋体" panose="02010600030101010101" pitchFamily="2" charset="-122"/>
              <a:cs typeface="Arial" panose="020B0604020202020204" pitchFamily="34" charset="0"/>
            </a:endParaRPr>
          </a:p>
          <a:p>
            <a:pPr marL="742950" marR="0" lvl="1" indent="-285750" algn="just" defTabSz="914400" rtl="0" eaLnBrk="0" fontAlgn="base" latinLnBrk="0" hangingPunct="0">
              <a:lnSpc>
                <a:spcPct val="150000"/>
              </a:lnSpc>
              <a:spcBef>
                <a:spcPct val="20000"/>
              </a:spcBef>
              <a:spcAft>
                <a:spcPct val="0"/>
              </a:spcAft>
              <a:buClr>
                <a:schemeClr val="hlink"/>
              </a:buClr>
              <a:buSzPct val="55000"/>
              <a:buFont typeface="Wingdings" panose="05000000000000000000" pitchFamily="2" charset="2"/>
              <a:buChar char="n"/>
              <a:defRPr/>
            </a:pPr>
            <a:endParaRPr kumimoji="0" lang="en-US" altLang="zh-CN" sz="2400" b="1" i="0" u="none" strike="noStrike" kern="0" cap="none" spc="0" normalizeH="0" baseline="0" noProof="0" dirty="0">
              <a:ln>
                <a:noFill/>
              </a:ln>
              <a:solidFill>
                <a:srgbClr val="FF00FF"/>
              </a:solidFill>
              <a:effectLst/>
              <a:uLnTx/>
              <a:uFillTx/>
              <a:latin typeface="Arial" panose="020B0604020202020204" pitchFamily="34" charset="0"/>
              <a:ea typeface="宋体" panose="02010600030101010101" pitchFamily="2" charset="-122"/>
              <a:cs typeface="Arial" panose="020B0604020202020204" pitchFamily="34" charset="0"/>
            </a:endParaRPr>
          </a:p>
        </p:txBody>
      </p:sp>
      <p:pic>
        <p:nvPicPr>
          <p:cNvPr id="40970" name="Picture 4"/>
          <p:cNvPicPr>
            <a:picLocks noChangeAspect="1"/>
          </p:cNvPicPr>
          <p:nvPr/>
        </p:nvPicPr>
        <p:blipFill>
          <a:blip r:embed="rId1"/>
          <a:srcRect t="66096"/>
          <a:stretch>
            <a:fillRect/>
          </a:stretch>
        </p:blipFill>
        <p:spPr>
          <a:xfrm>
            <a:off x="1692275" y="4056063"/>
            <a:ext cx="5040313" cy="885825"/>
          </a:xfrm>
          <a:prstGeom prst="rect">
            <a:avLst/>
          </a:prstGeom>
          <a:noFill/>
          <a:ln w="9525">
            <a:noFill/>
          </a:ln>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1986" name="Picture 8" descr="F0210"/>
          <p:cNvPicPr>
            <a:picLocks noChangeAspect="1"/>
          </p:cNvPicPr>
          <p:nvPr/>
        </p:nvPicPr>
        <p:blipFill>
          <a:blip r:embed="rId1"/>
          <a:stretch>
            <a:fillRect/>
          </a:stretch>
        </p:blipFill>
        <p:spPr>
          <a:xfrm>
            <a:off x="2555875" y="1628775"/>
            <a:ext cx="4197350" cy="5111750"/>
          </a:xfrm>
          <a:prstGeom prst="rect">
            <a:avLst/>
          </a:prstGeom>
          <a:noFill/>
          <a:ln w="9525">
            <a:noFill/>
          </a:ln>
        </p:spPr>
      </p:pic>
      <p:sp>
        <p:nvSpPr>
          <p:cNvPr id="4" name="Rectangle 4"/>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2.3</a:t>
            </a: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 大气气溶胶</a:t>
            </a:r>
            <a:endPar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
        <p:nvSpPr>
          <p:cNvPr id="41988" name="TextBox 4"/>
          <p:cNvSpPr txBox="1"/>
          <p:nvPr/>
        </p:nvSpPr>
        <p:spPr>
          <a:xfrm>
            <a:off x="395288" y="981075"/>
            <a:ext cx="4537075" cy="584200"/>
          </a:xfrm>
          <a:prstGeom prst="rect">
            <a:avLst/>
          </a:prstGeom>
          <a:blipFill rotWithShape="1">
            <a:blip r:embed="rId2"/>
          </a:blipFill>
          <a:ln w="9525">
            <a:noFill/>
          </a:ln>
        </p:spPr>
        <p:txBody>
          <a:bodyPr>
            <a:spAutoFit/>
          </a:bodyPr>
          <a:p>
            <a:pPr algn="ctr" eaLnBrk="1" hangingPunct="1"/>
            <a:r>
              <a:rPr lang="en-US" altLang="zh-CN" sz="3200" dirty="0">
                <a:latin typeface="Arial" panose="020B0604020202020204" pitchFamily="34" charset="0"/>
              </a:rPr>
              <a:t>2. </a:t>
            </a:r>
            <a:r>
              <a:rPr lang="zh-CN" altLang="en-US" sz="3200" dirty="0">
                <a:latin typeface="Arial" panose="020B0604020202020204" pitchFamily="34" charset="0"/>
              </a:rPr>
              <a:t>气溶胶粒子的谱分布</a:t>
            </a:r>
            <a:endParaRPr lang="zh-CN" altLang="en-US" sz="3200" dirty="0">
              <a:latin typeface="Arial" panose="020B0604020202020204" pitchFamily="34"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3010" name="Picture 10"/>
          <p:cNvPicPr>
            <a:picLocks noChangeAspect="1"/>
          </p:cNvPicPr>
          <p:nvPr/>
        </p:nvPicPr>
        <p:blipFill>
          <a:blip r:embed="rId1"/>
          <a:stretch>
            <a:fillRect/>
          </a:stretch>
        </p:blipFill>
        <p:spPr>
          <a:xfrm>
            <a:off x="900113" y="1897063"/>
            <a:ext cx="7632700" cy="4845050"/>
          </a:xfrm>
          <a:prstGeom prst="rect">
            <a:avLst/>
          </a:prstGeom>
          <a:noFill/>
          <a:ln w="9525">
            <a:noFill/>
          </a:ln>
        </p:spPr>
      </p:pic>
      <p:sp>
        <p:nvSpPr>
          <p:cNvPr id="4" name="Rectangle 4"/>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2.3</a:t>
            </a: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 大气气溶胶</a:t>
            </a:r>
            <a:endPar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
        <p:nvSpPr>
          <p:cNvPr id="43012" name="TextBox 4"/>
          <p:cNvSpPr txBox="1"/>
          <p:nvPr/>
        </p:nvSpPr>
        <p:spPr>
          <a:xfrm>
            <a:off x="539750" y="981075"/>
            <a:ext cx="4537075" cy="584200"/>
          </a:xfrm>
          <a:prstGeom prst="rect">
            <a:avLst/>
          </a:prstGeom>
          <a:blipFill rotWithShape="1">
            <a:blip r:embed="rId2"/>
          </a:blipFill>
          <a:ln w="9525">
            <a:noFill/>
          </a:ln>
        </p:spPr>
        <p:txBody>
          <a:bodyPr>
            <a:spAutoFit/>
          </a:bodyPr>
          <a:p>
            <a:pPr algn="ctr" eaLnBrk="1" hangingPunct="1"/>
            <a:r>
              <a:rPr lang="zh-CN" altLang="en-US" sz="3200" dirty="0">
                <a:latin typeface="Arial" panose="020B0604020202020204" pitchFamily="34" charset="0"/>
              </a:rPr>
              <a:t>气溶胶粒子的垂直分布</a:t>
            </a:r>
            <a:endParaRPr lang="zh-CN" altLang="en-US" sz="3200" dirty="0">
              <a:latin typeface="Arial" panose="020B0604020202020204" pitchFamily="34"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Text Box 4"/>
          <p:cNvSpPr txBox="1"/>
          <p:nvPr/>
        </p:nvSpPr>
        <p:spPr>
          <a:xfrm>
            <a:off x="1258888" y="1773238"/>
            <a:ext cx="6192837" cy="4765675"/>
          </a:xfrm>
          <a:prstGeom prst="rect">
            <a:avLst/>
          </a:prstGeom>
          <a:blipFill rotWithShape="1">
            <a:blip r:embed="rId1"/>
          </a:blipFill>
          <a:ln w="9525">
            <a:noFill/>
          </a:ln>
        </p:spPr>
        <p:txBody>
          <a:bodyPr>
            <a:spAutoFit/>
          </a:bodyPr>
          <a:p>
            <a:pPr eaLnBrk="1" hangingPunct="1">
              <a:lnSpc>
                <a:spcPct val="200000"/>
              </a:lnSpc>
            </a:pPr>
            <a:r>
              <a:rPr lang="en-US" altLang="zh-CN" sz="2600" dirty="0">
                <a:latin typeface="Arial" panose="020B0604020202020204" pitchFamily="34" charset="0"/>
              </a:rPr>
              <a:t>(1) </a:t>
            </a:r>
            <a:r>
              <a:rPr lang="zh-CN" altLang="en-US" sz="2600" dirty="0">
                <a:latin typeface="Arial" panose="020B0604020202020204" pitchFamily="34" charset="0"/>
              </a:rPr>
              <a:t>土壤，岩石风化及火山喷发的尘埃</a:t>
            </a:r>
            <a:endParaRPr lang="zh-CN" altLang="en-US" sz="2600" dirty="0">
              <a:latin typeface="Arial" panose="020B0604020202020204" pitchFamily="34" charset="0"/>
            </a:endParaRPr>
          </a:p>
          <a:p>
            <a:pPr eaLnBrk="1" hangingPunct="1">
              <a:lnSpc>
                <a:spcPct val="200000"/>
              </a:lnSpc>
            </a:pPr>
            <a:r>
              <a:rPr lang="en-US" altLang="zh-CN" sz="2600" dirty="0">
                <a:latin typeface="Arial" panose="020B0604020202020204" pitchFamily="34" charset="0"/>
              </a:rPr>
              <a:t>(2) </a:t>
            </a:r>
            <a:r>
              <a:rPr lang="zh-CN" altLang="en-US" sz="2600" dirty="0">
                <a:latin typeface="Arial" panose="020B0604020202020204" pitchFamily="34" charset="0"/>
              </a:rPr>
              <a:t>烟尘及工业粉尘</a:t>
            </a:r>
            <a:endParaRPr lang="zh-CN" altLang="en-US" sz="2600" dirty="0">
              <a:latin typeface="Arial" panose="020B0604020202020204" pitchFamily="34" charset="0"/>
            </a:endParaRPr>
          </a:p>
          <a:p>
            <a:pPr eaLnBrk="1" hangingPunct="1">
              <a:lnSpc>
                <a:spcPct val="200000"/>
              </a:lnSpc>
            </a:pPr>
            <a:r>
              <a:rPr lang="en-US" altLang="zh-CN" sz="2600" dirty="0">
                <a:latin typeface="Arial" panose="020B0604020202020204" pitchFamily="34" charset="0"/>
              </a:rPr>
              <a:t>(3) </a:t>
            </a:r>
            <a:r>
              <a:rPr lang="zh-CN" altLang="en-US" sz="2600" dirty="0">
                <a:latin typeface="Arial" panose="020B0604020202020204" pitchFamily="34" charset="0"/>
              </a:rPr>
              <a:t>海沫破裂干涸成核</a:t>
            </a:r>
            <a:endParaRPr lang="zh-CN" altLang="en-US" sz="2600" dirty="0">
              <a:latin typeface="Arial" panose="020B0604020202020204" pitchFamily="34" charset="0"/>
            </a:endParaRPr>
          </a:p>
          <a:p>
            <a:pPr eaLnBrk="1" hangingPunct="1">
              <a:lnSpc>
                <a:spcPct val="200000"/>
              </a:lnSpc>
            </a:pPr>
            <a:r>
              <a:rPr lang="en-US" altLang="zh-CN" sz="2600" dirty="0">
                <a:latin typeface="Arial" panose="020B0604020202020204" pitchFamily="34" charset="0"/>
              </a:rPr>
              <a:t>(4) </a:t>
            </a:r>
            <a:r>
              <a:rPr lang="zh-CN" altLang="en-US" sz="2600" dirty="0">
                <a:latin typeface="Arial" panose="020B0604020202020204" pitchFamily="34" charset="0"/>
              </a:rPr>
              <a:t>气</a:t>
            </a:r>
            <a:r>
              <a:rPr lang="en-US" altLang="zh-CN" sz="2600" dirty="0">
                <a:latin typeface="Arial" panose="020B0604020202020204" pitchFamily="34" charset="0"/>
              </a:rPr>
              <a:t>-</a:t>
            </a:r>
            <a:r>
              <a:rPr lang="zh-CN" altLang="en-US" sz="2600" dirty="0">
                <a:latin typeface="Arial" panose="020B0604020202020204" pitchFamily="34" charset="0"/>
              </a:rPr>
              <a:t>粒转化</a:t>
            </a:r>
            <a:endParaRPr lang="zh-CN" altLang="en-US" sz="2600" dirty="0">
              <a:latin typeface="Arial" panose="020B0604020202020204" pitchFamily="34" charset="0"/>
            </a:endParaRPr>
          </a:p>
          <a:p>
            <a:pPr eaLnBrk="1" hangingPunct="1">
              <a:lnSpc>
                <a:spcPct val="200000"/>
              </a:lnSpc>
            </a:pPr>
            <a:r>
              <a:rPr lang="en-US" altLang="zh-CN" sz="2600" dirty="0">
                <a:latin typeface="Arial" panose="020B0604020202020204" pitchFamily="34" charset="0"/>
              </a:rPr>
              <a:t>(5) </a:t>
            </a:r>
            <a:r>
              <a:rPr lang="zh-CN" altLang="en-US" sz="2600" dirty="0">
                <a:latin typeface="Arial" panose="020B0604020202020204" pitchFamily="34" charset="0"/>
              </a:rPr>
              <a:t>微生物、孢子、花粉等</a:t>
            </a:r>
            <a:endParaRPr lang="zh-CN" altLang="en-US" sz="2600" dirty="0">
              <a:latin typeface="Arial" panose="020B0604020202020204" pitchFamily="34" charset="0"/>
            </a:endParaRPr>
          </a:p>
          <a:p>
            <a:pPr eaLnBrk="1" hangingPunct="1">
              <a:lnSpc>
                <a:spcPct val="200000"/>
              </a:lnSpc>
            </a:pPr>
            <a:r>
              <a:rPr lang="en-US" altLang="zh-CN" sz="2600" dirty="0">
                <a:latin typeface="Arial" panose="020B0604020202020204" pitchFamily="34" charset="0"/>
              </a:rPr>
              <a:t>(6) </a:t>
            </a:r>
            <a:r>
              <a:rPr lang="zh-CN" altLang="en-US" sz="2600" dirty="0">
                <a:latin typeface="Arial" panose="020B0604020202020204" pitchFamily="34" charset="0"/>
              </a:rPr>
              <a:t>宇宙尘埃</a:t>
            </a:r>
            <a:endParaRPr lang="zh-CN" altLang="en-US" sz="2600" dirty="0">
              <a:latin typeface="Arial" panose="020B0604020202020204" pitchFamily="34" charset="0"/>
            </a:endParaRPr>
          </a:p>
        </p:txBody>
      </p:sp>
      <p:sp>
        <p:nvSpPr>
          <p:cNvPr id="4" name="Rectangle 4"/>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2.3</a:t>
            </a: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 大气气溶胶</a:t>
            </a:r>
            <a:endPar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
        <p:nvSpPr>
          <p:cNvPr id="44036" name="TextBox 4"/>
          <p:cNvSpPr txBox="1"/>
          <p:nvPr/>
        </p:nvSpPr>
        <p:spPr>
          <a:xfrm>
            <a:off x="539750" y="981075"/>
            <a:ext cx="4537075" cy="584200"/>
          </a:xfrm>
          <a:prstGeom prst="rect">
            <a:avLst/>
          </a:prstGeom>
          <a:blipFill rotWithShape="1">
            <a:blip r:embed="rId2"/>
          </a:blipFill>
          <a:ln w="9525">
            <a:noFill/>
          </a:ln>
        </p:spPr>
        <p:txBody>
          <a:bodyPr>
            <a:spAutoFit/>
          </a:bodyPr>
          <a:p>
            <a:pPr algn="ctr" eaLnBrk="1" hangingPunct="1"/>
            <a:r>
              <a:rPr lang="en-US" altLang="zh-CN" sz="3200" dirty="0">
                <a:latin typeface="Arial" panose="020B0604020202020204" pitchFamily="34" charset="0"/>
              </a:rPr>
              <a:t>3. </a:t>
            </a:r>
            <a:r>
              <a:rPr lang="zh-CN" altLang="en-US" sz="3200" dirty="0">
                <a:latin typeface="Arial" panose="020B0604020202020204" pitchFamily="34" charset="0"/>
              </a:rPr>
              <a:t>大气气溶胶的来源</a:t>
            </a:r>
            <a:endParaRPr lang="zh-CN" altLang="en-US" sz="3200" dirty="0">
              <a:latin typeface="Arial" panose="020B0604020202020204" pitchFamily="34" charset="0"/>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Text Box 3"/>
          <p:cNvSpPr txBox="1">
            <a:spLocks noChangeArrowheads="1"/>
          </p:cNvSpPr>
          <p:nvPr/>
        </p:nvSpPr>
        <p:spPr bwMode="auto">
          <a:xfrm>
            <a:off x="395288" y="1468438"/>
            <a:ext cx="7993063" cy="5273675"/>
          </a:xfrm>
          <a:prstGeom prst="rect">
            <a:avLst/>
          </a:prstGeom>
          <a:blipFill dpi="0" rotWithShape="1">
            <a:blip r:embed="rId1" cstate="print"/>
            <a:srcRect/>
            <a:tile tx="0" ty="0" sx="100000" sy="100000" flip="none" algn="tl"/>
          </a:blipFill>
          <a:ln w="9525">
            <a:noFill/>
            <a:miter lim="800000"/>
          </a:ln>
        </p:spPr>
        <p:txBody>
          <a:bodyPr>
            <a:spAutoFit/>
          </a:bodyPr>
          <a:lstStyle/>
          <a:p>
            <a:pPr marL="514350" marR="0" indent="-514350" defTabSz="914400" eaLnBrk="1" hangingPunct="1">
              <a:lnSpc>
                <a:spcPct val="150000"/>
              </a:lnSpc>
              <a:buClrTx/>
              <a:buSzTx/>
              <a:buFontTx/>
              <a:buAutoNum type="arabicParenBoth"/>
              <a:defRPr/>
            </a:pPr>
            <a:r>
              <a:rPr kumimoji="0" lang="zh-CN" altLang="en-US" sz="2400" kern="1200" cap="none" spc="0" normalizeH="0" baseline="0" noProof="0" dirty="0">
                <a:solidFill>
                  <a:srgbClr val="FF0000"/>
                </a:solidFill>
                <a:latin typeface="Arial" panose="020B0604020202020204" pitchFamily="34" charset="0"/>
                <a:ea typeface="宋体" panose="02010600030101010101" pitchFamily="2" charset="-122"/>
                <a:cs typeface="+mn-cs"/>
              </a:rPr>
              <a:t>云、雾降水</a:t>
            </a:r>
            <a:r>
              <a:rPr kumimoji="0" lang="en-US" altLang="zh-CN" sz="2400" kern="1200" cap="none" spc="0" normalizeH="0" baseline="0" noProof="0" dirty="0">
                <a:solidFill>
                  <a:srgbClr val="FF0000"/>
                </a:solidFill>
                <a:latin typeface="+mn-ea"/>
                <a:ea typeface="+mn-ea"/>
                <a:cs typeface="+mn-cs"/>
              </a:rPr>
              <a:t>:</a:t>
            </a:r>
            <a:endParaRPr kumimoji="0" lang="en-US" altLang="zh-CN" sz="2400" kern="1200" cap="none" spc="0" normalizeH="0" baseline="0" noProof="0" dirty="0">
              <a:solidFill>
                <a:srgbClr val="FF0000"/>
              </a:solidFill>
              <a:latin typeface="+mn-ea"/>
              <a:ea typeface="+mn-ea"/>
              <a:cs typeface="+mn-cs"/>
            </a:endParaRPr>
          </a:p>
          <a:p>
            <a:pPr marL="514350" marR="0" indent="-514350" defTabSz="914400" eaLnBrk="1" hangingPunct="1">
              <a:lnSpc>
                <a:spcPct val="130000"/>
              </a:lnSpc>
              <a:buClrTx/>
              <a:buSzTx/>
              <a:buFontTx/>
              <a:buNone/>
              <a:defRPr/>
            </a:pPr>
            <a:r>
              <a:rPr kumimoji="1" lang="en-US" altLang="zh-CN" sz="2400" kern="1200" cap="none" spc="0" normalizeH="0" baseline="0" noProof="0" dirty="0">
                <a:solidFill>
                  <a:srgbClr val="FF0000"/>
                </a:solidFill>
                <a:latin typeface="+mn-ea"/>
                <a:ea typeface="+mn-ea"/>
                <a:cs typeface="+mn-cs"/>
              </a:rPr>
              <a:t>   </a:t>
            </a:r>
            <a:r>
              <a:rPr kumimoji="1" lang="zh-CN" altLang="en-US" sz="2200" kern="1200" cap="none" spc="0" normalizeH="0" baseline="0" noProof="0" dirty="0">
                <a:latin typeface="+mn-ea"/>
                <a:ea typeface="+mn-ea"/>
                <a:cs typeface="+mn-cs"/>
              </a:rPr>
              <a:t>可作为水汽凝结和凝华以及水滴冻结的核心，即凝结核、冰核、凝华核。</a:t>
            </a:r>
            <a:endParaRPr kumimoji="0" lang="zh-CN" altLang="en-US" sz="2200" kern="1200" cap="none" spc="0" normalizeH="0" baseline="0" noProof="0" dirty="0">
              <a:latin typeface="+mn-ea"/>
              <a:ea typeface="+mn-ea"/>
              <a:cs typeface="+mn-cs"/>
            </a:endParaRPr>
          </a:p>
          <a:p>
            <a:pPr marR="0" defTabSz="914400" eaLnBrk="1" hangingPunct="1">
              <a:lnSpc>
                <a:spcPct val="150000"/>
              </a:lnSpc>
              <a:buClrTx/>
              <a:buSzTx/>
              <a:buFontTx/>
              <a:buNone/>
              <a:defRPr/>
            </a:pPr>
            <a:r>
              <a:rPr kumimoji="0" lang="en-US" altLang="zh-CN" sz="2400" kern="1200" cap="none" spc="0" normalizeH="0" baseline="0" noProof="0" dirty="0">
                <a:solidFill>
                  <a:srgbClr val="FF0000"/>
                </a:solidFill>
                <a:latin typeface="Arial" panose="020B0604020202020204" pitchFamily="34" charset="0"/>
                <a:ea typeface="宋体" panose="02010600030101010101" pitchFamily="2" charset="-122"/>
                <a:cs typeface="+mn-cs"/>
              </a:rPr>
              <a:t>(2) </a:t>
            </a:r>
            <a:r>
              <a:rPr kumimoji="0" lang="zh-CN" altLang="en-US" sz="2400" kern="1200" cap="none" spc="0" normalizeH="0" baseline="0" noProof="0" dirty="0">
                <a:solidFill>
                  <a:srgbClr val="FF0000"/>
                </a:solidFill>
                <a:latin typeface="Arial" panose="020B0604020202020204" pitchFamily="34" charset="0"/>
                <a:ea typeface="宋体" panose="02010600030101010101" pitchFamily="2" charset="-122"/>
                <a:cs typeface="+mn-cs"/>
              </a:rPr>
              <a:t>辐射效应：</a:t>
            </a:r>
            <a:endParaRPr kumimoji="0" lang="en-US" altLang="zh-CN" sz="2400" kern="1200" cap="none" spc="0" normalizeH="0" baseline="0" noProof="0" dirty="0">
              <a:solidFill>
                <a:srgbClr val="FF0000"/>
              </a:solidFill>
              <a:latin typeface="Arial" panose="020B0604020202020204" pitchFamily="34" charset="0"/>
              <a:ea typeface="宋体" panose="02010600030101010101" pitchFamily="2" charset="-122"/>
              <a:cs typeface="+mn-cs"/>
            </a:endParaRPr>
          </a:p>
          <a:p>
            <a:pPr marR="0" defTabSz="914400" eaLnBrk="1" hangingPunct="1">
              <a:lnSpc>
                <a:spcPct val="150000"/>
              </a:lnSpc>
              <a:buClrTx/>
              <a:buSzTx/>
              <a:buFontTx/>
              <a:buNone/>
              <a:defRPr/>
            </a:pPr>
            <a:r>
              <a:rPr kumimoji="0" lang="en-US" altLang="zh-CN" sz="2200" kern="1200" cap="none" spc="0" normalizeH="0" baseline="0" noProof="0" dirty="0">
                <a:latin typeface="Arial" panose="020B0604020202020204" pitchFamily="34" charset="0"/>
                <a:ea typeface="宋体" panose="02010600030101010101" pitchFamily="2" charset="-122"/>
                <a:cs typeface="+mn-cs"/>
              </a:rPr>
              <a:t>     </a:t>
            </a:r>
            <a:r>
              <a:rPr kumimoji="0" lang="zh-CN" altLang="en-US" sz="2200" kern="1200" cap="none" spc="0" normalizeH="0" baseline="0" noProof="0" dirty="0">
                <a:latin typeface="Arial" panose="020B0604020202020204" pitchFamily="34" charset="0"/>
                <a:ea typeface="宋体" panose="02010600030101010101" pitchFamily="2" charset="-122"/>
                <a:cs typeface="+mn-cs"/>
              </a:rPr>
              <a:t>吸收和散射太阳辐射，影响大气温度的垂直分布。</a:t>
            </a:r>
            <a:endParaRPr kumimoji="0" lang="zh-CN" altLang="en-US" sz="22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lnSpc>
                <a:spcPct val="150000"/>
              </a:lnSpc>
              <a:buClrTx/>
              <a:buSzTx/>
              <a:buFontTx/>
              <a:buNone/>
              <a:defRPr/>
            </a:pPr>
            <a:r>
              <a:rPr kumimoji="0" lang="en-US" altLang="zh-CN" sz="2400" kern="1200" cap="none" spc="0" normalizeH="0" baseline="0" noProof="0" dirty="0">
                <a:solidFill>
                  <a:srgbClr val="FF0000"/>
                </a:solidFill>
                <a:latin typeface="Arial" panose="020B0604020202020204" pitchFamily="34" charset="0"/>
                <a:ea typeface="宋体" panose="02010600030101010101" pitchFamily="2" charset="-122"/>
                <a:cs typeface="+mn-cs"/>
              </a:rPr>
              <a:t>(3) </a:t>
            </a:r>
            <a:r>
              <a:rPr kumimoji="0" lang="zh-CN" altLang="en-US" sz="2400" kern="1200" cap="none" spc="0" normalizeH="0" baseline="0" noProof="0" dirty="0">
                <a:solidFill>
                  <a:srgbClr val="FF0000"/>
                </a:solidFill>
                <a:latin typeface="Arial" panose="020B0604020202020204" pitchFamily="34" charset="0"/>
                <a:ea typeface="宋体" panose="02010600030101010101" pitchFamily="2" charset="-122"/>
                <a:cs typeface="+mn-cs"/>
              </a:rPr>
              <a:t>光学效应</a:t>
            </a:r>
            <a:endParaRPr kumimoji="0" lang="en-US" altLang="zh-CN" sz="2400" kern="1200" cap="none" spc="0" normalizeH="0" baseline="0" noProof="0" dirty="0">
              <a:solidFill>
                <a:srgbClr val="FF0000"/>
              </a:solidFill>
              <a:latin typeface="Arial" panose="020B0604020202020204" pitchFamily="34" charset="0"/>
              <a:ea typeface="宋体" panose="02010600030101010101" pitchFamily="2" charset="-122"/>
              <a:cs typeface="+mn-cs"/>
            </a:endParaRPr>
          </a:p>
          <a:p>
            <a:pPr marL="514985" marR="0" defTabSz="914400" eaLnBrk="1" hangingPunct="1">
              <a:lnSpc>
                <a:spcPct val="120000"/>
              </a:lnSpc>
              <a:spcBef>
                <a:spcPts val="0"/>
              </a:spcBef>
              <a:buClrTx/>
              <a:buSzPct val="85000"/>
              <a:buFontTx/>
              <a:buNone/>
              <a:defRPr/>
            </a:pPr>
            <a:r>
              <a:rPr kumimoji="1" lang="zh-CN" altLang="en-US" sz="2200" kern="1200" cap="none" spc="0" normalizeH="0" baseline="0" noProof="0" dirty="0">
                <a:latin typeface="+mn-ea"/>
                <a:ea typeface="+mn-ea"/>
                <a:cs typeface="+mn-cs"/>
              </a:rPr>
              <a:t>对太阳光的散射和吸收，会影响大气能见度。还会影响天   空颜色。一些光学现象的出现，也与它们的作用有关。</a:t>
            </a:r>
            <a:endParaRPr kumimoji="1" lang="zh-CN" altLang="en-US" sz="2200" kern="1200" cap="none" spc="0" normalizeH="0" baseline="0" noProof="0" dirty="0">
              <a:latin typeface="+mn-ea"/>
              <a:ea typeface="+mn-ea"/>
              <a:cs typeface="+mn-cs"/>
            </a:endParaRPr>
          </a:p>
          <a:p>
            <a:pPr marR="0" defTabSz="914400" eaLnBrk="1" hangingPunct="1">
              <a:lnSpc>
                <a:spcPct val="150000"/>
              </a:lnSpc>
              <a:buClrTx/>
              <a:buSzTx/>
              <a:buFontTx/>
              <a:buNone/>
              <a:defRPr/>
            </a:pPr>
            <a:r>
              <a:rPr kumimoji="0" lang="en-US" altLang="zh-CN" sz="2400" kern="1200" cap="none" spc="0" normalizeH="0" baseline="0" noProof="0" dirty="0">
                <a:solidFill>
                  <a:srgbClr val="FF0000"/>
                </a:solidFill>
                <a:latin typeface="Arial" panose="020B0604020202020204" pitchFamily="34" charset="0"/>
                <a:ea typeface="宋体" panose="02010600030101010101" pitchFamily="2" charset="-122"/>
                <a:cs typeface="+mn-cs"/>
              </a:rPr>
              <a:t>(4) </a:t>
            </a:r>
            <a:r>
              <a:rPr kumimoji="0" lang="zh-CN" altLang="en-US" sz="2400" kern="1200" cap="none" spc="0" normalizeH="0" baseline="0" noProof="0" dirty="0">
                <a:solidFill>
                  <a:srgbClr val="FF0000"/>
                </a:solidFill>
                <a:latin typeface="Arial" panose="020B0604020202020204" pitchFamily="34" charset="0"/>
                <a:ea typeface="宋体" panose="02010600030101010101" pitchFamily="2" charset="-122"/>
                <a:cs typeface="+mn-cs"/>
              </a:rPr>
              <a:t>对大气电学特性的影响</a:t>
            </a:r>
            <a:endParaRPr kumimoji="0" lang="zh-CN" altLang="en-US" sz="2400" kern="1200" cap="none" spc="0" normalizeH="0" baseline="0" noProof="0" dirty="0">
              <a:solidFill>
                <a:srgbClr val="FF0000"/>
              </a:solidFill>
              <a:latin typeface="Arial" panose="020B0604020202020204" pitchFamily="34" charset="0"/>
              <a:ea typeface="宋体" panose="02010600030101010101" pitchFamily="2" charset="-122"/>
              <a:cs typeface="+mn-cs"/>
            </a:endParaRPr>
          </a:p>
          <a:p>
            <a:pPr marR="0" defTabSz="914400" eaLnBrk="1" hangingPunct="1">
              <a:lnSpc>
                <a:spcPct val="150000"/>
              </a:lnSpc>
              <a:buClrTx/>
              <a:buSzTx/>
              <a:buFontTx/>
              <a:buNone/>
              <a:defRPr/>
            </a:pPr>
            <a:r>
              <a:rPr kumimoji="0" lang="en-US" altLang="zh-CN" sz="2400" kern="1200" cap="none" spc="0" normalizeH="0" baseline="0" noProof="0" dirty="0">
                <a:solidFill>
                  <a:srgbClr val="FF0000"/>
                </a:solidFill>
                <a:latin typeface="Arial" panose="020B0604020202020204" pitchFamily="34" charset="0"/>
                <a:ea typeface="宋体" panose="02010600030101010101" pitchFamily="2" charset="-122"/>
                <a:cs typeface="+mn-cs"/>
              </a:rPr>
              <a:t>(5) </a:t>
            </a:r>
            <a:r>
              <a:rPr kumimoji="0" lang="zh-CN" altLang="en-US" sz="2400" kern="1200" cap="none" spc="0" normalizeH="0" baseline="0" noProof="0" dirty="0">
                <a:solidFill>
                  <a:srgbClr val="FF0000"/>
                </a:solidFill>
                <a:latin typeface="Arial" panose="020B0604020202020204" pitchFamily="34" charset="0"/>
                <a:ea typeface="宋体" panose="02010600030101010101" pitchFamily="2" charset="-122"/>
                <a:cs typeface="+mn-cs"/>
              </a:rPr>
              <a:t>在大气化学过程中的作用</a:t>
            </a:r>
            <a:endParaRPr kumimoji="0" lang="zh-CN" altLang="en-US" sz="2400" kern="1200" cap="none" spc="0" normalizeH="0" baseline="0" noProof="0" dirty="0">
              <a:solidFill>
                <a:srgbClr val="FF0000"/>
              </a:solidFill>
              <a:latin typeface="Arial" panose="020B0604020202020204" pitchFamily="34" charset="0"/>
              <a:ea typeface="宋体" panose="02010600030101010101" pitchFamily="2" charset="-122"/>
              <a:cs typeface="+mn-cs"/>
            </a:endParaRPr>
          </a:p>
        </p:txBody>
      </p:sp>
      <p:sp>
        <p:nvSpPr>
          <p:cNvPr id="4" name="Rectangle 4"/>
          <p:cNvSpPr>
            <a:spLocks noChangeArrowheads="1"/>
          </p:cNvSpPr>
          <p:nvPr/>
        </p:nvSpPr>
        <p:spPr bwMode="auto">
          <a:xfrm>
            <a:off x="0" y="0"/>
            <a:ext cx="9144000" cy="701675"/>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2.3</a:t>
            </a: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 大气气溶胶</a:t>
            </a:r>
            <a:endParaRPr kumimoji="0" lang="en-US" altLang="zh-CN"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endParaRPr>
          </a:p>
        </p:txBody>
      </p:sp>
      <p:sp>
        <p:nvSpPr>
          <p:cNvPr id="45060" name="TextBox 4"/>
          <p:cNvSpPr txBox="1"/>
          <p:nvPr/>
        </p:nvSpPr>
        <p:spPr>
          <a:xfrm>
            <a:off x="107950" y="765175"/>
            <a:ext cx="6913563" cy="584200"/>
          </a:xfrm>
          <a:prstGeom prst="rect">
            <a:avLst/>
          </a:prstGeom>
          <a:blipFill rotWithShape="1">
            <a:blip r:embed="rId2"/>
          </a:blipFill>
          <a:ln w="9525">
            <a:noFill/>
          </a:ln>
        </p:spPr>
        <p:txBody>
          <a:bodyPr>
            <a:spAutoFit/>
          </a:bodyPr>
          <a:p>
            <a:pPr algn="ctr" eaLnBrk="1" hangingPunct="1"/>
            <a:r>
              <a:rPr lang="en-US" altLang="zh-CN" sz="3200" dirty="0">
                <a:latin typeface="Arial" panose="020B0604020202020204" pitchFamily="34" charset="0"/>
              </a:rPr>
              <a:t>4. </a:t>
            </a:r>
            <a:r>
              <a:rPr lang="zh-CN" altLang="en-US" sz="3200" dirty="0">
                <a:latin typeface="Arial" panose="020B0604020202020204" pitchFamily="34" charset="0"/>
              </a:rPr>
              <a:t>大气气溶胶在大气过程中的作用</a:t>
            </a:r>
            <a:endParaRPr lang="zh-CN" altLang="en-US" sz="3200" dirty="0">
              <a:latin typeface="Arial" panose="020B0604020202020204" pitchFamily="34"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Text Box 3"/>
          <p:cNvSpPr txBox="1"/>
          <p:nvPr/>
        </p:nvSpPr>
        <p:spPr>
          <a:xfrm>
            <a:off x="1714500" y="642938"/>
            <a:ext cx="5746750" cy="646112"/>
          </a:xfrm>
          <a:prstGeom prst="rect">
            <a:avLst/>
          </a:prstGeom>
          <a:noFill/>
          <a:ln w="9525">
            <a:noFill/>
          </a:ln>
        </p:spPr>
        <p:txBody>
          <a:bodyPr>
            <a:spAutoFit/>
          </a:bodyPr>
          <a:p>
            <a:pPr eaLnBrk="1" hangingPunct="1">
              <a:spcBef>
                <a:spcPct val="50000"/>
              </a:spcBef>
            </a:pPr>
            <a:r>
              <a:rPr lang="zh-CN" altLang="en-US" sz="3600" dirty="0">
                <a:solidFill>
                  <a:srgbClr val="0000FF"/>
                </a:solidFill>
                <a:latin typeface="Arial" panose="020B0604020202020204" pitchFamily="34" charset="0"/>
                <a:ea typeface="黑体" panose="02010609060101010101" pitchFamily="49" charset="-122"/>
              </a:rPr>
              <a:t>大气气溶胶的辐射效应</a:t>
            </a:r>
            <a:endParaRPr lang="zh-CN" altLang="en-US" sz="3600" dirty="0">
              <a:solidFill>
                <a:srgbClr val="0000FF"/>
              </a:solidFill>
              <a:latin typeface="Arial" panose="020B0604020202020204" pitchFamily="34" charset="0"/>
              <a:ea typeface="黑体" panose="02010609060101010101" pitchFamily="49" charset="-122"/>
            </a:endParaRPr>
          </a:p>
        </p:txBody>
      </p:sp>
      <p:sp>
        <p:nvSpPr>
          <p:cNvPr id="46083" name="Text Box 4"/>
          <p:cNvSpPr txBox="1"/>
          <p:nvPr/>
        </p:nvSpPr>
        <p:spPr>
          <a:xfrm>
            <a:off x="2143125" y="1571625"/>
            <a:ext cx="4891088" cy="4084638"/>
          </a:xfrm>
          <a:prstGeom prst="rect">
            <a:avLst/>
          </a:prstGeom>
          <a:noFill/>
          <a:ln w="9525">
            <a:noFill/>
          </a:ln>
        </p:spPr>
        <p:txBody>
          <a:bodyPr>
            <a:spAutoFit/>
          </a:bodyPr>
          <a:p>
            <a:pPr marL="514350" indent="-514350" eaLnBrk="1" hangingPunct="1">
              <a:lnSpc>
                <a:spcPct val="150000"/>
              </a:lnSpc>
              <a:spcBef>
                <a:spcPct val="50000"/>
              </a:spcBef>
              <a:buFont typeface="Garamond" pitchFamily="18" charset="0"/>
              <a:buAutoNum type="arabicPeriod"/>
            </a:pPr>
            <a:r>
              <a:rPr lang="zh-CN" altLang="en-US" sz="2800" dirty="0">
                <a:latin typeface="黑体" panose="02010609060101010101" pitchFamily="49" charset="-122"/>
                <a:ea typeface="黑体" panose="02010609060101010101" pitchFamily="49" charset="-122"/>
              </a:rPr>
              <a:t>直接辐射效应</a:t>
            </a:r>
            <a:endParaRPr lang="en-US" altLang="zh-CN" sz="2800" dirty="0">
              <a:latin typeface="黑体" panose="02010609060101010101" pitchFamily="49" charset="-122"/>
              <a:ea typeface="黑体" panose="02010609060101010101" pitchFamily="49" charset="-122"/>
            </a:endParaRPr>
          </a:p>
          <a:p>
            <a:pPr marL="514350" indent="-514350" eaLnBrk="1" hangingPunct="1">
              <a:lnSpc>
                <a:spcPct val="150000"/>
              </a:lnSpc>
              <a:spcBef>
                <a:spcPct val="50000"/>
              </a:spcBef>
              <a:buFont typeface="Garamond" pitchFamily="18" charset="0"/>
              <a:buAutoNum type="arabicPeriod"/>
            </a:pPr>
            <a:r>
              <a:rPr lang="zh-CN" altLang="en-US" sz="2800" dirty="0">
                <a:latin typeface="黑体" panose="02010609060101010101" pitchFamily="49" charset="-122"/>
                <a:ea typeface="黑体" panose="02010609060101010101" pitchFamily="49" charset="-122"/>
              </a:rPr>
              <a:t>间接辐射效应</a:t>
            </a:r>
            <a:endParaRPr lang="en-US" altLang="zh-CN" sz="2800" dirty="0">
              <a:latin typeface="黑体" panose="02010609060101010101" pitchFamily="49" charset="-122"/>
              <a:ea typeface="黑体" panose="02010609060101010101" pitchFamily="49" charset="-122"/>
            </a:endParaRPr>
          </a:p>
          <a:p>
            <a:pPr marL="971550" lvl="1" indent="-514350" eaLnBrk="1" hangingPunct="1">
              <a:lnSpc>
                <a:spcPct val="150000"/>
              </a:lnSpc>
              <a:spcBef>
                <a:spcPct val="50000"/>
              </a:spcBef>
              <a:buFont typeface="Wingdings" panose="05000000000000000000" pitchFamily="2" charset="2"/>
              <a:buChar char="u"/>
            </a:pPr>
            <a:r>
              <a:rPr lang="zh-CN" altLang="en-US" sz="2800" dirty="0">
                <a:latin typeface="黑体" panose="02010609060101010101" pitchFamily="49" charset="-122"/>
                <a:ea typeface="黑体" panose="02010609060101010101" pitchFamily="49" charset="-122"/>
              </a:rPr>
              <a:t>第一间接辐射效应</a:t>
            </a:r>
            <a:endParaRPr lang="en-US" altLang="zh-CN" sz="2800" dirty="0">
              <a:latin typeface="黑体" panose="02010609060101010101" pitchFamily="49" charset="-122"/>
              <a:ea typeface="黑体" panose="02010609060101010101" pitchFamily="49" charset="-122"/>
            </a:endParaRPr>
          </a:p>
          <a:p>
            <a:pPr marL="971550" lvl="1" indent="-514350" eaLnBrk="1" hangingPunct="1">
              <a:lnSpc>
                <a:spcPct val="150000"/>
              </a:lnSpc>
              <a:spcBef>
                <a:spcPct val="50000"/>
              </a:spcBef>
              <a:buFont typeface="Wingdings" panose="05000000000000000000" pitchFamily="2" charset="2"/>
              <a:buChar char="u"/>
            </a:pPr>
            <a:r>
              <a:rPr lang="zh-CN" altLang="en-US" sz="2800" dirty="0">
                <a:latin typeface="黑体" panose="02010609060101010101" pitchFamily="49" charset="-122"/>
                <a:ea typeface="黑体" panose="02010609060101010101" pitchFamily="49" charset="-122"/>
              </a:rPr>
              <a:t>第二间接辐射效应</a:t>
            </a:r>
            <a:endParaRPr lang="en-US" altLang="zh-CN" sz="2800" dirty="0">
              <a:latin typeface="黑体" panose="02010609060101010101" pitchFamily="49" charset="-122"/>
              <a:ea typeface="黑体" panose="02010609060101010101" pitchFamily="49" charset="-122"/>
            </a:endParaRPr>
          </a:p>
          <a:p>
            <a:pPr marL="514350" indent="-514350" eaLnBrk="1" hangingPunct="1">
              <a:lnSpc>
                <a:spcPct val="150000"/>
              </a:lnSpc>
              <a:spcBef>
                <a:spcPct val="50000"/>
              </a:spcBef>
              <a:buFont typeface="Garamond" pitchFamily="18" charset="0"/>
              <a:buAutoNum type="arabicPeriod"/>
            </a:pPr>
            <a:r>
              <a:rPr lang="zh-CN" altLang="en-US" sz="2800" dirty="0">
                <a:latin typeface="黑体" panose="02010609060101010101" pitchFamily="49" charset="-122"/>
                <a:ea typeface="黑体" panose="02010609060101010101" pitchFamily="49" charset="-122"/>
              </a:rPr>
              <a:t>半直接辐射效应</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标题 1"/>
          <p:cNvSpPr>
            <a:spLocks noGrp="1"/>
          </p:cNvSpPr>
          <p:nvPr>
            <p:ph type="title"/>
          </p:nvPr>
        </p:nvSpPr>
        <p:spPr>
          <a:xfrm>
            <a:off x="755650" y="692150"/>
            <a:ext cx="7793038" cy="696913"/>
          </a:xfrm>
          <a:ln/>
        </p:spPr>
        <p:txBody>
          <a:bodyPr vert="horz" wrap="square" lIns="91440" tIns="45720" rIns="91440" bIns="45720" anchor="b" anchorCtr="0"/>
          <a:p>
            <a:pPr eaLnBrk="1" hangingPunct="1"/>
            <a:r>
              <a:rPr lang="en-US" altLang="zh-CN" b="1" dirty="0"/>
              <a:t>1. </a:t>
            </a:r>
            <a:r>
              <a:rPr lang="zh-CN" altLang="en-US" b="1" dirty="0"/>
              <a:t>直接辐射效应</a:t>
            </a:r>
            <a:endParaRPr lang="zh-CN" altLang="en-US" b="1" dirty="0"/>
          </a:p>
        </p:txBody>
      </p:sp>
      <p:sp>
        <p:nvSpPr>
          <p:cNvPr id="3" name="内容占位符 2"/>
          <p:cNvSpPr>
            <a:spLocks noGrp="1"/>
          </p:cNvSpPr>
          <p:nvPr>
            <p:ph idx="1"/>
          </p:nvPr>
        </p:nvSpPr>
        <p:spPr>
          <a:xfrm>
            <a:off x="457200" y="1600200"/>
            <a:ext cx="8229600" cy="4829175"/>
          </a:xfrm>
        </p:spPr>
        <p:txBody>
          <a:bodyPr vert="horz" wrap="square" lIns="91440" tIns="45720" rIns="91440" bIns="45720" numCol="1" anchor="t" anchorCtr="0" compatLnSpc="1"/>
          <a:lstStyle/>
          <a:p>
            <a:pPr marL="342900" marR="0" lvl="0" indent="-342900" algn="l" defTabSz="914400" rtl="0" eaLnBrk="1" fontAlgn="base" latinLnBrk="0" hangingPunct="1">
              <a:lnSpc>
                <a:spcPct val="130000"/>
              </a:lnSpc>
              <a:spcBef>
                <a:spcPct val="20000"/>
              </a:spcBef>
              <a:spcAft>
                <a:spcPct val="0"/>
              </a:spcAft>
              <a:buClr>
                <a:schemeClr val="folHlink"/>
              </a:buClr>
              <a:buSzPct val="6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400" b="1" i="0" u="none" strike="noStrike" kern="0" cap="none" spc="0" normalizeH="0" baseline="0" noProof="0" dirty="0">
                <a:ln>
                  <a:noFill/>
                </a:ln>
                <a:solidFill>
                  <a:srgbClr val="FF6600"/>
                </a:solidFill>
                <a:effectLst/>
                <a:uLnTx/>
                <a:uFillTx/>
                <a:latin typeface="楷体_GB2312" pitchFamily="49" charset="-122"/>
                <a:ea typeface="楷体_GB2312" pitchFamily="49" charset="-122"/>
                <a:cs typeface="+mn-cs"/>
              </a:rPr>
              <a:t>气溶胶粒子对太阳辐射的吸收和散射</a:t>
            </a:r>
            <a:endParaRPr kumimoji="0" lang="en-US" altLang="zh-CN" sz="2400" b="1" i="0" u="none" strike="noStrike" kern="0" cap="none" spc="0" normalizeH="0" baseline="0" noProof="0" dirty="0">
              <a:ln>
                <a:noFill/>
              </a:ln>
              <a:solidFill>
                <a:srgbClr val="FF6600"/>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30000"/>
              </a:lnSpc>
              <a:spcBef>
                <a:spcPct val="20000"/>
              </a:spcBef>
              <a:spcAft>
                <a:spcPct val="0"/>
              </a:spcAft>
              <a:buClr>
                <a:schemeClr val="folHlink"/>
              </a:buClr>
              <a:buSzPct val="60000"/>
              <a:buFont typeface="Wingdings" panose="05000000000000000000" pitchFamily="2" charset="2"/>
              <a:buNone/>
              <a:defRPr/>
            </a:pPr>
            <a:endParaRPr kumimoji="0" lang="en-US" altLang="zh-CN"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30000"/>
              </a:lnSpc>
              <a:spcBef>
                <a:spcPct val="20000"/>
              </a:spcBef>
              <a:spcAft>
                <a:spcPct val="0"/>
              </a:spcAft>
              <a:buClr>
                <a:schemeClr val="folHlink"/>
              </a:buClr>
              <a:buSzPct val="6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ea"/>
                <a:ea typeface="+mn-ea"/>
                <a:cs typeface="+mn-cs"/>
              </a:rPr>
              <a:t>存在的问题：量化这个影响值的过程却进展缓慢</a:t>
            </a:r>
            <a:r>
              <a:rPr kumimoji="0" lang="en-US" altLang="zh-CN" sz="2400" b="1" i="0" u="none" strike="noStrike" kern="0" cap="none" spc="0" normalizeH="0" baseline="0" noProof="0" dirty="0">
                <a:ln>
                  <a:noFill/>
                </a:ln>
                <a:solidFill>
                  <a:schemeClr val="tx1"/>
                </a:solidFill>
                <a:effectLst/>
                <a:uLnTx/>
                <a:uFillTx/>
                <a:latin typeface="+mn-ea"/>
                <a:ea typeface="+mn-ea"/>
                <a:cs typeface="+mn-cs"/>
              </a:rPr>
              <a:t>,</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并且至今并未很好的得到解决。</a:t>
            </a:r>
            <a:endParaRPr kumimoji="0" lang="en-US" altLang="zh-CN" sz="2400" b="1" i="0" u="none" strike="noStrike" kern="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30000"/>
              </a:lnSpc>
              <a:spcBef>
                <a:spcPct val="20000"/>
              </a:spcBef>
              <a:spcAft>
                <a:spcPct val="0"/>
              </a:spcAft>
              <a:buClr>
                <a:schemeClr val="folHlink"/>
              </a:buClr>
              <a:buSzPct val="6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ea"/>
                <a:ea typeface="+mn-ea"/>
                <a:cs typeface="+mn-cs"/>
              </a:rPr>
              <a:t>区域气溶胶直接辐射强迫主要是由其粒子的光学特性、区域地表反照率以及气溶胶垂直分布决定的</a:t>
            </a:r>
            <a:r>
              <a:rPr kumimoji="0" lang="en-US" altLang="zh-CN" sz="2400" b="1" i="0" u="none" strike="noStrike" kern="0" cap="none" spc="0" normalizeH="0" baseline="0" noProof="0" dirty="0">
                <a:ln>
                  <a:noFill/>
                </a:ln>
                <a:solidFill>
                  <a:schemeClr val="tx1"/>
                </a:solidFill>
                <a:effectLst/>
                <a:uLnTx/>
                <a:uFillTx/>
                <a:latin typeface="+mn-ea"/>
                <a:ea typeface="+mn-ea"/>
                <a:cs typeface="+mn-cs"/>
              </a:rPr>
              <a:t>,</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当气溶胶类型为吸湿性粒子</a:t>
            </a:r>
            <a:r>
              <a:rPr kumimoji="0" lang="en-US" altLang="zh-CN" sz="2400" b="1" i="0" u="none" strike="noStrike" kern="0" cap="none" spc="0" normalizeH="0" baseline="0" noProof="0" dirty="0">
                <a:ln>
                  <a:noFill/>
                </a:ln>
                <a:solidFill>
                  <a:schemeClr val="tx1"/>
                </a:solidFill>
                <a:effectLst/>
                <a:uLnTx/>
                <a:uFillTx/>
                <a:latin typeface="+mn-ea"/>
                <a:ea typeface="+mn-ea"/>
                <a:cs typeface="+mn-cs"/>
              </a:rPr>
              <a:t>,</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还和当地水汽含量有关。</a:t>
            </a:r>
            <a:endParaRPr kumimoji="0" lang="zh-CN" altLang="en-US" sz="2400" b="1" i="0" u="none" strike="noStrike" kern="0" cap="none" spc="0" normalizeH="0" baseline="0" noProof="0" dirty="0">
              <a:ln>
                <a:noFill/>
              </a:ln>
              <a:solidFill>
                <a:schemeClr val="tx1"/>
              </a:solidFill>
              <a:effectLst/>
              <a:uLnTx/>
              <a:uFillTx/>
              <a:latin typeface="+mn-ea"/>
              <a:ea typeface="+mn-ea"/>
              <a:cs typeface="+mn-cs"/>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标题 1"/>
          <p:cNvSpPr>
            <a:spLocks noGrp="1"/>
          </p:cNvSpPr>
          <p:nvPr>
            <p:ph type="title"/>
          </p:nvPr>
        </p:nvSpPr>
        <p:spPr>
          <a:xfrm>
            <a:off x="684213" y="-100012"/>
            <a:ext cx="7793037" cy="1462087"/>
          </a:xfrm>
          <a:ln/>
        </p:spPr>
        <p:txBody>
          <a:bodyPr vert="horz" wrap="square" lIns="91440" tIns="45720" rIns="91440" bIns="45720" anchor="b" anchorCtr="0"/>
          <a:p>
            <a:pPr eaLnBrk="1" hangingPunct="1"/>
            <a:r>
              <a:rPr lang="en-US" altLang="zh-CN" b="1" dirty="0"/>
              <a:t>2. </a:t>
            </a:r>
            <a:r>
              <a:rPr lang="zh-CN" altLang="en-US" b="1" dirty="0"/>
              <a:t>间接辐射效应</a:t>
            </a:r>
            <a:endParaRPr lang="zh-CN" altLang="en-US" b="1" dirty="0"/>
          </a:p>
        </p:txBody>
      </p:sp>
      <p:sp>
        <p:nvSpPr>
          <p:cNvPr id="3" name="内容占位符 2"/>
          <p:cNvSpPr>
            <a:spLocks noGrp="1"/>
          </p:cNvSpPr>
          <p:nvPr>
            <p:ph idx="1"/>
          </p:nvPr>
        </p:nvSpPr>
        <p:spPr>
          <a:xfrm>
            <a:off x="214313" y="1600200"/>
            <a:ext cx="84724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30000"/>
              </a:lnSpc>
              <a:spcBef>
                <a:spcPct val="20000"/>
              </a:spcBef>
              <a:spcAft>
                <a:spcPct val="0"/>
              </a:spcAft>
              <a:buClr>
                <a:schemeClr val="folHlink"/>
              </a:buClr>
              <a:buSzPct val="60000"/>
              <a:buFont typeface="Wingdings" panose="05000000000000000000" pitchFamily="2" charset="2"/>
              <a:buNone/>
              <a:defRPr/>
            </a:pPr>
            <a:r>
              <a:rPr kumimoji="0" lang="zh-CN" altLang="en-US" sz="2400" b="1" i="0" u="none" strike="noStrike" kern="0" cap="none" spc="0" normalizeH="0" baseline="0" noProof="0" dirty="0">
                <a:ln>
                  <a:noFill/>
                </a:ln>
                <a:solidFill>
                  <a:srgbClr val="FFFF00"/>
                </a:solidFill>
                <a:effectLst/>
                <a:uLnTx/>
                <a:uFillTx/>
                <a:latin typeface="+mn-ea"/>
                <a:ea typeface="+mn-ea"/>
                <a:cs typeface="+mn-cs"/>
              </a:rPr>
              <a:t>  </a:t>
            </a:r>
            <a:r>
              <a:rPr kumimoji="0" lang="zh-CN" altLang="en-US" sz="2400" b="1" i="0" u="none" strike="noStrike" kern="0" cap="none" spc="0" normalizeH="0" baseline="0" noProof="0" dirty="0">
                <a:ln>
                  <a:noFill/>
                </a:ln>
                <a:solidFill>
                  <a:srgbClr val="FF6600"/>
                </a:solidFill>
                <a:effectLst/>
                <a:uLnTx/>
                <a:uFillTx/>
                <a:latin typeface="+mn-ea"/>
                <a:ea typeface="+mn-ea"/>
                <a:cs typeface="+mn-cs"/>
              </a:rPr>
              <a:t>第一类间接效应：</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由于气溶胶粒子增加</a:t>
            </a:r>
            <a:r>
              <a:rPr kumimoji="0" lang="en-US" altLang="zh-CN" sz="2400" b="1" i="0" u="none" strike="noStrike" kern="0" cap="none" spc="0" normalizeH="0" baseline="0" noProof="0" dirty="0">
                <a:ln>
                  <a:noFill/>
                </a:ln>
                <a:solidFill>
                  <a:schemeClr val="tx1"/>
                </a:solidFill>
                <a:effectLst/>
                <a:uLnTx/>
                <a:uFillTx/>
                <a:latin typeface="+mn-ea"/>
                <a:ea typeface="+mn-ea"/>
                <a:cs typeface="+mn-cs"/>
              </a:rPr>
              <a:t>,</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在水汽含量一定时</a:t>
            </a:r>
            <a:r>
              <a:rPr kumimoji="0" lang="en-US" altLang="zh-CN" sz="2400" b="1" i="0" u="none" strike="noStrike" kern="0" cap="none" spc="0" normalizeH="0" baseline="0" noProof="0" dirty="0">
                <a:ln>
                  <a:noFill/>
                </a:ln>
                <a:solidFill>
                  <a:schemeClr val="tx1"/>
                </a:solidFill>
                <a:effectLst/>
                <a:uLnTx/>
                <a:uFillTx/>
                <a:latin typeface="+mn-ea"/>
                <a:ea typeface="+mn-ea"/>
                <a:cs typeface="+mn-cs"/>
              </a:rPr>
              <a:t>,</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使云滴增加而云滴粒子减小的作用。</a:t>
            </a:r>
            <a:endParaRPr kumimoji="0" lang="en-US" altLang="zh-CN" sz="2400" b="1" i="0" u="none" strike="noStrike" kern="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30000"/>
              </a:lnSpc>
              <a:spcBef>
                <a:spcPct val="20000"/>
              </a:spcBef>
              <a:spcAft>
                <a:spcPct val="0"/>
              </a:spcAft>
              <a:buClr>
                <a:schemeClr val="folHlink"/>
              </a:buClr>
              <a:buSzPct val="60000"/>
              <a:buFont typeface="Wingdings" panose="05000000000000000000" pitchFamily="2" charset="2"/>
              <a:buNone/>
              <a:defRPr/>
            </a:pPr>
            <a:endParaRPr kumimoji="0" lang="en-US" altLang="zh-CN" sz="800" b="1" i="0" u="none" strike="noStrike" kern="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30000"/>
              </a:lnSpc>
              <a:spcBef>
                <a:spcPct val="20000"/>
              </a:spcBef>
              <a:spcAft>
                <a:spcPct val="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ea"/>
                <a:ea typeface="+mn-ea"/>
                <a:cs typeface="+mn-cs"/>
              </a:rPr>
              <a:t>  </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在低层大气中</a:t>
            </a:r>
            <a:r>
              <a:rPr kumimoji="0" lang="en-US" altLang="zh-CN" sz="2400" b="1" i="0" u="none" strike="noStrike" kern="0" cap="none" spc="0" normalizeH="0" baseline="0" noProof="0" dirty="0">
                <a:ln>
                  <a:noFill/>
                </a:ln>
                <a:solidFill>
                  <a:schemeClr val="tx1"/>
                </a:solidFill>
                <a:effectLst/>
                <a:uLnTx/>
                <a:uFillTx/>
                <a:latin typeface="+mn-ea"/>
                <a:ea typeface="+mn-ea"/>
                <a:cs typeface="+mn-cs"/>
              </a:rPr>
              <a:t>,</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水汽凝结在悬浮在空气中的气溶胶粒子上</a:t>
            </a:r>
            <a:r>
              <a:rPr kumimoji="0" lang="en-US" altLang="zh-CN" sz="2400" b="1" i="0" u="none" strike="noStrike" kern="0" cap="none" spc="0" normalizeH="0" baseline="0" noProof="0" dirty="0">
                <a:ln>
                  <a:noFill/>
                </a:ln>
                <a:solidFill>
                  <a:schemeClr val="tx1"/>
                </a:solidFill>
                <a:effectLst/>
                <a:uLnTx/>
                <a:uFillTx/>
                <a:latin typeface="+mn-ea"/>
                <a:ea typeface="+mn-ea"/>
                <a:cs typeface="+mn-cs"/>
              </a:rPr>
              <a:t>,</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就形成了云滴。所以</a:t>
            </a:r>
            <a:r>
              <a:rPr kumimoji="0" lang="en-US" altLang="zh-CN" sz="2400" b="1" i="0" u="none" strike="noStrike" kern="0" cap="none" spc="0" normalizeH="0" baseline="0" noProof="0" dirty="0">
                <a:ln>
                  <a:noFill/>
                </a:ln>
                <a:solidFill>
                  <a:schemeClr val="tx1"/>
                </a:solidFill>
                <a:effectLst/>
                <a:uLnTx/>
                <a:uFillTx/>
                <a:latin typeface="+mn-ea"/>
                <a:ea typeface="+mn-ea"/>
                <a:cs typeface="+mn-cs"/>
              </a:rPr>
              <a:t>,</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气溶胶粒子的浓度、大小以及吸湿性都会对云滴的浓度和大小有直接影响。这些影响进一步改变云的短波辐射效应。特别应指出</a:t>
            </a:r>
            <a:r>
              <a:rPr kumimoji="0" lang="en-US" altLang="zh-CN" sz="2400" b="1" i="0" u="none" strike="noStrike" kern="0" cap="none" spc="0" normalizeH="0" baseline="0" noProof="0" dirty="0">
                <a:ln>
                  <a:noFill/>
                </a:ln>
                <a:solidFill>
                  <a:schemeClr val="tx1"/>
                </a:solidFill>
                <a:effectLst/>
                <a:uLnTx/>
                <a:uFillTx/>
                <a:latin typeface="+mn-ea"/>
                <a:ea typeface="+mn-ea"/>
                <a:cs typeface="+mn-cs"/>
              </a:rPr>
              <a:t>,</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当增大凝结核的浓度时</a:t>
            </a:r>
            <a:r>
              <a:rPr kumimoji="0" lang="en-US" altLang="zh-CN" sz="2400" b="1" i="0" u="none" strike="noStrike" kern="0" cap="none" spc="0" normalizeH="0" baseline="0" noProof="0" dirty="0">
                <a:ln>
                  <a:noFill/>
                </a:ln>
                <a:solidFill>
                  <a:schemeClr val="tx1"/>
                </a:solidFill>
                <a:effectLst/>
                <a:uLnTx/>
                <a:uFillTx/>
                <a:latin typeface="+mn-ea"/>
                <a:ea typeface="+mn-ea"/>
                <a:cs typeface="+mn-cs"/>
              </a:rPr>
              <a:t>,</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云滴的浓度会随之增大</a:t>
            </a:r>
            <a:r>
              <a:rPr kumimoji="0" lang="en-US" altLang="zh-CN" sz="2400" b="1" i="0" u="none" strike="noStrike" kern="0" cap="none" spc="0" normalizeH="0" baseline="0" noProof="0" dirty="0">
                <a:ln>
                  <a:noFill/>
                </a:ln>
                <a:solidFill>
                  <a:schemeClr val="tx1"/>
                </a:solidFill>
                <a:effectLst/>
                <a:uLnTx/>
                <a:uFillTx/>
                <a:latin typeface="+mn-ea"/>
                <a:ea typeface="+mn-ea"/>
                <a:cs typeface="+mn-cs"/>
              </a:rPr>
              <a:t>,</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从而增大了云的短波反照率。所以第一类间接又可以被称为“云反照率”作用。</a:t>
            </a:r>
            <a:endParaRPr kumimoji="0" lang="zh-CN" altLang="en-US" sz="2400" b="1" i="0" u="none" strike="noStrike" kern="0" cap="none" spc="0" normalizeH="0" baseline="0" noProof="0" dirty="0">
              <a:ln>
                <a:noFill/>
              </a:ln>
              <a:solidFill>
                <a:schemeClr val="tx1"/>
              </a:solidFill>
              <a:effectLst/>
              <a:uLnTx/>
              <a:uFillTx/>
              <a:latin typeface="+mn-ea"/>
              <a:ea typeface="+mn-ea"/>
              <a:cs typeface="+mn-cs"/>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标题 1"/>
          <p:cNvSpPr>
            <a:spLocks noGrp="1"/>
          </p:cNvSpPr>
          <p:nvPr>
            <p:ph type="title"/>
          </p:nvPr>
        </p:nvSpPr>
        <p:spPr>
          <a:xfrm>
            <a:off x="539750" y="44450"/>
            <a:ext cx="7793038" cy="1462088"/>
          </a:xfrm>
          <a:ln/>
        </p:spPr>
        <p:txBody>
          <a:bodyPr vert="horz" wrap="square" lIns="91440" tIns="45720" rIns="91440" bIns="45720" anchor="b" anchorCtr="0"/>
          <a:p>
            <a:pPr eaLnBrk="1" hangingPunct="1"/>
            <a:r>
              <a:rPr lang="en-US" altLang="zh-CN" b="1" dirty="0"/>
              <a:t>2.</a:t>
            </a:r>
            <a:r>
              <a:rPr lang="zh-CN" altLang="en-US" b="1" dirty="0"/>
              <a:t>间接辐射效应</a:t>
            </a:r>
            <a:endParaRPr lang="zh-CN" altLang="en-US" b="1" dirty="0"/>
          </a:p>
        </p:txBody>
      </p:sp>
      <p:sp>
        <p:nvSpPr>
          <p:cNvPr id="3" name="内容占位符 2"/>
          <p:cNvSpPr>
            <a:spLocks noGrp="1"/>
          </p:cNvSpPr>
          <p:nvPr>
            <p:ph idx="1"/>
          </p:nvPr>
        </p:nvSpPr>
        <p:spPr>
          <a:xfrm>
            <a:off x="214313" y="1600200"/>
            <a:ext cx="8472488" cy="4525963"/>
          </a:xfrm>
        </p:spPr>
        <p:txBody>
          <a:bodyPr vert="horz" wrap="square" lIns="91440" tIns="45720" rIns="91440" bIns="45720" numCol="1" anchor="t" anchorCtr="0" compatLnSpc="1"/>
          <a:lstStyle/>
          <a:p>
            <a:pPr marL="342900" marR="0" lvl="0" indent="-342900" algn="l" defTabSz="914400" rtl="0" eaLnBrk="1" fontAlgn="base" latinLnBrk="0" hangingPunct="1">
              <a:lnSpc>
                <a:spcPct val="130000"/>
              </a:lnSpc>
              <a:spcBef>
                <a:spcPct val="20000"/>
              </a:spcBef>
              <a:spcAft>
                <a:spcPct val="0"/>
              </a:spcAft>
              <a:buClr>
                <a:schemeClr val="folHlink"/>
              </a:buClr>
              <a:buSzPct val="60000"/>
              <a:buFont typeface="Wingdings" panose="05000000000000000000" pitchFamily="2" charset="2"/>
              <a:buNone/>
              <a:defRPr/>
            </a:pPr>
            <a:r>
              <a:rPr kumimoji="0" lang="zh-CN" altLang="en-US" sz="2400" b="1" i="0" u="none" strike="noStrike" kern="0" cap="none" spc="0" normalizeH="0" baseline="0" noProof="0" dirty="0">
                <a:ln>
                  <a:noFill/>
                </a:ln>
                <a:solidFill>
                  <a:srgbClr val="FFFF00"/>
                </a:solidFill>
                <a:effectLst/>
                <a:uLnTx/>
                <a:uFillTx/>
                <a:latin typeface="+mn-ea"/>
                <a:ea typeface="+mn-ea"/>
                <a:cs typeface="+mn-cs"/>
              </a:rPr>
              <a:t>  </a:t>
            </a:r>
            <a:r>
              <a:rPr kumimoji="0" lang="zh-CN" altLang="en-US" sz="2400" b="1" i="0" u="none" strike="noStrike" kern="0" cap="none" spc="0" normalizeH="0" baseline="0" noProof="0" dirty="0">
                <a:ln>
                  <a:noFill/>
                </a:ln>
                <a:solidFill>
                  <a:srgbClr val="FF6600"/>
                </a:solidFill>
                <a:effectLst/>
                <a:uLnTx/>
                <a:uFillTx/>
                <a:latin typeface="+mn-ea"/>
                <a:ea typeface="+mn-ea"/>
                <a:cs typeface="+mn-cs"/>
              </a:rPr>
              <a:t>第二类间接效应：</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指由于云滴粒子减小伴随的云滴浓度增大</a:t>
            </a:r>
            <a:r>
              <a:rPr kumimoji="0" lang="en-US" altLang="zh-CN" sz="2400" b="1" i="0" u="none" strike="noStrike" kern="0" cap="none" spc="0" normalizeH="0" baseline="0" noProof="0" dirty="0">
                <a:ln>
                  <a:noFill/>
                </a:ln>
                <a:solidFill>
                  <a:schemeClr val="tx1"/>
                </a:solidFill>
                <a:effectLst/>
                <a:uLnTx/>
                <a:uFillTx/>
                <a:latin typeface="+mn-ea"/>
                <a:ea typeface="+mn-ea"/>
                <a:cs typeface="+mn-cs"/>
              </a:rPr>
              <a:t>,</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而可能会减少降水概率</a:t>
            </a:r>
            <a:r>
              <a:rPr kumimoji="0" lang="en-US" altLang="zh-CN" sz="2400" b="1" i="0" u="none" strike="noStrike" kern="0" cap="none" spc="0" normalizeH="0" baseline="0" noProof="0" dirty="0">
                <a:ln>
                  <a:noFill/>
                </a:ln>
                <a:solidFill>
                  <a:schemeClr val="tx1"/>
                </a:solidFill>
                <a:effectLst/>
                <a:uLnTx/>
                <a:uFillTx/>
                <a:latin typeface="+mn-ea"/>
                <a:ea typeface="+mn-ea"/>
                <a:cs typeface="+mn-cs"/>
              </a:rPr>
              <a:t>,</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从而改变云的厚度及生命周期。</a:t>
            </a:r>
            <a:endParaRPr kumimoji="0" lang="en-US" altLang="zh-CN" sz="2400" b="1" i="0" u="none" strike="noStrike" kern="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30000"/>
              </a:lnSpc>
              <a:spcBef>
                <a:spcPct val="20000"/>
              </a:spcBef>
              <a:spcAft>
                <a:spcPct val="0"/>
              </a:spcAft>
              <a:buClr>
                <a:schemeClr val="folHlink"/>
              </a:buClr>
              <a:buSzPct val="60000"/>
              <a:buFont typeface="Wingdings" panose="05000000000000000000" pitchFamily="2" charset="2"/>
              <a:buNone/>
              <a:defRPr/>
            </a:pPr>
            <a:endParaRPr kumimoji="0" lang="en-US" altLang="zh-CN" sz="800" b="1" i="0" u="none" strike="noStrike" kern="0" cap="none" spc="0" normalizeH="0" baseline="0" noProof="0" dirty="0">
              <a:ln>
                <a:noFill/>
              </a:ln>
              <a:solidFill>
                <a:schemeClr val="tx1"/>
              </a:solidFill>
              <a:effectLst/>
              <a:uLnTx/>
              <a:uFillTx/>
              <a:latin typeface="+mn-ea"/>
              <a:ea typeface="+mn-ea"/>
              <a:cs typeface="+mn-cs"/>
            </a:endParaRPr>
          </a:p>
          <a:p>
            <a:pPr marL="342900" marR="0" lvl="0" indent="-342900" algn="l" defTabSz="914400" rtl="0" eaLnBrk="1" fontAlgn="base" latinLnBrk="0" hangingPunct="1">
              <a:lnSpc>
                <a:spcPct val="130000"/>
              </a:lnSpc>
              <a:spcBef>
                <a:spcPct val="20000"/>
              </a:spcBef>
              <a:spcAft>
                <a:spcPct val="0"/>
              </a:spcAft>
              <a:buClr>
                <a:schemeClr val="folHlink"/>
              </a:buClr>
              <a:buSzPct val="60000"/>
              <a:buFont typeface="Wingdings" panose="05000000000000000000" pitchFamily="2" charset="2"/>
              <a:buNone/>
              <a:defRPr/>
            </a:pPr>
            <a:r>
              <a:rPr kumimoji="0" lang="en-US" altLang="zh-CN" sz="2400" b="1" i="0" u="none" strike="noStrike" kern="0" cap="none" spc="0" normalizeH="0" baseline="0" noProof="0" dirty="0">
                <a:ln>
                  <a:noFill/>
                </a:ln>
                <a:solidFill>
                  <a:schemeClr val="tx1"/>
                </a:solidFill>
                <a:effectLst/>
                <a:uLnTx/>
                <a:uFillTx/>
                <a:latin typeface="+mn-ea"/>
                <a:ea typeface="+mn-ea"/>
                <a:cs typeface="+mn-cs"/>
              </a:rPr>
              <a:t>  </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这种延长云的生命周期以及增大云覆盖率的作用不仅会增强云的短波反射作用</a:t>
            </a:r>
            <a:r>
              <a:rPr kumimoji="0" lang="en-US" altLang="zh-CN" sz="2400" b="1" i="0" u="none" strike="noStrike" kern="0" cap="none" spc="0" normalizeH="0" baseline="0" noProof="0" dirty="0">
                <a:ln>
                  <a:noFill/>
                </a:ln>
                <a:solidFill>
                  <a:schemeClr val="tx1"/>
                </a:solidFill>
                <a:effectLst/>
                <a:uLnTx/>
                <a:uFillTx/>
                <a:latin typeface="+mn-ea"/>
                <a:ea typeface="+mn-ea"/>
                <a:cs typeface="+mn-cs"/>
              </a:rPr>
              <a:t>,</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也会增强长波增暖作用。最终的净辐射作用为冷却作用。另外</a:t>
            </a:r>
            <a:r>
              <a:rPr kumimoji="0" lang="en-US" altLang="zh-CN" sz="2400" b="1" i="0" u="none" strike="noStrike" kern="0" cap="none" spc="0" normalizeH="0" baseline="0" noProof="0" dirty="0">
                <a:ln>
                  <a:noFill/>
                </a:ln>
                <a:solidFill>
                  <a:schemeClr val="tx1"/>
                </a:solidFill>
                <a:effectLst/>
                <a:uLnTx/>
                <a:uFillTx/>
                <a:latin typeface="+mn-ea"/>
                <a:ea typeface="+mn-ea"/>
                <a:cs typeface="+mn-cs"/>
              </a:rPr>
              <a:t>,</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降水概率的减少可能会进一步改变大气中水汽含量和热量的垂直分布</a:t>
            </a:r>
            <a:r>
              <a:rPr kumimoji="0" lang="en-US" altLang="zh-CN" sz="2400" b="1" i="0" u="none" strike="noStrike" kern="0" cap="none" spc="0" normalizeH="0" baseline="0" noProof="0" dirty="0">
                <a:ln>
                  <a:noFill/>
                </a:ln>
                <a:solidFill>
                  <a:schemeClr val="tx1"/>
                </a:solidFill>
                <a:effectLst/>
                <a:uLnTx/>
                <a:uFillTx/>
                <a:latin typeface="+mn-ea"/>
                <a:ea typeface="+mn-ea"/>
                <a:cs typeface="+mn-cs"/>
              </a:rPr>
              <a:t>,</a:t>
            </a:r>
            <a:r>
              <a:rPr kumimoji="0" lang="zh-CN" altLang="en-US" sz="2400" b="1" i="0" u="none" strike="noStrike" kern="0" cap="none" spc="0" normalizeH="0" baseline="0" noProof="0" dirty="0">
                <a:ln>
                  <a:noFill/>
                </a:ln>
                <a:solidFill>
                  <a:schemeClr val="tx1"/>
                </a:solidFill>
                <a:effectLst/>
                <a:uLnTx/>
                <a:uFillTx/>
                <a:latin typeface="+mn-ea"/>
                <a:ea typeface="+mn-ea"/>
                <a:cs typeface="+mn-cs"/>
              </a:rPr>
              <a:t>这将会改变地球的水份循环。</a:t>
            </a:r>
            <a:endParaRPr kumimoji="0" lang="zh-CN" altLang="en-US" sz="2400" b="1" i="0" u="none" strike="noStrike" kern="0" cap="none" spc="0" normalizeH="0" baseline="0" noProof="0" dirty="0">
              <a:ln>
                <a:noFill/>
              </a:ln>
              <a:solidFill>
                <a:schemeClr val="tx1"/>
              </a:solidFill>
              <a:effectLst/>
              <a:uLnTx/>
              <a:uFillTx/>
              <a:latin typeface="+mn-ea"/>
              <a:ea typeface="+mn-ea"/>
              <a:cs typeface="+mn-cs"/>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标题 1"/>
          <p:cNvSpPr>
            <a:spLocks noGrp="1"/>
          </p:cNvSpPr>
          <p:nvPr>
            <p:ph type="title"/>
          </p:nvPr>
        </p:nvSpPr>
        <p:spPr>
          <a:xfrm>
            <a:off x="539750" y="-26987"/>
            <a:ext cx="7793038" cy="1462087"/>
          </a:xfrm>
          <a:ln/>
        </p:spPr>
        <p:txBody>
          <a:bodyPr vert="horz" wrap="square" lIns="91440" tIns="45720" rIns="91440" bIns="45720" anchor="b" anchorCtr="0"/>
          <a:p>
            <a:pPr eaLnBrk="1" hangingPunct="1"/>
            <a:r>
              <a:rPr lang="en-US" altLang="zh-CN" b="1" dirty="0"/>
              <a:t>3. </a:t>
            </a:r>
            <a:r>
              <a:rPr lang="zh-CN" altLang="en-US" b="1" dirty="0"/>
              <a:t>半直接辐射效应</a:t>
            </a:r>
            <a:endParaRPr lang="zh-CN" altLang="en-US" b="1" dirty="0"/>
          </a:p>
        </p:txBody>
      </p:sp>
      <p:sp>
        <p:nvSpPr>
          <p:cNvPr id="3" name="内容占位符 2"/>
          <p:cNvSpPr>
            <a:spLocks noGrp="1"/>
          </p:cNvSpPr>
          <p:nvPr>
            <p:ph idx="1"/>
          </p:nvPr>
        </p:nvSpPr>
        <p:spPr>
          <a:xfrm>
            <a:off x="457200" y="1960563"/>
            <a:ext cx="8218488" cy="3556000"/>
          </a:xfrm>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50000"/>
              </a:spcBef>
              <a:spcAft>
                <a:spcPct val="0"/>
              </a:spcAft>
              <a:buClr>
                <a:schemeClr val="folHlink"/>
              </a:buClr>
              <a:buSzPct val="60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en-US" sz="2800" b="1" i="0" u="none" strike="noStrike" kern="0" cap="none" spc="0" normalizeH="0" baseline="0" noProof="0" dirty="0">
                <a:ln>
                  <a:noFill/>
                </a:ln>
                <a:solidFill>
                  <a:schemeClr val="tx1"/>
                </a:solidFill>
                <a:effectLst/>
                <a:uLnTx/>
                <a:uFillTx/>
                <a:latin typeface="+mn-ea"/>
                <a:ea typeface="+mn-ea"/>
                <a:cs typeface="+mn-cs"/>
              </a:rPr>
              <a:t>对流层中的气溶胶粒子通过吸收太阳辐射给对流层一个加热效应</a:t>
            </a:r>
            <a:r>
              <a:rPr kumimoji="0" lang="en-US" altLang="zh-CN" sz="2800" b="1" i="0" u="none" strike="noStrike" kern="0" cap="none" spc="0" normalizeH="0" baseline="0" noProof="0" dirty="0">
                <a:ln>
                  <a:noFill/>
                </a:ln>
                <a:solidFill>
                  <a:schemeClr val="tx1"/>
                </a:solidFill>
                <a:effectLst/>
                <a:uLnTx/>
                <a:uFillTx/>
                <a:latin typeface="+mn-ea"/>
                <a:ea typeface="+mn-ea"/>
                <a:cs typeface="+mn-cs"/>
              </a:rPr>
              <a:t>,</a:t>
            </a:r>
            <a:r>
              <a:rPr kumimoji="0" lang="zh-CN" altLang="en-US" sz="2800" b="1" i="0" u="none" strike="noStrike" kern="0" cap="none" spc="0" normalizeH="0" baseline="0" noProof="0" dirty="0">
                <a:ln>
                  <a:noFill/>
                </a:ln>
                <a:solidFill>
                  <a:schemeClr val="tx1"/>
                </a:solidFill>
                <a:effectLst/>
                <a:uLnTx/>
                <a:uFillTx/>
                <a:latin typeface="+mn-ea"/>
                <a:ea typeface="+mn-ea"/>
                <a:cs typeface="+mn-cs"/>
              </a:rPr>
              <a:t>从而改变了对流层大气的相对湿度和稳定度，进而改变对流层内云的形成和寿命。</a:t>
            </a:r>
            <a:endParaRPr kumimoji="0" lang="zh-CN" altLang="en-US" sz="2800" b="0" i="0" u="none" strike="noStrike" kern="0" cap="none" spc="0" normalizeH="0" baseline="0" noProof="0" dirty="0">
              <a:ln>
                <a:noFill/>
              </a:ln>
              <a:solidFill>
                <a:schemeClr val="tx1"/>
              </a:solidFill>
              <a:effectLst/>
              <a:uLnTx/>
              <a:uFillTx/>
              <a:latin typeface="+mn-ea"/>
              <a:ea typeface="+mn-ea"/>
              <a:cs typeface="+mn-cs"/>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Rectangle 2"/>
          <p:cNvSpPr>
            <a:spLocks noChangeArrowheads="1"/>
          </p:cNvSpPr>
          <p:nvPr/>
        </p:nvSpPr>
        <p:spPr bwMode="auto">
          <a:xfrm>
            <a:off x="0" y="-26987"/>
            <a:ext cx="9144000" cy="719138"/>
          </a:xfrm>
          <a:prstGeom prst="rect">
            <a:avLst/>
          </a:prstGeom>
          <a:gradFill rotWithShape="1">
            <a:gsLst>
              <a:gs pos="0">
                <a:srgbClr val="3366FF"/>
              </a:gs>
              <a:gs pos="100000">
                <a:srgbClr val="3366FF">
                  <a:gamma/>
                  <a:shade val="46275"/>
                  <a:invGamma/>
                </a:srgbClr>
              </a:gs>
            </a:gsLst>
            <a:path path="shape">
              <a:fillToRect l="50000" t="50000" r="50000" b="50000"/>
            </a:path>
          </a:gradFill>
          <a:ln>
            <a:noFill/>
          </a:ln>
          <a:effectLst/>
        </p:spPr>
        <p:txBody>
          <a:bodyPr anchor="ctr"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本章小结</a:t>
            </a:r>
            <a:endParaRPr kumimoji="0" lang="zh-CN" alt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endParaRPr>
          </a:p>
        </p:txBody>
      </p:sp>
      <p:sp>
        <p:nvSpPr>
          <p:cNvPr id="51203" name="Text Box 8"/>
          <p:cNvSpPr txBox="1"/>
          <p:nvPr/>
        </p:nvSpPr>
        <p:spPr>
          <a:xfrm>
            <a:off x="1042988" y="1412875"/>
            <a:ext cx="6842125" cy="923925"/>
          </a:xfrm>
          <a:prstGeom prst="rect">
            <a:avLst/>
          </a:prstGeom>
          <a:noFill/>
          <a:ln w="9525">
            <a:noFill/>
          </a:ln>
        </p:spPr>
        <p:txBody>
          <a:bodyPr>
            <a:spAutoFit/>
          </a:bodyPr>
          <a:p>
            <a:pPr algn="ctr" eaLnBrk="1" hangingPunct="1">
              <a:lnSpc>
                <a:spcPct val="150000"/>
              </a:lnSpc>
              <a:spcAft>
                <a:spcPts val="3000"/>
              </a:spcAft>
            </a:pPr>
            <a:r>
              <a:rPr lang="zh-CN" altLang="en-US" sz="3600" dirty="0">
                <a:solidFill>
                  <a:srgbClr val="CC3300"/>
                </a:solidFill>
                <a:latin typeface="黑体" panose="02010609060101010101" pitchFamily="49" charset="-122"/>
                <a:ea typeface="黑体" panose="02010609060101010101" pitchFamily="49" charset="-122"/>
              </a:rPr>
              <a:t>重 点</a:t>
            </a:r>
            <a:endParaRPr lang="zh-CN" altLang="en-US" sz="3600" dirty="0">
              <a:latin typeface="黑体" panose="02010609060101010101" pitchFamily="49" charset="-122"/>
              <a:ea typeface="黑体" panose="02010609060101010101" pitchFamily="49" charset="-122"/>
            </a:endParaRPr>
          </a:p>
        </p:txBody>
      </p:sp>
      <p:sp>
        <p:nvSpPr>
          <p:cNvPr id="6" name="TextBox 5"/>
          <p:cNvSpPr txBox="1"/>
          <p:nvPr/>
        </p:nvSpPr>
        <p:spPr>
          <a:xfrm>
            <a:off x="1259632" y="2564904"/>
            <a:ext cx="7344816" cy="3046988"/>
          </a:xfrm>
          <a:prstGeom prst="rect">
            <a:avLst/>
          </a:prstGeom>
          <a:solidFill>
            <a:srgbClr val="FFFF99"/>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spAutoFit/>
          </a:bodyPr>
          <a:lstStyle/>
          <a:p>
            <a:pPr marL="342900" marR="0" indent="-342900" defTabSz="914400" eaLnBrk="1" hangingPunct="1">
              <a:lnSpc>
                <a:spcPct val="200000"/>
              </a:lnSpc>
              <a:buClrTx/>
              <a:buSzTx/>
              <a:buFontTx/>
              <a:buAutoNum type="arabicPeriod"/>
              <a:defRPr/>
            </a:pPr>
            <a:r>
              <a:rPr kumimoji="0" lang="zh-CN" altLang="en-US" sz="2400" kern="1200" cap="none" spc="0" normalizeH="0" baseline="0" noProof="0" dirty="0">
                <a:solidFill>
                  <a:srgbClr val="0000FF"/>
                </a:solidFill>
                <a:latin typeface="+mn-ea"/>
                <a:ea typeface="+mn-ea"/>
                <a:cs typeface="+mn-cs"/>
              </a:rPr>
              <a:t> 干、湿空气的状态方程</a:t>
            </a:r>
            <a:endParaRPr kumimoji="0" lang="en-US" altLang="zh-CN" sz="2400" kern="1200" cap="none" spc="0" normalizeH="0" baseline="0" noProof="0" dirty="0">
              <a:solidFill>
                <a:srgbClr val="0000FF"/>
              </a:solidFill>
              <a:latin typeface="+mn-ea"/>
              <a:ea typeface="+mn-ea"/>
              <a:cs typeface="+mn-cs"/>
            </a:endParaRPr>
          </a:p>
          <a:p>
            <a:pPr marL="342900" marR="0" indent="-342900" defTabSz="914400" eaLnBrk="1" hangingPunct="1">
              <a:lnSpc>
                <a:spcPct val="200000"/>
              </a:lnSpc>
              <a:buClrTx/>
              <a:buSzTx/>
              <a:buFontTx/>
              <a:buAutoNum type="arabicPeriod"/>
              <a:defRPr/>
            </a:pPr>
            <a:r>
              <a:rPr kumimoji="0" lang="zh-CN" altLang="en-US" sz="2400" kern="1200" cap="none" spc="0" normalizeH="0" baseline="0" noProof="0" dirty="0">
                <a:solidFill>
                  <a:srgbClr val="0000FF"/>
                </a:solidFill>
                <a:latin typeface="+mn-ea"/>
                <a:ea typeface="+mn-ea"/>
                <a:cs typeface="+mn-cs"/>
              </a:rPr>
              <a:t> 大气湿度的表示方法及相互转换</a:t>
            </a:r>
            <a:endParaRPr kumimoji="0" lang="en-US" altLang="zh-CN" sz="2400" kern="1200" cap="none" spc="0" normalizeH="0" baseline="0" noProof="0" dirty="0">
              <a:solidFill>
                <a:srgbClr val="0000FF"/>
              </a:solidFill>
              <a:latin typeface="+mn-ea"/>
              <a:ea typeface="+mn-ea"/>
              <a:cs typeface="+mn-cs"/>
            </a:endParaRPr>
          </a:p>
          <a:p>
            <a:pPr marR="0" defTabSz="914400" eaLnBrk="1" hangingPunct="1">
              <a:lnSpc>
                <a:spcPct val="200000"/>
              </a:lnSpc>
              <a:buClrTx/>
              <a:buSzTx/>
              <a:buFontTx/>
              <a:buNone/>
              <a:defRPr/>
            </a:pPr>
            <a:r>
              <a:rPr kumimoji="0" lang="en-US" altLang="zh-CN" sz="2400" kern="1200" cap="none" spc="0" normalizeH="0" baseline="0" noProof="0" dirty="0">
                <a:solidFill>
                  <a:srgbClr val="0000FF"/>
                </a:solidFill>
                <a:latin typeface="+mn-ea"/>
                <a:ea typeface="+mn-ea"/>
                <a:cs typeface="+mn-cs"/>
              </a:rPr>
              <a:t>3. </a:t>
            </a:r>
            <a:r>
              <a:rPr kumimoji="0" lang="zh-CN" altLang="en-US" sz="2400" kern="1200" cap="none" spc="0" normalizeH="0" baseline="0" noProof="0" dirty="0">
                <a:solidFill>
                  <a:srgbClr val="0000FF"/>
                </a:solidFill>
                <a:latin typeface="+mn-ea"/>
                <a:ea typeface="+mn-ea"/>
                <a:cs typeface="+mn-cs"/>
              </a:rPr>
              <a:t>一些主要痕量成分的分布特征及在大气过程中</a:t>
            </a:r>
            <a:endParaRPr kumimoji="0" lang="en-US" altLang="zh-CN" sz="2400" kern="1200" cap="none" spc="0" normalizeH="0" baseline="0" noProof="0" dirty="0">
              <a:solidFill>
                <a:srgbClr val="0000FF"/>
              </a:solidFill>
              <a:latin typeface="+mn-ea"/>
              <a:ea typeface="+mn-ea"/>
              <a:cs typeface="+mn-cs"/>
            </a:endParaRPr>
          </a:p>
          <a:p>
            <a:pPr marR="0" defTabSz="914400" eaLnBrk="1" hangingPunct="1">
              <a:lnSpc>
                <a:spcPct val="200000"/>
              </a:lnSpc>
              <a:buClrTx/>
              <a:buSzTx/>
              <a:buFontTx/>
              <a:buNone/>
              <a:defRPr/>
            </a:pPr>
            <a:r>
              <a:rPr kumimoji="0" lang="zh-CN" altLang="en-US" sz="2400" kern="1200" cap="none" spc="0" normalizeH="0" baseline="0" noProof="0" dirty="0">
                <a:solidFill>
                  <a:srgbClr val="0000FF"/>
                </a:solidFill>
                <a:latin typeface="+mn-ea"/>
                <a:ea typeface="+mn-ea"/>
                <a:cs typeface="+mn-cs"/>
              </a:rPr>
              <a:t>    的作用</a:t>
            </a:r>
            <a:endParaRPr kumimoji="0" lang="zh-CN" altLang="en-US" sz="2400" kern="1200" cap="none" spc="0" normalizeH="0" baseline="0" noProof="0" dirty="0">
              <a:solidFill>
                <a:srgbClr val="0000FF"/>
              </a:solidFill>
              <a:latin typeface="+mn-ea"/>
              <a:ea typeface="+mn-ea"/>
              <a:cs typeface="+mn-cs"/>
            </a:endParaRPr>
          </a:p>
        </p:txBody>
      </p:sp>
    </p:spTree>
  </p:cSld>
  <p:clrMapOvr>
    <a:masterClrMapping/>
  </p:clrMapOvr>
  <p:transition/>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4236</Words>
  <Application>WPS 演示</Application>
  <PresentationFormat>全屏显示(4:3)</PresentationFormat>
  <Paragraphs>443</Paragraphs>
  <Slides>36</Slides>
  <Notes>14</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4</vt:i4>
      </vt:variant>
      <vt:variant>
        <vt:lpstr>幻灯片标题</vt:lpstr>
      </vt:variant>
      <vt:variant>
        <vt:i4>36</vt:i4>
      </vt:variant>
    </vt:vector>
  </HeadingPairs>
  <TitlesOfParts>
    <vt:vector size="57" baseType="lpstr">
      <vt:lpstr>Arial</vt:lpstr>
      <vt:lpstr>宋体</vt:lpstr>
      <vt:lpstr>Wingdings</vt:lpstr>
      <vt:lpstr>Tahoma</vt:lpstr>
      <vt:lpstr>黑体</vt:lpstr>
      <vt:lpstr>楷体</vt:lpstr>
      <vt:lpstr>楷体_GB2312</vt:lpstr>
      <vt:lpstr>新宋体</vt:lpstr>
      <vt:lpstr>Times New Roman</vt:lpstr>
      <vt:lpstr>Courier New</vt:lpstr>
      <vt:lpstr>Calibri</vt:lpstr>
      <vt:lpstr>PMingLiU</vt:lpstr>
      <vt:lpstr>Garamond</vt:lpstr>
      <vt:lpstr>Original Garamond Std Roman</vt:lpstr>
      <vt:lpstr>微软雅黑</vt:lpstr>
      <vt:lpstr>Arial Unicode MS</vt:lpstr>
      <vt:lpstr>Blends</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NUIST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X. Cao</dc:creator>
  <cp:lastModifiedBy>赵元丞</cp:lastModifiedBy>
  <cp:revision>777</cp:revision>
  <dcterms:created xsi:type="dcterms:W3CDTF">2007-02-13T12:16:13Z</dcterms:created>
  <dcterms:modified xsi:type="dcterms:W3CDTF">2026-10-10T00:51:04Z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C0A90F4AC129471E9BF11FCE2EE21AA9_13</vt:lpwstr>
  </property>
  <property fmtid="{D5CDD505-2E9C-101B-9397-08002B2CF9AE}" pid="3" name="KSOProductBuildVer">
    <vt:lpwstr>2052-12.1.0.28802</vt:lpwstr>
  </property>
</Properties>
</file>