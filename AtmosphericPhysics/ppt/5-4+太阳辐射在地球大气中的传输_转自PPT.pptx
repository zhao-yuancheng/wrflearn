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3"/>
  </p:sldMasterIdLst>
  <p:notesMasterIdLst>
    <p:notesMasterId r:id="rId6"/>
  </p:notesMasterIdLst>
  <p:sldIdLst>
    <p:sldId id="407" r:id="rId4"/>
    <p:sldId id="408" r:id="rId5"/>
    <p:sldId id="472" r:id="rId7"/>
    <p:sldId id="409" r:id="rId8"/>
    <p:sldId id="410" r:id="rId9"/>
    <p:sldId id="444" r:id="rId10"/>
    <p:sldId id="412" r:id="rId11"/>
    <p:sldId id="452" r:id="rId12"/>
    <p:sldId id="453" r:id="rId13"/>
    <p:sldId id="413" r:id="rId14"/>
    <p:sldId id="414" r:id="rId15"/>
    <p:sldId id="415" r:id="rId16"/>
    <p:sldId id="416" r:id="rId17"/>
    <p:sldId id="417" r:id="rId18"/>
    <p:sldId id="418" r:id="rId19"/>
    <p:sldId id="419" r:id="rId20"/>
    <p:sldId id="420" r:id="rId21"/>
    <p:sldId id="474" r:id="rId22"/>
    <p:sldId id="477" r:id="rId23"/>
    <p:sldId id="454" r:id="rId24"/>
    <p:sldId id="455" r:id="rId25"/>
    <p:sldId id="476" r:id="rId26"/>
    <p:sldId id="457" r:id="rId27"/>
    <p:sldId id="458" r:id="rId28"/>
    <p:sldId id="459" r:id="rId29"/>
    <p:sldId id="460" r:id="rId30"/>
    <p:sldId id="461" r:id="rId31"/>
    <p:sldId id="462" r:id="rId32"/>
    <p:sldId id="446" r:id="rId33"/>
    <p:sldId id="421" r:id="rId34"/>
    <p:sldId id="422" r:id="rId35"/>
    <p:sldId id="423" r:id="rId36"/>
    <p:sldId id="464" r:id="rId37"/>
    <p:sldId id="424" r:id="rId38"/>
    <p:sldId id="425" r:id="rId39"/>
    <p:sldId id="426" r:id="rId40"/>
    <p:sldId id="427" r:id="rId41"/>
    <p:sldId id="428" r:id="rId42"/>
    <p:sldId id="429" r:id="rId43"/>
    <p:sldId id="430" r:id="rId44"/>
    <p:sldId id="431" r:id="rId45"/>
    <p:sldId id="432" r:id="rId46"/>
    <p:sldId id="433" r:id="rId47"/>
    <p:sldId id="451" r:id="rId48"/>
    <p:sldId id="435" r:id="rId49"/>
    <p:sldId id="434" r:id="rId50"/>
    <p:sldId id="465" r:id="rId51"/>
    <p:sldId id="447" r:id="rId52"/>
    <p:sldId id="466" r:id="rId53"/>
    <p:sldId id="449" r:id="rId54"/>
    <p:sldId id="467" r:id="rId55"/>
    <p:sldId id="436" r:id="rId56"/>
    <p:sldId id="479" r:id="rId57"/>
    <p:sldId id="437" r:id="rId58"/>
    <p:sldId id="438" r:id="rId59"/>
    <p:sldId id="469" r:id="rId60"/>
    <p:sldId id="439" r:id="rId61"/>
    <p:sldId id="468" r:id="rId62"/>
    <p:sldId id="440" r:id="rId63"/>
    <p:sldId id="442" r:id="rId64"/>
    <p:sldId id="441" r:id="rId65"/>
    <p:sldId id="470" r:id="rId66"/>
    <p:sldId id="443" r:id="rId67"/>
    <p:sldId id="323" r:id="rId68"/>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0000FF"/>
    <a:srgbClr val="FF33CC"/>
    <a:srgbClr val="3333FF"/>
    <a:srgbClr val="008000"/>
    <a:srgbClr val="CC00CC"/>
    <a:srgbClr val="0033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7461"/>
    <p:restoredTop sz="96538"/>
  </p:normalViewPr>
  <p:slideViewPr>
    <p:cSldViewPr showGuides="1">
      <p:cViewPr varScale="1">
        <p:scale>
          <a:sx n="86" d="100"/>
          <a:sy n="86" d="100"/>
        </p:scale>
        <p:origin x="-124" y="-5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1" Type="http://schemas.openxmlformats.org/officeDocument/2006/relationships/tableStyles" Target="tableStyles.xml"/><Relationship Id="rId70" Type="http://schemas.openxmlformats.org/officeDocument/2006/relationships/viewProps" Target="viewProps.xml"/><Relationship Id="rId7" Type="http://schemas.openxmlformats.org/officeDocument/2006/relationships/slide" Target="slides/slide3.xml"/><Relationship Id="rId69" Type="http://schemas.openxmlformats.org/officeDocument/2006/relationships/presProps" Target="presProps.xml"/><Relationship Id="rId68" Type="http://schemas.openxmlformats.org/officeDocument/2006/relationships/slide" Target="slides/slide64.xml"/><Relationship Id="rId67" Type="http://schemas.openxmlformats.org/officeDocument/2006/relationships/slide" Target="slides/slide63.xml"/><Relationship Id="rId66" Type="http://schemas.openxmlformats.org/officeDocument/2006/relationships/slide" Target="slides/slide62.xml"/><Relationship Id="rId65" Type="http://schemas.openxmlformats.org/officeDocument/2006/relationships/slide" Target="slides/slide61.xml"/><Relationship Id="rId64" Type="http://schemas.openxmlformats.org/officeDocument/2006/relationships/slide" Target="slides/slide60.xml"/><Relationship Id="rId63" Type="http://schemas.openxmlformats.org/officeDocument/2006/relationships/slide" Target="slides/slide59.xml"/><Relationship Id="rId62" Type="http://schemas.openxmlformats.org/officeDocument/2006/relationships/slide" Target="slides/slide58.xml"/><Relationship Id="rId61" Type="http://schemas.openxmlformats.org/officeDocument/2006/relationships/slide" Target="slides/slide57.xml"/><Relationship Id="rId60" Type="http://schemas.openxmlformats.org/officeDocument/2006/relationships/slide" Target="slides/slide56.xml"/><Relationship Id="rId6" Type="http://schemas.openxmlformats.org/officeDocument/2006/relationships/notesMaster" Target="notesMasters/notesMaster1.xml"/><Relationship Id="rId59" Type="http://schemas.openxmlformats.org/officeDocument/2006/relationships/slide" Target="slides/slide55.xml"/><Relationship Id="rId58" Type="http://schemas.openxmlformats.org/officeDocument/2006/relationships/slide" Target="slides/slide54.xml"/><Relationship Id="rId57" Type="http://schemas.openxmlformats.org/officeDocument/2006/relationships/slide" Target="slides/slide53.xml"/><Relationship Id="rId56" Type="http://schemas.openxmlformats.org/officeDocument/2006/relationships/slide" Target="slides/slide52.xml"/><Relationship Id="rId55" Type="http://schemas.openxmlformats.org/officeDocument/2006/relationships/slide" Target="slides/slide51.xml"/><Relationship Id="rId54" Type="http://schemas.openxmlformats.org/officeDocument/2006/relationships/slide" Target="slides/slide50.xml"/><Relationship Id="rId53" Type="http://schemas.openxmlformats.org/officeDocument/2006/relationships/slide" Target="slides/slide49.xml"/><Relationship Id="rId52" Type="http://schemas.openxmlformats.org/officeDocument/2006/relationships/slide" Target="slides/slide48.xml"/><Relationship Id="rId51" Type="http://schemas.openxmlformats.org/officeDocument/2006/relationships/slide" Target="slides/slide47.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png"/></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image" Target="../media/image2.png"/></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image" Target="../media/image23.emf"/><Relationship Id="rId1" Type="http://schemas.openxmlformats.org/officeDocument/2006/relationships/image" Target="../media/image21.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24.emf"/><Relationship Id="rId1" Type="http://schemas.openxmlformats.org/officeDocument/2006/relationships/image" Target="../media/image27.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9.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30.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emf"/><Relationship Id="rId1" Type="http://schemas.openxmlformats.org/officeDocument/2006/relationships/image" Target="../media/image3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45.wmf"/><Relationship Id="rId2" Type="http://schemas.openxmlformats.org/officeDocument/2006/relationships/image" Target="../media/image44.wmf"/><Relationship Id="rId1" Type="http://schemas.openxmlformats.org/officeDocument/2006/relationships/image" Target="../media/image4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18.vml.rels><?xml version="1.0" encoding="UTF-8" standalone="yes"?>
<Relationships xmlns="http://schemas.openxmlformats.org/package/2006/relationships"><Relationship Id="rId4" Type="http://schemas.openxmlformats.org/officeDocument/2006/relationships/image" Target="../media/image53.wmf"/><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56.wmf"/><Relationship Id="rId2" Type="http://schemas.openxmlformats.org/officeDocument/2006/relationships/image" Target="../media/image55.wmf"/><Relationship Id="rId1" Type="http://schemas.openxmlformats.org/officeDocument/2006/relationships/image" Target="../media/image5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57.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61.wmf"/><Relationship Id="rId2" Type="http://schemas.openxmlformats.org/officeDocument/2006/relationships/image" Target="../media/image60.wmf"/><Relationship Id="rId1" Type="http://schemas.openxmlformats.org/officeDocument/2006/relationships/image" Target="../media/image59.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3.wmf"/><Relationship Id="rId1" Type="http://schemas.openxmlformats.org/officeDocument/2006/relationships/image" Target="../media/image62.wmf"/></Relationships>
</file>

<file path=ppt/drawings/_rels/vmlDrawing23.vml.rels><?xml version="1.0" encoding="UTF-8" standalone="yes"?>
<Relationships xmlns="http://schemas.openxmlformats.org/package/2006/relationships"><Relationship Id="rId4" Type="http://schemas.openxmlformats.org/officeDocument/2006/relationships/image" Target="../media/image69.wmf"/><Relationship Id="rId3" Type="http://schemas.openxmlformats.org/officeDocument/2006/relationships/image" Target="../media/image67.wmf"/><Relationship Id="rId2" Type="http://schemas.openxmlformats.org/officeDocument/2006/relationships/image" Target="../media/image66.wmf"/><Relationship Id="rId1" Type="http://schemas.openxmlformats.org/officeDocument/2006/relationships/image" Target="../media/image6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3074"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5"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fld id="{6EDAB803-B53C-489B-B898-03711EB348AC}" type="datetimeFigureOut">
              <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1684" name="幻灯片图像占位符 3"/>
          <p:cNvSpPr>
            <a:spLocks noGrp="1"/>
          </p:cNvSpPr>
          <p:nvPr>
            <p:ph type="sldImg" idx="2"/>
          </p:nvPr>
        </p:nvSpPr>
        <p:spPr>
          <a:xfrm>
            <a:off x="1143000" y="685800"/>
            <a:ext cx="4572000" cy="3429000"/>
          </a:xfrm>
          <a:prstGeom prst="rect">
            <a:avLst/>
          </a:prstGeom>
          <a:noFill/>
          <a:ln w="12700">
            <a:noFill/>
          </a:ln>
        </p:spPr>
      </p:sp>
      <p:sp>
        <p:nvSpPr>
          <p:cNvPr id="3077" name="备注占位符 4"/>
          <p:cNvSpPr>
            <a:spLocks noGrp="1" noChangeArrowheads="1"/>
          </p:cNvSpPr>
          <p:nvPr>
            <p:ph type="body" sz="quarter" idx="3"/>
          </p:nvPr>
        </p:nvSpPr>
        <p:spPr bwMode="auto">
          <a:xfrm>
            <a:off x="685800" y="4343400"/>
            <a:ext cx="5486400" cy="4114800"/>
          </a:xfrm>
          <a:prstGeom prst="rect">
            <a:avLst/>
          </a:prstGeom>
          <a:noFill/>
          <a:ln w="12700" cmpd="sng">
            <a:noFill/>
            <a:miter lim="800000"/>
          </a:ln>
        </p:spPr>
        <p:txBody>
          <a:bodyPr vert="horz" wrap="square" lIns="91440" tIns="45720" rIns="91440" bIns="45720" numCol="1" anchor="ctr" anchorCtr="0" compatLnSpc="1"/>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078"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079"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p>
            <a:pPr lvl="0" algn="r" eaLnBrk="1" hangingPunct="1"/>
            <a:fld id="{9A0DB2DC-4C9A-4742-B13C-FB6460FD3503}" type="slidenum">
              <a:rPr lang="zh-CN" altLang="en-US" sz="1200" dirty="0">
                <a:ea typeface="宋体" panose="02010600030101010101" pitchFamily="2" charset="-122"/>
              </a:rPr>
            </a:fld>
            <a:endParaRPr lang="zh-CN" altLang="en-US" sz="1200" dirty="0">
              <a:ea typeface="宋体" panose="02010600030101010101" pitchFamily="2" charset="-122"/>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0.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2707" name="Rectangle 2"/>
          <p:cNvSpPr>
            <a:spLocks noTextEdit="1"/>
          </p:cNvSpPr>
          <p:nvPr>
            <p:ph type="sldImg"/>
          </p:nvPr>
        </p:nvSpPr>
        <p:spPr>
          <a:ln/>
        </p:spPr>
      </p:sp>
      <p:sp>
        <p:nvSpPr>
          <p:cNvPr id="7270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37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3731" name="Rectangle 2"/>
          <p:cNvSpPr>
            <a:spLocks noTextEdit="1"/>
          </p:cNvSpPr>
          <p:nvPr>
            <p:ph type="sldImg"/>
          </p:nvPr>
        </p:nvSpPr>
        <p:spPr>
          <a:ln/>
        </p:spPr>
      </p:sp>
      <p:sp>
        <p:nvSpPr>
          <p:cNvPr id="7373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4755" name="Rectangle 2"/>
          <p:cNvSpPr>
            <a:spLocks noTextEdit="1"/>
          </p:cNvSpPr>
          <p:nvPr>
            <p:ph type="sldImg"/>
          </p:nvPr>
        </p:nvSpPr>
        <p:spPr>
          <a:ln/>
        </p:spPr>
      </p:sp>
      <p:sp>
        <p:nvSpPr>
          <p:cNvPr id="7475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5779" name="Rectangle 2"/>
          <p:cNvSpPr>
            <a:spLocks noTextEdit="1"/>
          </p:cNvSpPr>
          <p:nvPr>
            <p:ph type="sldImg"/>
          </p:nvPr>
        </p:nvSpPr>
        <p:spPr>
          <a:ln/>
        </p:spPr>
      </p:sp>
      <p:sp>
        <p:nvSpPr>
          <p:cNvPr id="7578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6803" name="Rectangle 2"/>
          <p:cNvSpPr>
            <a:spLocks noTextEdit="1"/>
          </p:cNvSpPr>
          <p:nvPr>
            <p:ph type="sldImg"/>
          </p:nvPr>
        </p:nvSpPr>
        <p:spPr>
          <a:ln/>
        </p:spPr>
      </p:sp>
      <p:sp>
        <p:nvSpPr>
          <p:cNvPr id="7680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7827" name="Rectangle 2"/>
          <p:cNvSpPr>
            <a:spLocks noTextEdit="1"/>
          </p:cNvSpPr>
          <p:nvPr>
            <p:ph type="sldImg"/>
          </p:nvPr>
        </p:nvSpPr>
        <p:spPr>
          <a:ln/>
        </p:spPr>
      </p:sp>
      <p:sp>
        <p:nvSpPr>
          <p:cNvPr id="7782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88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8851" name="Rectangle 2"/>
          <p:cNvSpPr>
            <a:spLocks noTextEdit="1"/>
          </p:cNvSpPr>
          <p:nvPr>
            <p:ph type="sldImg"/>
          </p:nvPr>
        </p:nvSpPr>
        <p:spPr>
          <a:ln/>
        </p:spPr>
      </p:sp>
      <p:sp>
        <p:nvSpPr>
          <p:cNvPr id="7885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79875" name="Rectangle 2"/>
          <p:cNvSpPr>
            <a:spLocks noTextEdit="1"/>
          </p:cNvSpPr>
          <p:nvPr>
            <p:ph type="sldImg"/>
          </p:nvPr>
        </p:nvSpPr>
        <p:spPr>
          <a:ln/>
        </p:spPr>
      </p:sp>
      <p:sp>
        <p:nvSpPr>
          <p:cNvPr id="7987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0899" name="Rectangle 2"/>
          <p:cNvSpPr>
            <a:spLocks noTextEdit="1"/>
          </p:cNvSpPr>
          <p:nvPr>
            <p:ph type="sldImg"/>
          </p:nvPr>
        </p:nvSpPr>
        <p:spPr>
          <a:ln/>
        </p:spPr>
      </p:sp>
      <p:sp>
        <p:nvSpPr>
          <p:cNvPr id="8090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1923" name="Rectangle 2"/>
          <p:cNvSpPr>
            <a:spLocks noTextEdit="1"/>
          </p:cNvSpPr>
          <p:nvPr>
            <p:ph type="sldImg"/>
          </p:nvPr>
        </p:nvSpPr>
        <p:spPr>
          <a:ln/>
        </p:spPr>
      </p:sp>
      <p:sp>
        <p:nvSpPr>
          <p:cNvPr id="8192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2947" name="Rectangle 2"/>
          <p:cNvSpPr>
            <a:spLocks noTextEdit="1"/>
          </p:cNvSpPr>
          <p:nvPr>
            <p:ph type="sldImg"/>
          </p:nvPr>
        </p:nvSpPr>
        <p:spPr>
          <a:ln/>
        </p:spPr>
      </p:sp>
      <p:sp>
        <p:nvSpPr>
          <p:cNvPr id="8294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397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3971" name="Rectangle 2"/>
          <p:cNvSpPr>
            <a:spLocks noTextEdit="1"/>
          </p:cNvSpPr>
          <p:nvPr>
            <p:ph type="sldImg"/>
          </p:nvPr>
        </p:nvSpPr>
        <p:spPr>
          <a:ln/>
        </p:spPr>
      </p:sp>
      <p:sp>
        <p:nvSpPr>
          <p:cNvPr id="8397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4995" name="Rectangle 2"/>
          <p:cNvSpPr>
            <a:spLocks noTextEdit="1"/>
          </p:cNvSpPr>
          <p:nvPr>
            <p:ph type="sldImg"/>
          </p:nvPr>
        </p:nvSpPr>
        <p:spPr>
          <a:ln/>
        </p:spPr>
      </p:sp>
      <p:sp>
        <p:nvSpPr>
          <p:cNvPr id="8499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6019" name="Rectangle 2"/>
          <p:cNvSpPr>
            <a:spLocks noTextEdit="1"/>
          </p:cNvSpPr>
          <p:nvPr>
            <p:ph type="sldImg"/>
          </p:nvPr>
        </p:nvSpPr>
        <p:spPr>
          <a:ln/>
        </p:spPr>
      </p:sp>
      <p:sp>
        <p:nvSpPr>
          <p:cNvPr id="8602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7043" name="Rectangle 2"/>
          <p:cNvSpPr>
            <a:spLocks noTextEdit="1"/>
          </p:cNvSpPr>
          <p:nvPr>
            <p:ph type="sldImg"/>
          </p:nvPr>
        </p:nvSpPr>
        <p:spPr>
          <a:ln/>
        </p:spPr>
      </p:sp>
      <p:sp>
        <p:nvSpPr>
          <p:cNvPr id="8704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8067" name="Rectangle 2"/>
          <p:cNvSpPr>
            <a:spLocks noTextEdit="1"/>
          </p:cNvSpPr>
          <p:nvPr>
            <p:ph type="sldImg"/>
          </p:nvPr>
        </p:nvSpPr>
        <p:spPr>
          <a:ln/>
        </p:spPr>
      </p:sp>
      <p:sp>
        <p:nvSpPr>
          <p:cNvPr id="8806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909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89091" name="Rectangle 2"/>
          <p:cNvSpPr>
            <a:spLocks noTextEdit="1"/>
          </p:cNvSpPr>
          <p:nvPr>
            <p:ph type="sldImg"/>
          </p:nvPr>
        </p:nvSpPr>
        <p:spPr>
          <a:ln/>
        </p:spPr>
      </p:sp>
      <p:sp>
        <p:nvSpPr>
          <p:cNvPr id="8909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0115" name="Rectangle 2"/>
          <p:cNvSpPr>
            <a:spLocks noTextEdit="1"/>
          </p:cNvSpPr>
          <p:nvPr>
            <p:ph type="sldImg"/>
          </p:nvPr>
        </p:nvSpPr>
        <p:spPr>
          <a:ln/>
        </p:spPr>
      </p:sp>
      <p:sp>
        <p:nvSpPr>
          <p:cNvPr id="9011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1139" name="Rectangle 2"/>
          <p:cNvSpPr>
            <a:spLocks noTextEdit="1"/>
          </p:cNvSpPr>
          <p:nvPr>
            <p:ph type="sldImg"/>
          </p:nvPr>
        </p:nvSpPr>
        <p:spPr>
          <a:ln/>
        </p:spPr>
      </p:sp>
      <p:sp>
        <p:nvSpPr>
          <p:cNvPr id="9114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2163" name="Rectangle 2"/>
          <p:cNvSpPr>
            <a:spLocks noTextEdit="1"/>
          </p:cNvSpPr>
          <p:nvPr>
            <p:ph type="sldImg"/>
          </p:nvPr>
        </p:nvSpPr>
        <p:spPr>
          <a:ln/>
        </p:spPr>
      </p:sp>
      <p:sp>
        <p:nvSpPr>
          <p:cNvPr id="9216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3187" name="Rectangle 2"/>
          <p:cNvSpPr>
            <a:spLocks noTextEdit="1"/>
          </p:cNvSpPr>
          <p:nvPr>
            <p:ph type="sldImg"/>
          </p:nvPr>
        </p:nvSpPr>
        <p:spPr>
          <a:ln/>
        </p:spPr>
      </p:sp>
      <p:sp>
        <p:nvSpPr>
          <p:cNvPr id="9318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421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4211" name="Rectangle 2"/>
          <p:cNvSpPr>
            <a:spLocks noTextEdit="1"/>
          </p:cNvSpPr>
          <p:nvPr>
            <p:ph type="sldImg"/>
          </p:nvPr>
        </p:nvSpPr>
        <p:spPr>
          <a:ln/>
        </p:spPr>
      </p:sp>
      <p:sp>
        <p:nvSpPr>
          <p:cNvPr id="9421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5235" name="Rectangle 2"/>
          <p:cNvSpPr>
            <a:spLocks noTextEdit="1"/>
          </p:cNvSpPr>
          <p:nvPr>
            <p:ph type="sldImg"/>
          </p:nvPr>
        </p:nvSpPr>
        <p:spPr>
          <a:ln/>
        </p:spPr>
      </p:sp>
      <p:sp>
        <p:nvSpPr>
          <p:cNvPr id="9523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96259" name="Rectangle 2"/>
          <p:cNvSpPr>
            <a:spLocks noTextEdit="1"/>
          </p:cNvSpPr>
          <p:nvPr>
            <p:ph type="sldImg"/>
          </p:nvPr>
        </p:nvSpPr>
        <p:spPr>
          <a:ln/>
        </p:spPr>
      </p:sp>
      <p:sp>
        <p:nvSpPr>
          <p:cNvPr id="9626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728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7283" name="Rectangle 2"/>
          <p:cNvSpPr>
            <a:spLocks noRot="1" noTextEdit="1"/>
          </p:cNvSpPr>
          <p:nvPr>
            <p:ph type="sldImg"/>
          </p:nvPr>
        </p:nvSpPr>
        <p:spPr>
          <a:ln/>
        </p:spPr>
      </p:sp>
      <p:sp>
        <p:nvSpPr>
          <p:cNvPr id="97284" name="Rectangle 3"/>
          <p:cNvSpPr>
            <a:spLocks noGrp="1"/>
          </p:cNvSpPr>
          <p:nvPr>
            <p:ph type="body" idx="1"/>
          </p:nvPr>
        </p:nvSpPr>
        <p:spPr>
          <a:xfrm>
            <a:off x="914400" y="4343400"/>
            <a:ext cx="5029200" cy="4114800"/>
          </a:xfrm>
          <a:ln w="9525"/>
        </p:spPr>
        <p:txBody>
          <a:bodyPr wrap="square" lIns="91440" tIns="45720" rIns="91440" bIns="45720" anchor="ctr" anchorCtr="0"/>
          <a:p>
            <a:pPr lvl="0"/>
            <a:endParaRPr lang="zh-CN" altLang="zh-CN" dirty="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8307" name="Rectangle 2"/>
          <p:cNvSpPr>
            <a:spLocks noRot="1" noTextEdit="1"/>
          </p:cNvSpPr>
          <p:nvPr>
            <p:ph type="sldImg"/>
          </p:nvPr>
        </p:nvSpPr>
        <p:spPr>
          <a:ln/>
        </p:spPr>
      </p:sp>
      <p:sp>
        <p:nvSpPr>
          <p:cNvPr id="98308" name="Rectangle 3"/>
          <p:cNvSpPr>
            <a:spLocks noGrp="1"/>
          </p:cNvSpPr>
          <p:nvPr>
            <p:ph type="body" idx="1"/>
          </p:nvPr>
        </p:nvSpPr>
        <p:spPr>
          <a:xfrm>
            <a:off x="914400" y="4343400"/>
            <a:ext cx="5029200" cy="4114800"/>
          </a:xfrm>
          <a:ln w="9525"/>
        </p:spPr>
        <p:txBody>
          <a:bodyPr wrap="square" lIns="91440" tIns="45720" rIns="91440" bIns="45720" anchor="ctr" anchorCtr="0"/>
          <a:p>
            <a:pPr lvl="0"/>
            <a:endParaRPr lang="zh-CN" altLang="zh-CN" dirty="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9933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99331" name="Rectangle 2"/>
          <p:cNvSpPr>
            <a:spLocks noRot="1" noTextEdit="1"/>
          </p:cNvSpPr>
          <p:nvPr>
            <p:ph type="sldImg"/>
          </p:nvPr>
        </p:nvSpPr>
        <p:spPr>
          <a:ln/>
        </p:spPr>
      </p:sp>
      <p:sp>
        <p:nvSpPr>
          <p:cNvPr id="99332" name="Rectangle 3"/>
          <p:cNvSpPr>
            <a:spLocks noGrp="1"/>
          </p:cNvSpPr>
          <p:nvPr>
            <p:ph type="body" idx="1"/>
          </p:nvPr>
        </p:nvSpPr>
        <p:spPr>
          <a:xfrm>
            <a:off x="914400" y="4343400"/>
            <a:ext cx="5029200" cy="4114800"/>
          </a:xfrm>
          <a:ln w="9525"/>
        </p:spPr>
        <p:txBody>
          <a:bodyPr wrap="square" lIns="91440" tIns="45720" rIns="91440" bIns="45720" anchor="ctr" anchorCtr="0"/>
          <a:p>
            <a:pPr lvl="0"/>
            <a:endParaRPr lang="zh-CN" altLang="zh-CN" dirty="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en-US" altLang="zh-CN" sz="1200" dirty="0">
                <a:ea typeface="宋体" panose="02010600030101010101" pitchFamily="2" charset="-122"/>
              </a:rPr>
            </a:fld>
            <a:endParaRPr lang="en-US" altLang="zh-CN" sz="1200" dirty="0">
              <a:ea typeface="宋体" panose="02010600030101010101" pitchFamily="2" charset="-122"/>
            </a:endParaRPr>
          </a:p>
        </p:txBody>
      </p:sp>
      <p:sp>
        <p:nvSpPr>
          <p:cNvPr id="100355" name="Rectangle 2"/>
          <p:cNvSpPr>
            <a:spLocks noRot="1" noTextEdit="1"/>
          </p:cNvSpPr>
          <p:nvPr>
            <p:ph type="sldImg"/>
          </p:nvPr>
        </p:nvSpPr>
        <p:spPr>
          <a:ln/>
        </p:spPr>
      </p:sp>
      <p:sp>
        <p:nvSpPr>
          <p:cNvPr id="100356" name="Rectangle 3"/>
          <p:cNvSpPr>
            <a:spLocks noGrp="1"/>
          </p:cNvSpPr>
          <p:nvPr>
            <p:ph type="body" idx="1"/>
          </p:nvPr>
        </p:nvSpPr>
        <p:spPr>
          <a:xfrm>
            <a:off x="914400" y="4343400"/>
            <a:ext cx="5029200" cy="4114800"/>
          </a:xfrm>
          <a:ln w="9525"/>
        </p:spPr>
        <p:txBody>
          <a:bodyPr wrap="square" lIns="91440" tIns="45720" rIns="91440" bIns="45720" anchor="ctr" anchorCtr="0"/>
          <a:p>
            <a:pPr lvl="0"/>
            <a:endParaRPr lang="zh-CN" altLang="zh-CN" dirty="0">
              <a:ea typeface="宋体" panose="02010600030101010101" pitchFamily="2" charset="-122"/>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1379" name="Rectangle 2"/>
          <p:cNvSpPr>
            <a:spLocks noTextEdit="1"/>
          </p:cNvSpPr>
          <p:nvPr>
            <p:ph type="sldImg"/>
          </p:nvPr>
        </p:nvSpPr>
        <p:spPr>
          <a:ln/>
        </p:spPr>
      </p:sp>
      <p:sp>
        <p:nvSpPr>
          <p:cNvPr id="10138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2403" name="Rectangle 2"/>
          <p:cNvSpPr>
            <a:spLocks noTextEdit="1"/>
          </p:cNvSpPr>
          <p:nvPr>
            <p:ph type="sldImg"/>
          </p:nvPr>
        </p:nvSpPr>
        <p:spPr>
          <a:ln/>
        </p:spPr>
      </p:sp>
      <p:sp>
        <p:nvSpPr>
          <p:cNvPr id="102404" name="Rectangle 3"/>
          <p:cNvSpPr>
            <a:spLocks noGrp="1"/>
          </p:cNvSpPr>
          <p:nvPr>
            <p:ph type="body" idx="1"/>
          </p:nvPr>
        </p:nvSpPr>
        <p:spPr>
          <a:ln w="9525"/>
        </p:spPr>
        <p:txBody>
          <a:bodyPr wrap="square" lIns="91440" tIns="45720" rIns="91440" bIns="45720" anchor="ctr" anchorCtr="0"/>
          <a:p>
            <a:pPr lvl="0"/>
            <a:endParaRPr lang="zh-CN" altLang="en-US" dirty="0">
              <a:latin typeface="dcr10" charset="0"/>
              <a:ea typeface="宋体" panose="02010600030101010101" pitchFamily="2" charset="-122"/>
            </a:endParaRPr>
          </a:p>
          <a:p>
            <a:pPr lvl="0"/>
            <a:endParaRPr lang="zh-CN" altLang="en-US" dirty="0">
              <a:ea typeface="宋体" panose="02010600030101010101" pitchFamily="2" charset="-122"/>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3427" name="Rectangle 2"/>
          <p:cNvSpPr>
            <a:spLocks noTextEdit="1"/>
          </p:cNvSpPr>
          <p:nvPr>
            <p:ph type="sldImg"/>
          </p:nvPr>
        </p:nvSpPr>
        <p:spPr>
          <a:ln/>
        </p:spPr>
      </p:sp>
      <p:sp>
        <p:nvSpPr>
          <p:cNvPr id="10342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50"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4451" name="Rectangle 2"/>
          <p:cNvSpPr>
            <a:spLocks noTextEdit="1"/>
          </p:cNvSpPr>
          <p:nvPr>
            <p:ph type="sldImg"/>
          </p:nvPr>
        </p:nvSpPr>
        <p:spPr>
          <a:ln/>
        </p:spPr>
      </p:sp>
      <p:sp>
        <p:nvSpPr>
          <p:cNvPr id="104452"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4"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5475" name="Rectangle 2"/>
          <p:cNvSpPr>
            <a:spLocks noTextEdit="1"/>
          </p:cNvSpPr>
          <p:nvPr>
            <p:ph type="sldImg"/>
          </p:nvPr>
        </p:nvSpPr>
        <p:spPr>
          <a:ln/>
        </p:spPr>
      </p:sp>
      <p:sp>
        <p:nvSpPr>
          <p:cNvPr id="105476"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8"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6499" name="Rectangle 2"/>
          <p:cNvSpPr>
            <a:spLocks noTextEdit="1"/>
          </p:cNvSpPr>
          <p:nvPr>
            <p:ph type="sldImg"/>
          </p:nvPr>
        </p:nvSpPr>
        <p:spPr>
          <a:ln/>
        </p:spPr>
      </p:sp>
      <p:sp>
        <p:nvSpPr>
          <p:cNvPr id="106500"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2"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7523" name="Rectangle 2"/>
          <p:cNvSpPr>
            <a:spLocks noTextEdit="1"/>
          </p:cNvSpPr>
          <p:nvPr>
            <p:ph type="sldImg"/>
          </p:nvPr>
        </p:nvSpPr>
        <p:spPr>
          <a:ln/>
        </p:spPr>
      </p:sp>
      <p:sp>
        <p:nvSpPr>
          <p:cNvPr id="107524"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6" name="Rectangle 7"/>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fld id="{9A0DB2DC-4C9A-4742-B13C-FB6460FD3503}" type="slidenum">
              <a:rPr lang="zh-CN" altLang="en-CA" sz="1200" dirty="0">
                <a:ea typeface="宋体" panose="02010600030101010101" pitchFamily="2" charset="-122"/>
              </a:rPr>
            </a:fld>
            <a:endParaRPr lang="zh-CN" altLang="en-CA" sz="1200" dirty="0">
              <a:ea typeface="宋体" panose="02010600030101010101" pitchFamily="2" charset="-122"/>
            </a:endParaRPr>
          </a:p>
        </p:txBody>
      </p:sp>
      <p:sp>
        <p:nvSpPr>
          <p:cNvPr id="108547" name="Rectangle 2"/>
          <p:cNvSpPr>
            <a:spLocks noTextEdit="1"/>
          </p:cNvSpPr>
          <p:nvPr>
            <p:ph type="sldImg"/>
          </p:nvPr>
        </p:nvSpPr>
        <p:spPr>
          <a:ln/>
        </p:spPr>
      </p:sp>
      <p:sp>
        <p:nvSpPr>
          <p:cNvPr id="108548" name="Rectangle 3"/>
          <p:cNvSpPr>
            <a:spLocks noGrp="1"/>
          </p:cNvSpPr>
          <p:nvPr>
            <p:ph type="body" idx="1"/>
          </p:nvPr>
        </p:nvSpPr>
        <p:spPr>
          <a:ln w="9525"/>
        </p:spPr>
        <p:txBody>
          <a:bodyPr wrap="square" lIns="91440" tIns="45720" rIns="91440" bIns="45720" anchor="ctr" anchorCtr="0"/>
          <a:p>
            <a:pPr lvl="0"/>
            <a:endParaRPr lang="zh-CN" altLang="en-US" dirty="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image" Target="../media/image1.png"/><Relationship Id="rId2" Type="http://schemas.openxmlformats.org/officeDocument/2006/relationships/oleObject" Target="../embeddings/oleObject2.bin"/><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image" Target="../media/image1.png"/><Relationship Id="rId2" Type="http://schemas.openxmlformats.org/officeDocument/2006/relationships/oleObject" Target="../embeddings/oleObject3.bin"/><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8" name="页脚占位符 7"/>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9" name="灯片编号占位符 8"/>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页脚占位符 3"/>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灯片编号占位符 4"/>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3" name="页脚占位符 2"/>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4" name="灯片编号占位符 3"/>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页脚占位符 5"/>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7" name="灯片编号占位符 6"/>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5" name="页脚占位符 4"/>
          <p:cNvSpPr>
            <a:spLocks noGrp="1"/>
          </p:cNvSpPr>
          <p:nvPr>
            <p:ph type="ftr" sz="quarter" idx="11"/>
          </p:nvPr>
        </p:nvSpPr>
        <p:spPr/>
        <p:txBody>
          <a:bodyPr/>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6" name="灯片编号占位符 5"/>
          <p:cNvSpPr>
            <a:spLocks noGrp="1"/>
          </p:cNvSpPr>
          <p:nvPr>
            <p:ph type="sldNum" sz="quarter" idx="12"/>
          </p:nvPr>
        </p:nvSpPr>
        <p:spPr/>
        <p:txBody>
          <a:bodyPr/>
          <a:p>
            <a:pPr lvl="0" eaLnBrk="1" hangingPunct="1"/>
            <a:fld id="{9A0DB2DC-4C9A-4742-B13C-FB6460FD3503}" type="slidenum">
              <a:rPr lang="zh-CN" altLang="en-US" dirty="0"/>
            </a:fld>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showMasterSp="0">
  <p:cSld name="标题，文本与内容">
    <p:bg>
      <p:bgPr>
        <a:solidFill>
          <a:schemeClr val="bg1"/>
        </a:solidFill>
        <a:effectLst/>
      </p:bgPr>
    </p:bg>
    <p:spTree>
      <p:nvGrpSpPr>
        <p:cNvPr id="1" name=""/>
        <p:cNvGrpSpPr/>
        <p:nvPr/>
      </p:nvGrpSpPr>
      <p:grpSpPr>
        <a:xfrm>
          <a:off x="0" y="0"/>
          <a:ext cx="0" cy="0"/>
          <a:chOff x="0" y="0"/>
          <a:chExt cx="0" cy="0"/>
        </a:xfrm>
      </p:grpSpPr>
      <p:sp>
        <p:nvSpPr>
          <p:cNvPr id="1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3079"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graphicFrame>
        <p:nvGraphicFramePr>
          <p:cNvPr id="3080"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5" name="" r:id="rId2" imgW="2540000" imgH="2540000" progId="Photoshop.Image.6">
                  <p:embed/>
                </p:oleObj>
              </mc:Choice>
              <mc:Fallback>
                <p:oleObj name="" r:id="rId2" imgW="2540000" imgH="2540000" progId="Photoshop.Image.6">
                  <p:embed/>
                  <p:pic>
                    <p:nvPicPr>
                      <p:cNvPr id="0" name="图片 4"/>
                      <p:cNvPicPr/>
                      <p:nvPr/>
                    </p:nvPicPr>
                    <p:blipFill>
                      <a:blip r:embed="rId3"/>
                      <a:stretch>
                        <a:fillRect/>
                      </a:stretch>
                    </p:blipFill>
                    <p:spPr>
                      <a:xfrm>
                        <a:off x="0" y="0"/>
                        <a:ext cx="971550" cy="1042988"/>
                      </a:xfrm>
                      <a:prstGeom prst="rect">
                        <a:avLst/>
                      </a:prstGeom>
                      <a:noFill/>
                      <a:ln w="38100">
                        <a:noFill/>
                        <a:miter/>
                      </a:ln>
                    </p:spPr>
                  </p:pic>
                </p:oleObj>
              </mc:Fallback>
            </mc:AlternateContent>
          </a:graphicData>
        </a:graphic>
      </p:graphicFrame>
      <p:sp>
        <p:nvSpPr>
          <p:cNvPr id="23"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5" name="日期占位符 4"/>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6" name="页脚占位符 5"/>
          <p:cNvSpPr>
            <a:spLocks noGrp="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7" name="灯片编号占位符 6"/>
          <p:cNvSpPr>
            <a:spLocks noGrp="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ctr" eaLnBrk="1" hangingPunct="1"/>
            <a:fld id="{9A0DB2DC-4C9A-4742-B13C-FB6460FD3503}" type="slidenum">
              <a:rPr lang="zh-CN" altLang="en-CA" dirty="0">
                <a:latin typeface="Verdana" panose="020B0604030504040204" pitchFamily="34" charset="0"/>
                <a:ea typeface="宋体" panose="02010600030101010101" pitchFamily="2" charset="-122"/>
              </a:rPr>
            </a:fld>
            <a:endParaRPr lang="zh-CN" altLang="en-CA" dirty="0">
              <a:latin typeface="Verdana" panose="020B0604030504040204" pitchFamily="34" charset="0"/>
              <a:ea typeface="宋体" panose="02010600030101010101" pitchFamily="2"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showMasterSp="0">
  <p:cSld name="标题，文本与两项内容">
    <p:bg>
      <p:bgPr>
        <a:solidFill>
          <a:schemeClr val="bg1"/>
        </a:solidFill>
        <a:effectLst/>
      </p:bgPr>
    </p:bg>
    <p:spTree>
      <p:nvGrpSpPr>
        <p:cNvPr id="1" name=""/>
        <p:cNvGrpSpPr/>
        <p:nvPr/>
      </p:nvGrpSpPr>
      <p:grpSpPr>
        <a:xfrm>
          <a:off x="0" y="0"/>
          <a:ext cx="0" cy="0"/>
          <a:chOff x="0" y="0"/>
          <a:chExt cx="0" cy="0"/>
        </a:xfrm>
      </p:grpSpPr>
      <p:sp>
        <p:nvSpPr>
          <p:cNvPr id="1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4103"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graphicFrame>
        <p:nvGraphicFramePr>
          <p:cNvPr id="4104"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81" name="" r:id="rId2" imgW="2540000" imgH="2540000" progId="Photoshop.Image.6">
                  <p:embed/>
                </p:oleObj>
              </mc:Choice>
              <mc:Fallback>
                <p:oleObj name="" r:id="rId2" imgW="2540000" imgH="2540000" progId="Photoshop.Image.6">
                  <p:embed/>
                  <p:pic>
                    <p:nvPicPr>
                      <p:cNvPr id="0" name="图片 3080"/>
                      <p:cNvPicPr/>
                      <p:nvPr/>
                    </p:nvPicPr>
                    <p:blipFill>
                      <a:blip r:embed="rId3"/>
                      <a:stretch>
                        <a:fillRect/>
                      </a:stretch>
                    </p:blipFill>
                    <p:spPr>
                      <a:xfrm>
                        <a:off x="0" y="0"/>
                        <a:ext cx="971550" cy="1042988"/>
                      </a:xfrm>
                      <a:prstGeom prst="rect">
                        <a:avLst/>
                      </a:prstGeom>
                      <a:noFill/>
                      <a:ln w="38100">
                        <a:noFill/>
                        <a:miter/>
                      </a:ln>
                    </p:spPr>
                  </p:pic>
                </p:oleObj>
              </mc:Fallback>
            </mc:AlternateContent>
          </a:graphicData>
        </a:graphic>
      </p:graphicFrame>
      <p:sp>
        <p:nvSpPr>
          <p:cNvPr id="23"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文本占位符 2"/>
          <p:cNvSpPr>
            <a:spLocks noGrp="1"/>
          </p:cNvSpPr>
          <p:nvPr>
            <p:ph type="body"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5" name="日期占位符 5"/>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6" name="页脚占位符 6"/>
          <p:cNvSpPr>
            <a:spLocks noGrp="1"/>
          </p:cNvSpPr>
          <p:nvPr>
            <p:ph type="ftr" sz="quarter" idx="1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7" name="灯片编号占位符 7"/>
          <p:cNvSpPr>
            <a:spLocks noGrp="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ctr" eaLnBrk="1" hangingPunct="1"/>
            <a:fld id="{9A0DB2DC-4C9A-4742-B13C-FB6460FD3503}" type="slidenum">
              <a:rPr lang="zh-CN" altLang="en-CA" dirty="0">
                <a:latin typeface="Verdana" panose="020B0604030504040204" pitchFamily="34" charset="0"/>
                <a:ea typeface="宋体" panose="02010600030101010101" pitchFamily="2" charset="-122"/>
              </a:rPr>
            </a:fld>
            <a:endParaRPr lang="zh-CN" altLang="en-CA" dirty="0">
              <a:latin typeface="Verdana" panose="020B0604030504040204" pitchFamily="34" charset="0"/>
              <a:ea typeface="宋体" panose="02010600030101010101" pitchFamily="2"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woObj" showMasterSp="0">
  <p:cSld name="标题，一项大型内容和两项小型内容">
    <p:bg>
      <p:bgPr>
        <a:solidFill>
          <a:schemeClr val="bg1"/>
        </a:solidFill>
        <a:effectLst/>
      </p:bgPr>
    </p:bg>
    <p:spTree>
      <p:nvGrpSpPr>
        <p:cNvPr id="1" name=""/>
        <p:cNvGrpSpPr/>
        <p:nvPr/>
      </p:nvGrpSpPr>
      <p:grpSpPr>
        <a:xfrm>
          <a:off x="0" y="0"/>
          <a:ext cx="0" cy="0"/>
          <a:chOff x="0" y="0"/>
          <a:chExt cx="0" cy="0"/>
        </a:xfrm>
      </p:grpSpPr>
      <p:sp>
        <p:nvSpPr>
          <p:cNvPr id="1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5127"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graphicFrame>
        <p:nvGraphicFramePr>
          <p:cNvPr id="5128"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80" name="" r:id="rId2" imgW="2540000" imgH="2540000" progId="Photoshop.Image.6">
                  <p:embed/>
                </p:oleObj>
              </mc:Choice>
              <mc:Fallback>
                <p:oleObj name="" r:id="rId2" imgW="2540000" imgH="2540000" progId="Photoshop.Image.6">
                  <p:embed/>
                  <p:pic>
                    <p:nvPicPr>
                      <p:cNvPr id="0" name="图片 3079"/>
                      <p:cNvPicPr/>
                      <p:nvPr/>
                    </p:nvPicPr>
                    <p:blipFill>
                      <a:blip r:embed="rId3"/>
                      <a:stretch>
                        <a:fillRect/>
                      </a:stretch>
                    </p:blipFill>
                    <p:spPr>
                      <a:xfrm>
                        <a:off x="0" y="0"/>
                        <a:ext cx="971550" cy="1042988"/>
                      </a:xfrm>
                      <a:prstGeom prst="rect">
                        <a:avLst/>
                      </a:prstGeom>
                      <a:noFill/>
                      <a:ln w="38100">
                        <a:noFill/>
                        <a:miter/>
                      </a:ln>
                    </p:spPr>
                  </p:pic>
                </p:oleObj>
              </mc:Fallback>
            </mc:AlternateContent>
          </a:graphicData>
        </a:graphic>
      </p:graphicFrame>
      <p:sp>
        <p:nvSpPr>
          <p:cNvPr id="23"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4"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 name="标题 1"/>
          <p:cNvSpPr>
            <a:spLocks noGrp="1"/>
          </p:cNvSpPr>
          <p:nvPr>
            <p:ph type="title"/>
          </p:nvPr>
        </p:nvSpPr>
        <p:spPr>
          <a:xfrm>
            <a:off x="685800" y="609600"/>
            <a:ext cx="7772400" cy="1143000"/>
          </a:xfrm>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quarter" idx="2"/>
          </p:nvPr>
        </p:nvSpPr>
        <p:spPr>
          <a:xfrm>
            <a:off x="4648200" y="1981200"/>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内容占位符 4"/>
          <p:cNvSpPr>
            <a:spLocks noGrp="1"/>
          </p:cNvSpPr>
          <p:nvPr>
            <p:ph sz="quarter" idx="3"/>
          </p:nvPr>
        </p:nvSpPr>
        <p:spPr>
          <a:xfrm>
            <a:off x="4648200" y="4114800"/>
            <a:ext cx="3810000" cy="198120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25" name="日期占位符 5"/>
          <p:cNvSpPr>
            <a:spLocks noGrp="1"/>
          </p:cNvSpPr>
          <p:nvPr>
            <p:ph type="dt" sz="half" idx="12"/>
          </p:nvPr>
        </p:nvSpPr>
        <p:spPr bwMode="auto">
          <a:xfrm>
            <a:off x="685800" y="6248400"/>
            <a:ext cx="19050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6" name="页脚占位符 6"/>
          <p:cNvSpPr>
            <a:spLocks noGrp="1"/>
          </p:cNvSpPr>
          <p:nvPr>
            <p:ph type="ftr" sz="quarter" idx="1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en-CA" altLang="zh-CN" sz="1400" b="1" i="0" u="none" strike="noStrike" kern="1200" cap="none" spc="0" normalizeH="0" baseline="0" noProof="0">
              <a:ln>
                <a:noFill/>
              </a:ln>
              <a:solidFill>
                <a:schemeClr val="tx2"/>
              </a:solidFill>
              <a:effectLst/>
              <a:uLnTx/>
              <a:uFillTx/>
              <a:latin typeface="+mj-lt"/>
              <a:ea typeface="+mj-ea"/>
              <a:cs typeface="+mn-cs"/>
            </a:endParaRPr>
          </a:p>
        </p:txBody>
      </p:sp>
      <p:sp>
        <p:nvSpPr>
          <p:cNvPr id="27" name="灯片编号占位符 7"/>
          <p:cNvSpPr>
            <a:spLocks noGrp="1"/>
          </p:cNvSpPr>
          <p:nvPr>
            <p:ph type="sldNum" sz="quarter" idx="4"/>
          </p:nvPr>
        </p:nvSpPr>
        <p:spPr bwMode="auto">
          <a:xfrm>
            <a:off x="6553200" y="6248400"/>
            <a:ext cx="1905000" cy="457200"/>
          </a:xfrm>
          <a:prstGeom prst="rect">
            <a:avLst/>
          </a:prstGeom>
          <a:ln>
            <a:miter lim="800000"/>
          </a:ln>
        </p:spPr>
        <p:txBody>
          <a:bodyPr vert="horz" wrap="square" lIns="91440" tIns="45720" rIns="91440" bIns="45720" numCol="1" anchor="t" anchorCtr="0" compatLnSpc="1"/>
          <a:p>
            <a:pPr algn="ctr" eaLnBrk="1" hangingPunct="1"/>
            <a:fld id="{9A0DB2DC-4C9A-4742-B13C-FB6460FD3503}" type="slidenum">
              <a:rPr lang="zh-CN" altLang="en-CA" dirty="0">
                <a:latin typeface="Verdana" panose="020B0604030504040204" pitchFamily="34" charset="0"/>
                <a:ea typeface="宋体" panose="02010600030101010101" pitchFamily="2" charset="-122"/>
              </a:rPr>
            </a:fld>
            <a:endParaRPr lang="zh-CN" altLang="en-CA" dirty="0">
              <a:latin typeface="Verdana" panose="020B0604030504040204" pitchFamily="34" charset="0"/>
              <a:ea typeface="宋体" panose="02010600030101010101" pitchFamily="2"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412875"/>
            <a:ext cx="4038600" cy="5040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3200" b="1" i="0" u="none" strike="noStrike" kern="0" cap="none" spc="0" normalizeH="0" baseline="0" noProof="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33363"/>
            <a:ext cx="2057400" cy="62198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33363"/>
            <a:ext cx="6019800" cy="62198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vmlDrawing" Target="../drawings/vmlDrawing4.vml"/><Relationship Id="rId16" Type="http://schemas.openxmlformats.org/officeDocument/2006/relationships/image" Target="../media/image1.png"/><Relationship Id="rId15" Type="http://schemas.openxmlformats.org/officeDocument/2006/relationships/oleObject" Target="../embeddings/oleObject4.bin"/><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3.xml"/><Relationship Id="rId8" Type="http://schemas.openxmlformats.org/officeDocument/2006/relationships/slideLayout" Target="../slideLayouts/slideLayout22.xml"/><Relationship Id="rId7" Type="http://schemas.openxmlformats.org/officeDocument/2006/relationships/slideLayout" Target="../slideLayouts/slideLayout21.xml"/><Relationship Id="rId6" Type="http://schemas.openxmlformats.org/officeDocument/2006/relationships/slideLayout" Target="../slideLayouts/slideLayout20.xml"/><Relationship Id="rId5" Type="http://schemas.openxmlformats.org/officeDocument/2006/relationships/slideLayout" Target="../slideLayouts/slideLayout19.xml"/><Relationship Id="rId4" Type="http://schemas.openxmlformats.org/officeDocument/2006/relationships/slideLayout" Target="../slideLayouts/slideLayout18.xml"/><Relationship Id="rId3" Type="http://schemas.openxmlformats.org/officeDocument/2006/relationships/slideLayout" Target="../slideLayouts/slideLayout17.xml"/><Relationship Id="rId2" Type="http://schemas.openxmlformats.org/officeDocument/2006/relationships/slideLayout" Target="../slideLayouts/slideLayout16.xml"/><Relationship Id="rId17" Type="http://schemas.openxmlformats.org/officeDocument/2006/relationships/theme" Target="../theme/theme2.xml"/><Relationship Id="rId16" Type="http://schemas.openxmlformats.org/officeDocument/2006/relationships/vmlDrawing" Target="../drawings/vmlDrawing5.vml"/><Relationship Id="rId15" Type="http://schemas.openxmlformats.org/officeDocument/2006/relationships/image" Target="../media/image1.png"/><Relationship Id="rId14" Type="http://schemas.openxmlformats.org/officeDocument/2006/relationships/oleObject" Target="../embeddings/oleObject6.bin"/><Relationship Id="rId13" Type="http://schemas.openxmlformats.org/officeDocument/2006/relationships/image" Target="../media/image2.png"/><Relationship Id="rId12" Type="http://schemas.openxmlformats.org/officeDocument/2006/relationships/oleObject" Target="../embeddings/oleObject5.bin"/><Relationship Id="rId11" Type="http://schemas.openxmlformats.org/officeDocument/2006/relationships/slideLayout" Target="../slideLayouts/slideLayout25.xml"/><Relationship Id="rId10" Type="http://schemas.openxmlformats.org/officeDocument/2006/relationships/slideLayout" Target="../slideLayouts/slideLayout24.xml"/><Relationship Id="rId1"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15"/>
          <p:cNvSpPr>
            <a:spLocks noChangeArrowheads="1"/>
          </p:cNvSpPr>
          <p:nvPr/>
        </p:nvSpPr>
        <p:spPr bwMode="auto">
          <a:xfrm>
            <a:off x="0" y="981075"/>
            <a:ext cx="250825" cy="5891213"/>
          </a:xfrm>
          <a:prstGeom prst="rect">
            <a:avLst/>
          </a:prstGeom>
          <a:solidFill>
            <a:schemeClr val="hlink"/>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7" name="Rectangle 16"/>
          <p:cNvSpPr>
            <a:spLocks noChangeArrowheads="1"/>
          </p:cNvSpPr>
          <p:nvPr/>
        </p:nvSpPr>
        <p:spPr bwMode="auto">
          <a:xfrm>
            <a:off x="0" y="0"/>
            <a:ext cx="1403350" cy="12477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8" name="Rectangle 17"/>
          <p:cNvSpPr>
            <a:spLocks noChangeArrowheads="1"/>
          </p:cNvSpPr>
          <p:nvPr/>
        </p:nvSpPr>
        <p:spPr bwMode="auto">
          <a:xfrm>
            <a:off x="1403350" y="0"/>
            <a:ext cx="7740650" cy="1052513"/>
          </a:xfrm>
          <a:prstGeom prst="rect">
            <a:avLst/>
          </a:prstGeom>
          <a:solidFill>
            <a:schemeClr val="tx2"/>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29" name="Rectangle 18"/>
          <p:cNvSpPr>
            <a:spLocks noChangeArrowheads="1"/>
          </p:cNvSpPr>
          <p:nvPr/>
        </p:nvSpPr>
        <p:spPr bwMode="auto">
          <a:xfrm>
            <a:off x="8820150" y="0"/>
            <a:ext cx="73025" cy="7651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0" name="Rectangle 19"/>
          <p:cNvSpPr>
            <a:spLocks noChangeArrowheads="1"/>
          </p:cNvSpPr>
          <p:nvPr/>
        </p:nvSpPr>
        <p:spPr bwMode="auto">
          <a:xfrm>
            <a:off x="179388" y="134938"/>
            <a:ext cx="8785225" cy="773113"/>
          </a:xfrm>
          <a:prstGeom prst="rect">
            <a:avLst/>
          </a:prstGeom>
          <a:noFill/>
          <a:ln w="0">
            <a:solidFill>
              <a:schemeClr val="accent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1" name="Line 20"/>
          <p:cNvSpPr/>
          <p:nvPr/>
        </p:nvSpPr>
        <p:spPr>
          <a:xfrm>
            <a:off x="468313" y="6481763"/>
            <a:ext cx="8424862" cy="0"/>
          </a:xfrm>
          <a:prstGeom prst="line">
            <a:avLst/>
          </a:prstGeom>
          <a:ln w="0" cap="flat" cmpd="sng">
            <a:solidFill>
              <a:schemeClr val="tx2"/>
            </a:solidFill>
            <a:prstDash val="solid"/>
            <a:headEnd type="none" w="med" len="med"/>
            <a:tailEnd type="none" w="med" len="med"/>
          </a:ln>
        </p:spPr>
      </p:sp>
      <p:sp>
        <p:nvSpPr>
          <p:cNvPr id="1032" name="Rectangle 3"/>
          <p:cNvSpPr>
            <a:spLocks noGrp="1"/>
          </p:cNvSpPr>
          <p:nvPr>
            <p:ph type="body" idx="1"/>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033" name="Rectangle 4"/>
          <p:cNvSpPr>
            <a:spLocks noGrp="1" noChangeArrowheads="1"/>
          </p:cNvSpPr>
          <p:nvPr>
            <p:ph type="dt" sz="half" idx="2"/>
          </p:nvPr>
        </p:nvSpPr>
        <p:spPr bwMode="auto">
          <a:xfrm>
            <a:off x="-106362" y="6505575"/>
            <a:ext cx="5126038" cy="352425"/>
          </a:xfrm>
          <a:prstGeom prst="rect">
            <a:avLst/>
          </a:prstGeom>
          <a:noFill/>
          <a:ln w="9525">
            <a:noFill/>
            <a:miter lim="800000"/>
          </a:ln>
        </p:spPr>
        <p:txBody>
          <a:bodyPr vert="horz" wrap="square" lIns="91440" tIns="45720" rIns="91440" bIns="45720" numCol="1" anchor="t" anchorCtr="0" compatLnSpc="1"/>
          <a:lstStyle>
            <a:lvl1pPr algn="ctr" eaLnBrk="1" hangingPunct="1">
              <a:buFont typeface="Arial" panose="020B0604020202020204" pitchFamily="34" charset="0"/>
              <a:buNone/>
              <a:defRPr sz="1400" b="1">
                <a:solidFill>
                  <a:schemeClr val="tx2"/>
                </a:solidFill>
                <a:latin typeface="+mj-lt"/>
                <a:ea typeface="+mj-ea"/>
              </a:defRPr>
            </a:lvl1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1400" b="1" i="0" u="none" strike="noStrike" kern="1200" cap="none" spc="0" normalizeH="0" baseline="0" noProof="0">
                <a:ln>
                  <a:noFill/>
                </a:ln>
                <a:solidFill>
                  <a:schemeClr val="tx2"/>
                </a:solidFill>
                <a:effectLst/>
                <a:uLnTx/>
                <a:uFillTx/>
                <a:latin typeface="+mj-lt"/>
                <a:ea typeface="+mj-ea"/>
                <a:cs typeface="+mn-cs"/>
              </a:rPr>
              <a:t>兰 州 大 学 </a:t>
            </a:r>
            <a:r>
              <a:rPr kumimoji="0" lang="en-US" sz="1400" b="1" i="0" u="none" strike="noStrike" kern="1200" cap="none" spc="0" normalizeH="0" baseline="0" noProof="0">
                <a:ln>
                  <a:noFill/>
                </a:ln>
                <a:solidFill>
                  <a:schemeClr val="tx2"/>
                </a:solidFill>
                <a:effectLst/>
                <a:uLnTx/>
                <a:uFillTx/>
                <a:latin typeface="+mn-lt"/>
                <a:ea typeface="+mj-ea"/>
                <a:cs typeface="+mn-cs"/>
              </a:rPr>
              <a:t>·</a:t>
            </a: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大 气 科 学 学 院 本 科 课 程</a:t>
            </a:r>
            <a:endParaRPr kumimoji="0" lang="zh-CN" alt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2" name="Rectangle 5"/>
          <p:cNvSpPr>
            <a:spLocks noGrp="1" noChangeArrowheads="1"/>
          </p:cNvSpPr>
          <p:nvPr>
            <p:ph type="ftr" sz="quarter" idx="3"/>
          </p:nvPr>
        </p:nvSpPr>
        <p:spPr bwMode="auto">
          <a:xfrm>
            <a:off x="7135813" y="6477000"/>
            <a:ext cx="1828800" cy="227013"/>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400" b="1">
                <a:solidFill>
                  <a:schemeClr val="tx2"/>
                </a:solidFill>
                <a:latin typeface="+mj-lt"/>
                <a:ea typeface="+mj-ea"/>
              </a:defRPr>
            </a:lvl1pPr>
          </a:lstStyle>
          <a:p>
            <a:pPr marL="0" marR="0" lvl="0" indent="0" algn="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sz="1400" b="1" i="0" u="none" strike="noStrike" kern="1200" cap="none" spc="0" normalizeH="0" baseline="0" noProof="0">
                <a:ln>
                  <a:noFill/>
                </a:ln>
                <a:solidFill>
                  <a:schemeClr val="tx2"/>
                </a:solidFill>
                <a:effectLst/>
                <a:uLnTx/>
                <a:uFillTx/>
                <a:latin typeface="+mj-lt"/>
                <a:ea typeface="+mj-ea"/>
                <a:cs typeface="+mn-cs"/>
              </a:rPr>
              <a:t>《 </a:t>
            </a:r>
            <a:r>
              <a:rPr kumimoji="0" lang="zh-CN" altLang="en-US" sz="1400" b="1" i="0" u="none" strike="noStrike" kern="1200" cap="none" spc="0" normalizeH="0" baseline="0" noProof="0">
                <a:ln>
                  <a:noFill/>
                </a:ln>
                <a:solidFill>
                  <a:schemeClr val="tx2"/>
                </a:solidFill>
                <a:effectLst/>
                <a:uLnTx/>
                <a:uFillTx/>
                <a:latin typeface="+mj-lt"/>
                <a:ea typeface="+mj-ea"/>
                <a:cs typeface="+mn-cs"/>
              </a:rPr>
              <a:t>流 体 力 学 </a:t>
            </a:r>
            <a:r>
              <a:rPr kumimoji="0" lang="en-US" sz="1400" b="1" i="0" u="none" strike="noStrike" kern="1200" cap="none" spc="0" normalizeH="0" baseline="0" noProof="0">
                <a:ln>
                  <a:noFill/>
                </a:ln>
                <a:solidFill>
                  <a:schemeClr val="tx2"/>
                </a:solidFill>
                <a:effectLst/>
                <a:uLnTx/>
                <a:uFillTx/>
                <a:latin typeface="+mj-lt"/>
                <a:ea typeface="+mj-ea"/>
                <a:cs typeface="+mn-cs"/>
              </a:rPr>
              <a:t>》</a:t>
            </a:r>
            <a:endParaRPr kumimoji="0" lang="en-US" sz="1400" b="1" i="0" u="none" strike="noStrike" kern="1200" cap="none" spc="0" normalizeH="0" baseline="0" noProof="0">
              <a:ln>
                <a:noFill/>
              </a:ln>
              <a:solidFill>
                <a:schemeClr val="tx2"/>
              </a:solidFill>
              <a:effectLst/>
              <a:uLnTx/>
              <a:uFillTx/>
              <a:latin typeface="+mj-lt"/>
              <a:ea typeface="+mj-ea"/>
              <a:cs typeface="+mn-cs"/>
            </a:endParaRPr>
          </a:p>
        </p:txBody>
      </p:sp>
      <p:sp>
        <p:nvSpPr>
          <p:cNvPr id="1035" name="Rectangle 6"/>
          <p:cNvSpPr>
            <a:spLocks noGrp="1" noChangeArrowheads="1"/>
          </p:cNvSpPr>
          <p:nvPr>
            <p:ph type="sldNum" sz="quarter" idx="4"/>
          </p:nvPr>
        </p:nvSpPr>
        <p:spPr bwMode="auto">
          <a:xfrm>
            <a:off x="3505200" y="6448425"/>
            <a:ext cx="2133600" cy="228600"/>
          </a:xfrm>
          <a:prstGeom prst="rect">
            <a:avLst/>
          </a:prstGeom>
          <a:noFill/>
          <a:ln w="9525">
            <a:noFill/>
            <a:miter lim="800000"/>
          </a:ln>
        </p:spPr>
        <p:txBody>
          <a:bodyPr vert="horz" wrap="square" lIns="91440" tIns="45720" rIns="91440" bIns="45720" numCol="1" anchor="t" anchorCtr="0" compatLnSpc="1"/>
          <a:lstStyle>
            <a:lvl1pPr algn="ctr">
              <a:defRPr sz="1000" b="1">
                <a:latin typeface="Verdana" panose="020B0604030504040204" pitchFamily="34" charset="0"/>
                <a:ea typeface="宋体" panose="02010600030101010101" pitchFamily="2" charset="-122"/>
              </a:defRPr>
            </a:lvl1pPr>
          </a:lstStyle>
          <a:p>
            <a:pPr lvl="0" eaLnBrk="1" hangingPunct="1"/>
            <a:fld id="{9A0DB2DC-4C9A-4742-B13C-FB6460FD3503}" type="slidenum">
              <a:rPr lang="zh-CN" altLang="en-US" dirty="0"/>
            </a:fld>
            <a:endParaRPr lang="zh-CN" altLang="en-US" dirty="0"/>
          </a:p>
        </p:txBody>
      </p:sp>
      <p:graphicFrame>
        <p:nvGraphicFramePr>
          <p:cNvPr id="1036" name="Object 21"/>
          <p:cNvGraphicFramePr>
            <a:graphicFrameLocks noChangeAspect="1"/>
          </p:cNvGraphicFramePr>
          <p:nvPr/>
        </p:nvGraphicFramePr>
        <p:xfrm>
          <a:off x="0" y="0"/>
          <a:ext cx="971550" cy="1042988"/>
        </p:xfrm>
        <a:graphic>
          <a:graphicData uri="http://schemas.openxmlformats.org/presentationml/2006/ole">
            <mc:AlternateContent xmlns:mc="http://schemas.openxmlformats.org/markup-compatibility/2006">
              <mc:Choice xmlns:v="urn:schemas-microsoft-com:vml" Requires="v">
                <p:oleObj spid="_x0000_s3076" name="" r:id="rId15" imgW="2540000" imgH="2540000" progId="Photoshop.Image.6">
                  <p:embed/>
                </p:oleObj>
              </mc:Choice>
              <mc:Fallback>
                <p:oleObj name="" r:id="rId15" imgW="2540000" imgH="2540000" progId="Photoshop.Image.6">
                  <p:embed/>
                  <p:pic>
                    <p:nvPicPr>
                      <p:cNvPr id="0" name="图片 3075"/>
                      <p:cNvPicPr/>
                      <p:nvPr/>
                    </p:nvPicPr>
                    <p:blipFill>
                      <a:blip r:embed="rId16"/>
                      <a:stretch>
                        <a:fillRect/>
                      </a:stretch>
                    </p:blipFill>
                    <p:spPr>
                      <a:xfrm>
                        <a:off x="0" y="0"/>
                        <a:ext cx="971550" cy="1042988"/>
                      </a:xfrm>
                      <a:prstGeom prst="rect">
                        <a:avLst/>
                      </a:prstGeom>
                      <a:noFill/>
                      <a:ln w="38100">
                        <a:noFill/>
                        <a:miter/>
                      </a:ln>
                    </p:spPr>
                  </p:pic>
                </p:oleObj>
              </mc:Fallback>
            </mc:AlternateContent>
          </a:graphicData>
        </a:graphic>
      </p:graphicFrame>
      <p:sp>
        <p:nvSpPr>
          <p:cNvPr id="1037" name="Rectangle 22"/>
          <p:cNvSpPr>
            <a:spLocks noChangeArrowheads="1"/>
          </p:cNvSpPr>
          <p:nvPr/>
        </p:nvSpPr>
        <p:spPr bwMode="auto">
          <a:xfrm>
            <a:off x="1187450" y="908050"/>
            <a:ext cx="7956550" cy="14446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8" name="Rectangle 23"/>
          <p:cNvSpPr>
            <a:spLocks noChangeArrowheads="1"/>
          </p:cNvSpPr>
          <p:nvPr/>
        </p:nvSpPr>
        <p:spPr bwMode="auto">
          <a:xfrm>
            <a:off x="971550" y="0"/>
            <a:ext cx="431800" cy="1052513"/>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1039"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hf sldNum="0" hdr="0" ftr="0" dt="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vl6pPr marL="25146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050" name="Rectangle 17"/>
          <p:cNvSpPr>
            <a:spLocks noChangeArrowheads="1"/>
          </p:cNvSpPr>
          <p:nvPr/>
        </p:nvSpPr>
        <p:spPr bwMode="auto">
          <a:xfrm>
            <a:off x="0" y="5157788"/>
            <a:ext cx="9144000" cy="1708150"/>
          </a:xfrm>
          <a:prstGeom prst="rect">
            <a:avLst/>
          </a:prstGeom>
          <a:solidFill>
            <a:schemeClr val="bg2"/>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1" name="Rectangle 18"/>
          <p:cNvSpPr>
            <a:spLocks noChangeArrowheads="1"/>
          </p:cNvSpPr>
          <p:nvPr/>
        </p:nvSpPr>
        <p:spPr bwMode="auto">
          <a:xfrm>
            <a:off x="0" y="0"/>
            <a:ext cx="9144000" cy="4935538"/>
          </a:xfrm>
          <a:prstGeom prst="rect">
            <a:avLst/>
          </a:prstGeom>
          <a:solidFill>
            <a:schemeClr val="tx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2" name="Rectangle 19"/>
          <p:cNvSpPr>
            <a:spLocks noChangeArrowheads="1"/>
          </p:cNvSpPr>
          <p:nvPr/>
        </p:nvSpPr>
        <p:spPr bwMode="auto">
          <a:xfrm>
            <a:off x="1270000" y="4933950"/>
            <a:ext cx="7874000" cy="223838"/>
          </a:xfrm>
          <a:prstGeom prst="rect">
            <a:avLst/>
          </a:prstGeom>
          <a:solidFill>
            <a:schemeClr val="hlink"/>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3" name="Text Box 14"/>
          <p:cNvSpPr txBox="1">
            <a:spLocks noChangeArrowheads="1"/>
          </p:cNvSpPr>
          <p:nvPr/>
        </p:nvSpPr>
        <p:spPr bwMode="auto">
          <a:xfrm>
            <a:off x="2268538" y="5949950"/>
            <a:ext cx="4608513" cy="366713"/>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ctr"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College of Atmospheric Sciences</a:t>
            </a:r>
            <a:endParaRPr kumimoji="0" lang="en-US" altLang="zh-CN" sz="1800" b="1"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4" name="Rectangle 20"/>
          <p:cNvSpPr>
            <a:spLocks noChangeArrowheads="1"/>
          </p:cNvSpPr>
          <p:nvPr/>
        </p:nvSpPr>
        <p:spPr bwMode="auto">
          <a:xfrm>
            <a:off x="-7937" y="4935538"/>
            <a:ext cx="1281113" cy="222250"/>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2055" name="Object 21"/>
          <p:cNvGraphicFramePr>
            <a:graphicFrameLocks noChangeAspect="1"/>
          </p:cNvGraphicFramePr>
          <p:nvPr/>
        </p:nvGraphicFramePr>
        <p:xfrm>
          <a:off x="1279525" y="5054600"/>
          <a:ext cx="2351088" cy="609600"/>
        </p:xfrm>
        <a:graphic>
          <a:graphicData uri="http://schemas.openxmlformats.org/presentationml/2006/ole">
            <mc:AlternateContent xmlns:mc="http://schemas.openxmlformats.org/markup-compatibility/2006">
              <mc:Choice xmlns:v="urn:schemas-microsoft-com:vml" Requires="v">
                <p:oleObj spid="_x0000_s3077" name="" r:id="rId12" imgW="2540000" imgH="609600" progId="Photoshop.Image.6">
                  <p:embed/>
                </p:oleObj>
              </mc:Choice>
              <mc:Fallback>
                <p:oleObj name="" r:id="rId12" imgW="2540000" imgH="609600" progId="Photoshop.Image.6">
                  <p:embed/>
                  <p:pic>
                    <p:nvPicPr>
                      <p:cNvPr id="0" name="图片 3076"/>
                      <p:cNvPicPr/>
                      <p:nvPr/>
                    </p:nvPicPr>
                    <p:blipFill>
                      <a:blip r:embed="rId13"/>
                      <a:stretch>
                        <a:fillRect/>
                      </a:stretch>
                    </p:blipFill>
                    <p:spPr>
                      <a:xfrm>
                        <a:off x="1279525" y="5054600"/>
                        <a:ext cx="2351088" cy="609600"/>
                      </a:xfrm>
                      <a:prstGeom prst="rect">
                        <a:avLst/>
                      </a:prstGeom>
                      <a:noFill/>
                      <a:ln w="38100">
                        <a:noFill/>
                        <a:miter/>
                      </a:ln>
                    </p:spPr>
                  </p:pic>
                </p:oleObj>
              </mc:Fallback>
            </mc:AlternateContent>
          </a:graphicData>
        </a:graphic>
      </p:graphicFrame>
      <p:graphicFrame>
        <p:nvGraphicFramePr>
          <p:cNvPr id="2056" name="Object 22"/>
          <p:cNvGraphicFramePr>
            <a:graphicFrameLocks noChangeAspect="1"/>
          </p:cNvGraphicFramePr>
          <p:nvPr/>
        </p:nvGraphicFramePr>
        <p:xfrm>
          <a:off x="0" y="3500438"/>
          <a:ext cx="1266825" cy="1430337"/>
        </p:xfrm>
        <a:graphic>
          <a:graphicData uri="http://schemas.openxmlformats.org/presentationml/2006/ole">
            <mc:AlternateContent xmlns:mc="http://schemas.openxmlformats.org/markup-compatibility/2006">
              <mc:Choice xmlns:v="urn:schemas-microsoft-com:vml" Requires="v">
                <p:oleObj spid="_x0000_s3078" name="" r:id="rId14" imgW="2540000" imgH="2540000" progId="Photoshop.Image.6">
                  <p:embed/>
                </p:oleObj>
              </mc:Choice>
              <mc:Fallback>
                <p:oleObj name="" r:id="rId14" imgW="2540000" imgH="2540000" progId="Photoshop.Image.6">
                  <p:embed/>
                  <p:pic>
                    <p:nvPicPr>
                      <p:cNvPr id="0" name="图片 3077"/>
                      <p:cNvPicPr/>
                      <p:nvPr/>
                    </p:nvPicPr>
                    <p:blipFill>
                      <a:blip r:embed="rId15"/>
                      <a:stretch>
                        <a:fillRect/>
                      </a:stretch>
                    </p:blipFill>
                    <p:spPr>
                      <a:xfrm>
                        <a:off x="0" y="3500438"/>
                        <a:ext cx="1266825" cy="1430337"/>
                      </a:xfrm>
                      <a:prstGeom prst="rect">
                        <a:avLst/>
                      </a:prstGeom>
                      <a:noFill/>
                      <a:ln w="38100">
                        <a:noFill/>
                        <a:miter/>
                      </a:ln>
                    </p:spPr>
                  </p:pic>
                </p:oleObj>
              </mc:Fallback>
            </mc:AlternateContent>
          </a:graphicData>
        </a:graphic>
      </p:graphicFrame>
      <p:sp>
        <p:nvSpPr>
          <p:cNvPr id="2057" name="Rectangle 23"/>
          <p:cNvSpPr>
            <a:spLocks noChangeArrowheads="1"/>
          </p:cNvSpPr>
          <p:nvPr/>
        </p:nvSpPr>
        <p:spPr bwMode="auto">
          <a:xfrm>
            <a:off x="1266825" y="1125538"/>
            <a:ext cx="2368550" cy="4535488"/>
          </a:xfrm>
          <a:prstGeom prst="rect">
            <a:avLst/>
          </a:prstGeom>
          <a:noFill/>
          <a:ln w="0">
            <a:solidFill>
              <a:schemeClr val="accent1"/>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8" name="Rectangle 24"/>
          <p:cNvSpPr>
            <a:spLocks noChangeArrowheads="1"/>
          </p:cNvSpPr>
          <p:nvPr/>
        </p:nvSpPr>
        <p:spPr bwMode="auto">
          <a:xfrm flipH="1">
            <a:off x="8221663" y="0"/>
            <a:ext cx="95250" cy="2060575"/>
          </a:xfrm>
          <a:prstGeom prst="rect">
            <a:avLst/>
          </a:prstGeom>
          <a:solidFill>
            <a:schemeClr val="accent1"/>
          </a:solidFill>
          <a:ln>
            <a:noFill/>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59" name="Rectangle 25"/>
          <p:cNvSpPr>
            <a:spLocks noChangeArrowheads="1"/>
          </p:cNvSpPr>
          <p:nvPr/>
        </p:nvSpPr>
        <p:spPr bwMode="auto">
          <a:xfrm>
            <a:off x="250825" y="260350"/>
            <a:ext cx="8569325" cy="4392613"/>
          </a:xfrm>
          <a:prstGeom prst="rect">
            <a:avLst/>
          </a:prstGeom>
          <a:noFill/>
          <a:ln w="0">
            <a:solidFill>
              <a:schemeClr val="tx2"/>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0" name="Rectangle 26"/>
          <p:cNvSpPr>
            <a:spLocks noChangeArrowheads="1"/>
          </p:cNvSpPr>
          <p:nvPr/>
        </p:nvSpPr>
        <p:spPr bwMode="auto">
          <a:xfrm>
            <a:off x="7775575" y="908050"/>
            <a:ext cx="1368425" cy="1439863"/>
          </a:xfrm>
          <a:prstGeom prst="rect">
            <a:avLst/>
          </a:prstGeom>
          <a:noFill/>
          <a:ln w="0">
            <a:solidFill>
              <a:schemeClr val="tx2"/>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1" name="Rectangle 27"/>
          <p:cNvSpPr>
            <a:spLocks noChangeArrowheads="1"/>
          </p:cNvSpPr>
          <p:nvPr/>
        </p:nvSpPr>
        <p:spPr bwMode="auto">
          <a:xfrm>
            <a:off x="611188" y="1916113"/>
            <a:ext cx="7921625" cy="1584325"/>
          </a:xfrm>
          <a:prstGeom prst="rect">
            <a:avLst/>
          </a:prstGeom>
          <a:noFill/>
          <a:ln w="0">
            <a:solidFill>
              <a:schemeClr val="tx2"/>
            </a:solidFill>
            <a:miter lim="800000"/>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062" name="Rectangle 3"/>
          <p:cNvSpPr>
            <a:spLocks noGrp="1"/>
          </p:cNvSpPr>
          <p:nvPr>
            <p:ph type="body" idx="1"/>
          </p:nvPr>
        </p:nvSpPr>
        <p:spPr>
          <a:xfrm>
            <a:off x="457200" y="1412875"/>
            <a:ext cx="8229600" cy="5040313"/>
          </a:xfrm>
          <a:prstGeom prst="rect">
            <a:avLst/>
          </a:prstGeom>
          <a:noFill/>
          <a:ln w="9525">
            <a:noFill/>
          </a:ln>
        </p:spPr>
        <p:txBody>
          <a:bodyPr/>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2063" name="Rectangle 2"/>
          <p:cNvSpPr>
            <a:spLocks noGrp="1"/>
          </p:cNvSpPr>
          <p:nvPr>
            <p:ph type="title"/>
          </p:nvPr>
        </p:nvSpPr>
        <p:spPr>
          <a:xfrm>
            <a:off x="747713" y="233363"/>
            <a:ext cx="7862887" cy="563562"/>
          </a:xfrm>
          <a:prstGeom prst="rect">
            <a:avLst/>
          </a:prstGeom>
          <a:noFill/>
          <a:ln w="9525">
            <a:noFill/>
          </a:ln>
        </p:spPr>
        <p:txBody>
          <a:bodyPr anchor="ctr" anchorCtr="0"/>
          <a:p>
            <a:pPr lvl="0"/>
            <a:r>
              <a:rPr lang="zh-CN" altLang="en-US" dirty="0"/>
              <a:t>单击此处编辑母版标题样式</a:t>
            </a:r>
            <a:endParaRPr lang="zh-CN" altLang="en-US" dirty="0"/>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b="1">
          <a:solidFill>
            <a:schemeClr val="tx1"/>
          </a:solidFill>
          <a:latin typeface="Arial" panose="020B0604020202020204" pitchFamily="34" charset="0"/>
        </a:defRPr>
      </a:lvl2pPr>
      <a:lvl3pPr marL="1143000" indent="-228600" algn="l" rtl="0" eaLnBrk="0" fontAlgn="base" hangingPunct="0">
        <a:spcBef>
          <a:spcPct val="20000"/>
        </a:spcBef>
        <a:spcAft>
          <a:spcPct val="0"/>
        </a:spcAft>
        <a:buClr>
          <a:schemeClr val="tx1"/>
        </a:buClr>
        <a:buFont typeface="Wingdings" panose="05000000000000000000" pitchFamily="2" charset="2"/>
        <a:buChar char="•"/>
        <a:defRPr sz="2400" b="1">
          <a:solidFill>
            <a:schemeClr val="tx1"/>
          </a:solidFill>
          <a:latin typeface="Arial" panose="020B0604020202020204" pitchFamily="34" charset="0"/>
        </a:defRPr>
      </a:lvl3pPr>
      <a:lvl4pPr marL="1600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4pPr>
      <a:lvl5pPr marL="20574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5pPr>
      <a:lvl6pPr marL="25146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6pPr>
      <a:lvl7pPr marL="29718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7pPr>
      <a:lvl8pPr marL="34290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8pPr>
      <a:lvl9pPr marL="3886200" indent="-228600" algn="l" rtl="0" eaLnBrk="0" fontAlgn="base" hangingPunct="0">
        <a:spcBef>
          <a:spcPct val="20000"/>
        </a:spcBef>
        <a:spcAft>
          <a:spcPct val="0"/>
        </a:spcAft>
        <a:buFont typeface="Wingdings" panose="05000000000000000000" pitchFamily="2" charset="2"/>
        <a:buChar char="»"/>
        <a:defRPr sz="2000" b="1">
          <a:solidFill>
            <a:schemeClr val="tx1"/>
          </a:solidFill>
          <a:latin typeface="Arial" panose="020B0604020202020204"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7.xml"/><Relationship Id="rId2" Type="http://schemas.openxmlformats.org/officeDocument/2006/relationships/image" Target="D:/WPSDisk/5336784/WPS&#20113;&#30424;/__Jim__/3 AtmosphericScience/06 &#22823;&#27668;&#29289;&#29702;/PPT/http:/gb.chinabroadcast.cn/mmsource/images/2006/05/18/pb060518015.jpg" TargetMode="External"/><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2.xml"/><Relationship Id="rId2" Type="http://schemas.openxmlformats.org/officeDocument/2006/relationships/image" Target="../media/image8.png"/><Relationship Id="rId1"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9.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13.jpeg"/><Relationship Id="rId1"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16.png"/><Relationship Id="rId1"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7.jpe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0.png"/><Relationship Id="rId1" Type="http://schemas.openxmlformats.org/officeDocument/2006/relationships/image" Target="../media/image19.png"/></Relationships>
</file>

<file path=ppt/slides/_rels/slide20.xml.rels><?xml version="1.0" encoding="UTF-8" standalone="yes"?>
<Relationships xmlns="http://schemas.openxmlformats.org/package/2006/relationships"><Relationship Id="rId9" Type="http://schemas.openxmlformats.org/officeDocument/2006/relationships/vmlDrawing" Target="../drawings/vmlDrawing6.vml"/><Relationship Id="rId8" Type="http://schemas.openxmlformats.org/officeDocument/2006/relationships/slideLayout" Target="../slideLayouts/slideLayout2.xml"/><Relationship Id="rId7" Type="http://schemas.openxmlformats.org/officeDocument/2006/relationships/image" Target="../media/image24.emf"/><Relationship Id="rId6" Type="http://schemas.openxmlformats.org/officeDocument/2006/relationships/oleObject" Target="../embeddings/oleObject9.bin"/><Relationship Id="rId5" Type="http://schemas.openxmlformats.org/officeDocument/2006/relationships/image" Target="../media/image23.emf"/><Relationship Id="rId4" Type="http://schemas.openxmlformats.org/officeDocument/2006/relationships/oleObject" Target="../embeddings/oleObject8.bin"/><Relationship Id="rId3" Type="http://schemas.openxmlformats.org/officeDocument/2006/relationships/image" Target="../media/image22.png"/><Relationship Id="rId2" Type="http://schemas.openxmlformats.org/officeDocument/2006/relationships/image" Target="../media/image21.wmf"/><Relationship Id="rId1" Type="http://schemas.openxmlformats.org/officeDocument/2006/relationships/oleObject" Target="../embeddings/oleObject7.bin"/></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7" Type="http://schemas.openxmlformats.org/officeDocument/2006/relationships/vmlDrawing" Target="../drawings/vmlDrawing7.vml"/><Relationship Id="rId6"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oleObject" Target="../embeddings/oleObject11.bin"/><Relationship Id="rId3" Type="http://schemas.openxmlformats.org/officeDocument/2006/relationships/image" Target="../media/image27.emf"/><Relationship Id="rId2" Type="http://schemas.openxmlformats.org/officeDocument/2006/relationships/oleObject" Target="../embeddings/oleObject10.bin"/><Relationship Id="rId1" Type="http://schemas.openxmlformats.org/officeDocument/2006/relationships/image" Target="../media/image26.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29.wmf"/><Relationship Id="rId1" Type="http://schemas.openxmlformats.org/officeDocument/2006/relationships/oleObject" Target="../embeddings/oleObject12.bin"/></Relationships>
</file>

<file path=ppt/slides/_rels/slide27.xml.rels><?xml version="1.0" encoding="UTF-8" standalone="yes"?>
<Relationships xmlns="http://schemas.openxmlformats.org/package/2006/relationships"><Relationship Id="rId4" Type="http://schemas.openxmlformats.org/officeDocument/2006/relationships/vmlDrawing" Target="../drawings/vmlDrawing9.vml"/><Relationship Id="rId3" Type="http://schemas.openxmlformats.org/officeDocument/2006/relationships/slideLayout" Target="../slideLayouts/slideLayout2.xml"/><Relationship Id="rId2" Type="http://schemas.openxmlformats.org/officeDocument/2006/relationships/image" Target="../media/image30.wmf"/><Relationship Id="rId1" Type="http://schemas.openxmlformats.org/officeDocument/2006/relationships/oleObject" Target="../embeddings/oleObject13.bin"/></Relationships>
</file>

<file path=ppt/slides/_rels/slide28.xml.rels><?xml version="1.0" encoding="UTF-8" standalone="yes"?>
<Relationships xmlns="http://schemas.openxmlformats.org/package/2006/relationships"><Relationship Id="rId5" Type="http://schemas.openxmlformats.org/officeDocument/2006/relationships/vmlDrawing" Target="../drawings/vmlDrawing10.vml"/><Relationship Id="rId4" Type="http://schemas.openxmlformats.org/officeDocument/2006/relationships/slideLayout" Target="../slideLayouts/slideLayout2.xml"/><Relationship Id="rId3" Type="http://schemas.openxmlformats.org/officeDocument/2006/relationships/image" Target="../media/image32.emf"/><Relationship Id="rId2" Type="http://schemas.openxmlformats.org/officeDocument/2006/relationships/oleObject" Target="../embeddings/oleObject14.bin"/><Relationship Id="rId1" Type="http://schemas.openxmlformats.org/officeDocument/2006/relationships/image" Target="../media/image3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vmlDrawing" Target="../drawings/vmlDrawing11.vml"/><Relationship Id="rId4" Type="http://schemas.openxmlformats.org/officeDocument/2006/relationships/slideLayout" Target="../slideLayouts/slideLayout2.xml"/><Relationship Id="rId3" Type="http://schemas.openxmlformats.org/officeDocument/2006/relationships/image" Target="../media/image34.wmf"/><Relationship Id="rId2" Type="http://schemas.openxmlformats.org/officeDocument/2006/relationships/oleObject" Target="../embeddings/oleObject15.bin"/><Relationship Id="rId1" Type="http://schemas.openxmlformats.org/officeDocument/2006/relationships/image" Target="../media/image33.jpeg"/></Relationships>
</file>

<file path=ppt/slides/_rels/slide31.xml.rels><?xml version="1.0" encoding="UTF-8" standalone="yes"?>
<Relationships xmlns="http://schemas.openxmlformats.org/package/2006/relationships"><Relationship Id="rId9" Type="http://schemas.openxmlformats.org/officeDocument/2006/relationships/vmlDrawing" Target="../drawings/vmlDrawing12.vml"/><Relationship Id="rId8" Type="http://schemas.openxmlformats.org/officeDocument/2006/relationships/slideLayout" Target="../slideLayouts/slideLayout4.xml"/><Relationship Id="rId7" Type="http://schemas.openxmlformats.org/officeDocument/2006/relationships/image" Target="../media/image38.png"/><Relationship Id="rId6" Type="http://schemas.openxmlformats.org/officeDocument/2006/relationships/image" Target="../media/image37.wmf"/><Relationship Id="rId5" Type="http://schemas.openxmlformats.org/officeDocument/2006/relationships/oleObject" Target="../embeddings/oleObject18.bin"/><Relationship Id="rId4" Type="http://schemas.openxmlformats.org/officeDocument/2006/relationships/image" Target="../media/image36.emf"/><Relationship Id="rId3" Type="http://schemas.openxmlformats.org/officeDocument/2006/relationships/oleObject" Target="../embeddings/oleObject17.bin"/><Relationship Id="rId2" Type="http://schemas.openxmlformats.org/officeDocument/2006/relationships/image" Target="../media/image35.wmf"/><Relationship Id="rId10" Type="http://schemas.openxmlformats.org/officeDocument/2006/relationships/notesSlide" Target="../notesSlides/notesSlide12.xml"/><Relationship Id="rId1" Type="http://schemas.openxmlformats.org/officeDocument/2006/relationships/oleObject" Target="../embeddings/oleObject16.bin"/></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9.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0.jpeg"/></Relationships>
</file>

<file path=ppt/slides/_rels/slide3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vmlDrawing" Target="../drawings/vmlDrawing13.vml"/><Relationship Id="rId3" Type="http://schemas.openxmlformats.org/officeDocument/2006/relationships/slideLayout" Target="../slideLayouts/slideLayout12.xml"/><Relationship Id="rId2" Type="http://schemas.openxmlformats.org/officeDocument/2006/relationships/image" Target="../media/image41.wmf"/><Relationship Id="rId1" Type="http://schemas.openxmlformats.org/officeDocument/2006/relationships/oleObject" Target="../embeddings/oleObject19.bin"/></Relationships>
</file>

<file path=ppt/slides/_rels/slide36.xml.rels><?xml version="1.0" encoding="UTF-8" standalone="yes"?>
<Relationships xmlns="http://schemas.openxmlformats.org/package/2006/relationships"><Relationship Id="rId5" Type="http://schemas.openxmlformats.org/officeDocument/2006/relationships/notesSlide" Target="../notesSlides/notesSlide16.xml"/><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42.wmf"/><Relationship Id="rId1" Type="http://schemas.openxmlformats.org/officeDocument/2006/relationships/oleObject" Target="../embeddings/oleObject20.bin"/></Relationships>
</file>

<file path=ppt/slides/_rels/slide37.xml.rels><?xml version="1.0" encoding="UTF-8" standalone="yes"?>
<Relationships xmlns="http://schemas.openxmlformats.org/package/2006/relationships"><Relationship Id="rId9" Type="http://schemas.openxmlformats.org/officeDocument/2006/relationships/notesSlide" Target="../notesSlides/notesSlide17.xml"/><Relationship Id="rId8" Type="http://schemas.openxmlformats.org/officeDocument/2006/relationships/vmlDrawing" Target="../drawings/vmlDrawing15.vml"/><Relationship Id="rId7" Type="http://schemas.openxmlformats.org/officeDocument/2006/relationships/slideLayout" Target="../slideLayouts/slideLayout13.xml"/><Relationship Id="rId6" Type="http://schemas.openxmlformats.org/officeDocument/2006/relationships/image" Target="../media/image45.wmf"/><Relationship Id="rId5" Type="http://schemas.openxmlformats.org/officeDocument/2006/relationships/oleObject" Target="../embeddings/oleObject23.bin"/><Relationship Id="rId4" Type="http://schemas.openxmlformats.org/officeDocument/2006/relationships/image" Target="../media/image44.wmf"/><Relationship Id="rId3" Type="http://schemas.openxmlformats.org/officeDocument/2006/relationships/oleObject" Target="../embeddings/oleObject22.bin"/><Relationship Id="rId2" Type="http://schemas.openxmlformats.org/officeDocument/2006/relationships/image" Target="../media/image43.wmf"/><Relationship Id="rId1" Type="http://schemas.openxmlformats.org/officeDocument/2006/relationships/oleObject" Target="../embeddings/oleObject21.bin"/></Relationships>
</file>

<file path=ppt/slides/_rels/slide38.xml.rels><?xml version="1.0" encoding="UTF-8" standalone="yes"?>
<Relationships xmlns="http://schemas.openxmlformats.org/package/2006/relationships"><Relationship Id="rId7" Type="http://schemas.openxmlformats.org/officeDocument/2006/relationships/notesSlide" Target="../notesSlides/notesSlide18.xml"/><Relationship Id="rId6" Type="http://schemas.openxmlformats.org/officeDocument/2006/relationships/vmlDrawing" Target="../drawings/vmlDrawing16.vml"/><Relationship Id="rId5" Type="http://schemas.openxmlformats.org/officeDocument/2006/relationships/slideLayout" Target="../slideLayouts/slideLayout12.xml"/><Relationship Id="rId4" Type="http://schemas.openxmlformats.org/officeDocument/2006/relationships/image" Target="../media/image48.jpeg"/><Relationship Id="rId3" Type="http://schemas.openxmlformats.org/officeDocument/2006/relationships/image" Target="../media/image47.png"/><Relationship Id="rId2" Type="http://schemas.openxmlformats.org/officeDocument/2006/relationships/image" Target="../media/image46.wmf"/><Relationship Id="rId1" Type="http://schemas.openxmlformats.org/officeDocument/2006/relationships/oleObject" Target="../embeddings/oleObject24.bin"/></Relationships>
</file>

<file path=ppt/slides/_rels/slide3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vmlDrawing" Target="../drawings/vmlDrawing17.vml"/><Relationship Id="rId3" Type="http://schemas.openxmlformats.org/officeDocument/2006/relationships/slideLayout" Target="../slideLayouts/slideLayout1.xml"/><Relationship Id="rId2" Type="http://schemas.openxmlformats.org/officeDocument/2006/relationships/image" Target="../media/image49.wmf"/><Relationship Id="rId1" Type="http://schemas.openxmlformats.org/officeDocument/2006/relationships/oleObject" Target="../embeddings/oleObject25.bin"/></Relationships>
</file>

<file path=ppt/slides/_rels/slide40.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53.wmf"/><Relationship Id="rId7" Type="http://schemas.openxmlformats.org/officeDocument/2006/relationships/oleObject" Target="../embeddings/oleObject29.bin"/><Relationship Id="rId6" Type="http://schemas.openxmlformats.org/officeDocument/2006/relationships/image" Target="../media/image52.wmf"/><Relationship Id="rId5" Type="http://schemas.openxmlformats.org/officeDocument/2006/relationships/oleObject" Target="../embeddings/oleObject28.bin"/><Relationship Id="rId4" Type="http://schemas.openxmlformats.org/officeDocument/2006/relationships/image" Target="../media/image51.wmf"/><Relationship Id="rId3" Type="http://schemas.openxmlformats.org/officeDocument/2006/relationships/oleObject" Target="../embeddings/oleObject27.bin"/><Relationship Id="rId2" Type="http://schemas.openxmlformats.org/officeDocument/2006/relationships/image" Target="../media/image50.wmf"/><Relationship Id="rId11" Type="http://schemas.openxmlformats.org/officeDocument/2006/relationships/notesSlide" Target="../notesSlides/notesSlide20.xml"/><Relationship Id="rId10" Type="http://schemas.openxmlformats.org/officeDocument/2006/relationships/vmlDrawing" Target="../drawings/vmlDrawing18.vml"/><Relationship Id="rId1" Type="http://schemas.openxmlformats.org/officeDocument/2006/relationships/oleObject" Target="../embeddings/oleObject26.bin"/></Relationships>
</file>

<file path=ppt/slides/_rels/slide41.xml.rels><?xml version="1.0" encoding="UTF-8" standalone="yes"?>
<Relationships xmlns="http://schemas.openxmlformats.org/package/2006/relationships"><Relationship Id="rId9" Type="http://schemas.openxmlformats.org/officeDocument/2006/relationships/notesSlide" Target="../notesSlides/notesSlide21.xml"/><Relationship Id="rId8" Type="http://schemas.openxmlformats.org/officeDocument/2006/relationships/vmlDrawing" Target="../drawings/vmlDrawing19.vml"/><Relationship Id="rId7" Type="http://schemas.openxmlformats.org/officeDocument/2006/relationships/slideLayout" Target="../slideLayouts/slideLayout12.xml"/><Relationship Id="rId6" Type="http://schemas.openxmlformats.org/officeDocument/2006/relationships/image" Target="../media/image56.wmf"/><Relationship Id="rId5" Type="http://schemas.openxmlformats.org/officeDocument/2006/relationships/oleObject" Target="../embeddings/oleObject32.bin"/><Relationship Id="rId4" Type="http://schemas.openxmlformats.org/officeDocument/2006/relationships/image" Target="../media/image55.wmf"/><Relationship Id="rId3" Type="http://schemas.openxmlformats.org/officeDocument/2006/relationships/oleObject" Target="../embeddings/oleObject31.bin"/><Relationship Id="rId2" Type="http://schemas.openxmlformats.org/officeDocument/2006/relationships/image" Target="../media/image54.wmf"/><Relationship Id="rId1" Type="http://schemas.openxmlformats.org/officeDocument/2006/relationships/oleObject" Target="../embeddings/oleObject30.bin"/></Relationships>
</file>

<file path=ppt/slides/_rels/slide42.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13.xml"/><Relationship Id="rId2" Type="http://schemas.openxmlformats.org/officeDocument/2006/relationships/image" Target="../media/image57.wmf"/><Relationship Id="rId1" Type="http://schemas.openxmlformats.org/officeDocument/2006/relationships/oleObject" Target="../embeddings/oleObject33.bin"/></Relationships>
</file>

<file path=ppt/slides/_rels/slide43.xml.rels><?xml version="1.0" encoding="UTF-8" standalone="yes"?>
<Relationships xmlns="http://schemas.openxmlformats.org/package/2006/relationships"><Relationship Id="rId9" Type="http://schemas.openxmlformats.org/officeDocument/2006/relationships/vmlDrawing" Target="../drawings/vmlDrawing21.vml"/><Relationship Id="rId8" Type="http://schemas.openxmlformats.org/officeDocument/2006/relationships/slideLayout" Target="../slideLayouts/slideLayout13.xml"/><Relationship Id="rId7" Type="http://schemas.openxmlformats.org/officeDocument/2006/relationships/image" Target="../media/image61.wmf"/><Relationship Id="rId6" Type="http://schemas.openxmlformats.org/officeDocument/2006/relationships/oleObject" Target="../embeddings/oleObject36.bin"/><Relationship Id="rId5" Type="http://schemas.openxmlformats.org/officeDocument/2006/relationships/image" Target="../media/image60.wmf"/><Relationship Id="rId4" Type="http://schemas.openxmlformats.org/officeDocument/2006/relationships/oleObject" Target="../embeddings/oleObject35.bin"/><Relationship Id="rId3" Type="http://schemas.openxmlformats.org/officeDocument/2006/relationships/image" Target="../media/image59.wmf"/><Relationship Id="rId2" Type="http://schemas.openxmlformats.org/officeDocument/2006/relationships/oleObject" Target="../embeddings/oleObject34.bin"/><Relationship Id="rId10" Type="http://schemas.openxmlformats.org/officeDocument/2006/relationships/notesSlide" Target="../notesSlides/notesSlide22.xml"/><Relationship Id="rId1" Type="http://schemas.openxmlformats.org/officeDocument/2006/relationships/image" Target="../media/image58.png"/></Relationships>
</file>

<file path=ppt/slides/_rels/slide44.xml.rels><?xml version="1.0" encoding="UTF-8" standalone="yes"?>
<Relationships xmlns="http://schemas.openxmlformats.org/package/2006/relationships"><Relationship Id="rId6" Type="http://schemas.openxmlformats.org/officeDocument/2006/relationships/vmlDrawing" Target="../drawings/vmlDrawing22.vml"/><Relationship Id="rId5" Type="http://schemas.openxmlformats.org/officeDocument/2006/relationships/slideLayout" Target="../slideLayouts/slideLayout13.xml"/><Relationship Id="rId4" Type="http://schemas.openxmlformats.org/officeDocument/2006/relationships/image" Target="../media/image63.wmf"/><Relationship Id="rId3" Type="http://schemas.openxmlformats.org/officeDocument/2006/relationships/oleObject" Target="../embeddings/oleObject38.bin"/><Relationship Id="rId2" Type="http://schemas.openxmlformats.org/officeDocument/2006/relationships/image" Target="../media/image62.wmf"/><Relationship Id="rId1" Type="http://schemas.openxmlformats.org/officeDocument/2006/relationships/oleObject" Target="../embeddings/oleObject37.bin"/></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64.jpeg"/></Relationships>
</file>

<file path=ppt/slides/_rels/slide46.xml.rels><?xml version="1.0" encoding="UTF-8" standalone="yes"?>
<Relationships xmlns="http://schemas.openxmlformats.org/package/2006/relationships"><Relationship Id="rId9" Type="http://schemas.openxmlformats.org/officeDocument/2006/relationships/image" Target="../media/image69.wmf"/><Relationship Id="rId8" Type="http://schemas.openxmlformats.org/officeDocument/2006/relationships/oleObject" Target="../embeddings/oleObject42.bin"/><Relationship Id="rId7" Type="http://schemas.openxmlformats.org/officeDocument/2006/relationships/image" Target="../media/image68.jpeg"/><Relationship Id="rId6" Type="http://schemas.openxmlformats.org/officeDocument/2006/relationships/image" Target="../media/image67.wmf"/><Relationship Id="rId5" Type="http://schemas.openxmlformats.org/officeDocument/2006/relationships/oleObject" Target="../embeddings/oleObject41.bin"/><Relationship Id="rId4" Type="http://schemas.openxmlformats.org/officeDocument/2006/relationships/image" Target="../media/image66.wmf"/><Relationship Id="rId3" Type="http://schemas.openxmlformats.org/officeDocument/2006/relationships/oleObject" Target="../embeddings/oleObject40.bin"/><Relationship Id="rId2" Type="http://schemas.openxmlformats.org/officeDocument/2006/relationships/image" Target="../media/image65.wmf"/><Relationship Id="rId12" Type="http://schemas.openxmlformats.org/officeDocument/2006/relationships/notesSlide" Target="../notesSlides/notesSlide24.xml"/><Relationship Id="rId11" Type="http://schemas.openxmlformats.org/officeDocument/2006/relationships/vmlDrawing" Target="../drawings/vmlDrawing23.vml"/><Relationship Id="rId10" Type="http://schemas.openxmlformats.org/officeDocument/2006/relationships/slideLayout" Target="../slideLayouts/slideLayout13.xml"/><Relationship Id="rId1" Type="http://schemas.openxmlformats.org/officeDocument/2006/relationships/oleObject" Target="../embeddings/oleObject39.bin"/></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70.jpe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71.png"/></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2.jpeg"/></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73.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image" Target="../media/image7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75.jpe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2.xml"/><Relationship Id="rId1" Type="http://schemas.openxmlformats.org/officeDocument/2006/relationships/image" Target="../media/image76.png"/></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2.xml"/><Relationship Id="rId1" Type="http://schemas.openxmlformats.org/officeDocument/2006/relationships/image" Target="../media/image77.jpeg"/></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8.jpeg"/></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noChangeArrowheads="1"/>
          </p:cNvSpPr>
          <p:nvPr>
            <p:ph idx="1"/>
          </p:nvPr>
        </p:nvSpPr>
        <p:spPr>
          <a:xfrm>
            <a:off x="1116013" y="1268413"/>
            <a:ext cx="7607300" cy="5040313"/>
          </a:xfrm>
        </p:spPr>
        <p:txBody>
          <a:bodyPr vert="horz" wrap="square" lIns="91440" tIns="45720" rIns="91440" bIns="45720" numCol="1" anchor="t" anchorCtr="0" compatLnSpc="1"/>
          <a:lstStyle/>
          <a:p>
            <a:pPr marL="342900" marR="0" lvl="0" indent="-342900" algn="ctr" defTabSz="914400" rtl="0" eaLnBrk="1" fontAlgn="base" latinLnBrk="0" hangingPunct="1">
              <a:lnSpc>
                <a:spcPct val="150000"/>
              </a:lnSpc>
              <a:spcBef>
                <a:spcPts val="0"/>
              </a:spcBef>
              <a:spcAft>
                <a:spcPct val="0"/>
              </a:spcAft>
              <a:buClr>
                <a:schemeClr val="hlink"/>
              </a:buClr>
              <a:buSzTx/>
              <a:buFont typeface="Wingdings" panose="05000000000000000000" pitchFamily="2" charset="2"/>
              <a:buNone/>
              <a:defRPr/>
            </a:pPr>
            <a:r>
              <a:rPr kumimoji="0" lang="en-US" altLang="zh-CN" sz="54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5.4 </a:t>
            </a:r>
            <a:br>
              <a:rPr kumimoji="0" lang="zh-CN" altLang="en-US" sz="44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br>
            <a:br>
              <a:rPr kumimoji="0" lang="zh-CN" altLang="en-US" sz="24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br>
            <a:r>
              <a:rPr kumimoji="0" lang="zh-CN" altLang="en-US" sz="60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rPr>
              <a:t>太阳辐射在地球大气中的传输</a:t>
            </a:r>
            <a:endParaRPr kumimoji="0" lang="zh-CN" altLang="en-US" sz="6000" b="1" i="0" u="none" strike="noStrike" kern="0" cap="none" spc="0" normalizeH="0" baseline="0" noProof="0" dirty="0">
              <a:ln>
                <a:noFill/>
              </a:ln>
              <a:solidFill>
                <a:schemeClr val="tx1"/>
              </a:solidFill>
              <a:effectLst>
                <a:outerShdw blurRad="38100" dist="38100" dir="2700000" algn="tl">
                  <a:srgbClr val="C0C0C0"/>
                </a:outerShdw>
              </a:effectLst>
              <a:uLnTx/>
              <a:uFillTx/>
              <a:latin typeface="黑体" panose="02010609060101010101" pitchFamily="49" charset="-122"/>
              <a:ea typeface="黑体" panose="02010609060101010101" pitchFamily="49" charset="-122"/>
              <a:cs typeface="+mn-cs"/>
            </a:endParaRPr>
          </a:p>
        </p:txBody>
      </p:sp>
      <p:sp>
        <p:nvSpPr>
          <p:cNvPr id="6147" name="TextBox 4"/>
          <p:cNvSpPr txBox="1"/>
          <p:nvPr/>
        </p:nvSpPr>
        <p:spPr>
          <a:xfrm>
            <a:off x="1428750" y="214313"/>
            <a:ext cx="7715250" cy="646112"/>
          </a:xfrm>
          <a:prstGeom prst="rect">
            <a:avLst/>
          </a:prstGeom>
          <a:noFill/>
          <a:ln w="9525">
            <a:noFill/>
          </a:ln>
        </p:spPr>
        <p:txBody>
          <a:bodyPr>
            <a:spAutoFit/>
          </a:bodyPr>
          <a:p>
            <a:pPr algn="ctr" eaLnBrk="1" hangingPunct="1"/>
            <a:r>
              <a:rPr lang="zh-CN" altLang="en-US" sz="3600" dirty="0">
                <a:solidFill>
                  <a:srgbClr val="FFFF00"/>
                </a:solidFill>
                <a:latin typeface="黑体" panose="02010609060101010101" pitchFamily="49" charset="-122"/>
                <a:ea typeface="黑体" panose="02010609060101010101" pitchFamily="49" charset="-122"/>
              </a:rPr>
              <a:t>第五章 地面和大气中的辐射过程</a:t>
            </a:r>
            <a:endParaRPr lang="zh-CN" altLang="en-US" sz="36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xfrm>
            <a:off x="1408113" y="188913"/>
            <a:ext cx="7735887" cy="711200"/>
          </a:xfrm>
          <a:ln/>
        </p:spPr>
        <p:txBody>
          <a:bodyPr vert="horz" wrap="square" lIns="91440" tIns="45720" rIns="91440" bIns="45720" anchor="ctr" anchorCtr="0"/>
          <a:p>
            <a:r>
              <a:rPr lang="en-US" altLang="zh-CN" sz="4000" dirty="0">
                <a:solidFill>
                  <a:srgbClr val="FFFF00"/>
                </a:solidFill>
                <a:latin typeface="黑体" panose="02010609060101010101" pitchFamily="49" charset="-122"/>
                <a:ea typeface="黑体" panose="02010609060101010101" pitchFamily="49" charset="-122"/>
              </a:rPr>
              <a:t>5.4 </a:t>
            </a:r>
            <a:r>
              <a:rPr lang="zh-CN" altLang="en-US" sz="4000" dirty="0">
                <a:solidFill>
                  <a:srgbClr val="FFFF00"/>
                </a:solidFill>
                <a:latin typeface="黑体" panose="02010609060101010101" pitchFamily="49" charset="-122"/>
                <a:ea typeface="黑体" panose="02010609060101010101" pitchFamily="49" charset="-122"/>
              </a:rPr>
              <a:t>太阳辐射在地球大气中传输</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7171" name="Rectangle 4"/>
          <p:cNvSpPr>
            <a:spLocks noGrp="1"/>
          </p:cNvSpPr>
          <p:nvPr>
            <p:ph idx="1"/>
          </p:nvPr>
        </p:nvSpPr>
        <p:spPr>
          <a:xfrm>
            <a:off x="457200" y="1412875"/>
            <a:ext cx="8578850" cy="3600450"/>
          </a:xfrm>
          <a:ln/>
        </p:spPr>
        <p:txBody>
          <a:bodyPr vert="horz" wrap="square" lIns="91440" tIns="45720" rIns="91440" bIns="45720" anchor="t" anchorCtr="0"/>
          <a:p>
            <a:pPr algn="ctr">
              <a:lnSpc>
                <a:spcPct val="200000"/>
              </a:lnSpc>
              <a:buFontTx/>
              <a:buNone/>
            </a:pPr>
            <a:r>
              <a:rPr lang="zh-CN" altLang="en-US" sz="3200" dirty="0">
                <a:solidFill>
                  <a:srgbClr val="FF0000"/>
                </a:solidFill>
                <a:latin typeface="黑体" panose="02010609060101010101" pitchFamily="49" charset="-122"/>
                <a:ea typeface="黑体" panose="02010609060101010101" pitchFamily="49" charset="-122"/>
              </a:rPr>
              <a:t>重点</a:t>
            </a:r>
            <a:endParaRPr lang="zh-CN" altLang="en-US" sz="3200" dirty="0">
              <a:solidFill>
                <a:srgbClr val="FF000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r>
              <a:rPr lang="zh-CN" altLang="en-US" dirty="0">
                <a:solidFill>
                  <a:srgbClr val="0000FF"/>
                </a:solidFill>
                <a:latin typeface="黑体" panose="02010609060101010101" pitchFamily="49" charset="-122"/>
                <a:ea typeface="黑体" panose="02010609060101010101" pitchFamily="49" charset="-122"/>
              </a:rPr>
              <a:t> 太阳辐射光谱、太阳常数、大气上界辐射能。</a:t>
            </a:r>
            <a:endParaRPr lang="zh-CN" altLang="en-US" dirty="0">
              <a:solidFill>
                <a:srgbClr val="0000FF"/>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r>
              <a:rPr lang="zh-CN" altLang="en-US" dirty="0">
                <a:solidFill>
                  <a:srgbClr val="0000FF"/>
                </a:solidFill>
                <a:latin typeface="黑体" panose="02010609060101010101" pitchFamily="49" charset="-122"/>
                <a:ea typeface="黑体" panose="02010609060101010101" pitchFamily="49" charset="-122"/>
              </a:rPr>
              <a:t> 太阳辐射在地气系统中的传输。</a:t>
            </a:r>
            <a:endParaRPr lang="zh-CN" altLang="en-US" dirty="0">
              <a:solidFill>
                <a:srgbClr val="0000FF"/>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8194" name="Picture 2"/>
          <p:cNvPicPr>
            <a:picLocks noChangeAspect="1"/>
          </p:cNvPicPr>
          <p:nvPr/>
        </p:nvPicPr>
        <p:blipFill>
          <a:blip r:embed="rId1"/>
          <a:stretch>
            <a:fillRect/>
          </a:stretch>
        </p:blipFill>
        <p:spPr>
          <a:xfrm>
            <a:off x="0" y="0"/>
            <a:ext cx="9144000" cy="6858000"/>
          </a:xfrm>
          <a:prstGeom prst="rect">
            <a:avLst/>
          </a:prstGeom>
          <a:noFill/>
          <a:ln w="9525">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xfrm>
            <a:off x="1403350" y="188913"/>
            <a:ext cx="7631113" cy="771525"/>
          </a:xfrm>
          <a:ln/>
        </p:spPr>
        <p:txBody>
          <a:bodyPr vert="horz" wrap="square" lIns="91440" tIns="45720" rIns="91440" bIns="45720" anchor="ctr" anchorCtr="0"/>
          <a:p>
            <a:pPr algn="ctr"/>
            <a:r>
              <a:rPr lang="en-US" altLang="zh-CN" sz="3600" dirty="0">
                <a:solidFill>
                  <a:srgbClr val="FFFF00"/>
                </a:solidFill>
                <a:latin typeface="黑体" panose="02010609060101010101" pitchFamily="49" charset="-122"/>
                <a:ea typeface="黑体" panose="02010609060101010101" pitchFamily="49" charset="-122"/>
              </a:rPr>
              <a:t>1.</a:t>
            </a:r>
            <a:r>
              <a:rPr lang="zh-CN" altLang="en-US" sz="3600" dirty="0">
                <a:solidFill>
                  <a:srgbClr val="FFFF00"/>
                </a:solidFill>
                <a:latin typeface="黑体" panose="02010609060101010101" pitchFamily="49" charset="-122"/>
                <a:ea typeface="黑体" panose="02010609060101010101" pitchFamily="49" charset="-122"/>
              </a:rPr>
              <a:t>太阳</a:t>
            </a:r>
            <a:endParaRPr lang="zh-CN" altLang="en-US" sz="3600" dirty="0">
              <a:solidFill>
                <a:srgbClr val="FFFF00"/>
              </a:solidFill>
              <a:latin typeface="黑体" panose="02010609060101010101" pitchFamily="49" charset="-122"/>
              <a:ea typeface="黑体" panose="02010609060101010101" pitchFamily="49" charset="-122"/>
            </a:endParaRPr>
          </a:p>
        </p:txBody>
      </p:sp>
      <p:pic>
        <p:nvPicPr>
          <p:cNvPr id="9219" name="Picture 5" descr="sunsoho"/>
          <p:cNvPicPr>
            <a:picLocks noChangeAspect="1"/>
          </p:cNvPicPr>
          <p:nvPr/>
        </p:nvPicPr>
        <p:blipFill>
          <a:blip r:embed="rId1"/>
          <a:srcRect l="8791" t="8786" r="8791" b="8786"/>
          <a:stretch>
            <a:fillRect/>
          </a:stretch>
        </p:blipFill>
        <p:spPr>
          <a:xfrm>
            <a:off x="1908175" y="1125538"/>
            <a:ext cx="5400675" cy="5389562"/>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0242" name="Picture 8" descr="http://gb.chinabroadcast.cn/mmsource/images/2006/05/18/pb060518015.jpg"/>
          <p:cNvPicPr>
            <a:picLocks noChangeAspect="1"/>
          </p:cNvPicPr>
          <p:nvPr/>
        </p:nvPicPr>
        <p:blipFill>
          <a:blip r:embed="rId1" r:link="rId2"/>
          <a:stretch>
            <a:fillRect/>
          </a:stretch>
        </p:blipFill>
        <p:spPr>
          <a:xfrm>
            <a:off x="2066925" y="1139825"/>
            <a:ext cx="5600700" cy="5602288"/>
          </a:xfrm>
          <a:prstGeom prst="rect">
            <a:avLst/>
          </a:prstGeom>
          <a:noFill/>
          <a:ln w="9525">
            <a:noFill/>
          </a:ln>
        </p:spPr>
      </p:pic>
      <p:sp>
        <p:nvSpPr>
          <p:cNvPr id="10243" name="Rectangle 2"/>
          <p:cNvSpPr txBox="1"/>
          <p:nvPr/>
        </p:nvSpPr>
        <p:spPr>
          <a:xfrm>
            <a:off x="1403350" y="188913"/>
            <a:ext cx="7631113" cy="771525"/>
          </a:xfrm>
          <a:prstGeom prst="rect">
            <a:avLst/>
          </a:prstGeom>
          <a:noFill/>
          <a:ln w="9525">
            <a:noFill/>
          </a:ln>
        </p:spPr>
        <p:txBody>
          <a:bodyPr/>
          <a:p>
            <a:pPr algn="ctr"/>
            <a:r>
              <a:rPr lang="zh-CN" altLang="en-US" sz="3600" b="1" dirty="0">
                <a:solidFill>
                  <a:srgbClr val="FFFF00"/>
                </a:solidFill>
                <a:latin typeface="黑体" panose="02010609060101010101" pitchFamily="49" charset="-122"/>
                <a:ea typeface="黑体" panose="02010609060101010101" pitchFamily="49" charset="-122"/>
              </a:rPr>
              <a:t>太阳</a:t>
            </a:r>
            <a:endParaRPr lang="zh-CN" altLang="en-US" sz="3600" b="1" dirty="0">
              <a:solidFill>
                <a:srgbClr val="FFFF00"/>
              </a:solidFill>
              <a:latin typeface="黑体" panose="02010609060101010101" pitchFamily="49" charset="-122"/>
              <a:ea typeface="黑体" panose="02010609060101010101" pitchFamily="49" charset="-122"/>
            </a:endParaRPr>
          </a:p>
        </p:txBody>
      </p:sp>
      <p:sp>
        <p:nvSpPr>
          <p:cNvPr id="10244" name="Rectangle 4"/>
          <p:cNvSpPr/>
          <p:nvPr/>
        </p:nvSpPr>
        <p:spPr>
          <a:xfrm>
            <a:off x="7908925" y="2465388"/>
            <a:ext cx="554038" cy="2819400"/>
          </a:xfrm>
          <a:prstGeom prst="rect">
            <a:avLst/>
          </a:prstGeom>
          <a:noFill/>
          <a:ln w="9525">
            <a:noFill/>
          </a:ln>
        </p:spPr>
        <p:txBody>
          <a:bodyPr vert="eaVert" wrap="none" anchor="ctr" anchorCtr="0">
            <a:spAutoFit/>
          </a:bodyPr>
          <a:p>
            <a:pPr eaLnBrk="1" hangingPunct="1">
              <a:buNone/>
            </a:pPr>
            <a:r>
              <a:rPr lang="zh-CN" altLang="en-US" sz="2400" b="1" dirty="0">
                <a:latin typeface="Times New Roman" panose="02020603050405020304" pitchFamily="18" charset="0"/>
                <a:ea typeface="楷体_GB2312" pitchFamily="49" charset="-122"/>
              </a:rPr>
              <a:t>太阳极紫外辐射图象</a:t>
            </a:r>
            <a:endParaRPr lang="zh-CN" altLang="en-US" sz="2400" b="1" dirty="0">
              <a:latin typeface="Arial" panose="020B0604020202020204" pitchFamily="34" charset="0"/>
              <a:ea typeface="楷体_GB2312" pitchFamily="49" charset="-122"/>
            </a:endParaRP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1266" name="Picture 4"/>
          <p:cNvPicPr>
            <a:picLocks noChangeAspect="1"/>
          </p:cNvPicPr>
          <p:nvPr/>
        </p:nvPicPr>
        <p:blipFill>
          <a:blip r:embed="rId1"/>
          <a:stretch>
            <a:fillRect/>
          </a:stretch>
        </p:blipFill>
        <p:spPr>
          <a:xfrm>
            <a:off x="2914650" y="1125538"/>
            <a:ext cx="4249738" cy="5616575"/>
          </a:xfrm>
          <a:prstGeom prst="rect">
            <a:avLst/>
          </a:prstGeom>
          <a:noFill/>
          <a:ln w="9525">
            <a:noFill/>
          </a:ln>
        </p:spPr>
      </p:pic>
      <p:sp>
        <p:nvSpPr>
          <p:cNvPr id="11267" name="Text Box 3"/>
          <p:cNvSpPr txBox="1"/>
          <p:nvPr/>
        </p:nvSpPr>
        <p:spPr>
          <a:xfrm>
            <a:off x="1403350" y="2028825"/>
            <a:ext cx="800100" cy="3200400"/>
          </a:xfrm>
          <a:prstGeom prst="rect">
            <a:avLst/>
          </a:prstGeom>
          <a:noFill/>
          <a:ln w="9525">
            <a:noFill/>
          </a:ln>
        </p:spPr>
        <p:txBody>
          <a:bodyPr vert="eaVert">
            <a:spAutoFit/>
          </a:bodyPr>
          <a:p>
            <a:pPr algn="ctr" eaLnBrk="1" hangingPunct="1">
              <a:spcBef>
                <a:spcPct val="50000"/>
              </a:spcBef>
              <a:buClr>
                <a:schemeClr val="bg1"/>
              </a:buClr>
              <a:buFont typeface="Wingdings 2" pitchFamily="18" charset="2"/>
            </a:pPr>
            <a:r>
              <a:rPr lang="zh-CN" altLang="en-US" sz="4000" b="1" dirty="0">
                <a:latin typeface="楷体_GB2312" pitchFamily="49" charset="-122"/>
                <a:ea typeface="楷体_GB2312" pitchFamily="49" charset="-122"/>
              </a:rPr>
              <a:t>太阳剖面</a:t>
            </a:r>
            <a:endParaRPr lang="zh-CN" altLang="en-US" sz="4000" b="1" dirty="0">
              <a:latin typeface="楷体_GB2312" pitchFamily="49" charset="-122"/>
              <a:ea typeface="楷体_GB2312" pitchFamily="49" charset="-122"/>
            </a:endParaRPr>
          </a:p>
        </p:txBody>
      </p:sp>
      <p:sp>
        <p:nvSpPr>
          <p:cNvPr id="4" name="Rectangle 2"/>
          <p:cNvSpPr txBox="1">
            <a:spLocks noChangeArrowheads="1"/>
          </p:cNvSpPr>
          <p:nvPr/>
        </p:nvSpPr>
        <p:spPr>
          <a:xfrm>
            <a:off x="1403350" y="188913"/>
            <a:ext cx="7631113" cy="771525"/>
          </a:xfrm>
          <a:prstGeom prst="rect">
            <a:avLst/>
          </a:prstGeom>
        </p:spPr>
        <p:txBody>
          <a:bodyPr/>
          <a:lst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zh-CN" altLang="en-US" sz="3600" b="1"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rPr>
              <a:t>太阳</a:t>
            </a:r>
            <a:endParaRPr kumimoji="0" lang="zh-CN" altLang="en-US" sz="3600" b="1"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xfrm>
            <a:off x="1428750" y="0"/>
            <a:ext cx="7607300" cy="1143000"/>
          </a:xfrm>
          <a:ln/>
        </p:spPr>
        <p:txBody>
          <a:bodyPr vert="horz" wrap="square" lIns="91440" tIns="45720" rIns="91440" bIns="45720" anchor="ctr" anchorCtr="0"/>
          <a:p>
            <a:pPr algn="ctr"/>
            <a:r>
              <a:rPr lang="zh-CN" altLang="en-US" dirty="0">
                <a:solidFill>
                  <a:srgbClr val="FFFF00"/>
                </a:solidFill>
                <a:latin typeface="黑体" panose="02010609060101010101" pitchFamily="49" charset="-122"/>
                <a:ea typeface="黑体" panose="02010609060101010101" pitchFamily="49" charset="-122"/>
              </a:rPr>
              <a:t>日冕和太阳黑子</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12291" name="Picture 5"/>
          <p:cNvPicPr>
            <a:picLocks noChangeAspect="1"/>
          </p:cNvPicPr>
          <p:nvPr/>
        </p:nvPicPr>
        <p:blipFill>
          <a:blip r:embed="rId1"/>
          <a:stretch>
            <a:fillRect/>
          </a:stretch>
        </p:blipFill>
        <p:spPr>
          <a:xfrm>
            <a:off x="396875" y="1989138"/>
            <a:ext cx="4319588" cy="3860800"/>
          </a:xfrm>
          <a:prstGeom prst="rect">
            <a:avLst/>
          </a:prstGeom>
          <a:noFill/>
          <a:ln w="9525">
            <a:noFill/>
          </a:ln>
        </p:spPr>
      </p:pic>
      <p:pic>
        <p:nvPicPr>
          <p:cNvPr id="12292" name="Picture 6"/>
          <p:cNvPicPr>
            <a:picLocks noChangeAspect="1"/>
          </p:cNvPicPr>
          <p:nvPr/>
        </p:nvPicPr>
        <p:blipFill>
          <a:blip r:embed="rId2"/>
          <a:stretch>
            <a:fillRect/>
          </a:stretch>
        </p:blipFill>
        <p:spPr>
          <a:xfrm>
            <a:off x="4643438" y="1989138"/>
            <a:ext cx="4319587" cy="3857625"/>
          </a:xfrm>
          <a:prstGeom prst="rect">
            <a:avLst/>
          </a:prstGeom>
          <a:noFill/>
          <a:ln w="9525">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3314" name="Picture 3" descr="monthssn"/>
          <p:cNvPicPr>
            <a:picLocks noChangeAspect="1"/>
          </p:cNvPicPr>
          <p:nvPr/>
        </p:nvPicPr>
        <p:blipFill>
          <a:blip r:embed="rId1">
            <a:grayscl/>
          </a:blip>
          <a:stretch>
            <a:fillRect/>
          </a:stretch>
        </p:blipFill>
        <p:spPr>
          <a:xfrm>
            <a:off x="1447800" y="1916113"/>
            <a:ext cx="6402388" cy="4572000"/>
          </a:xfrm>
          <a:prstGeom prst="rect">
            <a:avLst/>
          </a:prstGeom>
          <a:solidFill>
            <a:srgbClr val="0000FF"/>
          </a:solidFill>
          <a:ln w="9525">
            <a:noFill/>
          </a:ln>
        </p:spPr>
      </p:pic>
      <p:sp>
        <p:nvSpPr>
          <p:cNvPr id="13315" name="Rectangle 2"/>
          <p:cNvSpPr txBox="1">
            <a:spLocks noRot="1"/>
          </p:cNvSpPr>
          <p:nvPr/>
        </p:nvSpPr>
        <p:spPr>
          <a:xfrm>
            <a:off x="3059113" y="1196975"/>
            <a:ext cx="3673475" cy="863600"/>
          </a:xfrm>
          <a:prstGeom prst="rect">
            <a:avLst/>
          </a:prstGeom>
          <a:noFill/>
          <a:ln w="9525">
            <a:noFill/>
          </a:ln>
        </p:spPr>
        <p:txBody>
          <a:bodyPr/>
          <a:p>
            <a:pPr eaLnBrk="1" hangingPunct="1"/>
            <a:r>
              <a:rPr lang="en-US" altLang="zh-CN" sz="3200" b="1" dirty="0">
                <a:solidFill>
                  <a:srgbClr val="080808"/>
                </a:solidFill>
                <a:latin typeface="楷体_GB2312" pitchFamily="49" charset="-122"/>
                <a:ea typeface="MS PGothic" panose="020B0600070205080204" pitchFamily="34" charset="-128"/>
              </a:rPr>
              <a:t>11</a:t>
            </a:r>
            <a:r>
              <a:rPr lang="zh-CN" altLang="en-US" sz="3200" b="1" dirty="0">
                <a:solidFill>
                  <a:srgbClr val="080808"/>
                </a:solidFill>
                <a:latin typeface="楷体_GB2312" pitchFamily="49" charset="-122"/>
                <a:ea typeface="MS PGothic" panose="020B0600070205080204" pitchFamily="34" charset="-128"/>
              </a:rPr>
              <a:t>年太阳活动周期</a:t>
            </a:r>
            <a:endParaRPr lang="en-US" altLang="zh-CN" sz="3200" b="1" dirty="0">
              <a:solidFill>
                <a:srgbClr val="080808"/>
              </a:solidFill>
              <a:latin typeface="楷体_GB2312" pitchFamily="49" charset="-122"/>
              <a:ea typeface="MS PGothic" panose="020B0600070205080204" pitchFamily="34" charset="-128"/>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p:nvPr/>
        </p:nvSpPr>
        <p:spPr>
          <a:xfrm>
            <a:off x="1042988" y="333375"/>
            <a:ext cx="7812087" cy="534988"/>
          </a:xfrm>
          <a:prstGeom prst="rect">
            <a:avLst/>
          </a:prstGeom>
          <a:noFill/>
          <a:ln w="9525">
            <a:noFill/>
          </a:ln>
        </p:spPr>
        <p:txBody>
          <a:bodyPr>
            <a:spAutoFit/>
          </a:bodyPr>
          <a:p>
            <a:pPr algn="ctr" eaLnBrk="1" hangingPunct="1">
              <a:lnSpc>
                <a:spcPct val="90000"/>
              </a:lnSpc>
              <a:spcBef>
                <a:spcPct val="20000"/>
              </a:spcBef>
              <a:buClr>
                <a:schemeClr val="tx1"/>
              </a:buClr>
              <a:buSzPct val="70000"/>
              <a:buFont typeface="Wingdings" panose="05000000000000000000" pitchFamily="2" charset="2"/>
            </a:pPr>
            <a:r>
              <a:rPr lang="zh-CN" altLang="en-US" sz="3200" b="1" dirty="0">
                <a:solidFill>
                  <a:srgbClr val="FFFF00"/>
                </a:solidFill>
                <a:latin typeface="黑体" panose="02010609060101010101" pitchFamily="49" charset="-122"/>
                <a:ea typeface="黑体" panose="02010609060101010101" pitchFamily="49" charset="-122"/>
              </a:rPr>
              <a:t>太阳活动对地球的影响</a:t>
            </a:r>
            <a:endParaRPr lang="en-US" altLang="zh-CN" sz="3200" b="1" dirty="0">
              <a:solidFill>
                <a:srgbClr val="FFFF00"/>
              </a:solidFill>
              <a:latin typeface="黑体" panose="02010609060101010101" pitchFamily="49" charset="-122"/>
              <a:ea typeface="黑体" panose="02010609060101010101" pitchFamily="49" charset="-122"/>
            </a:endParaRPr>
          </a:p>
        </p:txBody>
      </p:sp>
      <p:sp>
        <p:nvSpPr>
          <p:cNvPr id="14339" name="Rectangle 3"/>
          <p:cNvSpPr/>
          <p:nvPr/>
        </p:nvSpPr>
        <p:spPr>
          <a:xfrm>
            <a:off x="323850" y="1341438"/>
            <a:ext cx="7345363" cy="479425"/>
          </a:xfrm>
          <a:prstGeom prst="rect">
            <a:avLst/>
          </a:prstGeom>
          <a:noFill/>
          <a:ln w="9525">
            <a:noFill/>
          </a:ln>
        </p:spPr>
        <p:txBody>
          <a:bodyPr>
            <a:spAutoFit/>
          </a:bodyPr>
          <a:p>
            <a:pPr eaLnBrk="1" hangingPunct="1">
              <a:lnSpc>
                <a:spcPct val="90000"/>
              </a:lnSpc>
              <a:spcBef>
                <a:spcPct val="20000"/>
              </a:spcBef>
              <a:buClr>
                <a:schemeClr val="tx1"/>
              </a:buClr>
              <a:buSzPct val="70000"/>
              <a:buFont typeface="Wingdings" panose="05000000000000000000" pitchFamily="2" charset="2"/>
            </a:pPr>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）对地球气候的影响</a:t>
            </a:r>
            <a:endParaRPr lang="en-US" altLang="zh-CN" sz="2800" b="1" dirty="0">
              <a:solidFill>
                <a:srgbClr val="0000FF"/>
              </a:solidFill>
              <a:latin typeface="黑体" panose="02010609060101010101" pitchFamily="49" charset="-122"/>
              <a:ea typeface="黑体" panose="02010609060101010101" pitchFamily="49" charset="-122"/>
            </a:endParaRPr>
          </a:p>
        </p:txBody>
      </p:sp>
      <p:sp>
        <p:nvSpPr>
          <p:cNvPr id="14340" name="Text Box 4"/>
          <p:cNvSpPr txBox="1"/>
          <p:nvPr/>
        </p:nvSpPr>
        <p:spPr>
          <a:xfrm>
            <a:off x="1187450" y="1846263"/>
            <a:ext cx="7129463" cy="2122487"/>
          </a:xfrm>
          <a:prstGeom prst="rect">
            <a:avLst/>
          </a:prstGeom>
          <a:noFill/>
          <a:ln w="9525">
            <a:noFill/>
          </a:ln>
        </p:spPr>
        <p:txBody>
          <a:bodyPr>
            <a:spAutoFit/>
          </a:bodyPr>
          <a:p>
            <a:pPr eaLnBrk="1" hangingPunct="1"/>
            <a:r>
              <a:rPr lang="ja-JP" altLang="en-US" sz="2200" b="1" dirty="0">
                <a:solidFill>
                  <a:srgbClr val="080808"/>
                </a:solidFill>
                <a:latin typeface="华文细黑" panose="02010600040101010101" pitchFamily="2" charset="-122"/>
                <a:ea typeface="华文细黑" panose="02010600040101010101" pitchFamily="2" charset="-122"/>
              </a:rPr>
              <a:t>太阳黑子的 </a:t>
            </a:r>
            <a:r>
              <a:rPr lang="en-US" altLang="ja-JP" sz="2200" b="1" dirty="0">
                <a:solidFill>
                  <a:srgbClr val="080808"/>
                </a:solidFill>
                <a:latin typeface="华文细黑" panose="02010600040101010101" pitchFamily="2" charset="-122"/>
                <a:ea typeface="华文细黑" panose="02010600040101010101" pitchFamily="2" charset="-122"/>
              </a:rPr>
              <a:t>11 </a:t>
            </a:r>
            <a:r>
              <a:rPr lang="ja-JP" altLang="en-US" sz="2200" b="1" dirty="0">
                <a:solidFill>
                  <a:srgbClr val="080808"/>
                </a:solidFill>
                <a:latin typeface="华文细黑" panose="02010600040101010101" pitchFamily="2" charset="-122"/>
                <a:ea typeface="华文细黑" panose="02010600040101010101" pitchFamily="2" charset="-122"/>
              </a:rPr>
              <a:t>年周期与夏季西太平洋副热带高压的南北位置存在着较好的对应关系</a:t>
            </a:r>
            <a:r>
              <a:rPr lang="zh-CN" altLang="en-US" sz="2200" dirty="0">
                <a:solidFill>
                  <a:srgbClr val="080808"/>
                </a:solidFill>
                <a:latin typeface="华文细黑" panose="02010600040101010101" pitchFamily="2" charset="-122"/>
                <a:ea typeface="华文细黑" panose="02010600040101010101" pitchFamily="2" charset="-122"/>
              </a:rPr>
              <a:t>；</a:t>
            </a:r>
            <a:endParaRPr lang="en-US" altLang="zh-CN" sz="2200" dirty="0">
              <a:solidFill>
                <a:srgbClr val="080808"/>
              </a:solidFill>
              <a:latin typeface="华文细黑" panose="02010600040101010101" pitchFamily="2" charset="-122"/>
              <a:ea typeface="华文细黑" panose="02010600040101010101" pitchFamily="2" charset="-122"/>
            </a:endParaRPr>
          </a:p>
          <a:p>
            <a:pPr eaLnBrk="1" hangingPunct="1"/>
            <a:r>
              <a:rPr lang="ja-JP" altLang="en-US" sz="2200" b="1" dirty="0">
                <a:solidFill>
                  <a:srgbClr val="080808"/>
                </a:solidFill>
                <a:latin typeface="华文细黑" panose="02010600040101010101" pitchFamily="2" charset="-122"/>
                <a:ea typeface="华文细黑" panose="02010600040101010101" pitchFamily="2" charset="-122"/>
              </a:rPr>
              <a:t>太阳黑子 </a:t>
            </a:r>
            <a:r>
              <a:rPr lang="en-US" altLang="ja-JP" sz="2200" b="1" dirty="0">
                <a:solidFill>
                  <a:srgbClr val="080808"/>
                </a:solidFill>
                <a:latin typeface="华文细黑" panose="02010600040101010101" pitchFamily="2" charset="-122"/>
                <a:ea typeface="华文细黑" panose="02010600040101010101" pitchFamily="2" charset="-122"/>
              </a:rPr>
              <a:t>11 </a:t>
            </a:r>
            <a:r>
              <a:rPr lang="ja-JP" altLang="en-US" sz="2200" b="1" dirty="0">
                <a:solidFill>
                  <a:srgbClr val="080808"/>
                </a:solidFill>
                <a:latin typeface="华文细黑" panose="02010600040101010101" pitchFamily="2" charset="-122"/>
                <a:ea typeface="华文细黑" panose="02010600040101010101" pitchFamily="2" charset="-122"/>
              </a:rPr>
              <a:t>年周期与中国夏季气温呈明显的双振动现象，即在太阳黑子的峰、谷值年附近，夏季我国大范围气温偏低；而在峰、谷年之间的年份，我国夏季大范围气温偏高。 </a:t>
            </a:r>
            <a:endParaRPr lang="en-US" altLang="zh-CN" sz="2200" b="1" dirty="0">
              <a:solidFill>
                <a:srgbClr val="080808"/>
              </a:solidFill>
              <a:latin typeface="华文细黑" panose="02010600040101010101" pitchFamily="2" charset="-122"/>
              <a:ea typeface="华文细黑" panose="02010600040101010101" pitchFamily="2" charset="-122"/>
            </a:endParaRPr>
          </a:p>
        </p:txBody>
      </p:sp>
      <p:sp>
        <p:nvSpPr>
          <p:cNvPr id="14341" name="Text Box 5"/>
          <p:cNvSpPr txBox="1"/>
          <p:nvPr/>
        </p:nvSpPr>
        <p:spPr>
          <a:xfrm>
            <a:off x="323850" y="3986213"/>
            <a:ext cx="6769100" cy="522287"/>
          </a:xfrm>
          <a:prstGeom prst="rect">
            <a:avLst/>
          </a:prstGeom>
          <a:noFill/>
          <a:ln w="9525">
            <a:noFill/>
          </a:ln>
        </p:spPr>
        <p:txBody>
          <a:bodyPr>
            <a:spAutoFit/>
          </a:bodyPr>
          <a:p>
            <a:pPr eaLnBrk="1" hangingPunct="1"/>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）对电离层的影响</a:t>
            </a:r>
            <a:endParaRPr lang="en-US" altLang="zh-CN" sz="2800" b="1" dirty="0">
              <a:solidFill>
                <a:srgbClr val="0000FF"/>
              </a:solidFill>
              <a:latin typeface="黑体" panose="02010609060101010101" pitchFamily="49" charset="-122"/>
              <a:ea typeface="黑体" panose="02010609060101010101" pitchFamily="49" charset="-122"/>
            </a:endParaRPr>
          </a:p>
        </p:txBody>
      </p:sp>
      <p:sp>
        <p:nvSpPr>
          <p:cNvPr id="14342" name="Rectangle 6"/>
          <p:cNvSpPr/>
          <p:nvPr/>
        </p:nvSpPr>
        <p:spPr>
          <a:xfrm>
            <a:off x="1187450" y="4581525"/>
            <a:ext cx="6913563" cy="431800"/>
          </a:xfrm>
          <a:prstGeom prst="rect">
            <a:avLst/>
          </a:prstGeom>
          <a:noFill/>
          <a:ln w="9525">
            <a:noFill/>
          </a:ln>
        </p:spPr>
        <p:txBody>
          <a:bodyPr>
            <a:spAutoFit/>
          </a:bodyPr>
          <a:p>
            <a:pPr eaLnBrk="1" hangingPunct="1"/>
            <a:r>
              <a:rPr lang="zh-CN" altLang="en-US" sz="2200" b="1" dirty="0">
                <a:solidFill>
                  <a:srgbClr val="080808"/>
                </a:solidFill>
                <a:latin typeface="华文细黑" panose="02010600040101010101" pitchFamily="2" charset="-122"/>
                <a:ea typeface="华文细黑" panose="02010600040101010101" pitchFamily="2" charset="-122"/>
              </a:rPr>
              <a:t>无线电短波通讯衰减或中断</a:t>
            </a:r>
            <a:endParaRPr lang="en-US" altLang="zh-CN" sz="2200" b="1" dirty="0">
              <a:solidFill>
                <a:srgbClr val="080808"/>
              </a:solidFill>
              <a:latin typeface="华文细黑" panose="02010600040101010101" pitchFamily="2" charset="-122"/>
              <a:ea typeface="华文细黑" panose="02010600040101010101" pitchFamily="2" charset="-122"/>
            </a:endParaRPr>
          </a:p>
        </p:txBody>
      </p:sp>
      <p:sp>
        <p:nvSpPr>
          <p:cNvPr id="14343" name="Text Box 7"/>
          <p:cNvSpPr txBox="1"/>
          <p:nvPr/>
        </p:nvSpPr>
        <p:spPr>
          <a:xfrm>
            <a:off x="323850" y="5138738"/>
            <a:ext cx="6911975" cy="522287"/>
          </a:xfrm>
          <a:prstGeom prst="rect">
            <a:avLst/>
          </a:prstGeom>
          <a:noFill/>
          <a:ln w="9525">
            <a:noFill/>
          </a:ln>
        </p:spPr>
        <p:txBody>
          <a:bodyPr>
            <a:spAutoFit/>
          </a:bodyPr>
          <a:p>
            <a:pPr eaLnBrk="1" hangingPunct="1"/>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3</a:t>
            </a:r>
            <a:r>
              <a:rPr lang="zh-CN" altLang="en-US" sz="2800" b="1" dirty="0">
                <a:solidFill>
                  <a:srgbClr val="0000FF"/>
                </a:solidFill>
                <a:latin typeface="黑体" panose="02010609060101010101" pitchFamily="49" charset="-122"/>
                <a:ea typeface="黑体" panose="02010609060101010101" pitchFamily="49" charset="-122"/>
              </a:rPr>
              <a:t>）对地球磁场的影响</a:t>
            </a:r>
            <a:endParaRPr lang="en-US" altLang="zh-CN" sz="2800" b="1" dirty="0">
              <a:solidFill>
                <a:srgbClr val="0000FF"/>
              </a:solidFill>
              <a:latin typeface="黑体" panose="02010609060101010101" pitchFamily="49" charset="-122"/>
              <a:ea typeface="黑体" panose="02010609060101010101" pitchFamily="49" charset="-122"/>
            </a:endParaRPr>
          </a:p>
        </p:txBody>
      </p:sp>
      <p:sp>
        <p:nvSpPr>
          <p:cNvPr id="14344" name="Rectangle 8">
            <a:hlinkClick r:id="" action="ppaction://noaction"/>
          </p:cNvPr>
          <p:cNvSpPr/>
          <p:nvPr/>
        </p:nvSpPr>
        <p:spPr>
          <a:xfrm>
            <a:off x="1403350" y="5807075"/>
            <a:ext cx="4895850" cy="430213"/>
          </a:xfrm>
          <a:prstGeom prst="rect">
            <a:avLst/>
          </a:prstGeom>
          <a:noFill/>
          <a:ln w="9525">
            <a:noFill/>
          </a:ln>
        </p:spPr>
        <p:txBody>
          <a:bodyPr>
            <a:spAutoFit/>
          </a:bodyPr>
          <a:p>
            <a:pPr eaLnBrk="1" hangingPunct="1"/>
            <a:r>
              <a:rPr lang="zh-CN" altLang="en-US" sz="2200" b="1" dirty="0">
                <a:solidFill>
                  <a:srgbClr val="080808"/>
                </a:solidFill>
                <a:latin typeface="华文细黑" panose="02010600040101010101" pitchFamily="2" charset="-122"/>
                <a:ea typeface="华文细黑" panose="02010600040101010101" pitchFamily="2" charset="-122"/>
              </a:rPr>
              <a:t>磁暴</a:t>
            </a:r>
            <a:r>
              <a:rPr lang="en-US" altLang="zh-CN" sz="2200" b="1" dirty="0">
                <a:solidFill>
                  <a:srgbClr val="080808"/>
                </a:solidFill>
                <a:latin typeface="华文细黑" panose="02010600040101010101" pitchFamily="2" charset="-122"/>
                <a:ea typeface="华文细黑" panose="02010600040101010101" pitchFamily="2" charset="-122"/>
              </a:rPr>
              <a:t>    </a:t>
            </a:r>
            <a:r>
              <a:rPr lang="zh-CN" altLang="en-US" sz="2200" b="1" dirty="0">
                <a:solidFill>
                  <a:srgbClr val="080808"/>
                </a:solidFill>
                <a:latin typeface="华文细黑" panose="02010600040101010101" pitchFamily="2" charset="-122"/>
                <a:ea typeface="华文细黑" panose="02010600040101010101" pitchFamily="2" charset="-122"/>
              </a:rPr>
              <a:t>极光</a:t>
            </a:r>
            <a:r>
              <a:rPr lang="en-US" altLang="zh-CN" sz="2200" b="1" dirty="0">
                <a:solidFill>
                  <a:srgbClr val="080808"/>
                </a:solidFill>
                <a:latin typeface="华文细黑" panose="02010600040101010101" pitchFamily="2" charset="-122"/>
                <a:ea typeface="华文细黑" panose="02010600040101010101" pitchFamily="2" charset="-122"/>
              </a:rPr>
              <a:t> </a:t>
            </a:r>
            <a:endParaRPr lang="en-US" altLang="zh-CN" sz="2200" b="1" dirty="0">
              <a:solidFill>
                <a:srgbClr val="080808"/>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xfrm>
            <a:off x="1403350" y="0"/>
            <a:ext cx="7740650" cy="1143000"/>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2.</a:t>
            </a:r>
            <a:r>
              <a:rPr lang="zh-CN" altLang="en-US" dirty="0">
                <a:solidFill>
                  <a:srgbClr val="FFFF00"/>
                </a:solidFill>
                <a:latin typeface="黑体" panose="02010609060101010101" pitchFamily="49" charset="-122"/>
                <a:ea typeface="黑体" panose="02010609060101010101" pitchFamily="49" charset="-122"/>
              </a:rPr>
              <a:t>大气外界太阳光谱及太阳常数</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15363" name="Rectangle 5"/>
          <p:cNvSpPr>
            <a:spLocks noGrp="1"/>
          </p:cNvSpPr>
          <p:nvPr>
            <p:ph idx="1"/>
          </p:nvPr>
        </p:nvSpPr>
        <p:spPr>
          <a:xfrm>
            <a:off x="250825" y="1341438"/>
            <a:ext cx="8675688" cy="5183187"/>
          </a:xfrm>
          <a:ln/>
        </p:spPr>
        <p:txBody>
          <a:bodyPr vert="horz" wrap="square" lIns="91440" tIns="45720" rIns="91440" bIns="45720" anchor="t" anchorCtr="0"/>
          <a:p>
            <a:pPr indent="0" algn="just">
              <a:lnSpc>
                <a:spcPct val="120000"/>
              </a:lnSpc>
              <a:buFontTx/>
              <a:buNone/>
            </a:pPr>
            <a:r>
              <a:rPr lang="zh-CN" altLang="en-US" sz="3200" dirty="0">
                <a:solidFill>
                  <a:srgbClr val="FF3300"/>
                </a:solidFill>
                <a:latin typeface="黑体" panose="02010609060101010101" pitchFamily="49" charset="-122"/>
                <a:ea typeface="黑体" panose="02010609060101010101" pitchFamily="49" charset="-122"/>
              </a:rPr>
              <a:t>太阳光谱</a:t>
            </a:r>
            <a:r>
              <a:rPr lang="en-US" altLang="zh-CN" sz="3200" dirty="0">
                <a:solidFill>
                  <a:srgbClr val="FF3300"/>
                </a:solidFill>
                <a:ea typeface="宋体" panose="02010600030101010101" pitchFamily="2" charset="-122"/>
              </a:rPr>
              <a:t>(solar spectrum) </a:t>
            </a:r>
            <a:r>
              <a:rPr lang="zh-CN" altLang="en-US" sz="3200" dirty="0">
                <a:solidFill>
                  <a:srgbClr val="FF3300"/>
                </a:solidFill>
                <a:ea typeface="宋体" panose="02010600030101010101" pitchFamily="2" charset="-122"/>
              </a:rPr>
              <a:t>：</a:t>
            </a:r>
            <a:r>
              <a:rPr lang="zh-CN" altLang="en-US" sz="2600" dirty="0">
                <a:solidFill>
                  <a:srgbClr val="0000FF"/>
                </a:solidFill>
                <a:latin typeface="华文细黑" panose="02010600040101010101" pitchFamily="2" charset="-122"/>
                <a:ea typeface="华文细黑" panose="02010600040101010101" pitchFamily="2" charset="-122"/>
              </a:rPr>
              <a:t>由极为宽阔的连续谱以及数以万计的夫琅和费吸收线和发射线组成。</a:t>
            </a:r>
            <a:endParaRPr lang="zh-CN" altLang="en-US" sz="2600" dirty="0">
              <a:solidFill>
                <a:srgbClr val="0000FF"/>
              </a:solidFill>
              <a:latin typeface="华文细黑" panose="02010600040101010101" pitchFamily="2" charset="-122"/>
              <a:ea typeface="华文细黑" panose="02010600040101010101" pitchFamily="2" charset="-122"/>
            </a:endParaRPr>
          </a:p>
          <a:p>
            <a:pPr lvl="1">
              <a:lnSpc>
                <a:spcPct val="120000"/>
              </a:lnSpc>
              <a:spcBef>
                <a:spcPct val="25000"/>
              </a:spcBef>
              <a:spcAft>
                <a:spcPct val="25000"/>
              </a:spcAft>
              <a:buFont typeface="Webdings" panose="05030102010509060703" pitchFamily="18" charset="2"/>
              <a:buChar char="4"/>
            </a:pPr>
            <a:r>
              <a:rPr lang="en-US" altLang="zh-CN" sz="2600" dirty="0">
                <a:solidFill>
                  <a:srgbClr val="0000FF"/>
                </a:solidFill>
                <a:latin typeface="黑体" panose="02010609060101010101" pitchFamily="49" charset="-122"/>
                <a:ea typeface="黑体" panose="02010609060101010101" pitchFamily="49" charset="-122"/>
              </a:rPr>
              <a:t>T = 5777 K</a:t>
            </a:r>
            <a:endParaRPr lang="en-US" altLang="zh-CN" sz="2600" dirty="0">
              <a:solidFill>
                <a:srgbClr val="0000FF"/>
              </a:solidFill>
              <a:latin typeface="黑体" panose="02010609060101010101" pitchFamily="49" charset="-122"/>
              <a:ea typeface="黑体" panose="02010609060101010101" pitchFamily="49" charset="-122"/>
            </a:endParaRPr>
          </a:p>
          <a:p>
            <a:pPr lvl="1">
              <a:lnSpc>
                <a:spcPct val="120000"/>
              </a:lnSpc>
              <a:spcBef>
                <a:spcPct val="25000"/>
              </a:spcBef>
              <a:spcAft>
                <a:spcPct val="25000"/>
              </a:spcAft>
              <a:buFont typeface="Webdings" panose="05030102010509060703" pitchFamily="18" charset="2"/>
              <a:buChar char="4"/>
            </a:pPr>
            <a:r>
              <a:rPr lang="en-US" altLang="zh-CN" sz="2600" dirty="0">
                <a:solidFill>
                  <a:srgbClr val="0000FF"/>
                </a:solidFill>
                <a:latin typeface="黑体" panose="02010609060101010101" pitchFamily="49" charset="-122"/>
                <a:ea typeface="黑体" panose="02010609060101010101" pitchFamily="49" charset="-122"/>
              </a:rPr>
              <a:t>99.9% </a:t>
            </a:r>
            <a:r>
              <a:rPr lang="zh-CN" altLang="en-US" sz="2600" dirty="0">
                <a:solidFill>
                  <a:srgbClr val="0000FF"/>
                </a:solidFill>
                <a:latin typeface="黑体" panose="02010609060101010101" pitchFamily="49" charset="-122"/>
                <a:ea typeface="黑体" panose="02010609060101010101" pitchFamily="49" charset="-122"/>
              </a:rPr>
              <a:t>的能量集中在</a:t>
            </a:r>
            <a:r>
              <a:rPr lang="en-US" altLang="zh-CN" sz="2600" dirty="0">
                <a:solidFill>
                  <a:srgbClr val="0000FF"/>
                </a:solidFill>
                <a:latin typeface="黑体" panose="02010609060101010101" pitchFamily="49" charset="-122"/>
                <a:ea typeface="黑体" panose="02010609060101010101" pitchFamily="49" charset="-122"/>
              </a:rPr>
              <a:t>IR</a:t>
            </a:r>
            <a:r>
              <a:rPr lang="zh-CN" altLang="en-US" sz="2600" dirty="0">
                <a:solidFill>
                  <a:srgbClr val="0000FF"/>
                </a:solidFill>
                <a:latin typeface="黑体" panose="02010609060101010101" pitchFamily="49" charset="-122"/>
                <a:ea typeface="黑体" panose="02010609060101010101" pitchFamily="49" charset="-122"/>
              </a:rPr>
              <a:t>、</a:t>
            </a:r>
            <a:r>
              <a:rPr lang="en-US" altLang="zh-CN" sz="2600" dirty="0">
                <a:solidFill>
                  <a:srgbClr val="0000FF"/>
                </a:solidFill>
                <a:latin typeface="黑体" panose="02010609060101010101" pitchFamily="49" charset="-122"/>
                <a:ea typeface="黑体" panose="02010609060101010101" pitchFamily="49" charset="-122"/>
              </a:rPr>
              <a:t>VIS</a:t>
            </a:r>
            <a:r>
              <a:rPr lang="zh-CN" altLang="en-US" sz="2600" dirty="0">
                <a:solidFill>
                  <a:srgbClr val="0000FF"/>
                </a:solidFill>
                <a:latin typeface="黑体" panose="02010609060101010101" pitchFamily="49" charset="-122"/>
                <a:ea typeface="黑体" panose="02010609060101010101" pitchFamily="49" charset="-122"/>
              </a:rPr>
              <a:t>和</a:t>
            </a:r>
            <a:r>
              <a:rPr lang="en-US" altLang="zh-CN" sz="2600" dirty="0">
                <a:solidFill>
                  <a:srgbClr val="0000FF"/>
                </a:solidFill>
                <a:latin typeface="黑体" panose="02010609060101010101" pitchFamily="49" charset="-122"/>
                <a:ea typeface="黑体" panose="02010609060101010101" pitchFamily="49" charset="-122"/>
              </a:rPr>
              <a:t>UV</a:t>
            </a:r>
            <a:r>
              <a:rPr lang="zh-CN" altLang="en-US" sz="2600" dirty="0">
                <a:solidFill>
                  <a:srgbClr val="0000FF"/>
                </a:solidFill>
                <a:latin typeface="黑体" panose="02010609060101010101" pitchFamily="49" charset="-122"/>
                <a:ea typeface="黑体" panose="02010609060101010101" pitchFamily="49" charset="-122"/>
              </a:rPr>
              <a:t>。</a:t>
            </a:r>
            <a:endParaRPr lang="zh-CN" altLang="en-US" sz="2600" dirty="0">
              <a:solidFill>
                <a:srgbClr val="0000FF"/>
              </a:solidFill>
              <a:latin typeface="黑体" panose="02010609060101010101" pitchFamily="49" charset="-122"/>
              <a:ea typeface="黑体" panose="02010609060101010101" pitchFamily="49" charset="-122"/>
            </a:endParaRPr>
          </a:p>
          <a:p>
            <a:pPr lvl="1">
              <a:lnSpc>
                <a:spcPct val="120000"/>
              </a:lnSpc>
              <a:spcBef>
                <a:spcPct val="25000"/>
              </a:spcBef>
              <a:spcAft>
                <a:spcPct val="25000"/>
              </a:spcAft>
              <a:buFont typeface="Webdings" panose="05030102010509060703" pitchFamily="18" charset="2"/>
              <a:buChar char="4"/>
            </a:pPr>
            <a:r>
              <a:rPr lang="zh-CN" altLang="en-US" sz="2600" dirty="0">
                <a:solidFill>
                  <a:srgbClr val="0000FF"/>
                </a:solidFill>
                <a:latin typeface="黑体" panose="02010609060101010101" pitchFamily="49" charset="-122"/>
                <a:ea typeface="黑体" panose="02010609060101010101" pitchFamily="49" charset="-122"/>
              </a:rPr>
              <a:t>地面观测波段约为</a:t>
            </a:r>
            <a:r>
              <a:rPr lang="en-US" altLang="zh-CN" sz="2600" dirty="0">
                <a:solidFill>
                  <a:srgbClr val="0000FF"/>
                </a:solidFill>
                <a:latin typeface="黑体" panose="02010609060101010101" pitchFamily="49" charset="-122"/>
                <a:ea typeface="黑体" panose="02010609060101010101" pitchFamily="49" charset="-122"/>
              </a:rPr>
              <a:t>0.295</a:t>
            </a:r>
            <a:r>
              <a:rPr lang="zh-CN" altLang="en-US" sz="2600" dirty="0">
                <a:solidFill>
                  <a:srgbClr val="0000FF"/>
                </a:solidFill>
                <a:latin typeface="黑体" panose="02010609060101010101" pitchFamily="49" charset="-122"/>
                <a:ea typeface="黑体" panose="02010609060101010101" pitchFamily="49" charset="-122"/>
              </a:rPr>
              <a:t>～</a:t>
            </a:r>
            <a:r>
              <a:rPr lang="en-US" altLang="zh-CN" sz="2600" dirty="0">
                <a:solidFill>
                  <a:srgbClr val="0000FF"/>
                </a:solidFill>
                <a:latin typeface="黑体" panose="02010609060101010101" pitchFamily="49" charset="-122"/>
                <a:ea typeface="黑体" panose="02010609060101010101" pitchFamily="49" charset="-122"/>
              </a:rPr>
              <a:t>2.5 </a:t>
            </a:r>
            <a:r>
              <a:rPr lang="el-GR" altLang="zh-CN" sz="2600" dirty="0">
                <a:solidFill>
                  <a:srgbClr val="0000FF"/>
                </a:solidFill>
                <a:latin typeface="黑体" panose="02010609060101010101" pitchFamily="49" charset="-122"/>
                <a:ea typeface="黑体" panose="02010609060101010101" pitchFamily="49" charset="-122"/>
              </a:rPr>
              <a:t>μ</a:t>
            </a:r>
            <a:r>
              <a:rPr lang="en-US" altLang="zh-CN" sz="2600" dirty="0">
                <a:solidFill>
                  <a:srgbClr val="0000FF"/>
                </a:solidFill>
                <a:latin typeface="黑体" panose="02010609060101010101" pitchFamily="49" charset="-122"/>
                <a:ea typeface="黑体" panose="02010609060101010101" pitchFamily="49" charset="-122"/>
              </a:rPr>
              <a:t>m</a:t>
            </a:r>
            <a:r>
              <a:rPr lang="zh-CN" altLang="en-US" sz="2600" dirty="0">
                <a:solidFill>
                  <a:srgbClr val="0000FF"/>
                </a:solidFill>
                <a:latin typeface="黑体" panose="02010609060101010101" pitchFamily="49" charset="-122"/>
                <a:ea typeface="黑体" panose="02010609060101010101" pitchFamily="49" charset="-122"/>
              </a:rPr>
              <a:t>。</a:t>
            </a:r>
            <a:endParaRPr lang="en-US" altLang="zh-CN" sz="2600" dirty="0">
              <a:solidFill>
                <a:srgbClr val="0000FF"/>
              </a:solidFill>
              <a:latin typeface="黑体" panose="02010609060101010101" pitchFamily="49" charset="-122"/>
              <a:ea typeface="黑体" panose="02010609060101010101" pitchFamily="49" charset="-122"/>
            </a:endParaRPr>
          </a:p>
          <a:p>
            <a:pPr lvl="1">
              <a:lnSpc>
                <a:spcPct val="120000"/>
              </a:lnSpc>
              <a:spcBef>
                <a:spcPct val="25000"/>
              </a:spcBef>
              <a:spcAft>
                <a:spcPct val="25000"/>
              </a:spcAft>
              <a:buFont typeface="Webdings" panose="05030102010509060703" pitchFamily="18" charset="2"/>
              <a:buChar char="4"/>
            </a:pPr>
            <a:r>
              <a:rPr lang="zh-CN" altLang="en-US" sz="2600" dirty="0">
                <a:solidFill>
                  <a:srgbClr val="0000FF"/>
                </a:solidFill>
                <a:latin typeface="黑体" panose="02010609060101010101" pitchFamily="49" charset="-122"/>
                <a:ea typeface="黑体" panose="02010609060101010101" pitchFamily="49" charset="-122"/>
              </a:rPr>
              <a:t>作用：</a:t>
            </a:r>
            <a:r>
              <a:rPr lang="zh-CN" altLang="en-US" sz="2600" dirty="0">
                <a:solidFill>
                  <a:srgbClr val="0000FF"/>
                </a:solidFill>
                <a:latin typeface="华文细黑" panose="02010600040101010101" pitchFamily="2" charset="-122"/>
                <a:ea typeface="华文细黑" panose="02010600040101010101" pitchFamily="2" charset="-122"/>
              </a:rPr>
              <a:t>可以探测太阳大气特征和现象的产生机制与演变规律，可以认证谱线和确认元素的丰度，研究地球气候等。</a:t>
            </a:r>
            <a:endParaRPr lang="en-US" altLang="zh-CN" sz="2600" dirty="0">
              <a:solidFill>
                <a:srgbClr val="0000FF"/>
              </a:solidFill>
              <a:latin typeface="华文细黑" panose="02010600040101010101" pitchFamily="2" charset="-122"/>
              <a:ea typeface="华文细黑" panose="02010600040101010101" pitchFamily="2" charset="-122"/>
            </a:endParaRPr>
          </a:p>
          <a:p>
            <a:pPr lvl="1">
              <a:lnSpc>
                <a:spcPct val="120000"/>
              </a:lnSpc>
              <a:spcBef>
                <a:spcPct val="25000"/>
              </a:spcBef>
              <a:spcAft>
                <a:spcPct val="25000"/>
              </a:spcAft>
              <a:buFont typeface="Webdings" panose="05030102010509060703" pitchFamily="18" charset="2"/>
              <a:buChar char="4"/>
            </a:pPr>
            <a:endParaRPr lang="en-US" altLang="zh-CN" sz="3200" dirty="0">
              <a:solidFill>
                <a:srgbClr val="0000FF"/>
              </a:solidFill>
              <a:latin typeface="楷体_GB2312" pitchFamily="49" charset="-122"/>
              <a:ea typeface="楷体_GB2312" pitchFamily="49" charset="-122"/>
            </a:endParaRPr>
          </a:p>
          <a:p>
            <a:pPr lvl="1">
              <a:lnSpc>
                <a:spcPct val="120000"/>
              </a:lnSpc>
              <a:spcBef>
                <a:spcPct val="25000"/>
              </a:spcBef>
              <a:spcAft>
                <a:spcPct val="25000"/>
              </a:spcAft>
              <a:buFont typeface="Webdings" panose="05030102010509060703" pitchFamily="18" charset="2"/>
              <a:buChar char="4"/>
            </a:pPr>
            <a:endParaRPr lang="zh-CN" altLang="en-US" sz="3200" dirty="0">
              <a:solidFill>
                <a:srgbClr val="0000FF"/>
              </a:solidFill>
              <a:latin typeface="楷体_GB2312" pitchFamily="49" charset="-122"/>
              <a:ea typeface="楷体_GB2312" pitchFamily="49" charset="-122"/>
            </a:endParaRPr>
          </a:p>
          <a:p>
            <a:pPr indent="0">
              <a:lnSpc>
                <a:spcPct val="120000"/>
              </a:lnSpc>
              <a:buFontTx/>
              <a:buNone/>
            </a:pPr>
            <a:endParaRPr lang="zh-CN" altLang="en-US" sz="4000" dirty="0">
              <a:ea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9"/>
          <p:cNvSpPr>
            <a:spLocks noGrp="1"/>
          </p:cNvSpPr>
          <p:nvPr>
            <p:ph idx="1"/>
          </p:nvPr>
        </p:nvSpPr>
        <p:spPr>
          <a:xfrm>
            <a:off x="611188" y="1914525"/>
            <a:ext cx="8532812" cy="4286250"/>
          </a:xfrm>
          <a:ln/>
        </p:spPr>
        <p:txBody>
          <a:bodyPr vert="horz" wrap="square" lIns="91440" tIns="45720" rIns="91440" bIns="45720" anchor="t" anchorCtr="0"/>
          <a:p>
            <a:pPr>
              <a:buFontTx/>
              <a:buNone/>
            </a:pPr>
            <a:endParaRPr lang="zh-CN" altLang="en-US" dirty="0">
              <a:ea typeface="宋体" panose="02010600030101010101" pitchFamily="2" charset="-122"/>
            </a:endParaRPr>
          </a:p>
          <a:p>
            <a:pPr lvl="1"/>
            <a:r>
              <a:rPr lang="en-US" altLang="zh-CN" sz="3600" dirty="0">
                <a:latin typeface="黑体" panose="02010609060101010101" pitchFamily="49" charset="-122"/>
                <a:ea typeface="黑体" panose="02010609060101010101" pitchFamily="49" charset="-122"/>
              </a:rPr>
              <a:t>(1) </a:t>
            </a:r>
            <a:r>
              <a:rPr lang="zh-CN" altLang="en-US" sz="3600" dirty="0">
                <a:latin typeface="黑体" panose="02010609060101010101" pitchFamily="49" charset="-122"/>
                <a:ea typeface="黑体" panose="02010609060101010101" pitchFamily="49" charset="-122"/>
              </a:rPr>
              <a:t>大气外界太阳辐射的谱分布；</a:t>
            </a:r>
            <a:endParaRPr lang="zh-CN" altLang="en-US" sz="3600" dirty="0">
              <a:latin typeface="黑体" panose="02010609060101010101" pitchFamily="49" charset="-122"/>
              <a:ea typeface="黑体" panose="02010609060101010101" pitchFamily="49" charset="-122"/>
            </a:endParaRPr>
          </a:p>
          <a:p>
            <a:pPr lvl="1"/>
            <a:endParaRPr lang="zh-CN" altLang="en-US" sz="3600" dirty="0">
              <a:latin typeface="黑体" panose="02010609060101010101" pitchFamily="49" charset="-122"/>
              <a:ea typeface="黑体" panose="02010609060101010101" pitchFamily="49" charset="-122"/>
            </a:endParaRPr>
          </a:p>
          <a:p>
            <a:pPr lvl="1"/>
            <a:r>
              <a:rPr lang="en-US" altLang="zh-CN" sz="3600" dirty="0">
                <a:latin typeface="黑体" panose="02010609060101010101" pitchFamily="49" charset="-122"/>
                <a:ea typeface="黑体" panose="02010609060101010101" pitchFamily="49" charset="-122"/>
              </a:rPr>
              <a:t>(2) </a:t>
            </a:r>
            <a:r>
              <a:rPr lang="zh-CN" altLang="en-US" sz="3600" dirty="0">
                <a:latin typeface="黑体" panose="02010609060101010101" pitchFamily="49" charset="-122"/>
                <a:ea typeface="黑体" panose="02010609060101010101" pitchFamily="49" charset="-122"/>
              </a:rPr>
              <a:t>总谱能量或太阳常数；</a:t>
            </a:r>
            <a:endParaRPr lang="zh-CN" altLang="en-US" sz="3600" dirty="0">
              <a:latin typeface="黑体" panose="02010609060101010101" pitchFamily="49" charset="-122"/>
              <a:ea typeface="黑体" panose="02010609060101010101" pitchFamily="49" charset="-122"/>
            </a:endParaRPr>
          </a:p>
          <a:p>
            <a:pPr lvl="1"/>
            <a:endParaRPr lang="zh-CN" altLang="en-US" sz="3600" dirty="0">
              <a:latin typeface="黑体" panose="02010609060101010101" pitchFamily="49" charset="-122"/>
              <a:ea typeface="黑体" panose="02010609060101010101" pitchFamily="49" charset="-122"/>
            </a:endParaRPr>
          </a:p>
          <a:p>
            <a:pPr lvl="1"/>
            <a:r>
              <a:rPr lang="en-US" altLang="zh-CN" sz="3600" dirty="0">
                <a:latin typeface="黑体" panose="02010609060101010101" pitchFamily="49" charset="-122"/>
                <a:ea typeface="黑体" panose="02010609060101010101" pitchFamily="49" charset="-122"/>
              </a:rPr>
              <a:t>(3) </a:t>
            </a:r>
            <a:r>
              <a:rPr lang="zh-CN" altLang="en-US" sz="3600" dirty="0">
                <a:latin typeface="黑体" panose="02010609060101010101" pitchFamily="49" charset="-122"/>
                <a:ea typeface="黑体" panose="02010609060101010101" pitchFamily="49" charset="-122"/>
              </a:rPr>
              <a:t>太阳辐射随时间的变化。</a:t>
            </a:r>
            <a:endParaRPr lang="zh-CN" altLang="en-US" sz="3600" dirty="0">
              <a:latin typeface="黑体" panose="02010609060101010101" pitchFamily="49" charset="-122"/>
              <a:ea typeface="黑体" panose="02010609060101010101" pitchFamily="49" charset="-122"/>
            </a:endParaRPr>
          </a:p>
        </p:txBody>
      </p:sp>
      <p:sp>
        <p:nvSpPr>
          <p:cNvPr id="16387" name="Text Box 10"/>
          <p:cNvSpPr txBox="1"/>
          <p:nvPr/>
        </p:nvSpPr>
        <p:spPr>
          <a:xfrm>
            <a:off x="1476375" y="188913"/>
            <a:ext cx="7343775" cy="646112"/>
          </a:xfrm>
          <a:prstGeom prst="rect">
            <a:avLst/>
          </a:prstGeom>
          <a:noFill/>
          <a:ln w="9525">
            <a:noFill/>
          </a:ln>
        </p:spPr>
        <p:txBody>
          <a:bodyPr>
            <a:spAutoFit/>
          </a:bodyPr>
          <a:p>
            <a:pPr algn="ctr" eaLnBrk="1" hangingPunct="1">
              <a:spcBef>
                <a:spcPct val="20000"/>
              </a:spcBef>
            </a:pPr>
            <a:r>
              <a:rPr lang="zh-CN" altLang="en-US" sz="3600" b="1" dirty="0">
                <a:solidFill>
                  <a:srgbClr val="FFFF00"/>
                </a:solidFill>
                <a:latin typeface="黑体" panose="02010609060101010101" pitchFamily="49" charset="-122"/>
                <a:ea typeface="黑体" panose="02010609060101010101" pitchFamily="49" charset="-122"/>
              </a:rPr>
              <a:t>太阳辐射谱的观测</a:t>
            </a:r>
            <a:endParaRPr lang="zh-CN" altLang="en-US" sz="3600" b="1" dirty="0">
              <a:solidFill>
                <a:srgbClr val="FFFF00"/>
              </a:solidFill>
              <a:latin typeface="黑体" panose="02010609060101010101" pitchFamily="49" charset="-122"/>
              <a:ea typeface="黑体" panose="02010609060101010101" pitchFamily="49" charset="-122"/>
            </a:endParaRPr>
          </a:p>
        </p:txBody>
      </p:sp>
      <p:sp>
        <p:nvSpPr>
          <p:cNvPr id="16388" name="TextBox 1"/>
          <p:cNvSpPr txBox="1"/>
          <p:nvPr/>
        </p:nvSpPr>
        <p:spPr>
          <a:xfrm>
            <a:off x="1249363" y="1412875"/>
            <a:ext cx="5184775" cy="646113"/>
          </a:xfrm>
          <a:prstGeom prst="rect">
            <a:avLst/>
          </a:prstGeom>
          <a:noFill/>
          <a:ln w="9525">
            <a:noFill/>
          </a:ln>
        </p:spPr>
        <p:txBody>
          <a:bodyPr>
            <a:spAutoFit/>
          </a:bodyPr>
          <a:p>
            <a:pPr eaLnBrk="1" hangingPunct="1"/>
            <a:r>
              <a:rPr lang="zh-CN" altLang="en-US" sz="3600" b="1" dirty="0">
                <a:solidFill>
                  <a:srgbClr val="0000FF"/>
                </a:solidFill>
                <a:latin typeface="黑体" panose="02010609060101010101" pitchFamily="49" charset="-122"/>
                <a:ea typeface="黑体" panose="02010609060101010101" pitchFamily="49" charset="-122"/>
              </a:rPr>
              <a:t>关心</a:t>
            </a:r>
            <a:r>
              <a:rPr lang="en-US" altLang="zh-CN" sz="3600" b="1" dirty="0">
                <a:solidFill>
                  <a:srgbClr val="0000FF"/>
                </a:solidFill>
                <a:latin typeface="黑体" panose="02010609060101010101" pitchFamily="49" charset="-122"/>
                <a:ea typeface="黑体" panose="02010609060101010101" pitchFamily="49" charset="-122"/>
              </a:rPr>
              <a:t>3</a:t>
            </a:r>
            <a:r>
              <a:rPr lang="zh-CN" altLang="en-US" sz="3600" b="1" dirty="0">
                <a:solidFill>
                  <a:srgbClr val="0000FF"/>
                </a:solidFill>
                <a:latin typeface="黑体" panose="02010609060101010101" pitchFamily="49" charset="-122"/>
                <a:ea typeface="黑体" panose="02010609060101010101" pitchFamily="49" charset="-122"/>
              </a:rPr>
              <a:t>个问题：</a:t>
            </a:r>
            <a:endParaRPr lang="en-US" altLang="zh-CN" sz="36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xfrm>
            <a:off x="1403350" y="188913"/>
            <a:ext cx="7740650" cy="814387"/>
          </a:xfrm>
          <a:ln/>
        </p:spPr>
        <p:txBody>
          <a:bodyPr vert="horz" wrap="square" lIns="91440" tIns="45720" rIns="91440" bIns="45720" anchor="ctr" anchorCtr="0"/>
          <a:p>
            <a:pPr algn="ctr"/>
            <a:r>
              <a:rPr lang="zh-CN" altLang="en-US" sz="3600" dirty="0">
                <a:solidFill>
                  <a:srgbClr val="FFFF00"/>
                </a:solidFill>
              </a:rPr>
              <a:t>大气外界太阳光谱及太阳常数</a:t>
            </a:r>
            <a:endParaRPr lang="zh-CN" altLang="en-US" sz="3600" dirty="0">
              <a:solidFill>
                <a:srgbClr val="FFFF00"/>
              </a:solidFill>
            </a:endParaRPr>
          </a:p>
        </p:txBody>
      </p:sp>
      <p:sp>
        <p:nvSpPr>
          <p:cNvPr id="17411" name="Rectangle 5"/>
          <p:cNvSpPr>
            <a:spLocks noGrp="1"/>
          </p:cNvSpPr>
          <p:nvPr>
            <p:ph idx="1"/>
          </p:nvPr>
        </p:nvSpPr>
        <p:spPr>
          <a:xfrm>
            <a:off x="250825" y="1490663"/>
            <a:ext cx="8785225" cy="4962525"/>
          </a:xfrm>
          <a:ln/>
        </p:spPr>
        <p:txBody>
          <a:bodyPr vert="horz" wrap="square" lIns="91440" tIns="45720" rIns="91440" bIns="45720" anchor="t" anchorCtr="0"/>
          <a:p>
            <a:pPr>
              <a:buFontTx/>
              <a:buNone/>
            </a:pPr>
            <a:endParaRPr lang="zh-CN" altLang="en-US" dirty="0">
              <a:ea typeface="宋体" panose="02010600030101010101" pitchFamily="2" charset="-122"/>
            </a:endParaRPr>
          </a:p>
          <a:p>
            <a:pPr marL="0" lvl="1" indent="719455">
              <a:lnSpc>
                <a:spcPct val="150000"/>
              </a:lnSpc>
              <a:buFontTx/>
              <a:buNone/>
            </a:pPr>
            <a:r>
              <a:rPr lang="zh-CN" altLang="en-US" sz="3200" dirty="0">
                <a:latin typeface="华文细黑" panose="02010600040101010101" pitchFamily="2" charset="-122"/>
                <a:ea typeface="华文细黑" panose="02010600040101010101" pitchFamily="2" charset="-122"/>
              </a:rPr>
              <a:t>目前，在高山上进行的长期测量，仍是测算大气外界太阳辐射光谱的主要手段。</a:t>
            </a:r>
            <a:endParaRPr lang="zh-CN" altLang="en-US" sz="3200" dirty="0">
              <a:latin typeface="华文细黑" panose="02010600040101010101" pitchFamily="2" charset="-122"/>
              <a:ea typeface="华文细黑" panose="02010600040101010101" pitchFamily="2" charset="-122"/>
            </a:endParaRPr>
          </a:p>
          <a:p>
            <a:pPr marL="0" lvl="1" indent="719455">
              <a:lnSpc>
                <a:spcPct val="150000"/>
              </a:lnSpc>
              <a:buFontTx/>
              <a:buNone/>
            </a:pPr>
            <a:endParaRPr lang="zh-CN" altLang="en-US" sz="3200" dirty="0">
              <a:latin typeface="华文细黑" panose="02010600040101010101" pitchFamily="2" charset="-122"/>
              <a:ea typeface="华文细黑" panose="02010600040101010101" pitchFamily="2" charset="-122"/>
            </a:endParaRPr>
          </a:p>
          <a:p>
            <a:pPr marL="0" lvl="1" indent="719455">
              <a:lnSpc>
                <a:spcPct val="150000"/>
              </a:lnSpc>
              <a:buFontTx/>
              <a:buNone/>
            </a:pPr>
            <a:r>
              <a:rPr lang="zh-CN" altLang="en-US" sz="3200" dirty="0">
                <a:latin typeface="华文细黑" panose="02010600040101010101" pitchFamily="2" charset="-122"/>
                <a:ea typeface="华文细黑" panose="02010600040101010101" pitchFamily="2" charset="-122"/>
              </a:rPr>
              <a:t>借助高空观测弥补紫外和红外波段的测量。</a:t>
            </a:r>
            <a:endParaRPr lang="zh-CN" altLang="en-US" sz="3200" dirty="0">
              <a:latin typeface="华文细黑" panose="02010600040101010101" pitchFamily="2" charset="-122"/>
              <a:ea typeface="华文细黑" panose="0201060004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18434" name="Picture 5"/>
          <p:cNvPicPr>
            <a:picLocks noChangeAspect="1"/>
          </p:cNvPicPr>
          <p:nvPr/>
        </p:nvPicPr>
        <p:blipFill>
          <a:blip r:embed="rId1"/>
          <a:srcRect r="1961"/>
          <a:stretch>
            <a:fillRect/>
          </a:stretch>
        </p:blipFill>
        <p:spPr>
          <a:xfrm>
            <a:off x="4860925" y="1196975"/>
            <a:ext cx="4103688" cy="5453063"/>
          </a:xfrm>
          <a:prstGeom prst="rect">
            <a:avLst/>
          </a:prstGeom>
          <a:noFill/>
          <a:ln w="9525">
            <a:noFill/>
          </a:ln>
        </p:spPr>
      </p:pic>
      <p:sp>
        <p:nvSpPr>
          <p:cNvPr id="18435" name="Text Box 6"/>
          <p:cNvSpPr txBox="1"/>
          <p:nvPr/>
        </p:nvSpPr>
        <p:spPr>
          <a:xfrm>
            <a:off x="1335088" y="179388"/>
            <a:ext cx="7700962" cy="769937"/>
          </a:xfrm>
          <a:prstGeom prst="rect">
            <a:avLst/>
          </a:prstGeom>
          <a:noFill/>
          <a:ln w="9525">
            <a:noFill/>
          </a:ln>
        </p:spPr>
        <p:txBody>
          <a:bodyPr>
            <a:spAutoFit/>
          </a:bodyPr>
          <a:p>
            <a:pPr algn="ctr" eaLnBrk="1" hangingPunct="1"/>
            <a:r>
              <a:rPr lang="zh-CN" altLang="en-US" sz="4400" b="1" dirty="0">
                <a:solidFill>
                  <a:srgbClr val="FFFF00"/>
                </a:solidFill>
                <a:latin typeface="黑体" panose="02010609060101010101" pitchFamily="49" charset="-122"/>
                <a:ea typeface="黑体" panose="02010609060101010101" pitchFamily="49" charset="-122"/>
              </a:rPr>
              <a:t>太阳辐射谱</a:t>
            </a:r>
            <a:endParaRPr lang="zh-CN" altLang="en-US" sz="4400" b="1" dirty="0">
              <a:solidFill>
                <a:srgbClr val="FFFF00"/>
              </a:solidFill>
              <a:latin typeface="黑体" panose="02010609060101010101" pitchFamily="49" charset="-122"/>
              <a:ea typeface="黑体" panose="02010609060101010101" pitchFamily="49" charset="-122"/>
            </a:endParaRPr>
          </a:p>
        </p:txBody>
      </p:sp>
      <p:sp>
        <p:nvSpPr>
          <p:cNvPr id="25604" name="Text Box 7"/>
          <p:cNvSpPr txBox="1">
            <a:spLocks noRot="1" noChangeAspect="1" noMove="1" noResize="1" noEditPoints="1" noAdjustHandles="1" noChangeArrowheads="1" noChangeShapeType="1" noTextEdit="1"/>
          </p:cNvSpPr>
          <p:nvPr/>
        </p:nvSpPr>
        <p:spPr bwMode="auto">
          <a:xfrm>
            <a:off x="642938" y="2451100"/>
            <a:ext cx="3857625" cy="2494401"/>
          </a:xfrm>
          <a:prstGeom prst="rect">
            <a:avLst/>
          </a:prstGeom>
          <a:blipFill>
            <a:blip r:embed="rId2"/>
            <a:stretch>
              <a:fillRect l="-3160" b="-6112"/>
            </a:stretch>
          </a:blipFill>
          <a:ln>
            <a:noFill/>
          </a:ln>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
        <p:nvSpPr>
          <p:cNvPr id="18437" name="TextBox 1"/>
          <p:cNvSpPr txBox="1"/>
          <p:nvPr/>
        </p:nvSpPr>
        <p:spPr>
          <a:xfrm>
            <a:off x="684213" y="1557338"/>
            <a:ext cx="3527425" cy="584200"/>
          </a:xfrm>
          <a:prstGeom prst="rect">
            <a:avLst/>
          </a:prstGeom>
          <a:noFill/>
          <a:ln w="9525">
            <a:noFill/>
          </a:ln>
        </p:spPr>
        <p:txBody>
          <a:bodyPr>
            <a:spAutoFit/>
          </a:bodyPr>
          <a:p>
            <a:pPr eaLnBrk="1" hangingPunct="1"/>
            <a:r>
              <a:rPr lang="zh-CN" altLang="en-US" sz="3200" b="1" dirty="0">
                <a:solidFill>
                  <a:srgbClr val="0000FF"/>
                </a:solidFill>
                <a:latin typeface="楷体_GB2312" pitchFamily="49" charset="-122"/>
                <a:ea typeface="楷体_GB2312" pitchFamily="49" charset="-122"/>
              </a:rPr>
              <a:t>太阳辐射谱标准：</a:t>
            </a:r>
            <a:endParaRPr lang="zh-CN" altLang="en-US" sz="3200" b="1" dirty="0">
              <a:solidFill>
                <a:srgbClr val="0000FF"/>
              </a:solidFill>
              <a:latin typeface="楷体_GB2312" pitchFamily="49" charset="-122"/>
              <a:ea typeface="楷体_GB2312" pitchFamily="49" charset="-12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xfrm>
            <a:off x="1403350" y="188913"/>
            <a:ext cx="7345363" cy="850900"/>
          </a:xfrm>
          <a:ln/>
        </p:spPr>
        <p:txBody>
          <a:bodyPr vert="horz" wrap="square" lIns="91440" tIns="45720" rIns="91440" bIns="45720" anchor="ctr" anchorCtr="0"/>
          <a:p>
            <a:pPr algn="ctr"/>
            <a:r>
              <a:rPr lang="zh-CN" altLang="en-US" sz="3600" dirty="0">
                <a:solidFill>
                  <a:srgbClr val="FFFF00"/>
                </a:solidFill>
                <a:latin typeface="黑体" panose="02010609060101010101" pitchFamily="49" charset="-122"/>
                <a:ea typeface="黑体" panose="02010609060101010101" pitchFamily="49" charset="-122"/>
              </a:rPr>
              <a:t>太阳常数</a:t>
            </a:r>
            <a:endParaRPr lang="zh-CN" altLang="en-US" sz="3600" dirty="0">
              <a:solidFill>
                <a:srgbClr val="FFFF00"/>
              </a:solidFill>
              <a:latin typeface="黑体" panose="02010609060101010101" pitchFamily="49" charset="-122"/>
              <a:ea typeface="黑体" panose="02010609060101010101" pitchFamily="49" charset="-122"/>
            </a:endParaRPr>
          </a:p>
        </p:txBody>
      </p:sp>
      <p:sp>
        <p:nvSpPr>
          <p:cNvPr id="26627" name="Rectangle 9"/>
          <p:cNvSpPr>
            <a:spLocks noGrp="1" noRot="1" noChangeAspect="1" noMove="1" noResize="1" noEditPoints="1" noAdjustHandles="1" noChangeArrowheads="1" noChangeShapeType="1" noTextEdit="1"/>
          </p:cNvSpPr>
          <p:nvPr>
            <p:ph idx="1"/>
          </p:nvPr>
        </p:nvSpPr>
        <p:spPr bwMode="auto">
          <a:xfrm>
            <a:off x="0" y="765175"/>
            <a:ext cx="8991600" cy="5791200"/>
          </a:xfrm>
          <a:blipFill>
            <a:blip r:embed="rId1"/>
            <a:stretch>
              <a:fillRect/>
            </a:stretch>
          </a:blipFill>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noFill/>
                <a:effectLst/>
                <a:uLnTx/>
                <a:uFillTx/>
                <a:latin typeface="+mn-lt"/>
                <a:ea typeface="+mn-ea"/>
                <a:cs typeface="+mn-cs"/>
              </a:rPr>
              <a:t> </a:t>
            </a:r>
            <a:endParaRPr kumimoji="0" lang="zh-CN" altLang="en-US" sz="2800" b="1" i="0" u="none" strike="noStrike" kern="0" cap="none" spc="0" normalizeH="0" baseline="0" noProof="0">
              <a:ln>
                <a:noFill/>
              </a:ln>
              <a:noFill/>
              <a:effectLst/>
              <a:uLnTx/>
              <a:uFillTx/>
              <a:latin typeface="+mn-lt"/>
              <a:ea typeface="+mn-ea"/>
              <a:cs typeface="+mn-cs"/>
            </a:endParaRPr>
          </a:p>
        </p:txBody>
      </p:sp>
      <p:pic>
        <p:nvPicPr>
          <p:cNvPr id="19460" name="Picture 10"/>
          <p:cNvPicPr>
            <a:picLocks noChangeAspect="1"/>
          </p:cNvPicPr>
          <p:nvPr/>
        </p:nvPicPr>
        <p:blipFill>
          <a:blip r:embed="rId2"/>
          <a:stretch>
            <a:fillRect/>
          </a:stretch>
        </p:blipFill>
        <p:spPr>
          <a:xfrm>
            <a:off x="971550" y="3727450"/>
            <a:ext cx="7200900" cy="3014663"/>
          </a:xfrm>
          <a:prstGeom prst="rect">
            <a:avLst/>
          </a:prstGeom>
          <a:noFill/>
          <a:ln w="9525">
            <a:noFill/>
          </a:ln>
        </p:spPr>
      </p:pic>
      <p:sp>
        <p:nvSpPr>
          <p:cNvPr id="19461" name="矩形 1"/>
          <p:cNvSpPr/>
          <p:nvPr/>
        </p:nvSpPr>
        <p:spPr>
          <a:xfrm>
            <a:off x="4967288" y="5516563"/>
            <a:ext cx="1836737" cy="504825"/>
          </a:xfrm>
          <a:prstGeom prst="rect">
            <a:avLst/>
          </a:prstGeom>
          <a:solidFill>
            <a:schemeClr val="bg1"/>
          </a:solidFill>
          <a:ln w="9525">
            <a:noFill/>
          </a:ln>
        </p:spPr>
        <p:txBody>
          <a:bodyPr/>
          <a:p>
            <a:pPr eaLnBrk="1" hangingPunct="1"/>
            <a:endParaRPr lang="zh-CN" altLang="en-US" dirty="0">
              <a:latin typeface="Arial" panose="020B0604020202020204" pitchFamily="34" charset="0"/>
              <a:ea typeface="宋体" panose="02010600030101010101" pitchFamily="2"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Rectangle 5"/>
          <p:cNvSpPr>
            <a:spLocks noGrp="1" noRot="1" noChangeAspect="1" noMove="1" noResize="1" noEditPoints="1" noAdjustHandles="1" noChangeArrowheads="1" noChangeShapeType="1" noTextEdit="1"/>
          </p:cNvSpPr>
          <p:nvPr>
            <p:ph idx="1"/>
          </p:nvPr>
        </p:nvSpPr>
        <p:spPr bwMode="auto">
          <a:xfrm>
            <a:off x="188912" y="1309688"/>
            <a:ext cx="8991600" cy="5287962"/>
          </a:xfrm>
          <a:blipFill>
            <a:blip r:embed="rId1"/>
            <a:stretch>
              <a:fillRect l="-1424" t="-1269"/>
            </a:stretch>
          </a:blipFill>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noFill/>
                <a:effectLst/>
                <a:uLnTx/>
                <a:uFillTx/>
                <a:latin typeface="+mn-lt"/>
                <a:ea typeface="+mn-ea"/>
                <a:cs typeface="+mn-cs"/>
              </a:rPr>
              <a:t> </a:t>
            </a:r>
            <a:endParaRPr kumimoji="0" lang="zh-CN" altLang="en-US" sz="2800" b="1" i="0" u="none" strike="noStrike" kern="0" cap="none" spc="0" normalizeH="0" baseline="0" noProof="0">
              <a:ln>
                <a:noFill/>
              </a:ln>
              <a:noFill/>
              <a:effectLst/>
              <a:uLnTx/>
              <a:uFillTx/>
              <a:latin typeface="+mn-lt"/>
              <a:ea typeface="+mn-ea"/>
              <a:cs typeface="+mn-cs"/>
            </a:endParaRPr>
          </a:p>
        </p:txBody>
      </p:sp>
      <p:sp>
        <p:nvSpPr>
          <p:cNvPr id="20483" name="Rectangle 6"/>
          <p:cNvSpPr>
            <a:spLocks noGrp="1"/>
          </p:cNvSpPr>
          <p:nvPr>
            <p:ph type="title"/>
          </p:nvPr>
        </p:nvSpPr>
        <p:spPr>
          <a:xfrm>
            <a:off x="1476375" y="76200"/>
            <a:ext cx="7667625" cy="762000"/>
          </a:xfrm>
          <a:ln/>
        </p:spPr>
        <p:txBody>
          <a:bodyPr vert="horz" wrap="square" lIns="91440" tIns="45720" rIns="91440" bIns="45720" anchor="b" anchorCtr="0"/>
          <a:p>
            <a:pPr algn="ctr"/>
            <a:r>
              <a:rPr lang="zh-CN" altLang="en-US" dirty="0">
                <a:solidFill>
                  <a:srgbClr val="FFFF00"/>
                </a:solidFill>
                <a:latin typeface="黑体" panose="02010609060101010101" pitchFamily="49" charset="-122"/>
                <a:ea typeface="黑体" panose="02010609060101010101" pitchFamily="49" charset="-122"/>
              </a:rPr>
              <a:t>大气外界太阳光谱及太阳常数</a:t>
            </a:r>
            <a:endParaRPr lang="zh-CN" altLang="en-US"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Rectangle 7"/>
          <p:cNvSpPr>
            <a:spLocks noGrp="1"/>
          </p:cNvSpPr>
          <p:nvPr>
            <p:ph type="title"/>
          </p:nvPr>
        </p:nvSpPr>
        <p:spPr>
          <a:xfrm>
            <a:off x="1403350" y="44450"/>
            <a:ext cx="7740650" cy="762000"/>
          </a:xfrm>
          <a:ln/>
        </p:spPr>
        <p:txBody>
          <a:bodyPr vert="horz" wrap="square" lIns="91440" tIns="45720" rIns="91440" bIns="45720" anchor="b" anchorCtr="0"/>
          <a:p>
            <a:pPr algn="ctr"/>
            <a:r>
              <a:rPr lang="zh-CN" altLang="en-US" dirty="0">
                <a:solidFill>
                  <a:srgbClr val="FFFF00"/>
                </a:solidFill>
                <a:latin typeface="黑体" panose="02010609060101010101" pitchFamily="49" charset="-122"/>
                <a:ea typeface="黑体" panose="02010609060101010101" pitchFamily="49" charset="-122"/>
              </a:rPr>
              <a:t>大气外界太阳光谱及太阳常数</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21507" name="TextBox 2"/>
          <p:cNvSpPr txBox="1"/>
          <p:nvPr/>
        </p:nvSpPr>
        <p:spPr>
          <a:xfrm>
            <a:off x="323850" y="6372225"/>
            <a:ext cx="8712200" cy="369888"/>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pic>
        <p:nvPicPr>
          <p:cNvPr id="21508" name="Picture 8" descr="PAP3"/>
          <p:cNvPicPr>
            <a:picLocks noChangeAspect="1"/>
          </p:cNvPicPr>
          <p:nvPr/>
        </p:nvPicPr>
        <p:blipFill>
          <a:blip r:embed="rId1"/>
          <a:srcRect l="8081" t="11307" r="13132" b="8496"/>
          <a:stretch>
            <a:fillRect/>
          </a:stretch>
        </p:blipFill>
        <p:spPr>
          <a:xfrm>
            <a:off x="2122488" y="1125538"/>
            <a:ext cx="6445250" cy="5334000"/>
          </a:xfrm>
          <a:prstGeom prst="rect">
            <a:avLst/>
          </a:prstGeom>
          <a:noFill/>
          <a:ln w="9525">
            <a:noFill/>
          </a:ln>
        </p:spPr>
      </p:pic>
      <p:sp>
        <p:nvSpPr>
          <p:cNvPr id="21509" name="Rectangle 2"/>
          <p:cNvSpPr>
            <a:spLocks noGrp="1"/>
          </p:cNvSpPr>
          <p:nvPr>
            <p:ph type="body" sz="half" idx="1"/>
          </p:nvPr>
        </p:nvSpPr>
        <p:spPr>
          <a:xfrm>
            <a:off x="2276475" y="6308725"/>
            <a:ext cx="6472238" cy="504825"/>
          </a:xfrm>
          <a:ln/>
        </p:spPr>
        <p:txBody>
          <a:bodyPr vert="horz" wrap="square" lIns="91440" tIns="45720" rIns="91440" bIns="45720" anchor="t" anchorCtr="0"/>
          <a:p>
            <a:pPr algn="ctr">
              <a:spcBef>
                <a:spcPct val="10000"/>
              </a:spcBef>
              <a:buFontTx/>
              <a:buNone/>
            </a:pPr>
            <a:r>
              <a:rPr lang="zh-CN" altLang="en-US" dirty="0">
                <a:latin typeface="Times New Roman" panose="02020603050405020304" pitchFamily="18" charset="0"/>
                <a:ea typeface="宋体" panose="02010600030101010101" pitchFamily="2" charset="-122"/>
              </a:rPr>
              <a:t>太阳常数的变化</a:t>
            </a:r>
            <a:endParaRPr lang="zh-CN" altLang="en-US" dirty="0">
              <a:latin typeface="Times New Roman" panose="02020603050405020304" pitchFamily="18" charset="0"/>
              <a:ea typeface="宋体" panose="02010600030101010101" pitchFamily="2" charset="-122"/>
            </a:endParaRPr>
          </a:p>
        </p:txBody>
      </p:sp>
      <p:sp>
        <p:nvSpPr>
          <p:cNvPr id="2" name="文本框 1"/>
          <p:cNvSpPr txBox="1">
            <a:spLocks noRot="1" noChangeAspect="1" noMove="1" noResize="1" noEditPoints="1" noAdjustHandles="1" noChangeArrowheads="1" noChangeShapeType="1" noTextEdit="1"/>
          </p:cNvSpPr>
          <p:nvPr/>
        </p:nvSpPr>
        <p:spPr>
          <a:xfrm>
            <a:off x="179512" y="1402907"/>
            <a:ext cx="2385140" cy="369909"/>
          </a:xfrm>
          <a:prstGeom prst="rect">
            <a:avLst/>
          </a:prstGeom>
          <a:blipFill>
            <a:blip r:embed="rId2"/>
            <a:stretch>
              <a:fillRect b="-16393"/>
            </a:stretch>
          </a:blipFill>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Rectangle 2"/>
          <p:cNvSpPr>
            <a:spLocks noGrp="1"/>
          </p:cNvSpPr>
          <p:nvPr>
            <p:ph type="title"/>
          </p:nvPr>
        </p:nvSpPr>
        <p:spPr>
          <a:xfrm>
            <a:off x="1101725" y="1196975"/>
            <a:ext cx="7667625" cy="762000"/>
          </a:xfrm>
          <a:ln/>
        </p:spPr>
        <p:txBody>
          <a:bodyPr vert="horz" wrap="square" lIns="91440" tIns="45720" rIns="91440" bIns="45720" anchor="b" anchorCtr="0"/>
          <a:p>
            <a:pPr algn="ctr"/>
            <a:r>
              <a:rPr lang="zh-CN" altLang="en-US" dirty="0">
                <a:solidFill>
                  <a:srgbClr val="0000FF"/>
                </a:solidFill>
                <a:latin typeface="黑体" panose="02010609060101010101" pitchFamily="49" charset="-122"/>
                <a:ea typeface="黑体" panose="02010609060101010101" pitchFamily="49" charset="-122"/>
              </a:rPr>
              <a:t>一、地球和太阳之间的关系</a:t>
            </a:r>
            <a:endParaRPr lang="zh-CN" altLang="en-US" dirty="0">
              <a:solidFill>
                <a:srgbClr val="0000FF"/>
              </a:solidFill>
              <a:latin typeface="黑体" panose="02010609060101010101" pitchFamily="49" charset="-122"/>
              <a:ea typeface="黑体" panose="02010609060101010101" pitchFamily="49" charset="-122"/>
            </a:endParaRPr>
          </a:p>
        </p:txBody>
      </p:sp>
      <p:pic>
        <p:nvPicPr>
          <p:cNvPr id="22531" name="Picture 4" descr="大氣科學概論2"/>
          <p:cNvPicPr>
            <a:picLocks noChangeAspect="1"/>
          </p:cNvPicPr>
          <p:nvPr/>
        </p:nvPicPr>
        <p:blipFill>
          <a:blip r:embed="rId1"/>
          <a:srcRect l="153" t="-182" r="-153" b="468"/>
          <a:stretch>
            <a:fillRect/>
          </a:stretch>
        </p:blipFill>
        <p:spPr>
          <a:xfrm>
            <a:off x="611188" y="2065338"/>
            <a:ext cx="8137525" cy="4811712"/>
          </a:xfrm>
          <a:prstGeom prst="rect">
            <a:avLst/>
          </a:prstGeom>
          <a:noFill/>
          <a:ln w="9525">
            <a:noFill/>
          </a:ln>
        </p:spPr>
      </p:pic>
      <p:sp>
        <p:nvSpPr>
          <p:cNvPr id="4" name="Rectangle 7"/>
          <p:cNvSpPr txBox="1">
            <a:spLocks noChangeArrowheads="1"/>
          </p:cNvSpPr>
          <p:nvPr/>
        </p:nvSpPr>
        <p:spPr bwMode="auto">
          <a:xfrm>
            <a:off x="1403350" y="44450"/>
            <a:ext cx="7740650" cy="762000"/>
          </a:xfrm>
          <a:prstGeom prst="rect">
            <a:avLst/>
          </a:prstGeom>
          <a:noFill/>
          <a:ln>
            <a:noFill/>
          </a:ln>
        </p:spPr>
        <p:txBody>
          <a:bodyPr anchor="b"/>
          <a:lstStyle>
            <a:lvl1pPr algn="l" rtl="0" eaLnBrk="0" fontAlgn="base" hangingPunct="0">
              <a:spcBef>
                <a:spcPct val="0"/>
              </a:spcBef>
              <a:spcAft>
                <a:spcPct val="0"/>
              </a:spcAft>
              <a:defRPr sz="3200" b="1">
                <a:solidFill>
                  <a:srgbClr val="F3C43F"/>
                </a:solidFill>
                <a:latin typeface="+mj-lt"/>
                <a:ea typeface="+mj-ea"/>
                <a:cs typeface="+mj-cs"/>
              </a:defRPr>
            </a:lvl1pPr>
            <a:lvl2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2pPr>
            <a:lvl3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3pPr>
            <a:lvl4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4pPr>
            <a:lvl5pPr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5pPr>
            <a:lvl6pPr marL="4572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6pPr>
            <a:lvl7pPr marL="9144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7pPr>
            <a:lvl8pPr marL="13716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8pPr>
            <a:lvl9pPr marL="1828800" algn="l" rtl="0" eaLnBrk="0" fontAlgn="base" hangingPunct="0">
              <a:spcBef>
                <a:spcPct val="0"/>
              </a:spcBef>
              <a:spcAft>
                <a:spcPct val="0"/>
              </a:spcAft>
              <a:defRPr sz="3200" b="1">
                <a:solidFill>
                  <a:srgbClr val="F3C43F"/>
                </a:solidFill>
                <a:latin typeface="楷体_GB2312" pitchFamily="49" charset="-122"/>
                <a:ea typeface="楷体_GB2312" pitchFamily="49" charset="-122"/>
              </a:defRPr>
            </a:lvl9pPr>
          </a:lstStyle>
          <a:p>
            <a:pPr marL="0" marR="0" lvl="0" indent="0" algn="ctr"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rPr>
              <a:t>5.4.2  </a:t>
            </a:r>
            <a:r>
              <a:rPr kumimoji="0" lang="zh-CN" altLang="en-US" sz="3200" b="1"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rPr>
              <a:t>大气上界的太阳辐射能</a:t>
            </a:r>
            <a:endParaRPr kumimoji="0" lang="zh-CN" altLang="en-US" sz="3200" b="1" i="0" u="none" strike="noStrike" kern="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3554" name="Picture 3"/>
          <p:cNvPicPr>
            <a:picLocks noChangeAspect="1"/>
          </p:cNvPicPr>
          <p:nvPr/>
        </p:nvPicPr>
        <p:blipFill>
          <a:blip r:embed="rId1"/>
          <a:stretch>
            <a:fillRect/>
          </a:stretch>
        </p:blipFill>
        <p:spPr>
          <a:xfrm>
            <a:off x="1763713" y="1484313"/>
            <a:ext cx="5329237" cy="2957512"/>
          </a:xfrm>
          <a:prstGeom prst="rect">
            <a:avLst/>
          </a:prstGeom>
          <a:noFill/>
          <a:ln w="9525">
            <a:noFill/>
          </a:ln>
        </p:spPr>
      </p:pic>
      <p:sp>
        <p:nvSpPr>
          <p:cNvPr id="23555" name="Rectangle 4"/>
          <p:cNvSpPr/>
          <p:nvPr/>
        </p:nvSpPr>
        <p:spPr>
          <a:xfrm>
            <a:off x="2124075" y="4868863"/>
            <a:ext cx="5545138" cy="1446212"/>
          </a:xfrm>
          <a:prstGeom prst="rect">
            <a:avLst/>
          </a:prstGeom>
          <a:noFill/>
          <a:ln w="9525">
            <a:noFill/>
          </a:ln>
        </p:spPr>
        <p:txBody>
          <a:bodyPr>
            <a:spAutoFit/>
          </a:bodyPr>
          <a:p>
            <a:pPr eaLnBrk="1" hangingPunct="1">
              <a:buFont typeface="Wingdings" panose="05000000000000000000" pitchFamily="2" charset="2"/>
              <a:buChar char="l"/>
            </a:pPr>
            <a:r>
              <a:rPr lang="zh-CN" altLang="en-US" sz="2200" b="1" dirty="0">
                <a:solidFill>
                  <a:srgbClr val="080808"/>
                </a:solidFill>
                <a:latin typeface="华文细黑" panose="02010600040101010101" pitchFamily="2" charset="-122"/>
                <a:ea typeface="华文细黑" panose="02010600040101010101" pitchFamily="2" charset="-122"/>
              </a:rPr>
              <a:t>表征地球绕日轨道的形状；</a:t>
            </a:r>
            <a:endParaRPr lang="en-US" altLang="zh-CN" sz="2200" b="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200" b="1" dirty="0">
                <a:solidFill>
                  <a:srgbClr val="080808"/>
                </a:solidFill>
                <a:latin typeface="华文细黑" panose="02010600040101010101" pitchFamily="2" charset="-122"/>
                <a:ea typeface="华文细黑" panose="02010600040101010101" pitchFamily="2" charset="-122"/>
              </a:rPr>
              <a:t>产生于月亮和其他行星的引力；</a:t>
            </a:r>
            <a:endParaRPr lang="en-US" altLang="zh-CN" sz="2200" b="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200" b="1" dirty="0">
                <a:solidFill>
                  <a:srgbClr val="080808"/>
                </a:solidFill>
                <a:latin typeface="华文细黑" panose="02010600040101010101" pitchFamily="2" charset="-122"/>
                <a:ea typeface="华文细黑" panose="02010600040101010101" pitchFamily="2" charset="-122"/>
              </a:rPr>
              <a:t>近似圆形</a:t>
            </a:r>
            <a:r>
              <a:rPr lang="en-US" altLang="zh-CN" sz="2200" b="1" dirty="0">
                <a:solidFill>
                  <a:srgbClr val="080808"/>
                </a:solidFill>
                <a:latin typeface="华文细黑" panose="02010600040101010101" pitchFamily="2" charset="-122"/>
                <a:ea typeface="华文细黑" panose="02010600040101010101" pitchFamily="2" charset="-122"/>
              </a:rPr>
              <a:t>-</a:t>
            </a:r>
            <a:r>
              <a:rPr lang="zh-CN" altLang="en-US" sz="2200" b="1" dirty="0">
                <a:solidFill>
                  <a:srgbClr val="080808"/>
                </a:solidFill>
                <a:latin typeface="华文细黑" panose="02010600040101010101" pitchFamily="2" charset="-122"/>
                <a:ea typeface="华文细黑" panose="02010600040101010101" pitchFamily="2" charset="-122"/>
              </a:rPr>
              <a:t>略微拉长</a:t>
            </a:r>
            <a:r>
              <a:rPr lang="en-US" altLang="zh-CN" sz="2200" b="1" dirty="0">
                <a:solidFill>
                  <a:srgbClr val="080808"/>
                </a:solidFill>
                <a:latin typeface="华文细黑" panose="02010600040101010101" pitchFamily="2" charset="-122"/>
                <a:ea typeface="华文细黑" panose="02010600040101010101" pitchFamily="2" charset="-122"/>
              </a:rPr>
              <a:t>-</a:t>
            </a:r>
            <a:r>
              <a:rPr lang="zh-CN" altLang="en-US" sz="2200" b="1" dirty="0">
                <a:solidFill>
                  <a:srgbClr val="080808"/>
                </a:solidFill>
                <a:latin typeface="华文细黑" panose="02010600040101010101" pitchFamily="2" charset="-122"/>
                <a:ea typeface="华文细黑" panose="02010600040101010101" pitchFamily="2" charset="-122"/>
              </a:rPr>
              <a:t>近似圆形；</a:t>
            </a:r>
            <a:endParaRPr lang="en-US" altLang="zh-CN" sz="2200" b="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200" b="1" dirty="0">
                <a:solidFill>
                  <a:srgbClr val="080808"/>
                </a:solidFill>
                <a:latin typeface="华文细黑" panose="02010600040101010101" pitchFamily="2" charset="-122"/>
                <a:ea typeface="华文细黑" panose="02010600040101010101" pitchFamily="2" charset="-122"/>
              </a:rPr>
              <a:t>完成上述一个周期需要大约</a:t>
            </a:r>
            <a:r>
              <a:rPr lang="en-US" altLang="zh-CN" sz="2200" b="1" dirty="0">
                <a:solidFill>
                  <a:srgbClr val="080808"/>
                </a:solidFill>
                <a:latin typeface="华文细黑" panose="02010600040101010101" pitchFamily="2" charset="-122"/>
                <a:ea typeface="华文细黑" panose="02010600040101010101" pitchFamily="2" charset="-122"/>
              </a:rPr>
              <a:t>10</a:t>
            </a:r>
            <a:r>
              <a:rPr lang="zh-CN" altLang="en-US" sz="2200" b="1" dirty="0">
                <a:solidFill>
                  <a:srgbClr val="080808"/>
                </a:solidFill>
                <a:latin typeface="华文细黑" panose="02010600040101010101" pitchFamily="2" charset="-122"/>
                <a:ea typeface="华文细黑" panose="02010600040101010101" pitchFamily="2" charset="-122"/>
              </a:rPr>
              <a:t>万年。</a:t>
            </a:r>
            <a:endParaRPr lang="en-US" altLang="zh-CN" sz="2200" b="1" dirty="0">
              <a:solidFill>
                <a:srgbClr val="080808"/>
              </a:solidFill>
              <a:latin typeface="华文细黑" panose="02010600040101010101" pitchFamily="2" charset="-122"/>
              <a:ea typeface="华文细黑" panose="02010600040101010101" pitchFamily="2" charset="-122"/>
            </a:endParaRPr>
          </a:p>
        </p:txBody>
      </p:sp>
      <p:sp>
        <p:nvSpPr>
          <p:cNvPr id="6" name="Rectangle 2"/>
          <p:cNvSpPr txBox="1">
            <a:spLocks noRot="1" noChangeArrowheads="1"/>
          </p:cNvSpPr>
          <p:nvPr/>
        </p:nvSpPr>
        <p:spPr bwMode="auto">
          <a:xfrm>
            <a:off x="1403350" y="-26987"/>
            <a:ext cx="7561263" cy="1143000"/>
          </a:xfrm>
          <a:prstGeom prst="rect">
            <a:avLst/>
          </a:prstGeom>
          <a:noFill/>
          <a:ln w="9525">
            <a:noFill/>
            <a:miter lim="800000"/>
          </a:ln>
        </p:spPr>
        <p:txBody>
          <a:bodyPr anchor="ctr"/>
          <a:lstStyle/>
          <a:p>
            <a:pPr marR="0" algn="ctr" defTabSz="914400" eaLnBrk="1" hangingPunct="1">
              <a:buClrTx/>
              <a:buSzTx/>
              <a:buFontTx/>
              <a:buNone/>
              <a:defRPr/>
            </a:pPr>
            <a:r>
              <a:rPr kumimoji="0" lang="zh-CN" altLang="en-US" sz="3200" b="1" kern="0" cap="none" spc="0" normalizeH="0" baseline="0" noProof="0" dirty="0">
                <a:solidFill>
                  <a:srgbClr val="FFFF00"/>
                </a:solidFill>
                <a:latin typeface="黑体" panose="02010609060101010101" pitchFamily="49" charset="-122"/>
                <a:ea typeface="黑体" panose="02010609060101010101" pitchFamily="49" charset="-122"/>
                <a:cs typeface="+mj-cs"/>
              </a:rPr>
              <a:t>地球轨道偏心率</a:t>
            </a:r>
            <a:endParaRPr kumimoji="0" lang="en-US" altLang="zh-CN" sz="3200" b="1" kern="0" cap="none" spc="0" normalizeH="0" baseline="0" noProof="0" dirty="0">
              <a:solidFill>
                <a:srgbClr val="FFFF00"/>
              </a:solidFill>
              <a:latin typeface="黑体" panose="02010609060101010101" pitchFamily="49" charset="-122"/>
              <a:ea typeface="黑体" panose="02010609060101010101" pitchFamily="49" charset="-122"/>
              <a:cs typeface="+mj-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Rectangle 2"/>
          <p:cNvSpPr>
            <a:spLocks noGrp="1" noRot="1"/>
          </p:cNvSpPr>
          <p:nvPr>
            <p:ph type="title"/>
          </p:nvPr>
        </p:nvSpPr>
        <p:spPr>
          <a:xfrm>
            <a:off x="1000125" y="44450"/>
            <a:ext cx="8143875" cy="955675"/>
          </a:xfrm>
          <a:ln/>
        </p:spPr>
        <p:txBody>
          <a:bodyPr vert="horz" wrap="square" lIns="91440" tIns="45720" rIns="91440" bIns="45720" anchor="ctr" anchorCtr="0"/>
          <a:p>
            <a:pPr algn="ctr" eaLnBrk="1" hangingPunct="1"/>
            <a:r>
              <a:rPr lang="zh-CN" altLang="en-US" dirty="0">
                <a:solidFill>
                  <a:srgbClr val="FFFF00"/>
                </a:solidFill>
                <a:latin typeface="黑体" panose="02010609060101010101" pitchFamily="49" charset="-122"/>
                <a:ea typeface="黑体" panose="02010609060101010101" pitchFamily="49" charset="-122"/>
              </a:rPr>
              <a:t>黄赤交角</a:t>
            </a:r>
            <a:endParaRPr lang="en-US" altLang="zh-CN" dirty="0">
              <a:solidFill>
                <a:srgbClr val="FFFF00"/>
              </a:solidFill>
              <a:latin typeface="黑体" panose="02010609060101010101" pitchFamily="49" charset="-122"/>
              <a:ea typeface="黑体" panose="02010609060101010101" pitchFamily="49" charset="-122"/>
            </a:endParaRPr>
          </a:p>
        </p:txBody>
      </p:sp>
      <p:pic>
        <p:nvPicPr>
          <p:cNvPr id="24579" name="Picture 3"/>
          <p:cNvPicPr>
            <a:picLocks noChangeAspect="1"/>
          </p:cNvPicPr>
          <p:nvPr/>
        </p:nvPicPr>
        <p:blipFill>
          <a:blip r:embed="rId1"/>
          <a:stretch>
            <a:fillRect/>
          </a:stretch>
        </p:blipFill>
        <p:spPr>
          <a:xfrm>
            <a:off x="4964113" y="2195513"/>
            <a:ext cx="4032250" cy="1958975"/>
          </a:xfrm>
          <a:prstGeom prst="rect">
            <a:avLst/>
          </a:prstGeom>
          <a:noFill/>
          <a:ln w="9525">
            <a:noFill/>
          </a:ln>
        </p:spPr>
      </p:pic>
      <p:pic>
        <p:nvPicPr>
          <p:cNvPr id="24580" name="Picture 4"/>
          <p:cNvPicPr>
            <a:picLocks noChangeAspect="1"/>
          </p:cNvPicPr>
          <p:nvPr/>
        </p:nvPicPr>
        <p:blipFill>
          <a:blip r:embed="rId2"/>
          <a:stretch>
            <a:fillRect/>
          </a:stretch>
        </p:blipFill>
        <p:spPr>
          <a:xfrm>
            <a:off x="428625" y="1836738"/>
            <a:ext cx="4249738" cy="2663825"/>
          </a:xfrm>
          <a:prstGeom prst="rect">
            <a:avLst/>
          </a:prstGeom>
          <a:noFill/>
          <a:ln w="9525">
            <a:noFill/>
          </a:ln>
        </p:spPr>
      </p:pic>
      <p:sp>
        <p:nvSpPr>
          <p:cNvPr id="24581" name="Text Box 5"/>
          <p:cNvSpPr txBox="1"/>
          <p:nvPr/>
        </p:nvSpPr>
        <p:spPr>
          <a:xfrm>
            <a:off x="1835150" y="4676775"/>
            <a:ext cx="5724525" cy="1323975"/>
          </a:xfrm>
          <a:prstGeom prst="rect">
            <a:avLst/>
          </a:prstGeom>
          <a:noFill/>
          <a:ln w="9525">
            <a:noFill/>
          </a:ln>
        </p:spPr>
        <p:txBody>
          <a:bodyPr>
            <a:spAutoFit/>
          </a:bodyPr>
          <a:p>
            <a:pPr eaLnBrk="1" hangingPunct="1">
              <a:buFont typeface="Wingdings" panose="05000000000000000000" pitchFamily="2" charset="2"/>
              <a:buChar char="l"/>
            </a:pPr>
            <a:r>
              <a:rPr lang="zh-CN" altLang="en-US" sz="2000" b="1" dirty="0">
                <a:solidFill>
                  <a:srgbClr val="080808"/>
                </a:solidFill>
                <a:latin typeface="华文细黑" panose="02010600040101010101" pitchFamily="2" charset="-122"/>
                <a:ea typeface="华文细黑" panose="02010600040101010101" pitchFamily="2" charset="-122"/>
              </a:rPr>
              <a:t>黄道面和赤道面之</a:t>
            </a:r>
            <a:r>
              <a:rPr lang="zh-CN" altLang="en-US" sz="2000" dirty="0">
                <a:solidFill>
                  <a:srgbClr val="080808"/>
                </a:solidFill>
                <a:latin typeface="华文细黑" panose="02010600040101010101" pitchFamily="2" charset="-122"/>
                <a:ea typeface="华文细黑" panose="02010600040101010101" pitchFamily="2" charset="-122"/>
              </a:rPr>
              <a:t>间</a:t>
            </a:r>
            <a:r>
              <a:rPr lang="zh-CN" altLang="en-US" sz="2000" b="1" dirty="0">
                <a:solidFill>
                  <a:srgbClr val="080808"/>
                </a:solidFill>
                <a:latin typeface="华文细黑" panose="02010600040101010101" pitchFamily="2" charset="-122"/>
                <a:ea typeface="华文细黑" panose="02010600040101010101" pitchFamily="2" charset="-122"/>
              </a:rPr>
              <a:t>的</a:t>
            </a:r>
            <a:r>
              <a:rPr lang="zh-CN" altLang="en-US" sz="2000" dirty="0">
                <a:solidFill>
                  <a:srgbClr val="080808"/>
                </a:solidFill>
                <a:latin typeface="华文细黑" panose="02010600040101010101" pitchFamily="2" charset="-122"/>
                <a:ea typeface="华文细黑" panose="02010600040101010101" pitchFamily="2" charset="-122"/>
              </a:rPr>
              <a:t>夹</a:t>
            </a:r>
            <a:r>
              <a:rPr lang="zh-CN" altLang="en-US" sz="2000" b="1" dirty="0">
                <a:solidFill>
                  <a:srgbClr val="080808"/>
                </a:solidFill>
                <a:latin typeface="华文细黑" panose="02010600040101010101" pitchFamily="2" charset="-122"/>
                <a:ea typeface="华文细黑" panose="02010600040101010101" pitchFamily="2" charset="-122"/>
              </a:rPr>
              <a:t>角；</a:t>
            </a:r>
            <a:endParaRPr lang="en-US" altLang="zh-CN" sz="2000" b="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000" b="1" dirty="0">
                <a:solidFill>
                  <a:srgbClr val="080808"/>
                </a:solidFill>
                <a:latin typeface="华文细黑" panose="02010600040101010101" pitchFamily="2" charset="-122"/>
                <a:ea typeface="华文细黑" panose="02010600040101010101" pitchFamily="2" charset="-122"/>
              </a:rPr>
              <a:t>目前</a:t>
            </a:r>
            <a:r>
              <a:rPr lang="zh-CN" altLang="en-US" sz="2000" dirty="0">
                <a:solidFill>
                  <a:srgbClr val="080808"/>
                </a:solidFill>
                <a:latin typeface="华文细黑" panose="02010600040101010101" pitchFamily="2" charset="-122"/>
                <a:ea typeface="华文细黑" panose="02010600040101010101" pitchFamily="2" charset="-122"/>
              </a:rPr>
              <a:t>为</a:t>
            </a:r>
            <a:r>
              <a:rPr lang="ja-JP" altLang="en-US" sz="2000" b="1" dirty="0">
                <a:solidFill>
                  <a:srgbClr val="080808"/>
                </a:solidFill>
                <a:latin typeface="华文细黑" panose="02010600040101010101" pitchFamily="2" charset="-122"/>
                <a:ea typeface="华文细黑" panose="02010600040101010101" pitchFamily="2" charset="-122"/>
              </a:rPr>
              <a:t> </a:t>
            </a:r>
            <a:r>
              <a:rPr lang="en-US" altLang="ja-JP" sz="2000" dirty="0">
                <a:solidFill>
                  <a:srgbClr val="080808"/>
                </a:solidFill>
                <a:latin typeface="华文细黑" panose="02010600040101010101" pitchFamily="2" charset="-122"/>
                <a:ea typeface="华文细黑" panose="02010600040101010101" pitchFamily="2" charset="-122"/>
              </a:rPr>
              <a:t>23.5</a:t>
            </a:r>
            <a:r>
              <a:rPr lang="en-US" altLang="ja-JP" sz="2000" b="1" baseline="30000" dirty="0">
                <a:solidFill>
                  <a:srgbClr val="080808"/>
                </a:solidFill>
                <a:latin typeface="华文细黑" panose="02010600040101010101" pitchFamily="2" charset="-122"/>
                <a:ea typeface="华文细黑" panose="02010600040101010101" pitchFamily="2" charset="-122"/>
              </a:rPr>
              <a:t>o</a:t>
            </a:r>
            <a:r>
              <a:rPr lang="zh-CN" altLang="en-US" sz="2000" b="1" i="1" dirty="0">
                <a:solidFill>
                  <a:srgbClr val="080808"/>
                </a:solidFill>
                <a:latin typeface="华文细黑" panose="02010600040101010101" pitchFamily="2" charset="-122"/>
                <a:ea typeface="华文细黑" panose="02010600040101010101" pitchFamily="2" charset="-122"/>
              </a:rPr>
              <a:t>；</a:t>
            </a:r>
            <a:endParaRPr lang="en-US" altLang="zh-CN" sz="2000" b="1" i="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000" b="1" dirty="0">
                <a:solidFill>
                  <a:srgbClr val="080808"/>
                </a:solidFill>
                <a:latin typeface="华文细黑" panose="02010600040101010101" pitchFamily="2" charset="-122"/>
                <a:ea typeface="华文细黑" panose="02010600040101010101" pitchFamily="2" charset="-122"/>
              </a:rPr>
              <a:t>不是常数，</a:t>
            </a:r>
            <a:r>
              <a:rPr lang="zh-CN" altLang="en-US" sz="2000" dirty="0">
                <a:solidFill>
                  <a:srgbClr val="080808"/>
                </a:solidFill>
                <a:latin typeface="华文细黑" panose="02010600040101010101" pitchFamily="2" charset="-122"/>
                <a:ea typeface="华文细黑" panose="02010600040101010101" pitchFamily="2" charset="-122"/>
              </a:rPr>
              <a:t>变</a:t>
            </a:r>
            <a:r>
              <a:rPr lang="zh-CN" altLang="en-US" sz="2000" b="1" dirty="0">
                <a:solidFill>
                  <a:srgbClr val="080808"/>
                </a:solidFill>
                <a:latin typeface="华文细黑" panose="02010600040101010101" pitchFamily="2" charset="-122"/>
                <a:ea typeface="华文细黑" panose="02010600040101010101" pitchFamily="2" charset="-122"/>
              </a:rPr>
              <a:t>化中；</a:t>
            </a:r>
            <a:endParaRPr lang="en-US" altLang="zh-CN" sz="2000" b="1" dirty="0">
              <a:solidFill>
                <a:srgbClr val="080808"/>
              </a:solidFill>
              <a:latin typeface="华文细黑" panose="02010600040101010101" pitchFamily="2" charset="-122"/>
              <a:ea typeface="华文细黑" panose="02010600040101010101" pitchFamily="2" charset="-122"/>
            </a:endParaRPr>
          </a:p>
          <a:p>
            <a:pPr eaLnBrk="1" hangingPunct="1">
              <a:buFont typeface="Wingdings" panose="05000000000000000000" pitchFamily="2" charset="2"/>
              <a:buChar char="l"/>
            </a:pPr>
            <a:r>
              <a:rPr lang="zh-CN" altLang="en-US" sz="2000" b="1" dirty="0">
                <a:solidFill>
                  <a:srgbClr val="080808"/>
                </a:solidFill>
                <a:latin typeface="华文细黑" panose="02010600040101010101" pitchFamily="2" charset="-122"/>
                <a:ea typeface="华文细黑" panose="02010600040101010101" pitchFamily="2" charset="-122"/>
              </a:rPr>
              <a:t>周期</a:t>
            </a:r>
            <a:r>
              <a:rPr lang="zh-CN" altLang="en-US" sz="2000" dirty="0">
                <a:solidFill>
                  <a:srgbClr val="080808"/>
                </a:solidFill>
                <a:latin typeface="华文细黑" panose="02010600040101010101" pitchFamily="2" charset="-122"/>
                <a:ea typeface="华文细黑" panose="02010600040101010101" pitchFamily="2" charset="-122"/>
              </a:rPr>
              <a:t>为</a:t>
            </a:r>
            <a:r>
              <a:rPr lang="en-US" altLang="zh-CN" sz="2000" b="1" dirty="0">
                <a:solidFill>
                  <a:srgbClr val="080808"/>
                </a:solidFill>
                <a:latin typeface="华文细黑" panose="02010600040101010101" pitchFamily="2" charset="-122"/>
                <a:ea typeface="华文细黑" panose="02010600040101010101" pitchFamily="2" charset="-122"/>
              </a:rPr>
              <a:t>4.1</a:t>
            </a:r>
            <a:r>
              <a:rPr lang="zh-CN" altLang="en-US" sz="2000" b="1" dirty="0">
                <a:solidFill>
                  <a:srgbClr val="080808"/>
                </a:solidFill>
                <a:latin typeface="华文细黑" panose="02010600040101010101" pitchFamily="2" charset="-122"/>
                <a:ea typeface="华文细黑" panose="02010600040101010101" pitchFamily="2" charset="-122"/>
              </a:rPr>
              <a:t>万年。</a:t>
            </a:r>
            <a:endParaRPr lang="en-US" altLang="zh-CN" sz="2000" b="1" dirty="0">
              <a:solidFill>
                <a:srgbClr val="080808"/>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Rectangle 2"/>
          <p:cNvSpPr>
            <a:spLocks noGrp="1" noRot="1"/>
          </p:cNvSpPr>
          <p:nvPr>
            <p:ph type="title"/>
          </p:nvPr>
        </p:nvSpPr>
        <p:spPr>
          <a:xfrm>
            <a:off x="1403350" y="-26987"/>
            <a:ext cx="7561263" cy="1143000"/>
          </a:xfrm>
          <a:ln/>
        </p:spPr>
        <p:txBody>
          <a:bodyPr vert="horz" wrap="square" lIns="91440" tIns="45720" rIns="91440" bIns="45720" anchor="ctr" anchorCtr="0"/>
          <a:p>
            <a:pPr algn="ctr" eaLnBrk="1" hangingPunct="1"/>
            <a:r>
              <a:rPr lang="en-US" altLang="zh-CN" dirty="0">
                <a:solidFill>
                  <a:srgbClr val="FFFF00"/>
                </a:solidFill>
                <a:latin typeface="黑体" panose="02010609060101010101" pitchFamily="49" charset="-122"/>
                <a:ea typeface="黑体" panose="02010609060101010101" pitchFamily="49" charset="-122"/>
              </a:rPr>
              <a:t>1</a:t>
            </a:r>
            <a:r>
              <a:rPr lang="zh-CN" altLang="en-US" dirty="0">
                <a:solidFill>
                  <a:srgbClr val="FFFF00"/>
                </a:solidFill>
                <a:latin typeface="黑体" panose="02010609060101010101" pitchFamily="49" charset="-122"/>
                <a:ea typeface="黑体" panose="02010609060101010101" pitchFamily="49" charset="-122"/>
              </a:rPr>
              <a:t>、地球轨道偏心率订正</a:t>
            </a:r>
            <a:endParaRPr lang="en-US" altLang="zh-CN" dirty="0">
              <a:solidFill>
                <a:srgbClr val="FFFF00"/>
              </a:solidFill>
              <a:latin typeface="黑体" panose="02010609060101010101" pitchFamily="49" charset="-122"/>
              <a:ea typeface="黑体" panose="02010609060101010101" pitchFamily="49" charset="-122"/>
            </a:endParaRPr>
          </a:p>
        </p:txBody>
      </p:sp>
      <p:graphicFrame>
        <p:nvGraphicFramePr>
          <p:cNvPr id="25603" name="Object 3"/>
          <p:cNvGraphicFramePr>
            <a:graphicFrameLocks noChangeAspect="1"/>
          </p:cNvGraphicFramePr>
          <p:nvPr>
            <p:ph idx="1"/>
          </p:nvPr>
        </p:nvGraphicFramePr>
        <p:xfrm>
          <a:off x="2627313" y="3490913"/>
          <a:ext cx="3168650" cy="2189162"/>
        </p:xfrm>
        <a:graphic>
          <a:graphicData uri="http://schemas.openxmlformats.org/presentationml/2006/ole">
            <mc:AlternateContent xmlns:mc="http://schemas.openxmlformats.org/markup-compatibility/2006">
              <mc:Choice xmlns:v="urn:schemas-microsoft-com:vml" Requires="v">
                <p:oleObj spid="_x0000_s3076" name="" r:id="rId1" imgW="698500" imgH="482600" progId="Equation.3">
                  <p:embed/>
                </p:oleObj>
              </mc:Choice>
              <mc:Fallback>
                <p:oleObj name="" r:id="rId1" imgW="698500" imgH="482600" progId="Equation.3">
                  <p:embed/>
                  <p:pic>
                    <p:nvPicPr>
                      <p:cNvPr id="0" name="图片 3075"/>
                      <p:cNvPicPr/>
                      <p:nvPr/>
                    </p:nvPicPr>
                    <p:blipFill>
                      <a:blip r:embed="rId2"/>
                      <a:srcRect/>
                      <a:stretch>
                        <a:fillRect/>
                      </a:stretch>
                    </p:blipFill>
                    <p:spPr>
                      <a:xfrm>
                        <a:off x="2627313" y="3490913"/>
                        <a:ext cx="3168650" cy="2189162"/>
                      </a:xfrm>
                      <a:prstGeom prst="rect">
                        <a:avLst/>
                      </a:prstGeom>
                      <a:solidFill>
                        <a:srgbClr val="FF33CC">
                          <a:alpha val="100000"/>
                        </a:srgbClr>
                      </a:solidFill>
                      <a:ln w="38100">
                        <a:miter/>
                      </a:ln>
                    </p:spPr>
                  </p:pic>
                </p:oleObj>
              </mc:Fallback>
            </mc:AlternateContent>
          </a:graphicData>
        </a:graphic>
      </p:graphicFrame>
      <p:sp>
        <p:nvSpPr>
          <p:cNvPr id="36868" name="Rectangle 1"/>
          <p:cNvSpPr>
            <a:spLocks noRot="1" noChangeAspect="1" noMove="1" noResize="1" noEditPoints="1" noAdjustHandles="1" noChangeArrowheads="1" noChangeShapeType="1" noTextEdit="1"/>
          </p:cNvSpPr>
          <p:nvPr/>
        </p:nvSpPr>
        <p:spPr bwMode="auto">
          <a:xfrm>
            <a:off x="755650" y="1412874"/>
            <a:ext cx="8208963" cy="2021195"/>
          </a:xfrm>
          <a:prstGeom prst="rect">
            <a:avLst/>
          </a:prstGeom>
          <a:blipFill>
            <a:blip r:embed="rId3"/>
            <a:stretch>
              <a:fillRect l="-371" t="-2719" r="-520" b="-6042"/>
            </a:stretch>
          </a:blip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1800" b="0" i="0" u="none" strike="noStrike" kern="1200" cap="none" spc="0" normalizeH="0" baseline="0" noProof="0">
                <a:ln>
                  <a:noFill/>
                </a:ln>
                <a:noFill/>
                <a:effectLst/>
                <a:uLnTx/>
                <a:uFillTx/>
                <a:latin typeface="Arial" panose="020B0604020202020204" pitchFamily="34" charset="0"/>
                <a:ea typeface="+mn-ea"/>
                <a:cs typeface="+mn-cs"/>
              </a:rPr>
              <a:t> </a:t>
            </a:r>
            <a:endParaRPr kumimoji="0" lang="zh-CN" altLang="en-US" sz="1800" b="0" i="0" u="none" strike="noStrike" kern="1200" cap="none" spc="0" normalizeH="0" baseline="0" noProof="0">
              <a:ln>
                <a:noFill/>
              </a:ln>
              <a:noFill/>
              <a:effectLst/>
              <a:uLnTx/>
              <a:uFillTx/>
              <a:latin typeface="Arial" panose="020B0604020202020204" pitchFamily="34" charset="0"/>
              <a:ea typeface="+mn-ea"/>
              <a:cs typeface="+mn-cs"/>
            </a:endParaRPr>
          </a:p>
        </p:txBody>
      </p:sp>
      <p:sp>
        <p:nvSpPr>
          <p:cNvPr id="25605" name="TextBox 2"/>
          <p:cNvSpPr txBox="1"/>
          <p:nvPr/>
        </p:nvSpPr>
        <p:spPr>
          <a:xfrm>
            <a:off x="1187450" y="4221163"/>
            <a:ext cx="1416050" cy="461962"/>
          </a:xfrm>
          <a:prstGeom prst="rect">
            <a:avLst/>
          </a:prstGeom>
          <a:noFill/>
          <a:ln w="9525">
            <a:noFill/>
          </a:ln>
        </p:spPr>
        <p:txBody>
          <a:bodyPr wrap="none">
            <a:spAutoFit/>
          </a:bodyPr>
          <a:p>
            <a:pPr eaLnBrk="1" hangingPunct="1"/>
            <a:r>
              <a:rPr lang="zh-CN" altLang="en-US" sz="2400" b="1" dirty="0">
                <a:solidFill>
                  <a:srgbClr val="0000FF"/>
                </a:solidFill>
                <a:latin typeface="华文细黑" panose="02010600040101010101" pitchFamily="2" charset="-122"/>
                <a:ea typeface="华文细黑" panose="02010600040101010101" pitchFamily="2" charset="-122"/>
              </a:rPr>
              <a:t>订正为：</a:t>
            </a:r>
            <a:endParaRPr lang="zh-CN" altLang="en-US" sz="2400" b="1" dirty="0">
              <a:solidFill>
                <a:srgbClr val="0000FF"/>
              </a:solidFill>
              <a:latin typeface="华文细黑" panose="02010600040101010101" pitchFamily="2" charset="-122"/>
              <a:ea typeface="华文细黑" panose="02010600040101010101" pitchFamily="2" charset="-122"/>
            </a:endParaRPr>
          </a:p>
        </p:txBody>
      </p:sp>
      <p:graphicFrame>
        <p:nvGraphicFramePr>
          <p:cNvPr id="25606" name="Object 8"/>
          <p:cNvGraphicFramePr>
            <a:graphicFrameLocks noChangeAspect="1"/>
          </p:cNvGraphicFramePr>
          <p:nvPr/>
        </p:nvGraphicFramePr>
        <p:xfrm>
          <a:off x="468313" y="5900738"/>
          <a:ext cx="5616575" cy="768350"/>
        </p:xfrm>
        <a:graphic>
          <a:graphicData uri="http://schemas.openxmlformats.org/presentationml/2006/ole">
            <mc:AlternateContent xmlns:mc="http://schemas.openxmlformats.org/markup-compatibility/2006">
              <mc:Choice xmlns:v="urn:schemas-microsoft-com:vml" Requires="v">
                <p:oleObj spid="_x0000_s3077" name="" r:id="rId4" imgW="2971800" imgH="429895" progId="Equation.3">
                  <p:embed/>
                </p:oleObj>
              </mc:Choice>
              <mc:Fallback>
                <p:oleObj name="" r:id="rId4" imgW="2971800" imgH="429895" progId="Equation.3">
                  <p:embed/>
                  <p:pic>
                    <p:nvPicPr>
                      <p:cNvPr id="0" name="图片 3076"/>
                      <p:cNvPicPr/>
                      <p:nvPr/>
                    </p:nvPicPr>
                    <p:blipFill>
                      <a:blip r:embed="rId5"/>
                      <a:stretch>
                        <a:fillRect/>
                      </a:stretch>
                    </p:blipFill>
                    <p:spPr>
                      <a:xfrm>
                        <a:off x="468313" y="5900738"/>
                        <a:ext cx="5616575" cy="768350"/>
                      </a:xfrm>
                      <a:prstGeom prst="rect">
                        <a:avLst/>
                      </a:prstGeom>
                      <a:solidFill>
                        <a:srgbClr val="92D050"/>
                      </a:solidFill>
                      <a:ln w="38100">
                        <a:noFill/>
                        <a:miter/>
                      </a:ln>
                    </p:spPr>
                  </p:pic>
                </p:oleObj>
              </mc:Fallback>
            </mc:AlternateContent>
          </a:graphicData>
        </a:graphic>
      </p:graphicFrame>
      <p:graphicFrame>
        <p:nvGraphicFramePr>
          <p:cNvPr id="25607" name="Object 9"/>
          <p:cNvGraphicFramePr>
            <a:graphicFrameLocks noChangeAspect="1"/>
          </p:cNvGraphicFramePr>
          <p:nvPr/>
        </p:nvGraphicFramePr>
        <p:xfrm>
          <a:off x="6321425" y="6070600"/>
          <a:ext cx="2643188" cy="454025"/>
        </p:xfrm>
        <a:graphic>
          <a:graphicData uri="http://schemas.openxmlformats.org/presentationml/2006/ole">
            <mc:AlternateContent xmlns:mc="http://schemas.openxmlformats.org/markup-compatibility/2006">
              <mc:Choice xmlns:v="urn:schemas-microsoft-com:vml" Requires="v">
                <p:oleObj spid="_x0000_s3078" name="" r:id="rId6" imgW="1225550" imgH="210185" progId="Equation.3">
                  <p:embed/>
                </p:oleObj>
              </mc:Choice>
              <mc:Fallback>
                <p:oleObj name="" r:id="rId6" imgW="1225550" imgH="210185" progId="Equation.3">
                  <p:embed/>
                  <p:pic>
                    <p:nvPicPr>
                      <p:cNvPr id="0" name="图片 3077"/>
                      <p:cNvPicPr/>
                      <p:nvPr/>
                    </p:nvPicPr>
                    <p:blipFill>
                      <a:blip r:embed="rId7"/>
                      <a:stretch>
                        <a:fillRect/>
                      </a:stretch>
                    </p:blipFill>
                    <p:spPr>
                      <a:xfrm>
                        <a:off x="6321425" y="6070600"/>
                        <a:ext cx="2643188" cy="454025"/>
                      </a:xfrm>
                      <a:prstGeom prst="rect">
                        <a:avLst/>
                      </a:prstGeom>
                      <a:solidFill>
                        <a:srgbClr val="92D050"/>
                      </a:solidFill>
                      <a:ln w="38100">
                        <a:noFill/>
                        <a:miter/>
                      </a:ln>
                    </p:spPr>
                  </p:pic>
                </p:oleObj>
              </mc:Fallback>
            </mc:AlternateContent>
          </a:graphicData>
        </a:graphic>
      </p:graphicFrame>
      <p:sp>
        <p:nvSpPr>
          <p:cNvPr id="25608" name="Text Box 11"/>
          <p:cNvSpPr txBox="1"/>
          <p:nvPr/>
        </p:nvSpPr>
        <p:spPr>
          <a:xfrm>
            <a:off x="6875463" y="6453188"/>
            <a:ext cx="1793875" cy="369887"/>
          </a:xfrm>
          <a:prstGeom prst="rect">
            <a:avLst/>
          </a:prstGeom>
          <a:noFill/>
          <a:ln w="9525">
            <a:noFill/>
          </a:ln>
        </p:spPr>
        <p:txBody>
          <a:bodyPr wrap="none">
            <a:spAutoFit/>
          </a:bodyPr>
          <a:p>
            <a:pPr eaLnBrk="1" hangingPunct="1"/>
            <a:r>
              <a:rPr lang="en-US" altLang="zh-CN" b="1" dirty="0">
                <a:latin typeface="Times New Roman" panose="02020603050405020304" pitchFamily="18" charset="0"/>
                <a:ea typeface="宋体" panose="02010600030101010101" pitchFamily="2" charset="-122"/>
              </a:rPr>
              <a:t>d</a:t>
            </a:r>
            <a:r>
              <a:rPr lang="en-US" altLang="zh-CN" b="1" baseline="-25000" dirty="0">
                <a:latin typeface="Times New Roman" panose="02020603050405020304" pitchFamily="18" charset="0"/>
                <a:ea typeface="宋体" panose="02010600030101010101" pitchFamily="2" charset="-122"/>
              </a:rPr>
              <a:t>n</a:t>
            </a:r>
            <a:r>
              <a:rPr lang="zh-CN" altLang="en-US" b="1" dirty="0">
                <a:latin typeface="Times New Roman" panose="02020603050405020304" pitchFamily="18" charset="0"/>
                <a:ea typeface="宋体" panose="02010600030101010101" pitchFamily="2" charset="-122"/>
              </a:rPr>
              <a:t>表示儒略日。</a:t>
            </a:r>
            <a:endParaRPr lang="en-US" altLang="zh-CN" b="1" dirty="0">
              <a:latin typeface="Times New Roman" panose="02020603050405020304" pitchFamily="18" charset="0"/>
              <a:ea typeface="宋体" panose="02010600030101010101" pitchFamily="2" charset="-122"/>
            </a:endParaRPr>
          </a:p>
        </p:txBody>
      </p:sp>
    </p:spTree>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Rectangle 2"/>
          <p:cNvSpPr/>
          <p:nvPr/>
        </p:nvSpPr>
        <p:spPr>
          <a:xfrm>
            <a:off x="3059113" y="1042988"/>
            <a:ext cx="5040312" cy="5410200"/>
          </a:xfrm>
          <a:prstGeom prst="rect">
            <a:avLst/>
          </a:prstGeom>
          <a:noFill/>
          <a:ln w="9525">
            <a:noFill/>
          </a:ln>
        </p:spPr>
        <p:txBody>
          <a:bodyPr>
            <a:spAutoFit/>
          </a:bodyPr>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Jan.     1-31</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Feb.   32-59</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Mar.  60-90</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Apr.   91-120</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May. 121-151 </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Jun.   152-181</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July.  182-212</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Aug.  213-243</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Sept.  244-273</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Oct.   274-304</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Nov. 305-334</a:t>
            </a:r>
            <a:endParaRPr lang="en-US" altLang="zh-CN" sz="2400" b="1" dirty="0">
              <a:solidFill>
                <a:srgbClr val="0000FF"/>
              </a:solidFill>
              <a:latin typeface="Times New Roman" panose="02020603050405020304" pitchFamily="18" charset="0"/>
              <a:ea typeface="宋体" panose="02010600030101010101" pitchFamily="2" charset="-122"/>
            </a:endParaRPr>
          </a:p>
          <a:p>
            <a:pPr eaLnBrk="1" hangingPunct="1">
              <a:lnSpc>
                <a:spcPct val="120000"/>
              </a:lnSpc>
            </a:pPr>
            <a:r>
              <a:rPr lang="en-US" altLang="zh-CN" sz="2400" b="1" dirty="0">
                <a:solidFill>
                  <a:srgbClr val="0000FF"/>
                </a:solidFill>
                <a:latin typeface="Times New Roman" panose="02020603050405020304" pitchFamily="18" charset="0"/>
                <a:ea typeface="宋体" panose="02010600030101010101" pitchFamily="2" charset="-122"/>
              </a:rPr>
              <a:t>Dec. 335-365</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26627" name="Rectangle 3"/>
          <p:cNvSpPr/>
          <p:nvPr/>
        </p:nvSpPr>
        <p:spPr>
          <a:xfrm>
            <a:off x="1116013" y="3481388"/>
            <a:ext cx="1262062" cy="523875"/>
          </a:xfrm>
          <a:prstGeom prst="rect">
            <a:avLst/>
          </a:prstGeom>
          <a:noFill/>
          <a:ln w="9525">
            <a:noFill/>
          </a:ln>
        </p:spPr>
        <p:txBody>
          <a:bodyPr wrap="none">
            <a:spAutoFit/>
          </a:bodyPr>
          <a:p>
            <a:pPr eaLnBrk="1" hangingPunct="1"/>
            <a:r>
              <a:rPr lang="zh-CN" altLang="en-US" sz="2800" b="1" dirty="0">
                <a:latin typeface="华文细黑" panose="02010600040101010101" pitchFamily="2" charset="-122"/>
                <a:ea typeface="华文细黑" panose="02010600040101010101" pitchFamily="2" charset="-122"/>
              </a:rPr>
              <a:t>儒略日</a:t>
            </a:r>
            <a:endParaRPr lang="en-US" altLang="zh-CN" sz="2800" b="1" dirty="0">
              <a:latin typeface="华文细黑" panose="02010600040101010101" pitchFamily="2" charset="-122"/>
              <a:ea typeface="华文细黑" panose="02010600040101010101" pitchFamily="2" charset="-122"/>
            </a:endParaRPr>
          </a:p>
        </p:txBody>
      </p:sp>
      <p:sp>
        <p:nvSpPr>
          <p:cNvPr id="26628" name="AutoShape 4"/>
          <p:cNvSpPr/>
          <p:nvPr/>
        </p:nvSpPr>
        <p:spPr>
          <a:xfrm>
            <a:off x="2411413" y="1196975"/>
            <a:ext cx="576262" cy="5111750"/>
          </a:xfrm>
          <a:prstGeom prst="leftBrace">
            <a:avLst>
              <a:gd name="adj1" fmla="val 61436"/>
              <a:gd name="adj2" fmla="val 50000"/>
            </a:avLst>
          </a:prstGeom>
          <a:noFill/>
          <a:ln w="47625" cap="flat" cmpd="sng">
            <a:solidFill>
              <a:schemeClr val="tx1"/>
            </a:solidFill>
            <a:prstDash val="solid"/>
            <a:headEnd type="none" w="sm" len="sm"/>
            <a:tailEnd type="none" w="sm" len="sm"/>
          </a:ln>
        </p:spPr>
        <p:txBody>
          <a:bodyPr wrap="none" anchor="ctr" anchorCtr="0"/>
          <a:p>
            <a:pPr eaLnBrk="1" hangingPunct="1"/>
            <a:endParaRPr lang="en-US" altLang="zh-CN" dirty="0">
              <a:solidFill>
                <a:srgbClr val="080808"/>
              </a:solidFill>
              <a:latin typeface="Arial" panose="020B0604020202020204" pitchFamily="34" charset="0"/>
              <a:ea typeface="宋体" panose="02010600030101010101" pitchFamily="2"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a:xfrm>
            <a:off x="1403350" y="0"/>
            <a:ext cx="7740650" cy="1143000"/>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2</a:t>
            </a:r>
            <a:r>
              <a:rPr lang="en-US" altLang="en-US" dirty="0">
                <a:solidFill>
                  <a:srgbClr val="FFFF00"/>
                </a:solidFill>
                <a:latin typeface="黑体" panose="02010609060101010101" pitchFamily="49" charset="-122"/>
                <a:ea typeface="黑体" panose="02010609060101010101" pitchFamily="49" charset="-122"/>
              </a:rPr>
              <a:t>、</a:t>
            </a:r>
            <a:r>
              <a:rPr lang="zh-CN" altLang="en-US" dirty="0">
                <a:solidFill>
                  <a:srgbClr val="FFFF00"/>
                </a:solidFill>
                <a:latin typeface="黑体" panose="02010609060101010101" pitchFamily="49" charset="-122"/>
                <a:ea typeface="黑体" panose="02010609060101010101" pitchFamily="49" charset="-122"/>
              </a:rPr>
              <a:t>经度和</a:t>
            </a:r>
            <a:r>
              <a:rPr lang="en-US" altLang="en-US" dirty="0">
                <a:solidFill>
                  <a:srgbClr val="FFFF00"/>
                </a:solidFill>
                <a:latin typeface="黑体" panose="02010609060101010101" pitchFamily="49" charset="-122"/>
                <a:ea typeface="黑体" panose="02010609060101010101" pitchFamily="49" charset="-122"/>
              </a:rPr>
              <a:t>纬度</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27651" name="Content Placeholder 2"/>
          <p:cNvSpPr>
            <a:spLocks noGrp="1"/>
          </p:cNvSpPr>
          <p:nvPr>
            <p:ph idx="1"/>
          </p:nvPr>
        </p:nvSpPr>
        <p:spPr>
          <a:xfrm>
            <a:off x="250825" y="1370013"/>
            <a:ext cx="8435975" cy="1482725"/>
          </a:xfrm>
          <a:ln/>
        </p:spPr>
        <p:txBody>
          <a:bodyPr vert="horz" wrap="square" lIns="91440" tIns="45720" rIns="91440" bIns="45720" anchor="t" anchorCtr="0"/>
          <a:p>
            <a:pPr>
              <a:lnSpc>
                <a:spcPct val="150000"/>
              </a:lnSpc>
              <a:buFont typeface="Wingdings" panose="05000000000000000000" pitchFamily="2" charset="2"/>
              <a:buChar char="Ø"/>
            </a:pPr>
            <a:r>
              <a:rPr lang="zh-CN" altLang="en-US" sz="2400" dirty="0">
                <a:latin typeface="华文细黑" panose="02010600040101010101" pitchFamily="2" charset="-122"/>
                <a:ea typeface="华文细黑" panose="02010600040101010101" pitchFamily="2" charset="-122"/>
              </a:rPr>
              <a:t>地表某地的纬度是该点对赤道平面偏北或偏南的角位移。</a:t>
            </a:r>
            <a:endParaRPr lang="en-US" altLang="zh-CN" sz="2400" dirty="0">
              <a:latin typeface="华文细黑" panose="02010600040101010101" pitchFamily="2" charset="-122"/>
              <a:ea typeface="华文细黑" panose="02010600040101010101" pitchFamily="2" charset="-122"/>
            </a:endParaRPr>
          </a:p>
          <a:p>
            <a:pPr>
              <a:lnSpc>
                <a:spcPct val="150000"/>
              </a:lnSpc>
              <a:buFont typeface="Wingdings" panose="05000000000000000000" pitchFamily="2" charset="2"/>
              <a:buChar char="Ø"/>
            </a:pPr>
            <a:r>
              <a:rPr lang="zh-CN" altLang="en-US" sz="2400" dirty="0">
                <a:solidFill>
                  <a:srgbClr val="0000FF"/>
                </a:solidFill>
                <a:latin typeface="华文细黑" panose="02010600040101010101" pitchFamily="2" charset="-122"/>
                <a:ea typeface="华文细黑" panose="02010600040101010101" pitchFamily="2" charset="-122"/>
              </a:rPr>
              <a:t>表示观察点的位置</a:t>
            </a:r>
            <a:endParaRPr lang="zh-CN" altLang="en-US" sz="2400" dirty="0">
              <a:solidFill>
                <a:srgbClr val="0000FF"/>
              </a:solidFill>
              <a:latin typeface="华文细黑" panose="02010600040101010101" pitchFamily="2" charset="-122"/>
              <a:ea typeface="华文细黑" panose="02010600040101010101" pitchFamily="2" charset="-122"/>
            </a:endParaRPr>
          </a:p>
        </p:txBody>
      </p:sp>
      <p:pic>
        <p:nvPicPr>
          <p:cNvPr id="27652" name="Picture 3"/>
          <p:cNvPicPr>
            <a:picLocks noChangeAspect="1"/>
          </p:cNvPicPr>
          <p:nvPr/>
        </p:nvPicPr>
        <p:blipFill>
          <a:blip r:embed="rId1"/>
          <a:stretch>
            <a:fillRect/>
          </a:stretch>
        </p:blipFill>
        <p:spPr>
          <a:xfrm>
            <a:off x="1547813" y="2746375"/>
            <a:ext cx="6502400" cy="3390900"/>
          </a:xfrm>
          <a:prstGeom prst="rect">
            <a:avLst/>
          </a:prstGeom>
          <a:noFill/>
          <a:ln w="9525">
            <a:noFill/>
          </a:ln>
        </p:spPr>
      </p:pic>
      <p:sp>
        <p:nvSpPr>
          <p:cNvPr id="27653" name="TextBox 4"/>
          <p:cNvSpPr txBox="1"/>
          <p:nvPr/>
        </p:nvSpPr>
        <p:spPr>
          <a:xfrm>
            <a:off x="4500563" y="2276475"/>
            <a:ext cx="2262187" cy="369888"/>
          </a:xfrm>
          <a:prstGeom prst="rect">
            <a:avLst/>
          </a:prstGeom>
          <a:noFill/>
          <a:ln w="9525">
            <a:noFill/>
          </a:ln>
        </p:spPr>
        <p:txBody>
          <a:bodyPr wrap="none">
            <a:spAutoFit/>
          </a:bodyPr>
          <a:p>
            <a:pPr eaLnBrk="1" hangingPunct="1"/>
            <a:r>
              <a:rPr lang="zh-CN" altLang="en-US" b="1" dirty="0">
                <a:solidFill>
                  <a:srgbClr val="0000FF"/>
                </a:solidFill>
                <a:latin typeface="华文细黑" panose="02010600040101010101" pitchFamily="2" charset="-122"/>
                <a:ea typeface="华文细黑" panose="02010600040101010101" pitchFamily="2" charset="-122"/>
              </a:rPr>
              <a:t>伦敦格林威治天文台</a:t>
            </a:r>
            <a:endParaRPr lang="zh-CN" altLang="en-US" b="1" dirty="0">
              <a:solidFill>
                <a:srgbClr val="0000FF"/>
              </a:solidFill>
              <a:latin typeface="华文细黑" panose="02010600040101010101" pitchFamily="2" charset="-122"/>
              <a:ea typeface="华文细黑" panose="02010600040101010101" pitchFamily="2" charset="-122"/>
            </a:endParaRPr>
          </a:p>
        </p:txBody>
      </p:sp>
      <p:sp>
        <p:nvSpPr>
          <p:cNvPr id="27654" name="TextBox 5"/>
          <p:cNvSpPr txBox="1"/>
          <p:nvPr/>
        </p:nvSpPr>
        <p:spPr>
          <a:xfrm>
            <a:off x="2124075" y="6165850"/>
            <a:ext cx="1579563" cy="369888"/>
          </a:xfrm>
          <a:prstGeom prst="rect">
            <a:avLst/>
          </a:prstGeom>
          <a:noFill/>
          <a:ln w="9525">
            <a:noFill/>
          </a:ln>
        </p:spPr>
        <p:txBody>
          <a:bodyPr wrap="none">
            <a:spAutoFit/>
          </a:bodyPr>
          <a:p>
            <a:pPr eaLnBrk="1" hangingPunct="1"/>
            <a:r>
              <a:rPr lang="zh-CN" altLang="en-US" b="1" dirty="0">
                <a:latin typeface="Arial" panose="020B0604020202020204" pitchFamily="34" charset="0"/>
                <a:ea typeface="宋体" panose="02010600030101010101" pitchFamily="2" charset="-122"/>
              </a:rPr>
              <a:t>经线或子午线</a:t>
            </a:r>
            <a:endParaRPr lang="zh-CN" altLang="en-US" b="1" dirty="0">
              <a:latin typeface="Arial" panose="020B0604020202020204" pitchFamily="34" charset="0"/>
              <a:ea typeface="宋体" panose="02010600030101010101" pitchFamily="2" charset="-122"/>
            </a:endParaRPr>
          </a:p>
        </p:txBody>
      </p:sp>
      <p:sp>
        <p:nvSpPr>
          <p:cNvPr id="27655" name="TextBox 6"/>
          <p:cNvSpPr txBox="1"/>
          <p:nvPr/>
        </p:nvSpPr>
        <p:spPr>
          <a:xfrm>
            <a:off x="6372225" y="6165850"/>
            <a:ext cx="649288" cy="369888"/>
          </a:xfrm>
          <a:prstGeom prst="rect">
            <a:avLst/>
          </a:prstGeom>
          <a:noFill/>
          <a:ln w="9525">
            <a:noFill/>
          </a:ln>
        </p:spPr>
        <p:txBody>
          <a:bodyPr wrap="none">
            <a:spAutoFit/>
          </a:bodyPr>
          <a:p>
            <a:pPr eaLnBrk="1" hangingPunct="1"/>
            <a:r>
              <a:rPr lang="zh-CN" altLang="en-US" b="1" dirty="0">
                <a:latin typeface="Arial" panose="020B0604020202020204" pitchFamily="34" charset="0"/>
                <a:ea typeface="宋体" panose="02010600030101010101" pitchFamily="2" charset="-122"/>
              </a:rPr>
              <a:t>纬线</a:t>
            </a:r>
            <a:endParaRPr lang="zh-CN" altLang="en-US" b="1" dirty="0">
              <a:latin typeface="Arial" panose="020B0604020202020204" pitchFamily="34" charset="0"/>
              <a:ea typeface="宋体" panose="02010600030101010101" pitchFamily="2" charset="-122"/>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xfrm>
            <a:off x="1258888" y="233363"/>
            <a:ext cx="7862887" cy="563562"/>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3</a:t>
            </a:r>
            <a:r>
              <a:rPr lang="en-US" altLang="en-US" dirty="0">
                <a:solidFill>
                  <a:srgbClr val="FFFF00"/>
                </a:solidFill>
                <a:latin typeface="黑体" panose="02010609060101010101" pitchFamily="49" charset="-122"/>
                <a:ea typeface="黑体" panose="02010609060101010101" pitchFamily="49" charset="-122"/>
              </a:rPr>
              <a:t>、太阳赤纬</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28675" name="Content Placeholder 2"/>
          <p:cNvSpPr>
            <a:spLocks noGrp="1"/>
          </p:cNvSpPr>
          <p:nvPr>
            <p:ph idx="1"/>
          </p:nvPr>
        </p:nvSpPr>
        <p:spPr>
          <a:ln/>
        </p:spPr>
        <p:txBody>
          <a:bodyPr vert="horz" wrap="square" lIns="91440" tIns="45720" rIns="91440" bIns="45720" anchor="t" anchorCtr="0"/>
          <a:p>
            <a:pPr>
              <a:lnSpc>
                <a:spcPct val="150000"/>
              </a:lnSpc>
              <a:buFont typeface="Wingdings" panose="05000000000000000000" pitchFamily="2" charset="2"/>
              <a:buChar char="Ø"/>
            </a:pPr>
            <a:r>
              <a:rPr lang="zh-CN" altLang="en-US" dirty="0">
                <a:solidFill>
                  <a:srgbClr val="FF0000"/>
                </a:solidFill>
                <a:latin typeface="华文细黑" panose="02010600040101010101" pitchFamily="2" charset="-122"/>
                <a:ea typeface="华文细黑" panose="02010600040101010101" pitchFamily="2" charset="-122"/>
              </a:rPr>
              <a:t>定义：</a:t>
            </a:r>
            <a:r>
              <a:rPr lang="zh-CN" altLang="en-US" dirty="0">
                <a:solidFill>
                  <a:srgbClr val="0000FF"/>
                </a:solidFill>
                <a:latin typeface="华文细黑" panose="02010600040101010101" pitchFamily="2" charset="-122"/>
                <a:ea typeface="华文细黑" panose="02010600040101010101" pitchFamily="2" charset="-122"/>
              </a:rPr>
              <a:t>太阳光线与地球赤道平面之间的夹角。</a:t>
            </a:r>
            <a:endParaRPr lang="en-US" altLang="zh-CN" dirty="0">
              <a:solidFill>
                <a:srgbClr val="0000FF"/>
              </a:solidFill>
              <a:latin typeface="华文细黑" panose="02010600040101010101" pitchFamily="2" charset="-122"/>
              <a:ea typeface="华文细黑" panose="02010600040101010101" pitchFamily="2" charset="-122"/>
            </a:endParaRPr>
          </a:p>
          <a:p>
            <a:pPr>
              <a:lnSpc>
                <a:spcPct val="150000"/>
              </a:lnSpc>
              <a:buFont typeface="Wingdings" panose="05000000000000000000" pitchFamily="2" charset="2"/>
              <a:buChar char="Ø"/>
            </a:pPr>
            <a:r>
              <a:rPr lang="zh-CN" altLang="en-US" dirty="0">
                <a:solidFill>
                  <a:srgbClr val="0000FF"/>
                </a:solidFill>
                <a:latin typeface="华文细黑" panose="02010600040101010101" pitchFamily="2" charset="-122"/>
                <a:ea typeface="华文细黑" panose="02010600040101010101" pitchFamily="2" charset="-122"/>
              </a:rPr>
              <a:t>赤纬表示地球在公转中，阳光直射地球的变动范围。</a:t>
            </a:r>
            <a:endParaRPr lang="en-US" altLang="zh-CN" dirty="0">
              <a:solidFill>
                <a:srgbClr val="0000FF"/>
              </a:solidFill>
              <a:latin typeface="华文细黑" panose="02010600040101010101" pitchFamily="2" charset="-122"/>
              <a:ea typeface="华文细黑" panose="02010600040101010101" pitchFamily="2" charset="-122"/>
            </a:endParaRPr>
          </a:p>
          <a:p>
            <a:pPr>
              <a:lnSpc>
                <a:spcPct val="150000"/>
              </a:lnSpc>
              <a:buFont typeface="Wingdings" panose="05000000000000000000" pitchFamily="2" charset="2"/>
              <a:buChar char="Ø"/>
            </a:pPr>
            <a:r>
              <a:rPr lang="zh-CN" altLang="en-US" dirty="0">
                <a:solidFill>
                  <a:srgbClr val="0000FF"/>
                </a:solidFill>
                <a:latin typeface="华文细黑" panose="02010600040101010101" pitchFamily="2" charset="-122"/>
                <a:ea typeface="华文细黑" panose="02010600040101010101" pitchFamily="2" charset="-122"/>
              </a:rPr>
              <a:t>赤纬随地球在公转轨道上的位置，即日期的不同而变化</a:t>
            </a:r>
            <a:r>
              <a:rPr lang="en-US" altLang="zh-CN" dirty="0">
                <a:solidFill>
                  <a:srgbClr val="0000FF"/>
                </a:solidFill>
                <a:latin typeface="华文细黑" panose="02010600040101010101" pitchFamily="2" charset="-122"/>
                <a:ea typeface="华文细黑" panose="02010600040101010101" pitchFamily="2" charset="-122"/>
              </a:rPr>
              <a:t>——</a:t>
            </a:r>
            <a:r>
              <a:rPr lang="zh-CN" altLang="en-US" dirty="0">
                <a:solidFill>
                  <a:srgbClr val="0000FF"/>
                </a:solidFill>
                <a:latin typeface="华文细黑" panose="02010600040101010101" pitchFamily="2" charset="-122"/>
                <a:ea typeface="华文细黑" panose="02010600040101010101" pitchFamily="2" charset="-122"/>
              </a:rPr>
              <a:t>表示季节（日期）的变化。</a:t>
            </a:r>
            <a:endParaRPr lang="en-US" altLang="zh-CN" dirty="0">
              <a:solidFill>
                <a:srgbClr val="0000FF"/>
              </a:solidFill>
              <a:latin typeface="华文细黑" panose="02010600040101010101" pitchFamily="2" charset="-122"/>
              <a:ea typeface="华文细黑" panose="02010600040101010101" pitchFamily="2" charset="-122"/>
            </a:endParaRPr>
          </a:p>
          <a:p>
            <a:pPr>
              <a:lnSpc>
                <a:spcPct val="150000"/>
              </a:lnSpc>
              <a:buFont typeface="Wingdings" panose="05000000000000000000" pitchFamily="2" charset="2"/>
              <a:buChar char="Ø"/>
            </a:pPr>
            <a:r>
              <a:rPr lang="zh-CN" altLang="en-US" dirty="0">
                <a:solidFill>
                  <a:srgbClr val="0000FF"/>
                </a:solidFill>
                <a:latin typeface="华文细黑" panose="02010600040101010101" pitchFamily="2" charset="-122"/>
                <a:ea typeface="华文细黑" panose="02010600040101010101" pitchFamily="2" charset="-122"/>
              </a:rPr>
              <a:t>全年的赤纬在</a:t>
            </a:r>
            <a:r>
              <a:rPr lang="en-US" altLang="zh-CN" dirty="0">
                <a:solidFill>
                  <a:srgbClr val="0000FF"/>
                </a:solidFill>
                <a:latin typeface="华文细黑" panose="02010600040101010101" pitchFamily="2" charset="-122"/>
                <a:ea typeface="华文细黑" panose="02010600040101010101" pitchFamily="2" charset="-122"/>
              </a:rPr>
              <a:t>+23.5</a:t>
            </a:r>
            <a:r>
              <a:rPr lang="en-US" altLang="zh-CN" baseline="30000" dirty="0">
                <a:solidFill>
                  <a:srgbClr val="0000FF"/>
                </a:solidFill>
                <a:latin typeface="华文细黑" panose="02010600040101010101" pitchFamily="2" charset="-122"/>
                <a:ea typeface="华文细黑" panose="02010600040101010101" pitchFamily="2" charset="-122"/>
              </a:rPr>
              <a:t>o</a:t>
            </a:r>
            <a:r>
              <a:rPr lang="zh-CN" altLang="en-US" dirty="0">
                <a:solidFill>
                  <a:srgbClr val="0000FF"/>
                </a:solidFill>
                <a:latin typeface="华文细黑" panose="02010600040101010101" pitchFamily="2" charset="-122"/>
                <a:ea typeface="华文细黑" panose="02010600040101010101" pitchFamily="2" charset="-122"/>
              </a:rPr>
              <a:t>和</a:t>
            </a:r>
            <a:r>
              <a:rPr lang="en-US" altLang="zh-CN" dirty="0">
                <a:solidFill>
                  <a:srgbClr val="0000FF"/>
                </a:solidFill>
                <a:latin typeface="华文细黑" panose="02010600040101010101" pitchFamily="2" charset="-122"/>
                <a:ea typeface="华文细黑" panose="02010600040101010101" pitchFamily="2" charset="-122"/>
              </a:rPr>
              <a:t>-23.5</a:t>
            </a:r>
            <a:r>
              <a:rPr lang="en-US" altLang="zh-CN" baseline="30000" dirty="0">
                <a:solidFill>
                  <a:srgbClr val="0000FF"/>
                </a:solidFill>
                <a:latin typeface="华文细黑" panose="02010600040101010101" pitchFamily="2" charset="-122"/>
                <a:ea typeface="华文细黑" panose="02010600040101010101" pitchFamily="2" charset="-122"/>
              </a:rPr>
              <a:t>o</a:t>
            </a:r>
            <a:r>
              <a:rPr lang="zh-CN" altLang="en-US" dirty="0">
                <a:solidFill>
                  <a:srgbClr val="0000FF"/>
                </a:solidFill>
                <a:latin typeface="华文细黑" panose="02010600040101010101" pitchFamily="2" charset="-122"/>
                <a:ea typeface="华文细黑" panose="02010600040101010101" pitchFamily="2" charset="-122"/>
              </a:rPr>
              <a:t>之间变化。</a:t>
            </a:r>
            <a:endParaRPr lang="en-US" altLang="zh-CN" dirty="0">
              <a:solidFill>
                <a:srgbClr val="0000FF"/>
              </a:solidFill>
              <a:latin typeface="华文细黑" panose="02010600040101010101" pitchFamily="2" charset="-122"/>
              <a:ea typeface="华文细黑" panose="02010600040101010101" pitchFamily="2" charset="-122"/>
            </a:endParaRPr>
          </a:p>
          <a:p>
            <a:pPr>
              <a:buFont typeface="Wingdings" panose="05000000000000000000" pitchFamily="2" charset="2"/>
              <a:buChar char="v"/>
            </a:pPr>
            <a:endParaRPr lang="en-US" altLang="zh-CN" dirty="0">
              <a:solidFill>
                <a:srgbClr val="0000FF"/>
              </a:solidFill>
              <a:ea typeface="宋体" panose="02010600030101010101" pitchFamily="2" charset="-122"/>
            </a:endParaRPr>
          </a:p>
        </p:txBody>
      </p:sp>
    </p:spTree>
  </p:cSld>
  <p:clrMapOvr>
    <a:masterClrMapping/>
  </p:clrMapOvr>
  <p:transition spd="slow"/>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a:xfrm>
            <a:off x="1260475" y="-100012"/>
            <a:ext cx="7775575" cy="1143000"/>
          </a:xfrm>
          <a:ln/>
        </p:spPr>
        <p:txBody>
          <a:bodyPr vert="horz" wrap="square" lIns="91440" tIns="45720" rIns="91440" bIns="45720" anchor="ctr" anchorCtr="0"/>
          <a:p>
            <a:pPr algn="ctr"/>
            <a:r>
              <a:rPr lang="zh-CN" altLang="en-US" dirty="0">
                <a:solidFill>
                  <a:srgbClr val="FFFF00"/>
                </a:solidFill>
                <a:latin typeface="黑体" panose="02010609060101010101" pitchFamily="49" charset="-122"/>
                <a:ea typeface="黑体" panose="02010609060101010101" pitchFamily="49" charset="-122"/>
              </a:rPr>
              <a:t>赤纬</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29699" name="Picture 3"/>
          <p:cNvPicPr>
            <a:picLocks noChangeAspect="1"/>
          </p:cNvPicPr>
          <p:nvPr/>
        </p:nvPicPr>
        <p:blipFill>
          <a:blip r:embed="rId1"/>
          <a:stretch>
            <a:fillRect/>
          </a:stretch>
        </p:blipFill>
        <p:spPr>
          <a:xfrm>
            <a:off x="539750" y="908050"/>
            <a:ext cx="8216900" cy="2559050"/>
          </a:xfrm>
          <a:prstGeom prst="rect">
            <a:avLst/>
          </a:prstGeom>
          <a:noFill/>
          <a:ln w="9525">
            <a:noFill/>
          </a:ln>
        </p:spPr>
      </p:pic>
      <p:graphicFrame>
        <p:nvGraphicFramePr>
          <p:cNvPr id="29700" name="Object 8"/>
          <p:cNvGraphicFramePr>
            <a:graphicFrameLocks noChangeAspect="1"/>
          </p:cNvGraphicFramePr>
          <p:nvPr/>
        </p:nvGraphicFramePr>
        <p:xfrm>
          <a:off x="1250950" y="3573463"/>
          <a:ext cx="6823075" cy="1439862"/>
        </p:xfrm>
        <a:graphic>
          <a:graphicData uri="http://schemas.openxmlformats.org/presentationml/2006/ole">
            <mc:AlternateContent xmlns:mc="http://schemas.openxmlformats.org/markup-compatibility/2006">
              <mc:Choice xmlns:v="urn:schemas-microsoft-com:vml" Requires="v">
                <p:oleObj spid="_x0000_s3080" name="" r:id="rId2" imgW="3602990" imgH="658495" progId="Equation.3">
                  <p:embed/>
                </p:oleObj>
              </mc:Choice>
              <mc:Fallback>
                <p:oleObj name="" r:id="rId2" imgW="3602990" imgH="658495" progId="Equation.3">
                  <p:embed/>
                  <p:pic>
                    <p:nvPicPr>
                      <p:cNvPr id="0" name="图片 3079"/>
                      <p:cNvPicPr/>
                      <p:nvPr/>
                    </p:nvPicPr>
                    <p:blipFill>
                      <a:blip r:embed="rId3"/>
                      <a:stretch>
                        <a:fillRect/>
                      </a:stretch>
                    </p:blipFill>
                    <p:spPr>
                      <a:xfrm>
                        <a:off x="1250950" y="3573463"/>
                        <a:ext cx="6823075" cy="1439862"/>
                      </a:xfrm>
                      <a:prstGeom prst="rect">
                        <a:avLst/>
                      </a:prstGeom>
                      <a:solidFill>
                        <a:srgbClr val="92D050"/>
                      </a:solidFill>
                      <a:ln w="38100">
                        <a:noFill/>
                        <a:miter/>
                      </a:ln>
                    </p:spPr>
                  </p:pic>
                </p:oleObj>
              </mc:Fallback>
            </mc:AlternateContent>
          </a:graphicData>
        </a:graphic>
      </p:graphicFrame>
      <p:sp>
        <p:nvSpPr>
          <p:cNvPr id="29701" name="TextBox 2"/>
          <p:cNvSpPr txBox="1"/>
          <p:nvPr/>
        </p:nvSpPr>
        <p:spPr>
          <a:xfrm>
            <a:off x="5003800" y="5181600"/>
            <a:ext cx="3844925" cy="1200150"/>
          </a:xfrm>
          <a:prstGeom prst="rect">
            <a:avLst/>
          </a:prstGeom>
          <a:noFill/>
          <a:ln w="28575" cap="flat" cmpd="sng">
            <a:solidFill>
              <a:srgbClr val="FF33CC"/>
            </a:solidFill>
            <a:prstDash val="solid"/>
            <a:miter/>
            <a:headEnd type="none" w="med" len="med"/>
            <a:tailEnd type="none" w="med" len="med"/>
          </a:ln>
        </p:spPr>
        <p:txBody>
          <a:bodyPr wrap="none">
            <a:spAutoFit/>
          </a:bodyPr>
          <a:p>
            <a:pPr eaLnBrk="1" hangingPunct="1"/>
            <a:r>
              <a:rPr lang="zh-CN" altLang="en-US" sz="2400" b="1" dirty="0">
                <a:latin typeface="华文细黑" panose="02010600040101010101" pitchFamily="2" charset="-122"/>
                <a:ea typeface="华文细黑" panose="02010600040101010101" pitchFamily="2" charset="-122"/>
              </a:rPr>
              <a:t>春分或秋分日：赤纬为</a:t>
            </a:r>
            <a:r>
              <a:rPr lang="en-US" altLang="zh-CN" sz="2400" b="1" dirty="0">
                <a:latin typeface="华文细黑" panose="02010600040101010101" pitchFamily="2" charset="-122"/>
                <a:ea typeface="华文细黑" panose="02010600040101010101" pitchFamily="2" charset="-122"/>
              </a:rPr>
              <a:t>0</a:t>
            </a:r>
            <a:r>
              <a:rPr lang="en-US" altLang="zh-CN" sz="2400" b="1" baseline="30000" dirty="0">
                <a:latin typeface="华文细黑" panose="02010600040101010101" pitchFamily="2" charset="-122"/>
                <a:ea typeface="华文细黑" panose="02010600040101010101" pitchFamily="2" charset="-122"/>
              </a:rPr>
              <a:t>o</a:t>
            </a:r>
            <a:r>
              <a:rPr lang="zh-CN" altLang="en-US" sz="2400" b="1" dirty="0">
                <a:latin typeface="华文细黑" panose="02010600040101010101" pitchFamily="2" charset="-122"/>
                <a:ea typeface="华文细黑" panose="02010600040101010101" pitchFamily="2" charset="-122"/>
              </a:rPr>
              <a:t>；</a:t>
            </a:r>
            <a:endParaRPr lang="en-US" altLang="zh-CN" sz="2400" b="1" dirty="0">
              <a:latin typeface="华文细黑" panose="02010600040101010101" pitchFamily="2" charset="-122"/>
              <a:ea typeface="华文细黑" panose="02010600040101010101" pitchFamily="2" charset="-122"/>
            </a:endParaRPr>
          </a:p>
          <a:p>
            <a:pPr eaLnBrk="1" hangingPunct="1"/>
            <a:r>
              <a:rPr lang="zh-CN" altLang="en-US" sz="2400" b="1" dirty="0">
                <a:latin typeface="华文细黑" panose="02010600040101010101" pitchFamily="2" charset="-122"/>
                <a:ea typeface="华文细黑" panose="02010600040101010101" pitchFamily="2" charset="-122"/>
              </a:rPr>
              <a:t>夏至：</a:t>
            </a:r>
            <a:r>
              <a:rPr lang="en-US" altLang="zh-CN" sz="2400" b="1" dirty="0">
                <a:latin typeface="华文细黑" panose="02010600040101010101" pitchFamily="2" charset="-122"/>
                <a:ea typeface="华文细黑" panose="02010600040101010101" pitchFamily="2" charset="-122"/>
              </a:rPr>
              <a:t>23.5</a:t>
            </a:r>
            <a:r>
              <a:rPr lang="en-US" altLang="zh-CN" sz="2400" b="1" baseline="30000" dirty="0">
                <a:latin typeface="华文细黑" panose="02010600040101010101" pitchFamily="2" charset="-122"/>
                <a:ea typeface="华文细黑" panose="02010600040101010101" pitchFamily="2" charset="-122"/>
              </a:rPr>
              <a:t>o</a:t>
            </a:r>
            <a:endParaRPr lang="en-US" altLang="zh-CN" sz="2400" b="1" baseline="30000" dirty="0">
              <a:latin typeface="华文细黑" panose="02010600040101010101" pitchFamily="2" charset="-122"/>
              <a:ea typeface="华文细黑" panose="02010600040101010101" pitchFamily="2" charset="-122"/>
            </a:endParaRPr>
          </a:p>
          <a:p>
            <a:pPr eaLnBrk="1" hangingPunct="1"/>
            <a:r>
              <a:rPr lang="zh-CN" altLang="en-US" sz="2400" b="1" dirty="0">
                <a:latin typeface="华文细黑" panose="02010600040101010101" pitchFamily="2" charset="-122"/>
                <a:ea typeface="华文细黑" panose="02010600040101010101" pitchFamily="2" charset="-122"/>
              </a:rPr>
              <a:t>冬至：</a:t>
            </a:r>
            <a:r>
              <a:rPr lang="en-US" altLang="zh-CN" sz="2400" b="1" dirty="0">
                <a:latin typeface="华文细黑" panose="02010600040101010101" pitchFamily="2" charset="-122"/>
                <a:ea typeface="华文细黑" panose="02010600040101010101" pitchFamily="2" charset="-122"/>
              </a:rPr>
              <a:t>-23.5</a:t>
            </a:r>
            <a:r>
              <a:rPr lang="en-US" altLang="zh-CN" sz="2400" b="1" baseline="30000" dirty="0">
                <a:latin typeface="华文细黑" panose="02010600040101010101" pitchFamily="2" charset="-122"/>
                <a:ea typeface="华文细黑" panose="02010600040101010101" pitchFamily="2" charset="-122"/>
              </a:rPr>
              <a:t>o</a:t>
            </a:r>
            <a:endParaRPr lang="en-US" altLang="zh-CN" sz="2400" b="1" baseline="30000" dirty="0">
              <a:latin typeface="华文细黑" panose="02010600040101010101" pitchFamily="2" charset="-122"/>
              <a:ea typeface="华文细黑" panose="02010600040101010101" pitchFamily="2" charset="-122"/>
            </a:endParaRPr>
          </a:p>
        </p:txBody>
      </p:sp>
      <p:graphicFrame>
        <p:nvGraphicFramePr>
          <p:cNvPr id="29702" name="Object 9"/>
          <p:cNvGraphicFramePr>
            <a:graphicFrameLocks noChangeAspect="1"/>
          </p:cNvGraphicFramePr>
          <p:nvPr/>
        </p:nvGraphicFramePr>
        <p:xfrm>
          <a:off x="1593850" y="5353050"/>
          <a:ext cx="2282825" cy="392113"/>
        </p:xfrm>
        <a:graphic>
          <a:graphicData uri="http://schemas.openxmlformats.org/presentationml/2006/ole">
            <mc:AlternateContent xmlns:mc="http://schemas.openxmlformats.org/markup-compatibility/2006">
              <mc:Choice xmlns:v="urn:schemas-microsoft-com:vml" Requires="v">
                <p:oleObj spid="_x0000_s3081" name="" r:id="rId4" imgW="1225550" imgH="210185" progId="Equation.3">
                  <p:embed/>
                </p:oleObj>
              </mc:Choice>
              <mc:Fallback>
                <p:oleObj name="" r:id="rId4" imgW="1225550" imgH="210185" progId="Equation.3">
                  <p:embed/>
                  <p:pic>
                    <p:nvPicPr>
                      <p:cNvPr id="0" name="图片 3080"/>
                      <p:cNvPicPr/>
                      <p:nvPr/>
                    </p:nvPicPr>
                    <p:blipFill>
                      <a:blip r:embed="rId5"/>
                      <a:stretch>
                        <a:fillRect/>
                      </a:stretch>
                    </p:blipFill>
                    <p:spPr>
                      <a:xfrm>
                        <a:off x="1593850" y="5353050"/>
                        <a:ext cx="2282825" cy="392113"/>
                      </a:xfrm>
                      <a:prstGeom prst="rect">
                        <a:avLst/>
                      </a:prstGeom>
                      <a:solidFill>
                        <a:srgbClr val="92D050"/>
                      </a:solidFill>
                      <a:ln w="38100">
                        <a:noFill/>
                        <a:miter/>
                      </a:ln>
                    </p:spPr>
                  </p:pic>
                </p:oleObj>
              </mc:Fallback>
            </mc:AlternateContent>
          </a:graphicData>
        </a:graphic>
      </p:graphicFrame>
      <p:sp>
        <p:nvSpPr>
          <p:cNvPr id="29703" name="Text Box 10"/>
          <p:cNvSpPr txBox="1"/>
          <p:nvPr/>
        </p:nvSpPr>
        <p:spPr>
          <a:xfrm>
            <a:off x="809625" y="5291138"/>
            <a:ext cx="882650" cy="369887"/>
          </a:xfrm>
          <a:prstGeom prst="rect">
            <a:avLst/>
          </a:prstGeom>
          <a:noFill/>
          <a:ln w="9525">
            <a:noFill/>
          </a:ln>
        </p:spPr>
        <p:txBody>
          <a:bodyPr wrap="none">
            <a:spAutoFit/>
          </a:bodyPr>
          <a:p>
            <a:pPr eaLnBrk="1" hangingPunct="1"/>
            <a:r>
              <a:rPr lang="zh-CN" altLang="en-US" b="1" dirty="0">
                <a:latin typeface="华文细黑" panose="02010600040101010101" pitchFamily="2" charset="-122"/>
                <a:ea typeface="华文细黑" panose="02010600040101010101" pitchFamily="2" charset="-122"/>
              </a:rPr>
              <a:t>其中：</a:t>
            </a:r>
            <a:endParaRPr lang="en-US" altLang="zh-CN" b="1" dirty="0">
              <a:latin typeface="华文细黑" panose="02010600040101010101" pitchFamily="2" charset="-122"/>
              <a:ea typeface="华文细黑" panose="02010600040101010101" pitchFamily="2" charset="-122"/>
            </a:endParaRPr>
          </a:p>
        </p:txBody>
      </p:sp>
      <p:sp>
        <p:nvSpPr>
          <p:cNvPr id="29704" name="Text Box 11"/>
          <p:cNvSpPr txBox="1"/>
          <p:nvPr/>
        </p:nvSpPr>
        <p:spPr>
          <a:xfrm>
            <a:off x="1555750" y="5722938"/>
            <a:ext cx="1822450" cy="369887"/>
          </a:xfrm>
          <a:prstGeom prst="rect">
            <a:avLst/>
          </a:prstGeom>
          <a:noFill/>
          <a:ln w="9525">
            <a:noFill/>
          </a:ln>
        </p:spPr>
        <p:txBody>
          <a:bodyPr wrap="none">
            <a:spAutoFit/>
          </a:bodyPr>
          <a:p>
            <a:pPr eaLnBrk="1" hangingPunct="1"/>
            <a:r>
              <a:rPr lang="en-US" altLang="zh-CN" b="1" dirty="0">
                <a:latin typeface="华文细黑" panose="02010600040101010101" pitchFamily="2" charset="-122"/>
                <a:ea typeface="华文细黑" panose="02010600040101010101" pitchFamily="2" charset="-122"/>
              </a:rPr>
              <a:t>d</a:t>
            </a:r>
            <a:r>
              <a:rPr lang="en-US" altLang="zh-CN" b="1" baseline="-25000" dirty="0">
                <a:latin typeface="华文细黑" panose="02010600040101010101" pitchFamily="2" charset="-122"/>
                <a:ea typeface="华文细黑" panose="02010600040101010101" pitchFamily="2" charset="-122"/>
              </a:rPr>
              <a:t>n</a:t>
            </a:r>
            <a:r>
              <a:rPr lang="zh-CN" altLang="en-US" b="1" dirty="0">
                <a:latin typeface="华文细黑" panose="02010600040101010101" pitchFamily="2" charset="-122"/>
                <a:ea typeface="华文细黑" panose="02010600040101010101" pitchFamily="2" charset="-122"/>
              </a:rPr>
              <a:t>表示儒略日。</a:t>
            </a:r>
            <a:endParaRPr lang="en-US" altLang="zh-CN" b="1" dirty="0">
              <a:latin typeface="华文细黑" panose="02010600040101010101" pitchFamily="2" charset="-122"/>
              <a:ea typeface="华文细黑" panose="02010600040101010101" pitchFamily="2" charset="-122"/>
            </a:endParaRPr>
          </a:p>
        </p:txBody>
      </p:sp>
    </p:spTree>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Title 1"/>
          <p:cNvSpPr>
            <a:spLocks noGrp="1"/>
          </p:cNvSpPr>
          <p:nvPr>
            <p:ph type="title"/>
          </p:nvPr>
        </p:nvSpPr>
        <p:spPr>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4</a:t>
            </a:r>
            <a:r>
              <a:rPr lang="en-US" altLang="en-US" dirty="0">
                <a:solidFill>
                  <a:srgbClr val="FFFF00"/>
                </a:solidFill>
                <a:latin typeface="黑体" panose="02010609060101010101" pitchFamily="49" charset="-122"/>
                <a:ea typeface="黑体" panose="02010609060101010101" pitchFamily="49" charset="-122"/>
              </a:rPr>
              <a:t>、时角</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30723" name="Content Placeholder 2"/>
          <p:cNvSpPr>
            <a:spLocks noGrp="1"/>
          </p:cNvSpPr>
          <p:nvPr>
            <p:ph idx="1"/>
          </p:nvPr>
        </p:nvSpPr>
        <p:spPr>
          <a:xfrm>
            <a:off x="250825" y="1628775"/>
            <a:ext cx="3673475" cy="2549525"/>
          </a:xfrm>
          <a:ln/>
        </p:spPr>
        <p:txBody>
          <a:bodyPr vert="horz" wrap="square" lIns="91440" tIns="45720" rIns="91440" bIns="45720" anchor="t" anchorCtr="0"/>
          <a:p>
            <a:pPr>
              <a:lnSpc>
                <a:spcPct val="150000"/>
              </a:lnSpc>
              <a:buFont typeface="Wingdings" panose="05000000000000000000" pitchFamily="2" charset="2"/>
              <a:buChar char="Ø"/>
            </a:pPr>
            <a:r>
              <a:rPr lang="zh-CN" altLang="en-US" sz="2400" dirty="0">
                <a:solidFill>
                  <a:srgbClr val="0000FF"/>
                </a:solidFill>
                <a:latin typeface="华文细黑" panose="02010600040101010101" pitchFamily="2" charset="-122"/>
                <a:ea typeface="华文细黑" panose="02010600040101010101" pitchFamily="2" charset="-122"/>
              </a:rPr>
              <a:t>定义：观测点的经圈与太阳重合后（即当地正午）地球自转的角度。</a:t>
            </a:r>
            <a:endParaRPr lang="en-US" altLang="zh-CN" sz="2400" dirty="0">
              <a:solidFill>
                <a:srgbClr val="0000FF"/>
              </a:solidFill>
              <a:latin typeface="华文细黑" panose="02010600040101010101" pitchFamily="2" charset="-122"/>
              <a:ea typeface="华文细黑" panose="02010600040101010101" pitchFamily="2" charset="-122"/>
            </a:endParaRPr>
          </a:p>
          <a:p>
            <a:pPr>
              <a:lnSpc>
                <a:spcPct val="150000"/>
              </a:lnSpc>
              <a:buFont typeface="Wingdings" panose="05000000000000000000" pitchFamily="2" charset="2"/>
              <a:buChar char="Ø"/>
            </a:pPr>
            <a:r>
              <a:rPr lang="zh-CN" altLang="en-US" sz="2400" dirty="0">
                <a:solidFill>
                  <a:srgbClr val="0000FF"/>
                </a:solidFill>
                <a:latin typeface="华文细黑" panose="02010600040101010101" pitchFamily="2" charset="-122"/>
                <a:ea typeface="华文细黑" panose="02010600040101010101" pitchFamily="2" charset="-122"/>
              </a:rPr>
              <a:t>用角度表示时间的变化</a:t>
            </a:r>
            <a:endParaRPr lang="en-US" altLang="zh-CN" sz="2400" dirty="0">
              <a:solidFill>
                <a:srgbClr val="0000FF"/>
              </a:solidFill>
              <a:latin typeface="华文细黑" panose="02010600040101010101" pitchFamily="2" charset="-122"/>
              <a:ea typeface="华文细黑" panose="02010600040101010101" pitchFamily="2" charset="-122"/>
            </a:endParaRPr>
          </a:p>
        </p:txBody>
      </p:sp>
      <p:pic>
        <p:nvPicPr>
          <p:cNvPr id="30724" name="Picture 3"/>
          <p:cNvPicPr>
            <a:picLocks noChangeAspect="1"/>
          </p:cNvPicPr>
          <p:nvPr/>
        </p:nvPicPr>
        <p:blipFill>
          <a:blip r:embed="rId1"/>
          <a:srcRect b="2199"/>
          <a:stretch>
            <a:fillRect/>
          </a:stretch>
        </p:blipFill>
        <p:spPr>
          <a:xfrm>
            <a:off x="4087813" y="1125538"/>
            <a:ext cx="4543425" cy="3240087"/>
          </a:xfrm>
          <a:prstGeom prst="rect">
            <a:avLst/>
          </a:prstGeom>
          <a:noFill/>
          <a:ln w="9525">
            <a:noFill/>
          </a:ln>
        </p:spPr>
      </p:pic>
      <p:sp>
        <p:nvSpPr>
          <p:cNvPr id="30725" name="Rectangle 4"/>
          <p:cNvSpPr/>
          <p:nvPr/>
        </p:nvSpPr>
        <p:spPr>
          <a:xfrm>
            <a:off x="611188" y="4581525"/>
            <a:ext cx="7489825" cy="1889125"/>
          </a:xfrm>
          <a:prstGeom prst="rect">
            <a:avLst/>
          </a:prstGeom>
          <a:noFill/>
          <a:ln w="9525" cap="flat" cmpd="sng">
            <a:solidFill>
              <a:schemeClr val="tx1"/>
            </a:solidFill>
            <a:prstDash val="solid"/>
            <a:miter/>
            <a:headEnd type="none" w="med" len="med"/>
            <a:tailEnd type="none" w="med" len="med"/>
          </a:ln>
        </p:spPr>
        <p:txBody>
          <a:bodyPr>
            <a:spAutoFit/>
          </a:bodyPr>
          <a:p>
            <a:pPr marL="342900" indent="-342900" eaLnBrk="1" hangingPunct="1">
              <a:lnSpc>
                <a:spcPct val="120000"/>
              </a:lnSpc>
              <a:buFont typeface="Wingdings" panose="05000000000000000000" pitchFamily="2" charset="2"/>
              <a:buChar char="Ø"/>
            </a:pPr>
            <a:r>
              <a:rPr lang="zh-CN" altLang="en-US" sz="2000" b="1" dirty="0">
                <a:solidFill>
                  <a:srgbClr val="080808"/>
                </a:solidFill>
                <a:latin typeface="华文细黑" panose="02010600040101010101" pitchFamily="2" charset="-122"/>
                <a:ea typeface="华文细黑" panose="02010600040101010101" pitchFamily="2" charset="-122"/>
              </a:rPr>
              <a:t>也定义为：</a:t>
            </a:r>
            <a:r>
              <a:rPr lang="zh-TW" altLang="en-US" sz="2000" b="1" dirty="0">
                <a:solidFill>
                  <a:srgbClr val="080808"/>
                </a:solidFill>
                <a:latin typeface="华文细黑" panose="02010600040101010101" pitchFamily="2" charset="-122"/>
                <a:ea typeface="华文细黑" panose="02010600040101010101" pitchFamily="2" charset="-122"/>
              </a:rPr>
              <a:t>单位时间地球自转的角度定义为时角，规定正午时角为</a:t>
            </a:r>
            <a:r>
              <a:rPr lang="en-US" altLang="zh-TW" sz="2000" b="1" dirty="0">
                <a:solidFill>
                  <a:srgbClr val="080808"/>
                </a:solidFill>
                <a:latin typeface="华文细黑" panose="02010600040101010101" pitchFamily="2" charset="-122"/>
                <a:ea typeface="华文细黑" panose="02010600040101010101" pitchFamily="2" charset="-122"/>
              </a:rPr>
              <a:t>0</a:t>
            </a:r>
            <a:r>
              <a:rPr lang="zh-TW" altLang="en-US" sz="2000" b="1" dirty="0">
                <a:solidFill>
                  <a:srgbClr val="080808"/>
                </a:solidFill>
                <a:latin typeface="华文细黑" panose="02010600040101010101" pitchFamily="2" charset="-122"/>
                <a:ea typeface="华文细黑" panose="02010600040101010101" pitchFamily="2" charset="-122"/>
              </a:rPr>
              <a:t>，上午时角为负值，下午时角为正值。地球自转一周</a:t>
            </a:r>
            <a:r>
              <a:rPr lang="en-US" altLang="zh-TW" sz="2000" b="1" dirty="0">
                <a:solidFill>
                  <a:srgbClr val="080808"/>
                </a:solidFill>
                <a:latin typeface="华文细黑" panose="02010600040101010101" pitchFamily="2" charset="-122"/>
                <a:ea typeface="华文细黑" panose="02010600040101010101" pitchFamily="2" charset="-122"/>
              </a:rPr>
              <a:t>360</a:t>
            </a:r>
            <a:r>
              <a:rPr lang="zh-TW" altLang="en-US" sz="2000" b="1" dirty="0">
                <a:solidFill>
                  <a:srgbClr val="080808"/>
                </a:solidFill>
                <a:latin typeface="华文细黑" panose="02010600040101010101" pitchFamily="2" charset="-122"/>
                <a:ea typeface="华文细黑" panose="02010600040101010101" pitchFamily="2" charset="-122"/>
              </a:rPr>
              <a:t>度，对应的时间为</a:t>
            </a:r>
            <a:r>
              <a:rPr lang="en-US" altLang="zh-TW" sz="2000" b="1" dirty="0">
                <a:solidFill>
                  <a:srgbClr val="080808"/>
                </a:solidFill>
                <a:latin typeface="华文细黑" panose="02010600040101010101" pitchFamily="2" charset="-122"/>
                <a:ea typeface="华文细黑" panose="02010600040101010101" pitchFamily="2" charset="-122"/>
              </a:rPr>
              <a:t>24</a:t>
            </a:r>
            <a:r>
              <a:rPr lang="zh-TW" altLang="en-US" sz="2000" b="1" dirty="0">
                <a:solidFill>
                  <a:srgbClr val="080808"/>
                </a:solidFill>
                <a:latin typeface="华文细黑" panose="02010600040101010101" pitchFamily="2" charset="-122"/>
                <a:ea typeface="华文细黑" panose="02010600040101010101" pitchFamily="2" charset="-122"/>
              </a:rPr>
              <a:t>小时，即每小时相应的时角为</a:t>
            </a:r>
            <a:r>
              <a:rPr lang="en-US" altLang="zh-TW" sz="2000" b="1" dirty="0">
                <a:solidFill>
                  <a:srgbClr val="080808"/>
                </a:solidFill>
                <a:latin typeface="华文细黑" panose="02010600040101010101" pitchFamily="2" charset="-122"/>
                <a:ea typeface="华文细黑" panose="02010600040101010101" pitchFamily="2" charset="-122"/>
              </a:rPr>
              <a:t>15</a:t>
            </a:r>
            <a:r>
              <a:rPr lang="zh-TW" altLang="en-US" sz="2000" b="1" dirty="0">
                <a:solidFill>
                  <a:srgbClr val="080808"/>
                </a:solidFill>
                <a:latin typeface="华文细黑" panose="02010600040101010101" pitchFamily="2" charset="-122"/>
                <a:ea typeface="华文细黑" panose="02010600040101010101" pitchFamily="2" charset="-122"/>
              </a:rPr>
              <a:t>度。</a:t>
            </a:r>
            <a:endParaRPr lang="en-US" altLang="ja-JP" sz="2000" b="1" dirty="0">
              <a:solidFill>
                <a:srgbClr val="080808"/>
              </a:solidFill>
              <a:latin typeface="华文细黑" panose="02010600040101010101" pitchFamily="2" charset="-122"/>
              <a:ea typeface="华文细黑" panose="02010600040101010101" pitchFamily="2" charset="-122"/>
            </a:endParaRPr>
          </a:p>
          <a:p>
            <a:pPr marL="342900" indent="-342900" eaLnBrk="1" hangingPunct="1">
              <a:lnSpc>
                <a:spcPct val="120000"/>
              </a:lnSpc>
              <a:buFont typeface="Wingdings" panose="05000000000000000000" pitchFamily="2" charset="2"/>
              <a:buChar char="Ø"/>
            </a:pPr>
            <a:r>
              <a:rPr lang="zh-TW" altLang="en-US" sz="2000" b="1" dirty="0">
                <a:solidFill>
                  <a:srgbClr val="080808"/>
                </a:solidFill>
                <a:latin typeface="华文细黑" panose="02010600040101010101" pitchFamily="2" charset="-122"/>
                <a:ea typeface="华文细黑" panose="02010600040101010101" pitchFamily="2" charset="-122"/>
              </a:rPr>
              <a:t>以地球为例，在地球上，同一时刻，对同一经度，不同纬度的人来说，太阳对应的时角是相同的。</a:t>
            </a:r>
            <a:endParaRPr lang="en-US" altLang="zh-TW" sz="2000" b="1" dirty="0">
              <a:solidFill>
                <a:srgbClr val="080808"/>
              </a:solidFill>
              <a:latin typeface="华文细黑" panose="02010600040101010101" pitchFamily="2" charset="-122"/>
              <a:ea typeface="华文细黑" panose="02010600040101010101" pitchFamily="2" charset="-122"/>
            </a:endParaRPr>
          </a:p>
        </p:txBody>
      </p:sp>
    </p:spTree>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xfrm>
            <a:off x="468313" y="-26987"/>
            <a:ext cx="8229600" cy="1143000"/>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5</a:t>
            </a:r>
            <a:r>
              <a:rPr lang="zh-CN" altLang="en-US" dirty="0">
                <a:solidFill>
                  <a:srgbClr val="FFFF00"/>
                </a:solidFill>
                <a:latin typeface="黑体" panose="02010609060101010101" pitchFamily="49" charset="-122"/>
                <a:ea typeface="黑体" panose="02010609060101010101" pitchFamily="49" charset="-122"/>
              </a:rPr>
              <a:t>、太阳方位角</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31747" name="Content Placeholder 2"/>
          <p:cNvSpPr>
            <a:spLocks noGrp="1"/>
          </p:cNvSpPr>
          <p:nvPr>
            <p:ph idx="1"/>
          </p:nvPr>
        </p:nvSpPr>
        <p:spPr>
          <a:xfrm>
            <a:off x="323850" y="1341438"/>
            <a:ext cx="8280400" cy="863600"/>
          </a:xfrm>
          <a:ln/>
        </p:spPr>
        <p:txBody>
          <a:bodyPr vert="horz" wrap="square" lIns="91440" tIns="45720" rIns="91440" bIns="45720" anchor="t" anchorCtr="0"/>
          <a:p>
            <a:pPr>
              <a:buFont typeface="Wingdings" panose="05000000000000000000" pitchFamily="2" charset="2"/>
              <a:buChar char="Ø"/>
            </a:pPr>
            <a:r>
              <a:rPr lang="zh-CN" altLang="en-US" sz="2400" dirty="0">
                <a:solidFill>
                  <a:srgbClr val="FF0000"/>
                </a:solidFill>
                <a:latin typeface="华文细黑" panose="02010600040101010101" pitchFamily="2" charset="-122"/>
                <a:ea typeface="华文细黑" panose="02010600040101010101" pitchFamily="2" charset="-122"/>
              </a:rPr>
              <a:t>定义：</a:t>
            </a:r>
            <a:r>
              <a:rPr lang="zh-CN" altLang="en-US" sz="2400" dirty="0">
                <a:latin typeface="华文细黑" panose="02010600040101010101" pitchFamily="2" charset="-122"/>
                <a:ea typeface="华文细黑" panose="02010600040101010101" pitchFamily="2" charset="-122"/>
              </a:rPr>
              <a:t>太阳光线在水平面上的投影和当地子午线的夹角。</a:t>
            </a:r>
            <a:endParaRPr lang="en-US" altLang="zh-CN" sz="2400" dirty="0">
              <a:latin typeface="华文细黑" panose="02010600040101010101" pitchFamily="2" charset="-122"/>
              <a:ea typeface="华文细黑" panose="02010600040101010101" pitchFamily="2" charset="-122"/>
            </a:endParaRPr>
          </a:p>
        </p:txBody>
      </p:sp>
      <p:graphicFrame>
        <p:nvGraphicFramePr>
          <p:cNvPr id="31748" name="Object 4"/>
          <p:cNvGraphicFramePr>
            <a:graphicFrameLocks noChangeAspect="1"/>
          </p:cNvGraphicFramePr>
          <p:nvPr/>
        </p:nvGraphicFramePr>
        <p:xfrm>
          <a:off x="588963" y="2330450"/>
          <a:ext cx="8086725" cy="738188"/>
        </p:xfrm>
        <a:graphic>
          <a:graphicData uri="http://schemas.openxmlformats.org/presentationml/2006/ole">
            <mc:AlternateContent xmlns:mc="http://schemas.openxmlformats.org/markup-compatibility/2006">
              <mc:Choice xmlns:v="urn:schemas-microsoft-com:vml" Requires="v">
                <p:oleObj spid="_x0000_s3079" name="" r:id="rId1" imgW="2959100" imgH="215900" progId="Equation.3">
                  <p:embed/>
                </p:oleObj>
              </mc:Choice>
              <mc:Fallback>
                <p:oleObj name="" r:id="rId1" imgW="2959100" imgH="215900" progId="Equation.3">
                  <p:embed/>
                  <p:pic>
                    <p:nvPicPr>
                      <p:cNvPr id="0" name="图片 3078"/>
                      <p:cNvPicPr/>
                      <p:nvPr/>
                    </p:nvPicPr>
                    <p:blipFill>
                      <a:blip r:embed="rId2"/>
                      <a:stretch>
                        <a:fillRect/>
                      </a:stretch>
                    </p:blipFill>
                    <p:spPr>
                      <a:xfrm>
                        <a:off x="588963" y="2330450"/>
                        <a:ext cx="8086725" cy="738188"/>
                      </a:xfrm>
                      <a:prstGeom prst="rect">
                        <a:avLst/>
                      </a:prstGeom>
                      <a:solidFill>
                        <a:srgbClr val="92D050"/>
                      </a:solidFill>
                      <a:ln w="38100">
                        <a:noFill/>
                        <a:miter/>
                      </a:ln>
                    </p:spPr>
                  </p:pic>
                </p:oleObj>
              </mc:Fallback>
            </mc:AlternateContent>
          </a:graphicData>
        </a:graphic>
      </p:graphicFrame>
      <p:sp>
        <p:nvSpPr>
          <p:cNvPr id="31749" name="TextBox 3"/>
          <p:cNvSpPr txBox="1"/>
          <p:nvPr/>
        </p:nvSpPr>
        <p:spPr>
          <a:xfrm>
            <a:off x="3132138" y="3716338"/>
            <a:ext cx="2327275" cy="1687512"/>
          </a:xfrm>
          <a:prstGeom prst="rect">
            <a:avLst/>
          </a:prstGeom>
          <a:noFill/>
          <a:ln w="28575" cap="flat" cmpd="sng">
            <a:solidFill>
              <a:srgbClr val="FF33CC"/>
            </a:solidFill>
            <a:prstDash val="solid"/>
            <a:miter/>
            <a:headEnd type="none" w="med" len="med"/>
            <a:tailEnd type="none" w="med" len="med"/>
          </a:ln>
        </p:spPr>
        <p:txBody>
          <a:bodyPr wrap="none">
            <a:spAutoFit/>
          </a:bodyPr>
          <a:p>
            <a:pPr eaLnBrk="1" hangingPunct="1">
              <a:lnSpc>
                <a:spcPct val="150000"/>
              </a:lnSpc>
            </a:pPr>
            <a:r>
              <a:rPr lang="zh-CN" altLang="en-US" sz="2400" b="1" dirty="0">
                <a:solidFill>
                  <a:srgbClr val="0000FF"/>
                </a:solidFill>
                <a:latin typeface="华文细黑" panose="02010600040101010101" pitchFamily="2" charset="-122"/>
                <a:ea typeface="华文细黑" panose="02010600040101010101" pitchFamily="2" charset="-122"/>
              </a:rPr>
              <a:t>正北：</a:t>
            </a:r>
            <a:r>
              <a:rPr lang="en-US" altLang="zh-CN" sz="2400" b="1" dirty="0">
                <a:solidFill>
                  <a:srgbClr val="0000FF"/>
                </a:solidFill>
                <a:latin typeface="华文细黑" panose="02010600040101010101" pitchFamily="2" charset="-122"/>
                <a:ea typeface="华文细黑" panose="02010600040101010101" pitchFamily="2" charset="-122"/>
              </a:rPr>
              <a:t>a=0</a:t>
            </a:r>
            <a:endParaRPr lang="en-US" altLang="zh-CN" sz="2400" b="1" dirty="0">
              <a:solidFill>
                <a:srgbClr val="0000FF"/>
              </a:solidFill>
              <a:latin typeface="华文细黑" panose="02010600040101010101" pitchFamily="2" charset="-122"/>
              <a:ea typeface="华文细黑" panose="02010600040101010101" pitchFamily="2" charset="-122"/>
            </a:endParaRPr>
          </a:p>
          <a:p>
            <a:pPr eaLnBrk="1" hangingPunct="1">
              <a:lnSpc>
                <a:spcPct val="150000"/>
              </a:lnSpc>
            </a:pPr>
            <a:r>
              <a:rPr lang="zh-CN" altLang="en-US" sz="2400" b="1" dirty="0">
                <a:solidFill>
                  <a:srgbClr val="0000FF"/>
                </a:solidFill>
                <a:latin typeface="华文细黑" panose="02010600040101010101" pitchFamily="2" charset="-122"/>
                <a:ea typeface="华文细黑" panose="02010600040101010101" pitchFamily="2" charset="-122"/>
              </a:rPr>
              <a:t>正东：</a:t>
            </a:r>
            <a:r>
              <a:rPr lang="en-US" altLang="zh-CN" sz="2400" b="1" dirty="0">
                <a:solidFill>
                  <a:srgbClr val="0000FF"/>
                </a:solidFill>
                <a:latin typeface="华文细黑" panose="02010600040101010101" pitchFamily="2" charset="-122"/>
                <a:ea typeface="华文细黑" panose="02010600040101010101" pitchFamily="2" charset="-122"/>
              </a:rPr>
              <a:t>a=90°</a:t>
            </a:r>
            <a:endParaRPr lang="en-US" altLang="zh-CN" sz="2400" b="1" baseline="30000" dirty="0">
              <a:solidFill>
                <a:srgbClr val="0000FF"/>
              </a:solidFill>
              <a:latin typeface="华文细黑" panose="02010600040101010101" pitchFamily="2" charset="-122"/>
              <a:ea typeface="华文细黑" panose="02010600040101010101" pitchFamily="2" charset="-122"/>
            </a:endParaRPr>
          </a:p>
          <a:p>
            <a:pPr eaLnBrk="1" hangingPunct="1">
              <a:lnSpc>
                <a:spcPct val="150000"/>
              </a:lnSpc>
            </a:pPr>
            <a:r>
              <a:rPr lang="zh-CN" altLang="en-US" sz="2400" b="1" dirty="0">
                <a:solidFill>
                  <a:srgbClr val="0000FF"/>
                </a:solidFill>
                <a:latin typeface="华文细黑" panose="02010600040101010101" pitchFamily="2" charset="-122"/>
                <a:ea typeface="华文细黑" panose="02010600040101010101" pitchFamily="2" charset="-122"/>
              </a:rPr>
              <a:t>正西：</a:t>
            </a:r>
            <a:r>
              <a:rPr lang="en-US" altLang="zh-CN" sz="2400" b="1" dirty="0">
                <a:solidFill>
                  <a:srgbClr val="0000FF"/>
                </a:solidFill>
                <a:latin typeface="华文细黑" panose="02010600040101010101" pitchFamily="2" charset="-122"/>
                <a:ea typeface="华文细黑" panose="02010600040101010101" pitchFamily="2" charset="-122"/>
              </a:rPr>
              <a:t>a=270°</a:t>
            </a:r>
            <a:endParaRPr lang="en-US" altLang="zh-CN" sz="2400" b="1"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Title 1"/>
          <p:cNvSpPr>
            <a:spLocks noGrp="1"/>
          </p:cNvSpPr>
          <p:nvPr>
            <p:ph type="title"/>
          </p:nvPr>
        </p:nvSpPr>
        <p:spPr>
          <a:ln/>
        </p:spPr>
        <p:txBody>
          <a:bodyPr vert="horz" wrap="square" lIns="91440" tIns="45720" rIns="91440" bIns="45720" anchor="ctr" anchorCtr="0"/>
          <a:p>
            <a:pPr algn="ctr"/>
            <a:r>
              <a:rPr lang="en-US" altLang="en-US" dirty="0">
                <a:solidFill>
                  <a:srgbClr val="FFFF00"/>
                </a:solidFill>
                <a:latin typeface="黑体" panose="02010609060101010101" pitchFamily="49" charset="-122"/>
                <a:ea typeface="黑体" panose="02010609060101010101" pitchFamily="49" charset="-122"/>
              </a:rPr>
              <a:t>特殊时刻方位角的计算</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32771" name="Content Placeholder 2"/>
          <p:cNvSpPr>
            <a:spLocks noGrp="1"/>
          </p:cNvSpPr>
          <p:nvPr>
            <p:ph idx="1"/>
          </p:nvPr>
        </p:nvSpPr>
        <p:spPr>
          <a:xfrm>
            <a:off x="900113" y="1743075"/>
            <a:ext cx="3249612" cy="749300"/>
          </a:xfrm>
          <a:ln/>
        </p:spPr>
        <p:txBody>
          <a:bodyPr vert="horz" wrap="square" lIns="91440" tIns="45720" rIns="91440" bIns="45720" anchor="t" anchorCtr="0"/>
          <a:p>
            <a:pPr marL="0" indent="0">
              <a:buNone/>
            </a:pPr>
            <a:r>
              <a:rPr lang="zh-CN" altLang="en-US" dirty="0">
                <a:solidFill>
                  <a:srgbClr val="0000FF"/>
                </a:solidFill>
                <a:latin typeface="华文细黑" panose="02010600040101010101" pitchFamily="2" charset="-122"/>
                <a:ea typeface="华文细黑" panose="02010600040101010101" pitchFamily="2" charset="-122"/>
              </a:rPr>
              <a:t>日出日落时</a:t>
            </a:r>
            <a:r>
              <a:rPr lang="en-US" altLang="zh-CN" dirty="0">
                <a:solidFill>
                  <a:srgbClr val="0000FF"/>
                </a:solidFill>
                <a:latin typeface="华文细黑" panose="02010600040101010101" pitchFamily="2" charset="-122"/>
                <a:ea typeface="华文细黑" panose="02010600040101010101" pitchFamily="2" charset="-122"/>
              </a:rPr>
              <a:t>,</a:t>
            </a:r>
            <a:r>
              <a:rPr lang="el-GR" altLang="zh-CN" i="1" dirty="0">
                <a:solidFill>
                  <a:srgbClr val="0000FF"/>
                </a:solidFill>
                <a:latin typeface="华文细黑" panose="02010600040101010101" pitchFamily="2" charset="-122"/>
                <a:ea typeface="华文细黑" panose="02010600040101010101" pitchFamily="2" charset="-122"/>
              </a:rPr>
              <a:t>θ</a:t>
            </a:r>
            <a:r>
              <a:rPr lang="en-US" altLang="zh-CN" dirty="0">
                <a:solidFill>
                  <a:srgbClr val="0000FF"/>
                </a:solidFill>
                <a:latin typeface="华文细黑" panose="02010600040101010101" pitchFamily="2" charset="-122"/>
                <a:ea typeface="华文细黑" panose="02010600040101010101" pitchFamily="2" charset="-122"/>
              </a:rPr>
              <a:t>=90</a:t>
            </a:r>
            <a:r>
              <a:rPr lang="en-US" altLang="zh-CN" baseline="30000" dirty="0">
                <a:solidFill>
                  <a:srgbClr val="0000FF"/>
                </a:solidFill>
                <a:latin typeface="华文细黑" panose="02010600040101010101" pitchFamily="2" charset="-122"/>
                <a:ea typeface="华文细黑" panose="02010600040101010101" pitchFamily="2" charset="-122"/>
              </a:rPr>
              <a:t>o </a:t>
            </a:r>
            <a:r>
              <a:rPr lang="en-US" altLang="zh-CN" dirty="0">
                <a:solidFill>
                  <a:srgbClr val="0000FF"/>
                </a:solidFill>
                <a:latin typeface="华文细黑" panose="02010600040101010101" pitchFamily="2" charset="-122"/>
                <a:ea typeface="华文细黑" panose="02010600040101010101" pitchFamily="2" charset="-122"/>
              </a:rPr>
              <a:t>:</a:t>
            </a:r>
            <a:endParaRPr lang="en-US" altLang="zh-CN" dirty="0">
              <a:solidFill>
                <a:srgbClr val="0000FF"/>
              </a:solidFill>
              <a:latin typeface="华文细黑" panose="02010600040101010101" pitchFamily="2" charset="-122"/>
              <a:ea typeface="华文细黑" panose="02010600040101010101" pitchFamily="2" charset="-122"/>
            </a:endParaRPr>
          </a:p>
        </p:txBody>
      </p:sp>
      <p:graphicFrame>
        <p:nvGraphicFramePr>
          <p:cNvPr id="32772" name="Object 4"/>
          <p:cNvGraphicFramePr>
            <a:graphicFrameLocks noChangeAspect="1"/>
          </p:cNvGraphicFramePr>
          <p:nvPr/>
        </p:nvGraphicFramePr>
        <p:xfrm>
          <a:off x="4667250" y="1435100"/>
          <a:ext cx="2654300" cy="1108075"/>
        </p:xfrm>
        <a:graphic>
          <a:graphicData uri="http://schemas.openxmlformats.org/presentationml/2006/ole">
            <mc:AlternateContent xmlns:mc="http://schemas.openxmlformats.org/markup-compatibility/2006">
              <mc:Choice xmlns:v="urn:schemas-microsoft-com:vml" Requires="v">
                <p:oleObj spid="_x0000_s3084" name="" r:id="rId1" imgW="1028065" imgH="431800" progId="Equation.3">
                  <p:embed/>
                </p:oleObj>
              </mc:Choice>
              <mc:Fallback>
                <p:oleObj name="" r:id="rId1" imgW="1028065" imgH="431800" progId="Equation.3">
                  <p:embed/>
                  <p:pic>
                    <p:nvPicPr>
                      <p:cNvPr id="0" name="图片 3083"/>
                      <p:cNvPicPr/>
                      <p:nvPr/>
                    </p:nvPicPr>
                    <p:blipFill>
                      <a:blip r:embed="rId2"/>
                      <a:stretch>
                        <a:fillRect/>
                      </a:stretch>
                    </p:blipFill>
                    <p:spPr>
                      <a:xfrm>
                        <a:off x="4667250" y="1435100"/>
                        <a:ext cx="2654300" cy="1108075"/>
                      </a:xfrm>
                      <a:prstGeom prst="rect">
                        <a:avLst/>
                      </a:prstGeom>
                      <a:solidFill>
                        <a:srgbClr val="92D050"/>
                      </a:solidFill>
                      <a:ln w="38100">
                        <a:noFill/>
                        <a:miter/>
                      </a:ln>
                    </p:spPr>
                  </p:pic>
                </p:oleObj>
              </mc:Fallback>
            </mc:AlternateContent>
          </a:graphicData>
        </a:graphic>
      </p:graphicFrame>
      <p:sp>
        <p:nvSpPr>
          <p:cNvPr id="32773" name="TextBox 4"/>
          <p:cNvSpPr txBox="1"/>
          <p:nvPr/>
        </p:nvSpPr>
        <p:spPr>
          <a:xfrm>
            <a:off x="684213" y="2924175"/>
            <a:ext cx="8164512" cy="3638550"/>
          </a:xfrm>
          <a:prstGeom prst="rect">
            <a:avLst/>
          </a:prstGeom>
          <a:noFill/>
          <a:ln w="9525">
            <a:noFill/>
          </a:ln>
        </p:spPr>
        <p:txBody>
          <a:bodyPr wrap="none">
            <a:spAutoFit/>
          </a:bodyPr>
          <a:p>
            <a:pPr eaLnBrk="1" hangingPunct="1">
              <a:lnSpc>
                <a:spcPct val="120000"/>
              </a:lnSpc>
            </a:pPr>
            <a:r>
              <a:rPr lang="zh-CN" altLang="en-US" sz="2400" b="1" dirty="0">
                <a:solidFill>
                  <a:srgbClr val="0000FF"/>
                </a:solidFill>
                <a:latin typeface="华文细黑" panose="02010600040101010101" pitchFamily="2" charset="-122"/>
                <a:ea typeface="华文细黑" panose="02010600040101010101" pitchFamily="2" charset="-122"/>
              </a:rPr>
              <a:t>北半球方位角的季节变化：</a:t>
            </a:r>
            <a:endParaRPr lang="en-US" altLang="zh-CN" sz="2400" b="1" dirty="0">
              <a:solidFill>
                <a:srgbClr val="0000FF"/>
              </a:solidFill>
              <a:latin typeface="华文细黑" panose="02010600040101010101" pitchFamily="2" charset="-122"/>
              <a:ea typeface="华文细黑" panose="02010600040101010101" pitchFamily="2" charset="-122"/>
            </a:endParaRPr>
          </a:p>
          <a:p>
            <a:pPr eaLnBrk="1" hangingPunct="1">
              <a:lnSpc>
                <a:spcPct val="120000"/>
              </a:lnSpc>
              <a:buFont typeface="Wingdings" panose="05000000000000000000" pitchFamily="2" charset="2"/>
              <a:buChar char="Ø"/>
            </a:pPr>
            <a:r>
              <a:rPr lang="zh-CN" altLang="en-US" sz="2400" b="1" dirty="0">
                <a:solidFill>
                  <a:srgbClr val="080808"/>
                </a:solidFill>
                <a:latin typeface="华文细黑" panose="02010600040101010101" pitchFamily="2" charset="-122"/>
                <a:ea typeface="华文细黑" panose="02010600040101010101" pitchFamily="2" charset="-122"/>
              </a:rPr>
              <a:t> 除北极外，一年中只有春分日和秋分日，日出正东日落</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pPr>
            <a:r>
              <a:rPr lang="zh-CN" altLang="en-US" sz="2400" b="1" dirty="0">
                <a:solidFill>
                  <a:srgbClr val="080808"/>
                </a:solidFill>
                <a:latin typeface="华文细黑" panose="02010600040101010101" pitchFamily="2" charset="-122"/>
                <a:ea typeface="华文细黑" panose="02010600040101010101" pitchFamily="2" charset="-122"/>
              </a:rPr>
              <a:t>正西。</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buFont typeface="Wingdings" panose="05000000000000000000" pitchFamily="2" charset="2"/>
              <a:buChar char="Ø"/>
            </a:pPr>
            <a:r>
              <a:rPr lang="zh-CN" altLang="en-US" sz="2400" b="1" dirty="0">
                <a:solidFill>
                  <a:srgbClr val="080808"/>
                </a:solidFill>
                <a:latin typeface="华文细黑" panose="02010600040101010101" pitchFamily="2" charset="-122"/>
                <a:ea typeface="华文细黑" panose="02010600040101010101" pitchFamily="2" charset="-122"/>
              </a:rPr>
              <a:t> 夏半年内，日出东偏北方向，日落西偏北方向；且越接近</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pPr>
            <a:r>
              <a:rPr lang="zh-CN" altLang="en-US" sz="2400" b="1" dirty="0">
                <a:solidFill>
                  <a:srgbClr val="080808"/>
                </a:solidFill>
                <a:latin typeface="华文细黑" panose="02010600040101010101" pitchFamily="2" charset="-122"/>
                <a:ea typeface="华文细黑" panose="02010600040101010101" pitchFamily="2" charset="-122"/>
              </a:rPr>
              <a:t>夏至日，日出日落方位越偏北；</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buFont typeface="Wingdings" panose="05000000000000000000" pitchFamily="2" charset="2"/>
              <a:buChar char="Ø"/>
            </a:pPr>
            <a:r>
              <a:rPr lang="zh-CN" altLang="en-US" sz="2400" b="1" dirty="0">
                <a:solidFill>
                  <a:srgbClr val="080808"/>
                </a:solidFill>
                <a:latin typeface="华文细黑" panose="02010600040101010101" pitchFamily="2" charset="-122"/>
                <a:ea typeface="华文细黑" panose="02010600040101010101" pitchFamily="2" charset="-122"/>
              </a:rPr>
              <a:t> 冬半年内，日出东偏南方向，日落西偏南方向；且越接近</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pPr>
            <a:r>
              <a:rPr lang="zh-CN" altLang="en-US" sz="2400" b="1" dirty="0">
                <a:solidFill>
                  <a:srgbClr val="080808"/>
                </a:solidFill>
                <a:latin typeface="华文细黑" panose="02010600040101010101" pitchFamily="2" charset="-122"/>
                <a:ea typeface="华文细黑" panose="02010600040101010101" pitchFamily="2" charset="-122"/>
              </a:rPr>
              <a:t>冬至日，日出日落方位越偏南。</a:t>
            </a:r>
            <a:endParaRPr lang="en-US" altLang="zh-CN" sz="2400" b="1" dirty="0">
              <a:solidFill>
                <a:srgbClr val="080808"/>
              </a:solidFill>
              <a:latin typeface="华文细黑" panose="02010600040101010101" pitchFamily="2" charset="-122"/>
              <a:ea typeface="华文细黑" panose="02010600040101010101" pitchFamily="2" charset="-122"/>
            </a:endParaRPr>
          </a:p>
          <a:p>
            <a:pPr eaLnBrk="1" hangingPunct="1">
              <a:lnSpc>
                <a:spcPct val="120000"/>
              </a:lnSpc>
              <a:buFont typeface="Wingdings" panose="05000000000000000000" pitchFamily="2" charset="2"/>
              <a:buChar char="Ø"/>
            </a:pPr>
            <a:r>
              <a:rPr lang="zh-CN" altLang="en-US" sz="2400" b="1" dirty="0">
                <a:solidFill>
                  <a:srgbClr val="080808"/>
                </a:solidFill>
                <a:latin typeface="华文细黑" panose="02010600040101010101" pitchFamily="2" charset="-122"/>
                <a:ea typeface="华文细黑" panose="02010600040101010101" pitchFamily="2" charset="-122"/>
              </a:rPr>
              <a:t> 南半球相反。</a:t>
            </a:r>
            <a:endParaRPr lang="zh-CN" altLang="en-US" sz="2400" b="1" dirty="0">
              <a:solidFill>
                <a:srgbClr val="080808"/>
              </a:solidFill>
              <a:latin typeface="华文细黑" panose="02010600040101010101" pitchFamily="2" charset="-122"/>
              <a:ea typeface="华文细黑" panose="02010600040101010101" pitchFamily="2" charset="-122"/>
            </a:endParaRPr>
          </a:p>
        </p:txBody>
      </p:sp>
    </p:spTree>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extBox 2"/>
          <p:cNvSpPr txBox="1"/>
          <p:nvPr/>
        </p:nvSpPr>
        <p:spPr>
          <a:xfrm>
            <a:off x="468313" y="6300788"/>
            <a:ext cx="8496300" cy="368300"/>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33795" name="Title 1"/>
          <p:cNvSpPr>
            <a:spLocks noGrp="1"/>
          </p:cNvSpPr>
          <p:nvPr>
            <p:ph type="title"/>
          </p:nvPr>
        </p:nvSpPr>
        <p:spPr>
          <a:xfrm>
            <a:off x="468313" y="44450"/>
            <a:ext cx="8229600" cy="1143000"/>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6</a:t>
            </a:r>
            <a:r>
              <a:rPr lang="zh-CN" altLang="en-US" dirty="0">
                <a:solidFill>
                  <a:srgbClr val="FFFF00"/>
                </a:solidFill>
                <a:latin typeface="黑体" panose="02010609060101010101" pitchFamily="49" charset="-122"/>
                <a:ea typeface="黑体" panose="02010609060101010101" pitchFamily="49" charset="-122"/>
              </a:rPr>
              <a:t>、太阳天顶角</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33796" name="Picture 3"/>
          <p:cNvPicPr>
            <a:picLocks noChangeAspect="1"/>
          </p:cNvPicPr>
          <p:nvPr/>
        </p:nvPicPr>
        <p:blipFill>
          <a:blip r:embed="rId1"/>
          <a:stretch>
            <a:fillRect/>
          </a:stretch>
        </p:blipFill>
        <p:spPr>
          <a:xfrm>
            <a:off x="2300288" y="3198813"/>
            <a:ext cx="4552950" cy="3614737"/>
          </a:xfrm>
          <a:prstGeom prst="rect">
            <a:avLst/>
          </a:prstGeom>
          <a:noFill/>
          <a:ln w="9525">
            <a:noFill/>
          </a:ln>
        </p:spPr>
      </p:pic>
      <p:sp>
        <p:nvSpPr>
          <p:cNvPr id="33797" name="Content Placeholder 2"/>
          <p:cNvSpPr>
            <a:spLocks noGrp="1"/>
          </p:cNvSpPr>
          <p:nvPr>
            <p:ph idx="1"/>
          </p:nvPr>
        </p:nvSpPr>
        <p:spPr>
          <a:xfrm>
            <a:off x="395288" y="1268413"/>
            <a:ext cx="8280400" cy="1152525"/>
          </a:xfrm>
          <a:ln/>
        </p:spPr>
        <p:txBody>
          <a:bodyPr vert="horz" wrap="square" lIns="91440" tIns="45720" rIns="91440" bIns="45720" anchor="t" anchorCtr="0"/>
          <a:p>
            <a:pPr>
              <a:lnSpc>
                <a:spcPct val="150000"/>
              </a:lnSpc>
              <a:buFont typeface="Wingdings" panose="05000000000000000000" pitchFamily="2" charset="2"/>
              <a:buChar char="Ø"/>
            </a:pPr>
            <a:r>
              <a:rPr lang="zh-CN" altLang="en-US" sz="2400" dirty="0">
                <a:solidFill>
                  <a:srgbClr val="FF0000"/>
                </a:solidFill>
                <a:latin typeface="华文细黑" panose="02010600040101010101" pitchFamily="2" charset="-122"/>
                <a:ea typeface="华文细黑" panose="02010600040101010101" pitchFamily="2" charset="-122"/>
              </a:rPr>
              <a:t>定义：</a:t>
            </a:r>
            <a:r>
              <a:rPr lang="zh-CN" altLang="en-US" sz="2400" dirty="0">
                <a:solidFill>
                  <a:srgbClr val="0000FF"/>
                </a:solidFill>
                <a:latin typeface="华文细黑" panose="02010600040101010101" pitchFamily="2" charset="-122"/>
                <a:ea typeface="华文细黑" panose="02010600040101010101" pitchFamily="2" charset="-122"/>
              </a:rPr>
              <a:t>当地天顶与观测者和太阳连线之间的夹角，其值在</a:t>
            </a:r>
            <a:r>
              <a:rPr lang="en-US" altLang="zh-CN" sz="2400" dirty="0">
                <a:solidFill>
                  <a:srgbClr val="0000FF"/>
                </a:solidFill>
                <a:latin typeface="华文细黑" panose="02010600040101010101" pitchFamily="2" charset="-122"/>
                <a:ea typeface="华文细黑" panose="02010600040101010101" pitchFamily="2" charset="-122"/>
              </a:rPr>
              <a:t>0º~90º</a:t>
            </a:r>
            <a:r>
              <a:rPr lang="zh-CN" altLang="en-US" sz="2400" dirty="0">
                <a:solidFill>
                  <a:srgbClr val="0000FF"/>
                </a:solidFill>
                <a:latin typeface="华文细黑" panose="02010600040101010101" pitchFamily="2" charset="-122"/>
                <a:ea typeface="华文细黑" panose="02010600040101010101" pitchFamily="2" charset="-122"/>
              </a:rPr>
              <a:t>之间。</a:t>
            </a:r>
            <a:endParaRPr lang="zh-CN" altLang="en-US" sz="2400" dirty="0">
              <a:solidFill>
                <a:srgbClr val="0000FF"/>
              </a:solidFill>
              <a:latin typeface="华文细黑" panose="02010600040101010101" pitchFamily="2" charset="-122"/>
              <a:ea typeface="华文细黑" panose="02010600040101010101" pitchFamily="2" charset="-122"/>
            </a:endParaRPr>
          </a:p>
          <a:p>
            <a:pPr>
              <a:buFont typeface="Wingdings" panose="05000000000000000000" pitchFamily="2" charset="2"/>
              <a:buChar char="Ø"/>
            </a:pPr>
            <a:endParaRPr lang="en-US" altLang="zh-CN" sz="2400" dirty="0">
              <a:ea typeface="宋体" panose="02010600030101010101" pitchFamily="2" charset="-122"/>
            </a:endParaRPr>
          </a:p>
        </p:txBody>
      </p:sp>
      <p:graphicFrame>
        <p:nvGraphicFramePr>
          <p:cNvPr id="33798" name="Object 6"/>
          <p:cNvGraphicFramePr>
            <a:graphicFrameLocks noChangeAspect="1"/>
          </p:cNvGraphicFramePr>
          <p:nvPr/>
        </p:nvGraphicFramePr>
        <p:xfrm>
          <a:off x="1476375" y="2574925"/>
          <a:ext cx="6926263" cy="638175"/>
        </p:xfrm>
        <a:graphic>
          <a:graphicData uri="http://schemas.openxmlformats.org/presentationml/2006/ole">
            <mc:AlternateContent xmlns:mc="http://schemas.openxmlformats.org/markup-compatibility/2006">
              <mc:Choice xmlns:v="urn:schemas-microsoft-com:vml" Requires="v">
                <p:oleObj spid="_x0000_s3082" name="" r:id="rId2" imgW="2139950" imgH="201295" progId="Equation.3">
                  <p:embed/>
                </p:oleObj>
              </mc:Choice>
              <mc:Fallback>
                <p:oleObj name="" r:id="rId2" imgW="2139950" imgH="201295" progId="Equation.3">
                  <p:embed/>
                  <p:pic>
                    <p:nvPicPr>
                      <p:cNvPr id="0" name="图片 3081"/>
                      <p:cNvPicPr/>
                      <p:nvPr/>
                    </p:nvPicPr>
                    <p:blipFill>
                      <a:blip r:embed="rId3"/>
                      <a:stretch>
                        <a:fillRect/>
                      </a:stretch>
                    </p:blipFill>
                    <p:spPr>
                      <a:xfrm>
                        <a:off x="1476375" y="2574925"/>
                        <a:ext cx="6926263" cy="638175"/>
                      </a:xfrm>
                      <a:prstGeom prst="rect">
                        <a:avLst/>
                      </a:prstGeom>
                      <a:solidFill>
                        <a:srgbClr val="92D050"/>
                      </a:solidFill>
                      <a:ln w="38100">
                        <a:noFill/>
                        <a:miter/>
                      </a:ln>
                    </p:spPr>
                  </p:pic>
                </p:oleObj>
              </mc:Fallback>
            </mc:AlternateContent>
          </a:graphicData>
        </a:graphic>
      </p:graphicFrame>
      <p:sp>
        <p:nvSpPr>
          <p:cNvPr id="33799" name="矩形 1"/>
          <p:cNvSpPr/>
          <p:nvPr/>
        </p:nvSpPr>
        <p:spPr>
          <a:xfrm>
            <a:off x="5292725" y="6165850"/>
            <a:ext cx="1439863" cy="503238"/>
          </a:xfrm>
          <a:prstGeom prst="rect">
            <a:avLst/>
          </a:prstGeom>
          <a:solidFill>
            <a:schemeClr val="bg1"/>
          </a:solidFill>
          <a:ln w="9525" cap="flat" cmpd="sng">
            <a:solidFill>
              <a:schemeClr val="bg1"/>
            </a:solidFill>
            <a:prstDash val="solid"/>
            <a:round/>
            <a:headEnd type="none" w="med" len="med"/>
            <a:tailEnd type="none" w="med" len="med"/>
          </a:ln>
        </p:spPr>
        <p:txBody>
          <a:bodyPr/>
          <a:p>
            <a:pPr eaLnBrk="1" hangingPunct="1"/>
            <a:endParaRPr lang="zh-CN" altLang="en-US" dirty="0">
              <a:latin typeface="Arial" panose="020B0604020202020204" pitchFamily="34" charset="0"/>
              <a:ea typeface="宋体" panose="02010600030101010101" pitchFamily="2" charset="-122"/>
            </a:endParaRPr>
          </a:p>
        </p:txBody>
      </p:sp>
    </p:spTree>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extBox 1"/>
          <p:cNvSpPr txBox="1"/>
          <p:nvPr/>
        </p:nvSpPr>
        <p:spPr>
          <a:xfrm>
            <a:off x="323850" y="6237288"/>
            <a:ext cx="8605838" cy="369887"/>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31747" name="TextBox 1"/>
          <p:cNvSpPr txBox="1">
            <a:spLocks noChangeArrowheads="1"/>
          </p:cNvSpPr>
          <p:nvPr/>
        </p:nvSpPr>
        <p:spPr bwMode="auto">
          <a:xfrm>
            <a:off x="1428750" y="211138"/>
            <a:ext cx="7572375" cy="584200"/>
          </a:xfrm>
          <a:prstGeom prst="rect">
            <a:avLst/>
          </a:prstGeom>
          <a:noFill/>
          <a:ln>
            <a:noFill/>
          </a:ln>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 typeface="Arial" panose="020B0604020202020204" pitchFamily="34" charset="0"/>
              <a:buNone/>
              <a:defRPr/>
            </a:pPr>
            <a:r>
              <a:rPr kumimoji="0" lang="en-US" altLang="zh-CN" sz="3200" b="1" i="0" u="none" strike="noStrike" kern="120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rPr>
              <a:t>7</a:t>
            </a:r>
            <a:r>
              <a:rPr kumimoji="0" lang="zh-CN" altLang="en-US" sz="3200" b="1" i="0" u="none" strike="noStrike" kern="120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rPr>
              <a:t>、太阳时</a:t>
            </a:r>
            <a:endParaRPr kumimoji="0" lang="zh-CN" altLang="en-US" sz="3200" b="1" i="0" u="none" strike="noStrike" kern="1200" cap="none" spc="0" normalizeH="0" baseline="0" noProof="0" dirty="0">
              <a:ln>
                <a:noFill/>
              </a:ln>
              <a:solidFill>
                <a:srgbClr val="FFFF00"/>
              </a:solidFill>
              <a:effectLst/>
              <a:uLnTx/>
              <a:uFillTx/>
              <a:latin typeface="黑体" panose="02010609060101010101" pitchFamily="49" charset="-122"/>
              <a:ea typeface="黑体" panose="02010609060101010101" pitchFamily="49" charset="-122"/>
              <a:cs typeface="+mj-cs"/>
            </a:endParaRPr>
          </a:p>
        </p:txBody>
      </p:sp>
      <p:sp>
        <p:nvSpPr>
          <p:cNvPr id="34820" name="TextBox 3"/>
          <p:cNvSpPr txBox="1"/>
          <p:nvPr/>
        </p:nvSpPr>
        <p:spPr>
          <a:xfrm>
            <a:off x="785813" y="1268413"/>
            <a:ext cx="8143875" cy="5448300"/>
          </a:xfrm>
          <a:prstGeom prst="rect">
            <a:avLst/>
          </a:prstGeom>
          <a:noFill/>
          <a:ln w="9525">
            <a:noFill/>
          </a:ln>
        </p:spPr>
        <p:txBody>
          <a:bodyPr>
            <a:spAutoFit/>
          </a:bodyPr>
          <a:p>
            <a:pPr marL="342900" indent="-342900" eaLnBrk="1" hangingPunct="1">
              <a:lnSpc>
                <a:spcPct val="130000"/>
              </a:lnSpc>
              <a:buFont typeface="Wingdings" panose="05000000000000000000" pitchFamily="2" charset="2"/>
              <a:buChar char="Ø"/>
            </a:pPr>
            <a:r>
              <a:rPr lang="zh-CN" altLang="en-US" sz="2000" b="1" dirty="0">
                <a:solidFill>
                  <a:srgbClr val="008000"/>
                </a:solidFill>
                <a:latin typeface="华文细黑" panose="02010600040101010101" pitchFamily="2" charset="-122"/>
                <a:ea typeface="华文细黑" panose="02010600040101010101" pitchFamily="2" charset="-122"/>
              </a:rPr>
              <a:t>太阳日：</a:t>
            </a:r>
            <a:r>
              <a:rPr lang="zh-CN" altLang="en-US" sz="2000" b="1" dirty="0">
                <a:latin typeface="华文细黑" panose="02010600040101010101" pitchFamily="2" charset="-122"/>
                <a:ea typeface="华文细黑" panose="02010600040101010101" pitchFamily="2" charset="-122"/>
              </a:rPr>
              <a:t>太阳相继两次经过同一地方子午圈所经历的时间。</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buFont typeface="Wingdings" panose="05000000000000000000" pitchFamily="2" charset="2"/>
              <a:buChar char="Ø"/>
            </a:pPr>
            <a:r>
              <a:rPr lang="zh-CN" altLang="en-US" sz="2000" b="1" dirty="0">
                <a:solidFill>
                  <a:srgbClr val="008000"/>
                </a:solidFill>
                <a:latin typeface="华文细黑" panose="02010600040101010101" pitchFamily="2" charset="-122"/>
                <a:ea typeface="华文细黑" panose="02010600040101010101" pitchFamily="2" charset="-122"/>
              </a:rPr>
              <a:t>真太阳日：</a:t>
            </a:r>
            <a:r>
              <a:rPr lang="zh-CN" altLang="en-US" sz="2000" b="1" dirty="0">
                <a:latin typeface="华文细黑" panose="02010600040101010101" pitchFamily="2" charset="-122"/>
                <a:ea typeface="华文细黑" panose="02010600040101010101" pitchFamily="2" charset="-122"/>
              </a:rPr>
              <a:t>对某一个观测点来说，太阳视圆面的中心连续两次上中天经历的时间。</a:t>
            </a:r>
            <a:r>
              <a:rPr lang="zh-CN" altLang="en-US" sz="2000" b="1" dirty="0">
                <a:solidFill>
                  <a:srgbClr val="008000"/>
                </a:solidFill>
                <a:latin typeface="华文细黑" panose="02010600040101010101" pitchFamily="2" charset="-122"/>
                <a:ea typeface="华文细黑" panose="02010600040101010101" pitchFamily="2" charset="-122"/>
              </a:rPr>
              <a:t>真太阳时：</a:t>
            </a:r>
            <a:r>
              <a:rPr lang="zh-CN" altLang="en-US" sz="2000" b="1" dirty="0">
                <a:latin typeface="华文细黑" panose="02010600040101010101" pitchFamily="2" charset="-122"/>
                <a:ea typeface="华文细黑" panose="02010600040101010101" pitchFamily="2" charset="-122"/>
              </a:rPr>
              <a:t>在数值上等于太阳视圆面中心的时角加上</a:t>
            </a:r>
            <a:r>
              <a:rPr lang="en-US" altLang="zh-CN" sz="2000" b="1" dirty="0">
                <a:latin typeface="华文细黑" panose="02010600040101010101" pitchFamily="2" charset="-122"/>
                <a:ea typeface="华文细黑" panose="02010600040101010101" pitchFamily="2" charset="-122"/>
              </a:rPr>
              <a:t>12</a:t>
            </a:r>
            <a:r>
              <a:rPr lang="zh-CN" altLang="en-US" sz="2000" b="1" dirty="0">
                <a:latin typeface="华文细黑" panose="02010600040101010101" pitchFamily="2" charset="-122"/>
                <a:ea typeface="华文细黑" panose="02010600040101010101" pitchFamily="2" charset="-122"/>
              </a:rPr>
              <a:t>小时。</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buFont typeface="Wingdings" panose="05000000000000000000" pitchFamily="2" charset="2"/>
              <a:buChar char="Ø"/>
            </a:pPr>
            <a:r>
              <a:rPr lang="zh-CN" altLang="en-US" sz="2000" b="1" dirty="0">
                <a:solidFill>
                  <a:srgbClr val="008000"/>
                </a:solidFill>
                <a:latin typeface="华文细黑" panose="02010600040101010101" pitchFamily="2" charset="-122"/>
                <a:ea typeface="华文细黑" panose="02010600040101010101" pitchFamily="2" charset="-122"/>
              </a:rPr>
              <a:t>平太阳日：</a:t>
            </a:r>
            <a:r>
              <a:rPr lang="zh-CN" altLang="en-US" sz="2000" b="1" dirty="0">
                <a:latin typeface="华文细黑" panose="02010600040101010101" pitchFamily="2" charset="-122"/>
                <a:ea typeface="华文细黑" panose="02010600040101010101" pitchFamily="2" charset="-122"/>
              </a:rPr>
              <a:t>假想在太阳附近有一在赤道平面上作等速圆周运动的天体，其速度等于太阳视运动的平均速度，这个天体就是平太阳。</a:t>
            </a:r>
            <a:r>
              <a:rPr lang="zh-CN" altLang="en-US" sz="2000" b="1" dirty="0">
                <a:solidFill>
                  <a:srgbClr val="008000"/>
                </a:solidFill>
                <a:latin typeface="华文细黑" panose="02010600040101010101" pitchFamily="2" charset="-122"/>
                <a:ea typeface="华文细黑" panose="02010600040101010101" pitchFamily="2" charset="-122"/>
              </a:rPr>
              <a:t>平太阳时</a:t>
            </a:r>
            <a:r>
              <a:rPr lang="zh-CN" altLang="en-US" sz="2000" b="1" dirty="0">
                <a:latin typeface="华文细黑" panose="02010600040101010101" pitchFamily="2" charset="-122"/>
                <a:ea typeface="华文细黑" panose="02010600040101010101" pitchFamily="2" charset="-122"/>
              </a:rPr>
              <a:t>以平太阳在观测点下中天时刻作为起算点。</a:t>
            </a:r>
            <a:endParaRPr lang="en-US" altLang="zh-CN" sz="2000" b="1" dirty="0">
              <a:latin typeface="华文细黑" panose="02010600040101010101" pitchFamily="2" charset="-122"/>
              <a:ea typeface="华文细黑" panose="02010600040101010101" pitchFamily="2" charset="-122"/>
            </a:endParaRPr>
          </a:p>
          <a:p>
            <a:pPr marL="342900" indent="-342900">
              <a:lnSpc>
                <a:spcPct val="130000"/>
              </a:lnSpc>
              <a:buFont typeface="Wingdings" panose="05000000000000000000" pitchFamily="2" charset="2"/>
              <a:buChar char="Ø"/>
            </a:pPr>
            <a:r>
              <a:rPr lang="zh-CN" altLang="en-US" sz="2000" b="1" dirty="0">
                <a:solidFill>
                  <a:srgbClr val="008000"/>
                </a:solidFill>
                <a:latin typeface="华文细黑" panose="02010600040101010101" pitchFamily="2" charset="-122"/>
                <a:ea typeface="华文细黑" panose="02010600040101010101" pitchFamily="2" charset="-122"/>
              </a:rPr>
              <a:t>时差：</a:t>
            </a:r>
            <a:r>
              <a:rPr lang="zh-CN" altLang="en-US" sz="2000" b="1" dirty="0">
                <a:latin typeface="华文细黑" panose="02010600040101010101" pitchFamily="2" charset="-122"/>
                <a:ea typeface="华文细黑" panose="02010600040101010101" pitchFamily="2" charset="-122"/>
              </a:rPr>
              <a:t>真太阳时和平太阳时之间的差异。</a:t>
            </a:r>
            <a:endParaRPr lang="en-US" altLang="zh-CN" sz="2000" b="1" dirty="0">
              <a:latin typeface="华文细黑" panose="02010600040101010101" pitchFamily="2" charset="-122"/>
              <a:ea typeface="华文细黑" panose="02010600040101010101" pitchFamily="2" charset="-122"/>
            </a:endParaRPr>
          </a:p>
          <a:p>
            <a:pPr marL="342900" indent="-342900">
              <a:lnSpc>
                <a:spcPct val="130000"/>
              </a:lnSpc>
              <a:buFont typeface="Wingdings" panose="05000000000000000000" pitchFamily="2" charset="2"/>
            </a:pPr>
            <a:r>
              <a:rPr lang="zh-CN" altLang="en-US" sz="2000" b="1" dirty="0">
                <a:latin typeface="华文细黑" panose="02010600040101010101" pitchFamily="2" charset="-122"/>
                <a:ea typeface="华文细黑" panose="02010600040101010101" pitchFamily="2" charset="-122"/>
              </a:rPr>
              <a:t>     时差在一年中变化于</a:t>
            </a:r>
            <a:r>
              <a:rPr lang="zh-CN" altLang="zh-CN" sz="2000" b="1" dirty="0">
                <a:latin typeface="华文细黑" panose="02010600040101010101" pitchFamily="2" charset="-122"/>
                <a:ea typeface="华文细黑" panose="02010600040101010101" pitchFamily="2" charset="-122"/>
              </a:rPr>
              <a:t>+</a:t>
            </a:r>
            <a:r>
              <a:rPr lang="en-US" altLang="zh-CN" sz="2000" b="1" dirty="0">
                <a:latin typeface="华文细黑" panose="02010600040101010101" pitchFamily="2" charset="-122"/>
                <a:ea typeface="华文细黑" panose="02010600040101010101" pitchFamily="2" charset="-122"/>
              </a:rPr>
              <a:t>16</a:t>
            </a:r>
            <a:r>
              <a:rPr lang="zh-CN" altLang="en-US" sz="2000" b="1" dirty="0">
                <a:latin typeface="华文细黑" panose="02010600040101010101" pitchFamily="2" charset="-122"/>
                <a:ea typeface="华文细黑" panose="02010600040101010101" pitchFamily="2" charset="-122"/>
              </a:rPr>
              <a:t>分</a:t>
            </a:r>
            <a:r>
              <a:rPr lang="en-US" altLang="zh-CN" sz="2000" b="1" dirty="0">
                <a:latin typeface="华文细黑" panose="02010600040101010101" pitchFamily="2" charset="-122"/>
                <a:ea typeface="华文细黑" panose="02010600040101010101" pitchFamily="2" charset="-122"/>
              </a:rPr>
              <a:t>25</a:t>
            </a:r>
            <a:r>
              <a:rPr lang="zh-CN" altLang="en-US" sz="2000" b="1" dirty="0">
                <a:latin typeface="华文细黑" panose="02010600040101010101" pitchFamily="2" charset="-122"/>
                <a:ea typeface="华文细黑" panose="02010600040101010101" pitchFamily="2" charset="-122"/>
              </a:rPr>
              <a:t>秒至</a:t>
            </a:r>
            <a:r>
              <a:rPr lang="en-US" altLang="zh-CN" sz="2000" b="1" dirty="0">
                <a:latin typeface="华文细黑" panose="02010600040101010101" pitchFamily="2" charset="-122"/>
                <a:ea typeface="华文细黑" panose="02010600040101010101" pitchFamily="2" charset="-122"/>
              </a:rPr>
              <a:t>-14</a:t>
            </a:r>
            <a:r>
              <a:rPr lang="zh-CN" altLang="en-US" sz="2000" b="1" dirty="0">
                <a:latin typeface="华文细黑" panose="02010600040101010101" pitchFamily="2" charset="-122"/>
                <a:ea typeface="华文细黑" panose="02010600040101010101" pitchFamily="2" charset="-122"/>
              </a:rPr>
              <a:t>分</a:t>
            </a:r>
            <a:r>
              <a:rPr lang="en-US" altLang="zh-CN" sz="2000" b="1" dirty="0">
                <a:latin typeface="华文细黑" panose="02010600040101010101" pitchFamily="2" charset="-122"/>
                <a:ea typeface="华文细黑" panose="02010600040101010101" pitchFamily="2" charset="-122"/>
              </a:rPr>
              <a:t>15</a:t>
            </a:r>
            <a:r>
              <a:rPr lang="zh-CN" altLang="en-US" sz="2000" b="1" dirty="0">
                <a:latin typeface="华文细黑" panose="02010600040101010101" pitchFamily="2" charset="-122"/>
                <a:ea typeface="华文细黑" panose="02010600040101010101" pitchFamily="2" charset="-122"/>
              </a:rPr>
              <a:t>秒之间。</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spcBef>
                <a:spcPts val="1200"/>
              </a:spcBef>
            </a:pPr>
            <a:r>
              <a:rPr lang="zh-CN" altLang="en-US" sz="2000" b="1" dirty="0">
                <a:solidFill>
                  <a:srgbClr val="CC00CC"/>
                </a:solidFill>
                <a:latin typeface="华文细黑" panose="02010600040101010101" pitchFamily="2" charset="-122"/>
                <a:ea typeface="华文细黑" panose="02010600040101010101" pitchFamily="2" charset="-122"/>
              </a:rPr>
              <a:t>标准时：</a:t>
            </a:r>
            <a:r>
              <a:rPr lang="zh-CN" altLang="en-US" sz="2000" b="1" dirty="0">
                <a:latin typeface="华文细黑" panose="02010600040101010101" pitchFamily="2" charset="-122"/>
                <a:ea typeface="华文细黑" panose="02010600040101010101" pitchFamily="2" charset="-122"/>
              </a:rPr>
              <a:t>规定以标准经度的</a:t>
            </a:r>
            <a:r>
              <a:rPr lang="zh-CN" altLang="en-US" sz="2000" b="1" dirty="0">
                <a:solidFill>
                  <a:srgbClr val="CC00CC"/>
                </a:solidFill>
                <a:latin typeface="华文细黑" panose="02010600040101010101" pitchFamily="2" charset="-122"/>
                <a:ea typeface="华文细黑" panose="02010600040101010101" pitchFamily="2" charset="-122"/>
              </a:rPr>
              <a:t>平太阳时</a:t>
            </a:r>
            <a:r>
              <a:rPr lang="zh-CN" altLang="en-US" sz="2000" b="1" dirty="0">
                <a:latin typeface="华文细黑" panose="02010600040101010101" pitchFamily="2" charset="-122"/>
                <a:ea typeface="华文细黑" panose="02010600040101010101" pitchFamily="2" charset="-122"/>
              </a:rPr>
              <a:t>为时间标准。</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pPr>
            <a:r>
              <a:rPr lang="zh-CN" altLang="en-US" sz="2000" b="1" dirty="0">
                <a:solidFill>
                  <a:srgbClr val="008000"/>
                </a:solidFill>
                <a:latin typeface="华文细黑" panose="02010600040101010101" pitchFamily="2" charset="-122"/>
                <a:ea typeface="华文细黑" panose="02010600040101010101" pitchFamily="2" charset="-122"/>
              </a:rPr>
              <a:t>① 世界时：</a:t>
            </a:r>
            <a:r>
              <a:rPr lang="zh-CN" altLang="en-US" sz="2000" b="1" dirty="0">
                <a:latin typeface="华文细黑" panose="02010600040101010101" pitchFamily="2" charset="-122"/>
                <a:ea typeface="华文细黑" panose="02010600040101010101" pitchFamily="2" charset="-122"/>
              </a:rPr>
              <a:t>以</a:t>
            </a:r>
            <a:r>
              <a:rPr lang="en-US" altLang="zh-CN" sz="2000" b="1" dirty="0">
                <a:latin typeface="华文细黑" panose="02010600040101010101" pitchFamily="2" charset="-122"/>
                <a:ea typeface="华文细黑" panose="02010600040101010101" pitchFamily="2" charset="-122"/>
              </a:rPr>
              <a:t>0</a:t>
            </a:r>
            <a:r>
              <a:rPr lang="en-US" altLang="zh-CN" sz="2000" b="1" baseline="30000" dirty="0">
                <a:latin typeface="华文细黑" panose="02010600040101010101" pitchFamily="2" charset="-122"/>
                <a:ea typeface="华文细黑" panose="02010600040101010101" pitchFamily="2" charset="-122"/>
              </a:rPr>
              <a:t>o</a:t>
            </a:r>
            <a:r>
              <a:rPr lang="zh-CN" altLang="en-US" sz="2000" b="1" dirty="0">
                <a:latin typeface="华文细黑" panose="02010600040101010101" pitchFamily="2" charset="-122"/>
                <a:ea typeface="华文细黑" panose="02010600040101010101" pitchFamily="2" charset="-122"/>
              </a:rPr>
              <a:t>经度线即英国格林尼治天文台的平太阳时子夜为</a:t>
            </a:r>
            <a:r>
              <a:rPr lang="en-US" altLang="zh-CN" sz="2000" b="1" dirty="0">
                <a:latin typeface="华文细黑" panose="02010600040101010101" pitchFamily="2" charset="-122"/>
                <a:ea typeface="华文细黑" panose="02010600040101010101" pitchFamily="2" charset="-122"/>
              </a:rPr>
              <a:t>0</a:t>
            </a:r>
            <a:r>
              <a:rPr lang="zh-CN" altLang="en-US" sz="2000" b="1" dirty="0">
                <a:latin typeface="华文细黑" panose="02010600040101010101" pitchFamily="2" charset="-122"/>
                <a:ea typeface="华文细黑" panose="02010600040101010101" pitchFamily="2" charset="-122"/>
              </a:rPr>
              <a:t>时；</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pPr>
            <a:r>
              <a:rPr lang="zh-CN" altLang="en-US" sz="2000" b="1" dirty="0">
                <a:solidFill>
                  <a:srgbClr val="008000"/>
                </a:solidFill>
                <a:latin typeface="华文细黑" panose="02010600040101010101" pitchFamily="2" charset="-122"/>
                <a:ea typeface="华文细黑" panose="02010600040101010101" pitchFamily="2" charset="-122"/>
              </a:rPr>
              <a:t>② 区时：</a:t>
            </a:r>
            <a:r>
              <a:rPr lang="zh-CN" altLang="en-US" sz="2000" b="1" dirty="0">
                <a:latin typeface="华文细黑" panose="02010600040101010101" pitchFamily="2" charset="-122"/>
                <a:ea typeface="华文细黑" panose="02010600040101010101" pitchFamily="2" charset="-122"/>
              </a:rPr>
              <a:t>规定以东经</a:t>
            </a:r>
            <a:r>
              <a:rPr lang="en-US" altLang="zh-CN" sz="2000" b="1" dirty="0">
                <a:latin typeface="华文细黑" panose="02010600040101010101" pitchFamily="2" charset="-122"/>
                <a:ea typeface="华文细黑" panose="02010600040101010101" pitchFamily="2" charset="-122"/>
              </a:rPr>
              <a:t>120</a:t>
            </a:r>
            <a:r>
              <a:rPr lang="en-US" altLang="zh-CN" sz="2000" b="1" baseline="30000" dirty="0">
                <a:latin typeface="华文细黑" panose="02010600040101010101" pitchFamily="2" charset="-122"/>
                <a:ea typeface="华文细黑" panose="02010600040101010101" pitchFamily="2" charset="-122"/>
              </a:rPr>
              <a:t>o</a:t>
            </a:r>
            <a:r>
              <a:rPr lang="zh-CN" altLang="en-US" sz="2000" b="1" dirty="0">
                <a:latin typeface="华文细黑" panose="02010600040101010101" pitchFamily="2" charset="-122"/>
                <a:ea typeface="华文细黑" panose="02010600040101010101" pitchFamily="2" charset="-122"/>
              </a:rPr>
              <a:t>的平太阳时子夜为北京时</a:t>
            </a:r>
            <a:r>
              <a:rPr lang="en-US" altLang="zh-CN" sz="2000" b="1" dirty="0">
                <a:latin typeface="华文细黑" panose="02010600040101010101" pitchFamily="2" charset="-122"/>
                <a:ea typeface="华文细黑" panose="02010600040101010101" pitchFamily="2" charset="-122"/>
              </a:rPr>
              <a:t>0</a:t>
            </a:r>
            <a:r>
              <a:rPr lang="zh-CN" altLang="en-US" sz="2000" b="1" dirty="0">
                <a:latin typeface="华文细黑" panose="02010600040101010101" pitchFamily="2" charset="-122"/>
                <a:ea typeface="华文细黑" panose="02010600040101010101" pitchFamily="2" charset="-122"/>
              </a:rPr>
              <a:t>时。</a:t>
            </a:r>
            <a:endParaRPr lang="en-US" altLang="zh-CN" sz="2000" b="1" dirty="0">
              <a:latin typeface="华文细黑" panose="02010600040101010101" pitchFamily="2" charset="-122"/>
              <a:ea typeface="华文细黑" panose="02010600040101010101" pitchFamily="2" charset="-122"/>
            </a:endParaRPr>
          </a:p>
          <a:p>
            <a:pPr marL="342900" indent="-342900" eaLnBrk="1" hangingPunct="1">
              <a:lnSpc>
                <a:spcPct val="130000"/>
              </a:lnSpc>
            </a:pPr>
            <a:r>
              <a:rPr lang="zh-CN" altLang="en-US" sz="2000" b="1" dirty="0">
                <a:latin typeface="华文细黑" panose="02010600040101010101" pitchFamily="2" charset="-122"/>
                <a:ea typeface="华文细黑" panose="02010600040101010101" pitchFamily="2" charset="-122"/>
              </a:rPr>
              <a:t>北京时比世界时早</a:t>
            </a:r>
            <a:r>
              <a:rPr lang="en-US" altLang="zh-CN" sz="2000" b="1" dirty="0">
                <a:latin typeface="华文细黑" panose="02010600040101010101" pitchFamily="2" charset="-122"/>
                <a:ea typeface="华文细黑" panose="02010600040101010101" pitchFamily="2" charset="-122"/>
              </a:rPr>
              <a:t>8h</a:t>
            </a:r>
            <a:r>
              <a:rPr lang="zh-CN" altLang="en-US" sz="2000" b="1" dirty="0">
                <a:latin typeface="华文细黑" panose="02010600040101010101" pitchFamily="2" charset="-122"/>
                <a:ea typeface="华文细黑" panose="02010600040101010101" pitchFamily="2" charset="-122"/>
              </a:rPr>
              <a:t>。</a:t>
            </a:r>
            <a:endParaRPr lang="en-US" altLang="zh-CN" sz="20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Rectangle 11"/>
          <p:cNvSpPr>
            <a:spLocks noGrp="1"/>
          </p:cNvSpPr>
          <p:nvPr>
            <p:ph type="title"/>
          </p:nvPr>
        </p:nvSpPr>
        <p:spPr>
          <a:xfrm>
            <a:off x="1371600" y="214313"/>
            <a:ext cx="7772400" cy="642937"/>
          </a:xfrm>
          <a:ln/>
        </p:spPr>
        <p:txBody>
          <a:bodyPr vert="horz" wrap="square" lIns="91440" tIns="45720" rIns="91440" bIns="45720" anchor="b" anchorCtr="0"/>
          <a:p>
            <a:r>
              <a:rPr lang="zh-CN" altLang="en-US" sz="2800" dirty="0">
                <a:solidFill>
                  <a:srgbClr val="FFFF00"/>
                </a:solidFill>
                <a:latin typeface="黑体" panose="02010609060101010101" pitchFamily="49" charset="-122"/>
                <a:ea typeface="黑体" panose="02010609060101010101" pitchFamily="49" charset="-122"/>
              </a:rPr>
              <a:t>二</a:t>
            </a:r>
            <a:r>
              <a:rPr lang="en-US" altLang="zh-CN" sz="2800" dirty="0">
                <a:solidFill>
                  <a:srgbClr val="FFFF00"/>
                </a:solidFill>
                <a:latin typeface="黑体" panose="02010609060101010101" pitchFamily="49" charset="-122"/>
                <a:ea typeface="黑体" panose="02010609060101010101" pitchFamily="49" charset="-122"/>
              </a:rPr>
              <a:t>. </a:t>
            </a:r>
            <a:r>
              <a:rPr lang="zh-CN" altLang="en-US" sz="2800" dirty="0">
                <a:solidFill>
                  <a:srgbClr val="FFFF00"/>
                </a:solidFill>
                <a:latin typeface="黑体" panose="02010609060101010101" pitchFamily="49" charset="-122"/>
                <a:ea typeface="黑体" panose="02010609060101010101" pitchFamily="49" charset="-122"/>
              </a:rPr>
              <a:t>大气上界水平面上太阳辐射通量的计算</a:t>
            </a:r>
            <a:endParaRPr lang="zh-CN" altLang="en-US" sz="2800" dirty="0">
              <a:solidFill>
                <a:srgbClr val="FFFF00"/>
              </a:solidFill>
              <a:latin typeface="黑体" panose="02010609060101010101" pitchFamily="49" charset="-122"/>
              <a:ea typeface="黑体" panose="02010609060101010101" pitchFamily="49" charset="-122"/>
            </a:endParaRPr>
          </a:p>
        </p:txBody>
      </p:sp>
      <p:pic>
        <p:nvPicPr>
          <p:cNvPr id="35843" name="Picture 12"/>
          <p:cNvPicPr>
            <a:picLocks noChangeAspect="1"/>
          </p:cNvPicPr>
          <p:nvPr/>
        </p:nvPicPr>
        <p:blipFill>
          <a:blip r:embed="rId1"/>
          <a:stretch>
            <a:fillRect/>
          </a:stretch>
        </p:blipFill>
        <p:spPr>
          <a:xfrm>
            <a:off x="4560888" y="3357563"/>
            <a:ext cx="4343400" cy="3387725"/>
          </a:xfrm>
          <a:prstGeom prst="rect">
            <a:avLst/>
          </a:prstGeom>
          <a:noFill/>
          <a:ln w="9525">
            <a:noFill/>
          </a:ln>
        </p:spPr>
      </p:pic>
      <p:graphicFrame>
        <p:nvGraphicFramePr>
          <p:cNvPr id="35844" name="Object 13"/>
          <p:cNvGraphicFramePr>
            <a:graphicFrameLocks noChangeAspect="1"/>
          </p:cNvGraphicFramePr>
          <p:nvPr>
            <p:ph idx="1"/>
          </p:nvPr>
        </p:nvGraphicFramePr>
        <p:xfrm>
          <a:off x="1009650" y="2060575"/>
          <a:ext cx="7129463" cy="1333500"/>
        </p:xfrm>
        <a:graphic>
          <a:graphicData uri="http://schemas.openxmlformats.org/presentationml/2006/ole">
            <mc:AlternateContent xmlns:mc="http://schemas.openxmlformats.org/markup-compatibility/2006">
              <mc:Choice xmlns:v="urn:schemas-microsoft-com:vml" Requires="v">
                <p:oleObj spid="_x0000_s3083" name="" r:id="rId2" imgW="2578100" imgH="482600" progId="Equation.DSMT4">
                  <p:embed/>
                </p:oleObj>
              </mc:Choice>
              <mc:Fallback>
                <p:oleObj name="" r:id="rId2" imgW="2578100" imgH="482600" progId="Equation.DSMT4">
                  <p:embed/>
                  <p:pic>
                    <p:nvPicPr>
                      <p:cNvPr id="0" name="图片 3082"/>
                      <p:cNvPicPr/>
                      <p:nvPr/>
                    </p:nvPicPr>
                    <p:blipFill>
                      <a:blip r:embed="rId3"/>
                      <a:srcRect/>
                      <a:stretch>
                        <a:fillRect/>
                      </a:stretch>
                    </p:blipFill>
                    <p:spPr>
                      <a:xfrm>
                        <a:off x="1009650" y="2060575"/>
                        <a:ext cx="7129463" cy="1333500"/>
                      </a:xfrm>
                      <a:prstGeom prst="rect">
                        <a:avLst/>
                      </a:prstGeom>
                      <a:noFill/>
                      <a:ln w="38100">
                        <a:miter/>
                      </a:ln>
                    </p:spPr>
                  </p:pic>
                </p:oleObj>
              </mc:Fallback>
            </mc:AlternateContent>
          </a:graphicData>
        </a:graphic>
      </p:graphicFrame>
      <p:sp>
        <p:nvSpPr>
          <p:cNvPr id="35845" name="Text Box 6"/>
          <p:cNvSpPr txBox="1"/>
          <p:nvPr/>
        </p:nvSpPr>
        <p:spPr>
          <a:xfrm>
            <a:off x="684213" y="1268413"/>
            <a:ext cx="7939087" cy="523875"/>
          </a:xfrm>
          <a:prstGeom prst="rect">
            <a:avLst/>
          </a:prstGeom>
          <a:noFill/>
          <a:ln w="9525">
            <a:noFill/>
          </a:ln>
        </p:spPr>
        <p:txBody>
          <a:bodyPr wrap="none">
            <a:spAutoFit/>
          </a:bodyPr>
          <a:p>
            <a:pPr eaLnBrk="1" hangingPunct="1"/>
            <a:r>
              <a:rPr lang="zh-CN" altLang="en-US" sz="2800" b="1" dirty="0">
                <a:solidFill>
                  <a:srgbClr val="0000FF"/>
                </a:solidFill>
                <a:latin typeface="华文细黑" panose="02010600040101010101" pitchFamily="2" charset="-122"/>
                <a:ea typeface="华文细黑" panose="02010600040101010101" pitchFamily="2" charset="-122"/>
              </a:rPr>
              <a:t>（</a:t>
            </a:r>
            <a:r>
              <a:rPr lang="en-US" altLang="zh-CN" sz="2800" b="1" dirty="0">
                <a:solidFill>
                  <a:srgbClr val="0000FF"/>
                </a:solidFill>
                <a:latin typeface="华文细黑" panose="02010600040101010101" pitchFamily="2" charset="-122"/>
                <a:ea typeface="华文细黑" panose="02010600040101010101" pitchFamily="2" charset="-122"/>
              </a:rPr>
              <a:t>1</a:t>
            </a:r>
            <a:r>
              <a:rPr lang="zh-CN" altLang="en-US" sz="2800" b="1" dirty="0">
                <a:solidFill>
                  <a:srgbClr val="0000FF"/>
                </a:solidFill>
                <a:latin typeface="华文细黑" panose="02010600040101010101" pitchFamily="2" charset="-122"/>
                <a:ea typeface="华文细黑" panose="02010600040101010101" pitchFamily="2" charset="-122"/>
              </a:rPr>
              <a:t>）入射到大气上界水平面上的太阳辐射通量：</a:t>
            </a:r>
            <a:endParaRPr lang="en-US" altLang="zh-CN" sz="2800" b="1"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36866" name="Object 10"/>
          <p:cNvGraphicFramePr>
            <a:graphicFrameLocks noChangeAspect="1"/>
          </p:cNvGraphicFramePr>
          <p:nvPr>
            <p:ph sz="half" idx="1"/>
          </p:nvPr>
        </p:nvGraphicFramePr>
        <p:xfrm>
          <a:off x="323850" y="2241550"/>
          <a:ext cx="8569325" cy="1803400"/>
        </p:xfrm>
        <a:graphic>
          <a:graphicData uri="http://schemas.openxmlformats.org/presentationml/2006/ole">
            <mc:AlternateContent xmlns:mc="http://schemas.openxmlformats.org/markup-compatibility/2006">
              <mc:Choice xmlns:v="urn:schemas-microsoft-com:vml" Requires="v">
                <p:oleObj spid="_x0000_s3085" name="" r:id="rId1" imgW="3378200" imgH="711200" progId="Equation.DSMT4">
                  <p:embed/>
                </p:oleObj>
              </mc:Choice>
              <mc:Fallback>
                <p:oleObj name="" r:id="rId1" imgW="3378200" imgH="711200" progId="Equation.DSMT4">
                  <p:embed/>
                  <p:pic>
                    <p:nvPicPr>
                      <p:cNvPr id="0" name="图片 3084"/>
                      <p:cNvPicPr/>
                      <p:nvPr/>
                    </p:nvPicPr>
                    <p:blipFill>
                      <a:blip r:embed="rId2"/>
                      <a:srcRect/>
                      <a:stretch>
                        <a:fillRect/>
                      </a:stretch>
                    </p:blipFill>
                    <p:spPr>
                      <a:xfrm>
                        <a:off x="323850" y="2241550"/>
                        <a:ext cx="8569325" cy="1803400"/>
                      </a:xfrm>
                      <a:prstGeom prst="rect">
                        <a:avLst/>
                      </a:prstGeom>
                      <a:solidFill>
                        <a:srgbClr val="EAEAEA">
                          <a:alpha val="100000"/>
                        </a:srgbClr>
                      </a:solidFill>
                      <a:ln w="38100">
                        <a:miter/>
                      </a:ln>
                    </p:spPr>
                  </p:pic>
                </p:oleObj>
              </mc:Fallback>
            </mc:AlternateContent>
          </a:graphicData>
        </a:graphic>
      </p:graphicFrame>
      <p:sp>
        <p:nvSpPr>
          <p:cNvPr id="36867" name="Rectangle 11"/>
          <p:cNvSpPr>
            <a:spLocks noGrp="1"/>
          </p:cNvSpPr>
          <p:nvPr>
            <p:ph type="title"/>
          </p:nvPr>
        </p:nvSpPr>
        <p:spPr>
          <a:xfrm>
            <a:off x="1371600" y="214313"/>
            <a:ext cx="7772400" cy="642937"/>
          </a:xfrm>
          <a:ln/>
        </p:spPr>
        <p:txBody>
          <a:bodyPr vert="horz" wrap="square" lIns="91440" tIns="45720" rIns="91440" bIns="45720" anchor="b" anchorCtr="0"/>
          <a:p>
            <a:r>
              <a:rPr lang="zh-CN" altLang="en-US" sz="2800" dirty="0">
                <a:solidFill>
                  <a:srgbClr val="FFFF00"/>
                </a:solidFill>
                <a:latin typeface="黑体" panose="02010609060101010101" pitchFamily="49" charset="-122"/>
                <a:ea typeface="黑体" panose="02010609060101010101" pitchFamily="49" charset="-122"/>
              </a:rPr>
              <a:t>二</a:t>
            </a:r>
            <a:r>
              <a:rPr lang="en-US" altLang="zh-CN" sz="2800" dirty="0">
                <a:solidFill>
                  <a:srgbClr val="FFFF00"/>
                </a:solidFill>
                <a:latin typeface="黑体" panose="02010609060101010101" pitchFamily="49" charset="-122"/>
                <a:ea typeface="黑体" panose="02010609060101010101" pitchFamily="49" charset="-122"/>
              </a:rPr>
              <a:t>. </a:t>
            </a:r>
            <a:r>
              <a:rPr lang="zh-CN" altLang="en-US" sz="2800" dirty="0">
                <a:solidFill>
                  <a:srgbClr val="FFFF00"/>
                </a:solidFill>
                <a:latin typeface="黑体" panose="02010609060101010101" pitchFamily="49" charset="-122"/>
                <a:ea typeface="黑体" panose="02010609060101010101" pitchFamily="49" charset="-122"/>
              </a:rPr>
              <a:t>大气上界水平面上太阳辐射通量的计算</a:t>
            </a:r>
            <a:endParaRPr lang="zh-CN" altLang="en-US" sz="2800" dirty="0">
              <a:solidFill>
                <a:srgbClr val="FFFF00"/>
              </a:solidFill>
              <a:latin typeface="黑体" panose="02010609060101010101" pitchFamily="49" charset="-122"/>
              <a:ea typeface="黑体" panose="02010609060101010101" pitchFamily="49" charset="-122"/>
            </a:endParaRPr>
          </a:p>
        </p:txBody>
      </p:sp>
      <p:sp>
        <p:nvSpPr>
          <p:cNvPr id="36868" name="Text Box 6"/>
          <p:cNvSpPr txBox="1"/>
          <p:nvPr/>
        </p:nvSpPr>
        <p:spPr>
          <a:xfrm>
            <a:off x="611188" y="1455738"/>
            <a:ext cx="7608887" cy="460375"/>
          </a:xfrm>
          <a:prstGeom prst="rect">
            <a:avLst/>
          </a:prstGeom>
          <a:noFill/>
          <a:ln w="9525">
            <a:noFill/>
          </a:ln>
        </p:spPr>
        <p:txBody>
          <a:bodyPr wrap="none">
            <a:spAutoFit/>
          </a:bodyPr>
          <a:p>
            <a:pPr eaLnBrk="1" hangingPunct="1"/>
            <a:r>
              <a:rPr lang="zh-CN" altLang="en-US" sz="2400" b="1" dirty="0">
                <a:solidFill>
                  <a:srgbClr val="0000FF"/>
                </a:solidFill>
                <a:latin typeface="华文细黑" panose="02010600040101010101" pitchFamily="2" charset="-122"/>
                <a:ea typeface="华文细黑" panose="02010600040101010101" pitchFamily="2" charset="-122"/>
              </a:rPr>
              <a:t>（</a:t>
            </a:r>
            <a:r>
              <a:rPr lang="en-US" altLang="zh-CN" sz="2400" b="1" dirty="0">
                <a:solidFill>
                  <a:srgbClr val="0000FF"/>
                </a:solidFill>
                <a:latin typeface="华文细黑" panose="02010600040101010101" pitchFamily="2" charset="-122"/>
                <a:ea typeface="华文细黑" panose="02010600040101010101" pitchFamily="2" charset="-122"/>
              </a:rPr>
              <a:t>2</a:t>
            </a:r>
            <a:r>
              <a:rPr lang="zh-CN" altLang="en-US" sz="2400" b="1" dirty="0">
                <a:solidFill>
                  <a:srgbClr val="0000FF"/>
                </a:solidFill>
                <a:latin typeface="华文细黑" panose="02010600040101010101" pitchFamily="2" charset="-122"/>
                <a:ea typeface="华文细黑" panose="02010600040101010101" pitchFamily="2" charset="-122"/>
              </a:rPr>
              <a:t>）大气上界单位面积上接收到的太阳辐射日总量：</a:t>
            </a:r>
            <a:endParaRPr lang="en-US" altLang="zh-CN" sz="2400" b="1" dirty="0">
              <a:solidFill>
                <a:srgbClr val="0000FF"/>
              </a:solidFill>
              <a:latin typeface="华文细黑" panose="02010600040101010101" pitchFamily="2" charset="-122"/>
              <a:ea typeface="华文细黑" panose="02010600040101010101" pitchFamily="2" charset="-122"/>
            </a:endParaRPr>
          </a:p>
        </p:txBody>
      </p:sp>
      <p:sp>
        <p:nvSpPr>
          <p:cNvPr id="36869" name="Rectangle 7"/>
          <p:cNvSpPr/>
          <p:nvPr/>
        </p:nvSpPr>
        <p:spPr>
          <a:xfrm>
            <a:off x="611188" y="4264025"/>
            <a:ext cx="7248525" cy="460375"/>
          </a:xfrm>
          <a:prstGeom prst="rect">
            <a:avLst/>
          </a:prstGeom>
          <a:noFill/>
          <a:ln w="9525">
            <a:noFill/>
          </a:ln>
        </p:spPr>
        <p:txBody>
          <a:bodyPr wrap="none" anchor="ctr" anchorCtr="0">
            <a:spAutoFit/>
          </a:bodyPr>
          <a:p>
            <a:pPr eaLnBrk="1" hangingPunct="1"/>
            <a:r>
              <a:rPr lang="zh-CN" altLang="en-US" sz="2400" b="1" dirty="0">
                <a:solidFill>
                  <a:srgbClr val="0000FF"/>
                </a:solidFill>
                <a:latin typeface="华文细黑" panose="02010600040101010101" pitchFamily="2" charset="-122"/>
                <a:ea typeface="华文细黑" panose="02010600040101010101" pitchFamily="2" charset="-122"/>
              </a:rPr>
              <a:t>（</a:t>
            </a:r>
            <a:r>
              <a:rPr lang="en-US" altLang="zh-CN" sz="2400" b="1" dirty="0">
                <a:solidFill>
                  <a:srgbClr val="0000FF"/>
                </a:solidFill>
                <a:latin typeface="华文细黑" panose="02010600040101010101" pitchFamily="2" charset="-122"/>
                <a:ea typeface="华文细黑" panose="02010600040101010101" pitchFamily="2" charset="-122"/>
              </a:rPr>
              <a:t>3</a:t>
            </a:r>
            <a:r>
              <a:rPr lang="zh-CN" altLang="en-US" sz="2400" b="1" dirty="0">
                <a:solidFill>
                  <a:srgbClr val="0000FF"/>
                </a:solidFill>
                <a:latin typeface="华文细黑" panose="02010600040101010101" pitchFamily="2" charset="-122"/>
                <a:ea typeface="华文细黑" panose="02010600040101010101" pitchFamily="2" charset="-122"/>
              </a:rPr>
              <a:t>）将以小时为单位的时间通过下式转换为时角：</a:t>
            </a:r>
            <a:r>
              <a:rPr lang="en-US" altLang="zh-CN" sz="2400" b="1" dirty="0">
                <a:solidFill>
                  <a:srgbClr val="0000FF"/>
                </a:solidFill>
                <a:latin typeface="华文细黑" panose="02010600040101010101" pitchFamily="2" charset="-122"/>
                <a:ea typeface="华文细黑" panose="02010600040101010101" pitchFamily="2" charset="-122"/>
              </a:rPr>
              <a:t> </a:t>
            </a:r>
            <a:endParaRPr lang="en-US" altLang="zh-CN" sz="2400" b="1" dirty="0">
              <a:solidFill>
                <a:srgbClr val="0000FF"/>
              </a:solidFill>
              <a:latin typeface="华文细黑" panose="02010600040101010101" pitchFamily="2" charset="-122"/>
              <a:ea typeface="华文细黑" panose="02010600040101010101" pitchFamily="2" charset="-122"/>
            </a:endParaRPr>
          </a:p>
        </p:txBody>
      </p:sp>
      <p:graphicFrame>
        <p:nvGraphicFramePr>
          <p:cNvPr id="36870" name="对象 2"/>
          <p:cNvGraphicFramePr>
            <a:graphicFrameLocks noChangeAspect="1"/>
          </p:cNvGraphicFramePr>
          <p:nvPr/>
        </p:nvGraphicFramePr>
        <p:xfrm>
          <a:off x="3995738" y="4941888"/>
          <a:ext cx="1878012" cy="379412"/>
        </p:xfrm>
        <a:graphic>
          <a:graphicData uri="http://schemas.openxmlformats.org/presentationml/2006/ole">
            <mc:AlternateContent xmlns:mc="http://schemas.openxmlformats.org/markup-compatibility/2006">
              <mc:Choice xmlns:v="urn:schemas-microsoft-com:vml" Requires="v">
                <p:oleObj spid="_x0000_s3086" name="" r:id="rId3" imgW="987425" imgH="201295" progId="Equation.3">
                  <p:embed/>
                </p:oleObj>
              </mc:Choice>
              <mc:Fallback>
                <p:oleObj name="" r:id="rId3" imgW="987425" imgH="201295" progId="Equation.3">
                  <p:embed/>
                  <p:pic>
                    <p:nvPicPr>
                      <p:cNvPr id="0" name="图片 3085"/>
                      <p:cNvPicPr/>
                      <p:nvPr/>
                    </p:nvPicPr>
                    <p:blipFill>
                      <a:blip r:embed="rId4"/>
                      <a:stretch>
                        <a:fillRect/>
                      </a:stretch>
                    </p:blipFill>
                    <p:spPr>
                      <a:xfrm>
                        <a:off x="3995738" y="4941888"/>
                        <a:ext cx="1878012" cy="379412"/>
                      </a:xfrm>
                      <a:prstGeom prst="rect">
                        <a:avLst/>
                      </a:prstGeom>
                      <a:solidFill>
                        <a:srgbClr val="D9D9D9"/>
                      </a:solidFill>
                      <a:ln w="38100">
                        <a:noFill/>
                        <a:miter/>
                      </a:ln>
                    </p:spPr>
                  </p:pic>
                </p:oleObj>
              </mc:Fallback>
            </mc:AlternateContent>
          </a:graphicData>
        </a:graphic>
      </p:graphicFrame>
      <p:graphicFrame>
        <p:nvGraphicFramePr>
          <p:cNvPr id="36871" name="对象 3"/>
          <p:cNvGraphicFramePr>
            <a:graphicFrameLocks noChangeAspect="1"/>
          </p:cNvGraphicFramePr>
          <p:nvPr/>
        </p:nvGraphicFramePr>
        <p:xfrm>
          <a:off x="1438275" y="4921250"/>
          <a:ext cx="1838325" cy="379413"/>
        </p:xfrm>
        <a:graphic>
          <a:graphicData uri="http://schemas.openxmlformats.org/presentationml/2006/ole">
            <mc:AlternateContent xmlns:mc="http://schemas.openxmlformats.org/markup-compatibility/2006">
              <mc:Choice xmlns:v="urn:schemas-microsoft-com:vml" Requires="v">
                <p:oleObj spid="_x0000_s3087" name="" r:id="rId5" imgW="1256665" imgH="203200" progId="Equation.3">
                  <p:embed/>
                </p:oleObj>
              </mc:Choice>
              <mc:Fallback>
                <p:oleObj name="" r:id="rId5" imgW="1256665" imgH="203200" progId="Equation.3">
                  <p:embed/>
                  <p:pic>
                    <p:nvPicPr>
                      <p:cNvPr id="0" name="图片 3086"/>
                      <p:cNvPicPr/>
                      <p:nvPr/>
                    </p:nvPicPr>
                    <p:blipFill>
                      <a:blip r:embed="rId6"/>
                      <a:stretch>
                        <a:fillRect/>
                      </a:stretch>
                    </p:blipFill>
                    <p:spPr>
                      <a:xfrm>
                        <a:off x="1438275" y="4921250"/>
                        <a:ext cx="1838325" cy="379413"/>
                      </a:xfrm>
                      <a:prstGeom prst="rect">
                        <a:avLst/>
                      </a:prstGeom>
                      <a:solidFill>
                        <a:srgbClr val="D9D9D9"/>
                      </a:solidFill>
                      <a:ln w="38100">
                        <a:noFill/>
                        <a:miter/>
                      </a:ln>
                    </p:spPr>
                  </p:pic>
                </p:oleObj>
              </mc:Fallback>
            </mc:AlternateContent>
          </a:graphicData>
        </a:graphic>
      </p:graphicFrame>
      <p:sp>
        <p:nvSpPr>
          <p:cNvPr id="36872" name="AutoShape 10"/>
          <p:cNvSpPr/>
          <p:nvPr/>
        </p:nvSpPr>
        <p:spPr>
          <a:xfrm>
            <a:off x="3492500" y="5084763"/>
            <a:ext cx="287338" cy="144462"/>
          </a:xfrm>
          <a:prstGeom prst="rightArrow">
            <a:avLst>
              <a:gd name="adj1" fmla="val 50000"/>
              <a:gd name="adj2" fmla="val 39623"/>
            </a:avLst>
          </a:prstGeom>
          <a:solidFill>
            <a:srgbClr val="FF33CC"/>
          </a:solidFill>
          <a:ln w="12700" cap="flat" cmpd="sng">
            <a:solidFill>
              <a:srgbClr val="FF33CC"/>
            </a:solidFill>
            <a:prstDash val="solid"/>
            <a:miter/>
            <a:headEnd type="none" w="sm" len="sm"/>
            <a:tailEnd type="none" w="sm" len="sm"/>
          </a:ln>
        </p:spPr>
        <p:txBody>
          <a:bodyPr wrap="none" anchor="ctr" anchorCtr="0"/>
          <a:p>
            <a:pPr eaLnBrk="1" hangingPunct="1"/>
            <a:endParaRPr lang="en-US" altLang="zh-CN" dirty="0">
              <a:latin typeface="Arial" panose="020B0604020202020204" pitchFamily="34" charset="0"/>
              <a:ea typeface="宋体" panose="02010600030101010101" pitchFamily="2" charset="-122"/>
            </a:endParaRPr>
          </a:p>
        </p:txBody>
      </p:sp>
      <p:sp>
        <p:nvSpPr>
          <p:cNvPr id="2" name="文本框 1"/>
          <p:cNvSpPr txBox="1">
            <a:spLocks noRot="1" noChangeAspect="1" noMove="1" noResize="1" noEditPoints="1" noAdjustHandles="1" noChangeArrowheads="1" noChangeShapeType="1" noTextEdit="1"/>
          </p:cNvSpPr>
          <p:nvPr/>
        </p:nvSpPr>
        <p:spPr>
          <a:xfrm>
            <a:off x="353263" y="5482364"/>
            <a:ext cx="7243073" cy="898964"/>
          </a:xfrm>
          <a:prstGeom prst="rect">
            <a:avLst/>
          </a:prstGeom>
          <a:blipFill>
            <a:blip r:embed="rId7"/>
            <a:stretch>
              <a:fillRect/>
            </a:stretch>
          </a:blipFill>
        </p:spPr>
        <p:txBody>
          <a:bodyPr/>
          <a:lstStyle/>
          <a:p>
            <a:pPr marR="0" defTabSz="914400">
              <a:buClrTx/>
              <a:buSzTx/>
              <a:buFontTx/>
              <a:buNone/>
              <a:defRPr/>
            </a:pPr>
            <a:r>
              <a:rPr kumimoji="0" lang="zh-CN" altLang="en-US" kern="1200" cap="none" spc="0" normalizeH="0" baseline="0" noProof="0">
                <a:noFill/>
                <a:latin typeface="Arial" panose="020B0604020202020204" pitchFamily="34" charset="0"/>
                <a:ea typeface="+mn-ea"/>
                <a:cs typeface="+mn-cs"/>
              </a:rPr>
              <a:t> </a:t>
            </a:r>
            <a:endParaRPr kumimoji="0" lang="zh-CN" altLang="en-US" kern="1200" cap="none" spc="0" normalizeH="0" baseline="0" noProof="0">
              <a:noFill/>
              <a:latin typeface="Arial" panose="020B0604020202020204" pitchFamily="34" charset="0"/>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Rectangle 10"/>
          <p:cNvSpPr/>
          <p:nvPr/>
        </p:nvSpPr>
        <p:spPr>
          <a:xfrm>
            <a:off x="611188" y="1412875"/>
            <a:ext cx="3317875" cy="4676775"/>
          </a:xfrm>
          <a:prstGeom prst="rect">
            <a:avLst/>
          </a:prstGeom>
          <a:noFill/>
          <a:ln w="9525">
            <a:noFill/>
          </a:ln>
        </p:spPr>
        <p:txBody>
          <a:bodyPr>
            <a:spAutoFit/>
          </a:bodyPr>
          <a:p>
            <a:pPr eaLnBrk="1" hangingPunct="1">
              <a:lnSpc>
                <a:spcPct val="120000"/>
              </a:lnSpc>
              <a:buFont typeface="Wingdings" panose="05000000000000000000" pitchFamily="2" charset="2"/>
              <a:buChar char="Ø"/>
            </a:pPr>
            <a:r>
              <a:rPr lang="en-US" altLang="zh-CN" sz="2600" b="1" i="1" dirty="0">
                <a:solidFill>
                  <a:srgbClr val="0000FF"/>
                </a:solidFill>
                <a:latin typeface="华文细黑" panose="02010600040101010101" pitchFamily="2" charset="-122"/>
                <a:ea typeface="华文细黑" panose="02010600040101010101" pitchFamily="2" charset="-122"/>
              </a:rPr>
              <a:t>Q</a:t>
            </a:r>
            <a:r>
              <a:rPr lang="en-US" altLang="zh-CN" sz="2600" b="1" baseline="-25000" dirty="0">
                <a:solidFill>
                  <a:srgbClr val="0000FF"/>
                </a:solidFill>
                <a:latin typeface="华文细黑" panose="02010600040101010101" pitchFamily="2" charset="-122"/>
                <a:ea typeface="华文细黑" panose="02010600040101010101" pitchFamily="2" charset="-122"/>
              </a:rPr>
              <a:t>d</a:t>
            </a:r>
            <a:r>
              <a:rPr lang="en-US" altLang="zh-CN" sz="2600" b="1" dirty="0">
                <a:solidFill>
                  <a:srgbClr val="0000FF"/>
                </a:solidFill>
                <a:latin typeface="华文细黑" panose="02010600040101010101" pitchFamily="2" charset="-122"/>
                <a:ea typeface="华文细黑" panose="02010600040101010101" pitchFamily="2" charset="-122"/>
              </a:rPr>
              <a:t> </a:t>
            </a:r>
            <a:r>
              <a:rPr lang="zh-CN" altLang="en-US" sz="2600" b="1" dirty="0">
                <a:solidFill>
                  <a:srgbClr val="0000FF"/>
                </a:solidFill>
                <a:latin typeface="华文细黑" panose="02010600040101010101" pitchFamily="2" charset="-122"/>
                <a:ea typeface="华文细黑" panose="02010600040101010101" pitchFamily="2" charset="-122"/>
              </a:rPr>
              <a:t>随纬度的变化是决定地球上各纬度间气候差异的基本因素。</a:t>
            </a:r>
            <a:endParaRPr lang="zh-CN" altLang="en-US" sz="2600" b="1" dirty="0">
              <a:solidFill>
                <a:srgbClr val="0000FF"/>
              </a:solidFill>
              <a:latin typeface="华文细黑" panose="02010600040101010101" pitchFamily="2" charset="-122"/>
              <a:ea typeface="华文细黑" panose="02010600040101010101" pitchFamily="2" charset="-122"/>
            </a:endParaRPr>
          </a:p>
          <a:p>
            <a:pPr eaLnBrk="1" hangingPunct="1">
              <a:lnSpc>
                <a:spcPct val="120000"/>
              </a:lnSpc>
              <a:spcBef>
                <a:spcPts val="1200"/>
              </a:spcBef>
              <a:spcAft>
                <a:spcPts val="1200"/>
              </a:spcAft>
              <a:buFont typeface="Wingdings" panose="05000000000000000000" pitchFamily="2" charset="2"/>
              <a:buChar char="Ø"/>
            </a:pPr>
            <a:r>
              <a:rPr lang="en-US" altLang="zh-CN" sz="2600" b="1" i="1" dirty="0">
                <a:solidFill>
                  <a:srgbClr val="0000FF"/>
                </a:solidFill>
                <a:latin typeface="华文细黑" panose="02010600040101010101" pitchFamily="2" charset="-122"/>
                <a:ea typeface="华文细黑" panose="02010600040101010101" pitchFamily="2" charset="-122"/>
              </a:rPr>
              <a:t>S</a:t>
            </a:r>
            <a:r>
              <a:rPr lang="en-US" altLang="zh-CN" sz="2600" b="1" baseline="-25000" dirty="0">
                <a:solidFill>
                  <a:srgbClr val="0000FF"/>
                </a:solidFill>
                <a:latin typeface="华文细黑" panose="02010600040101010101" pitchFamily="2" charset="-122"/>
                <a:ea typeface="华文细黑" panose="02010600040101010101" pitchFamily="2" charset="-122"/>
              </a:rPr>
              <a:t>0</a:t>
            </a:r>
            <a:r>
              <a:rPr lang="en-US" altLang="zh-CN" sz="2600" b="1" dirty="0">
                <a:solidFill>
                  <a:srgbClr val="0000FF"/>
                </a:solidFill>
                <a:latin typeface="华文细黑" panose="02010600040101010101" pitchFamily="2" charset="-122"/>
                <a:ea typeface="华文细黑" panose="02010600040101010101" pitchFamily="2" charset="-122"/>
              </a:rPr>
              <a:t> ′</a:t>
            </a:r>
            <a:r>
              <a:rPr lang="zh-CN" altLang="en-US" sz="2600" b="1" dirty="0">
                <a:solidFill>
                  <a:srgbClr val="0000FF"/>
                </a:solidFill>
                <a:latin typeface="华文细黑" panose="02010600040101010101" pitchFamily="2" charset="-122"/>
                <a:ea typeface="华文细黑" panose="02010600040101010101" pitchFamily="2" charset="-122"/>
              </a:rPr>
              <a:t>的日变化与</a:t>
            </a:r>
            <a:r>
              <a:rPr lang="en-US" altLang="zh-CN" sz="2600" b="1" i="1" dirty="0">
                <a:solidFill>
                  <a:srgbClr val="0000FF"/>
                </a:solidFill>
                <a:latin typeface="华文细黑" panose="02010600040101010101" pitchFamily="2" charset="-122"/>
                <a:ea typeface="华文细黑" panose="02010600040101010101" pitchFamily="2" charset="-122"/>
              </a:rPr>
              <a:t>Q</a:t>
            </a:r>
            <a:r>
              <a:rPr lang="en-US" altLang="zh-CN" sz="2600" b="1" baseline="-25000" dirty="0">
                <a:solidFill>
                  <a:srgbClr val="0000FF"/>
                </a:solidFill>
                <a:latin typeface="华文细黑" panose="02010600040101010101" pitchFamily="2" charset="-122"/>
                <a:ea typeface="华文细黑" panose="02010600040101010101" pitchFamily="2" charset="-122"/>
              </a:rPr>
              <a:t>d</a:t>
            </a:r>
            <a:r>
              <a:rPr lang="en-US" altLang="zh-CN" sz="2600" b="1" dirty="0">
                <a:solidFill>
                  <a:srgbClr val="0000FF"/>
                </a:solidFill>
                <a:latin typeface="华文细黑" panose="02010600040101010101" pitchFamily="2" charset="-122"/>
                <a:ea typeface="华文细黑" panose="02010600040101010101" pitchFamily="2" charset="-122"/>
              </a:rPr>
              <a:t> </a:t>
            </a:r>
            <a:r>
              <a:rPr lang="zh-CN" altLang="en-US" sz="2600" b="1" dirty="0">
                <a:solidFill>
                  <a:srgbClr val="0000FF"/>
                </a:solidFill>
                <a:latin typeface="华文细黑" panose="02010600040101010101" pitchFamily="2" charset="-122"/>
                <a:ea typeface="华文细黑" panose="02010600040101010101" pitchFamily="2" charset="-122"/>
              </a:rPr>
              <a:t>的年变化，使得气温也具有日变化与年变化。</a:t>
            </a:r>
            <a:endParaRPr lang="zh-CN" altLang="en-US" sz="2600" b="1" dirty="0">
              <a:solidFill>
                <a:srgbClr val="0000FF"/>
              </a:solidFill>
              <a:latin typeface="华文细黑" panose="02010600040101010101" pitchFamily="2" charset="-122"/>
              <a:ea typeface="华文细黑" panose="02010600040101010101" pitchFamily="2" charset="-122"/>
            </a:endParaRPr>
          </a:p>
          <a:p>
            <a:pPr eaLnBrk="1" hangingPunct="1">
              <a:lnSpc>
                <a:spcPct val="120000"/>
              </a:lnSpc>
              <a:buFont typeface="Wingdings" panose="05000000000000000000" pitchFamily="2" charset="2"/>
              <a:buChar char="Ø"/>
            </a:pPr>
            <a:r>
              <a:rPr lang="zh-CN" altLang="en-US" sz="2600" b="1" dirty="0">
                <a:solidFill>
                  <a:srgbClr val="0000FF"/>
                </a:solidFill>
                <a:latin typeface="华文细黑" panose="02010600040101010101" pitchFamily="2" charset="-122"/>
                <a:ea typeface="华文细黑" panose="02010600040101010101" pitchFamily="2" charset="-122"/>
              </a:rPr>
              <a:t>气温并非简单地取决于</a:t>
            </a:r>
            <a:r>
              <a:rPr lang="en-US" altLang="zh-CN" sz="2600" b="1" i="1" dirty="0">
                <a:solidFill>
                  <a:srgbClr val="0000FF"/>
                </a:solidFill>
                <a:latin typeface="华文细黑" panose="02010600040101010101" pitchFamily="2" charset="-122"/>
                <a:ea typeface="华文细黑" panose="02010600040101010101" pitchFamily="2" charset="-122"/>
              </a:rPr>
              <a:t>S</a:t>
            </a:r>
            <a:r>
              <a:rPr lang="en-US" altLang="zh-CN" sz="2600" b="1" baseline="-25000" dirty="0">
                <a:solidFill>
                  <a:srgbClr val="0000FF"/>
                </a:solidFill>
                <a:latin typeface="华文细黑" panose="02010600040101010101" pitchFamily="2" charset="-122"/>
                <a:ea typeface="华文细黑" panose="02010600040101010101" pitchFamily="2" charset="-122"/>
              </a:rPr>
              <a:t>0</a:t>
            </a:r>
            <a:r>
              <a:rPr lang="en-US" altLang="zh-CN" sz="2600" b="1" dirty="0">
                <a:solidFill>
                  <a:srgbClr val="0000FF"/>
                </a:solidFill>
                <a:latin typeface="华文细黑" panose="02010600040101010101" pitchFamily="2" charset="-122"/>
                <a:ea typeface="华文细黑" panose="02010600040101010101" pitchFamily="2" charset="-122"/>
              </a:rPr>
              <a:t> ′</a:t>
            </a:r>
            <a:r>
              <a:rPr lang="zh-CN" altLang="en-US" sz="2600" b="1" dirty="0">
                <a:solidFill>
                  <a:srgbClr val="0000FF"/>
                </a:solidFill>
                <a:latin typeface="华文细黑" panose="02010600040101010101" pitchFamily="2" charset="-122"/>
                <a:ea typeface="华文细黑" panose="02010600040101010101" pitchFamily="2" charset="-122"/>
              </a:rPr>
              <a:t>和</a:t>
            </a:r>
            <a:r>
              <a:rPr lang="en-US" altLang="zh-CN" sz="2600" b="1" i="1" dirty="0">
                <a:solidFill>
                  <a:srgbClr val="0000FF"/>
                </a:solidFill>
                <a:latin typeface="华文细黑" panose="02010600040101010101" pitchFamily="2" charset="-122"/>
                <a:ea typeface="华文细黑" panose="02010600040101010101" pitchFamily="2" charset="-122"/>
              </a:rPr>
              <a:t>Q</a:t>
            </a:r>
            <a:r>
              <a:rPr lang="en-US" altLang="zh-CN" sz="2600" b="1" baseline="-25000" dirty="0">
                <a:solidFill>
                  <a:srgbClr val="0000FF"/>
                </a:solidFill>
                <a:latin typeface="华文细黑" panose="02010600040101010101" pitchFamily="2" charset="-122"/>
                <a:ea typeface="华文细黑" panose="02010600040101010101" pitchFamily="2" charset="-122"/>
              </a:rPr>
              <a:t>d</a:t>
            </a:r>
            <a:r>
              <a:rPr lang="zh-CN" altLang="en-US" sz="2600" b="1" dirty="0">
                <a:solidFill>
                  <a:srgbClr val="0000FF"/>
                </a:solidFill>
                <a:latin typeface="华文细黑" panose="02010600040101010101" pitchFamily="2" charset="-122"/>
                <a:ea typeface="华文细黑" panose="02010600040101010101" pitchFamily="2" charset="-122"/>
              </a:rPr>
              <a:t>。</a:t>
            </a:r>
            <a:r>
              <a:rPr lang="en-US" altLang="zh-CN" sz="2600" b="1" dirty="0">
                <a:solidFill>
                  <a:srgbClr val="0000FF"/>
                </a:solidFill>
                <a:latin typeface="华文细黑" panose="02010600040101010101" pitchFamily="2" charset="-122"/>
                <a:ea typeface="华文细黑" panose="02010600040101010101" pitchFamily="2" charset="-122"/>
              </a:rPr>
              <a:t> </a:t>
            </a:r>
            <a:endParaRPr lang="en-US" altLang="zh-CN" sz="2600" b="1" dirty="0">
              <a:solidFill>
                <a:srgbClr val="0000FF"/>
              </a:solidFill>
              <a:latin typeface="华文细黑" panose="02010600040101010101" pitchFamily="2" charset="-122"/>
              <a:ea typeface="华文细黑" panose="02010600040101010101" pitchFamily="2" charset="-122"/>
            </a:endParaRPr>
          </a:p>
        </p:txBody>
      </p:sp>
      <p:pic>
        <p:nvPicPr>
          <p:cNvPr id="37891" name="Picture 4"/>
          <p:cNvPicPr>
            <a:picLocks noChangeAspect="1"/>
          </p:cNvPicPr>
          <p:nvPr/>
        </p:nvPicPr>
        <p:blipFill>
          <a:blip r:embed="rId1"/>
          <a:stretch>
            <a:fillRect/>
          </a:stretch>
        </p:blipFill>
        <p:spPr>
          <a:xfrm>
            <a:off x="4143375" y="1089025"/>
            <a:ext cx="4945063" cy="5697538"/>
          </a:xfrm>
          <a:prstGeom prst="rect">
            <a:avLst/>
          </a:prstGeom>
          <a:noFill/>
          <a:ln w="9525">
            <a:noFill/>
          </a:ln>
        </p:spPr>
      </p:pic>
      <p:sp>
        <p:nvSpPr>
          <p:cNvPr id="37892" name="Rectangle 11"/>
          <p:cNvSpPr>
            <a:spLocks noGrp="1"/>
          </p:cNvSpPr>
          <p:nvPr>
            <p:ph type="title"/>
          </p:nvPr>
        </p:nvSpPr>
        <p:spPr>
          <a:xfrm>
            <a:off x="1371600" y="214313"/>
            <a:ext cx="7772400" cy="642937"/>
          </a:xfrm>
          <a:ln/>
        </p:spPr>
        <p:txBody>
          <a:bodyPr vert="horz" wrap="square" lIns="91440" tIns="45720" rIns="91440" bIns="45720" anchor="b" anchorCtr="0"/>
          <a:p>
            <a:r>
              <a:rPr lang="zh-CN" altLang="en-US" sz="2800" dirty="0">
                <a:solidFill>
                  <a:srgbClr val="FFFF00"/>
                </a:solidFill>
                <a:latin typeface="黑体" panose="02010609060101010101" pitchFamily="49" charset="-122"/>
                <a:ea typeface="黑体" panose="02010609060101010101" pitchFamily="49" charset="-122"/>
              </a:rPr>
              <a:t>二</a:t>
            </a:r>
            <a:r>
              <a:rPr lang="en-US" altLang="zh-CN" sz="2800" dirty="0">
                <a:solidFill>
                  <a:srgbClr val="FFFF00"/>
                </a:solidFill>
                <a:latin typeface="黑体" panose="02010609060101010101" pitchFamily="49" charset="-122"/>
                <a:ea typeface="黑体" panose="02010609060101010101" pitchFamily="49" charset="-122"/>
              </a:rPr>
              <a:t>. </a:t>
            </a:r>
            <a:r>
              <a:rPr lang="zh-CN" altLang="en-US" sz="2800" dirty="0">
                <a:solidFill>
                  <a:srgbClr val="FFFF00"/>
                </a:solidFill>
                <a:latin typeface="黑体" panose="02010609060101010101" pitchFamily="49" charset="-122"/>
                <a:ea typeface="黑体" panose="02010609060101010101" pitchFamily="49" charset="-122"/>
              </a:rPr>
              <a:t>大气上界水平面上太阳辐射通量的计算</a:t>
            </a:r>
            <a:endParaRPr lang="zh-CN" altLang="en-US" sz="28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2"/>
          <p:cNvSpPr>
            <a:spLocks noGrp="1" noChangeArrowheads="1"/>
          </p:cNvSpPr>
          <p:nvPr>
            <p:ph idx="1"/>
          </p:nvPr>
        </p:nvSpPr>
        <p:spPr/>
        <p:txBody>
          <a:bodyPr vert="horz" wrap="square" lIns="91440" tIns="45720" rIns="91440" bIns="45720" numCol="1" anchor="t" anchorCtr="0" compatLnSpc="1"/>
          <a:lstStyle/>
          <a:p>
            <a:pPr marL="342900" marR="0" lvl="0" indent="-342900" algn="l" defTabSz="914400" rtl="0" eaLnBrk="1" fontAlgn="base" latinLnBrk="0" hangingPunct="1">
              <a:lnSpc>
                <a:spcPct val="15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吸收、散射过程对太阳辐射的削弱</a:t>
            </a:r>
            <a:endParaRPr kumimoji="0" lang="en-US" altLang="zh-CN" sz="28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endParaRPr>
          </a:p>
          <a:p>
            <a:pPr marL="0" marR="0" lvl="0" indent="0" algn="l" defTabSz="914400" rtl="0" eaLnBrk="1" fontAlgn="base" latinLnBrk="0" hangingPunct="1">
              <a:lnSpc>
                <a:spcPct val="150000"/>
              </a:lnSpc>
              <a:spcBef>
                <a:spcPct val="2000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rPr>
              <a:t>        大气对不同波长的辐射能量削弱能力不同，故到达地面的太阳直接辐射光谱与大气上界太阳辐射光谱分布明显不同。</a:t>
            </a:r>
            <a:endParaRPr kumimoji="0" lang="en-US" altLang="zh-CN" sz="2800" b="1" i="0" u="none" strike="noStrike" kern="0" cap="none" spc="0" normalizeH="0" baseline="0" noProof="0" dirty="0">
              <a:ln>
                <a:noFill/>
              </a:ln>
              <a:solidFill>
                <a:srgbClr val="0000FF"/>
              </a:solidFill>
              <a:effectLst/>
              <a:uLnTx/>
              <a:uFillTx/>
              <a:latin typeface="华文细黑" panose="02010600040101010101" pitchFamily="2" charset="-122"/>
              <a:ea typeface="华文细黑" panose="02010600040101010101" pitchFamily="2" charset="-122"/>
              <a:cs typeface="+mn-cs"/>
            </a:endParaRPr>
          </a:p>
          <a:p>
            <a:pPr marL="342900" marR="0" lvl="0" indent="-342900" algn="l" defTabSz="914400" rtl="0" eaLnBrk="1" fontAlgn="base" latinLnBrk="0" hangingPunct="1">
              <a:lnSpc>
                <a:spcPct val="150000"/>
              </a:lnSpc>
              <a:spcBef>
                <a:spcPct val="20000"/>
              </a:spcBef>
              <a:spcAft>
                <a:spcPct val="0"/>
              </a:spcAft>
              <a:buClr>
                <a:schemeClr val="hlink"/>
              </a:buClr>
              <a:buSzTx/>
              <a:buFont typeface="Wingdings" panose="05000000000000000000" pitchFamily="2" charset="2"/>
              <a:buChar char="v"/>
              <a:defRPr/>
            </a:pPr>
            <a:endParaRPr kumimoji="0" lang="en-US" altLang="zh-CN" sz="2800" b="1" i="0" u="none" strike="noStrike" kern="0" cap="none" spc="0" normalizeH="0" baseline="0" noProof="0" dirty="0">
              <a:ln>
                <a:noFill/>
              </a:ln>
              <a:solidFill>
                <a:srgbClr val="0000FF"/>
              </a:solidFill>
              <a:effectLst/>
              <a:uLnTx/>
              <a:uFillTx/>
              <a:latin typeface="+mn-lt"/>
              <a:ea typeface="宋体" panose="02010600030101010101" pitchFamily="2" charset="-122"/>
              <a:cs typeface="+mn-cs"/>
            </a:endParaRPr>
          </a:p>
        </p:txBody>
      </p:sp>
      <p:sp>
        <p:nvSpPr>
          <p:cNvPr id="38915" name="Rectangle 3"/>
          <p:cNvSpPr>
            <a:spLocks noGrp="1"/>
          </p:cNvSpPr>
          <p:nvPr>
            <p:ph type="title"/>
          </p:nvPr>
        </p:nvSpPr>
        <p:spPr>
          <a:xfrm>
            <a:off x="1331913" y="71438"/>
            <a:ext cx="7812087" cy="814387"/>
          </a:xfrm>
          <a:ln/>
        </p:spPr>
        <p:txBody>
          <a:bodyPr vert="horz" wrap="square" lIns="91440" tIns="45720" rIns="91440" bIns="45720" anchor="b" anchorCtr="0"/>
          <a:p>
            <a:pPr algn="ctr"/>
            <a:r>
              <a:rPr lang="en-US" altLang="zh-CN" sz="4000" dirty="0">
                <a:solidFill>
                  <a:srgbClr val="FFFF00"/>
                </a:solidFill>
                <a:latin typeface="黑体" panose="02010609060101010101" pitchFamily="49" charset="-122"/>
                <a:ea typeface="黑体" panose="02010609060101010101" pitchFamily="49" charset="-122"/>
              </a:rPr>
              <a:t>5.4.3 </a:t>
            </a:r>
            <a:r>
              <a:rPr lang="zh-CN" altLang="en-US" sz="4000" dirty="0">
                <a:solidFill>
                  <a:srgbClr val="FFFF00"/>
                </a:solidFill>
                <a:latin typeface="黑体" panose="02010609060101010101" pitchFamily="49" charset="-122"/>
                <a:ea typeface="黑体" panose="02010609060101010101" pitchFamily="49" charset="-122"/>
              </a:rPr>
              <a:t>太阳的直接辐射</a:t>
            </a:r>
            <a:endParaRPr lang="zh-CN" altLang="en-US" sz="40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TextBox 4"/>
          <p:cNvSpPr txBox="1"/>
          <p:nvPr/>
        </p:nvSpPr>
        <p:spPr>
          <a:xfrm>
            <a:off x="285750" y="6286500"/>
            <a:ext cx="8715375" cy="369888"/>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39939" name="Rectangle 3"/>
          <p:cNvSpPr>
            <a:spLocks noGrp="1"/>
          </p:cNvSpPr>
          <p:nvPr>
            <p:ph type="title"/>
          </p:nvPr>
        </p:nvSpPr>
        <p:spPr>
          <a:xfrm>
            <a:off x="1331913" y="71438"/>
            <a:ext cx="7812087" cy="814387"/>
          </a:xfrm>
          <a:ln/>
        </p:spPr>
        <p:txBody>
          <a:bodyPr vert="horz" wrap="square" lIns="91440" tIns="45720" rIns="91440" bIns="45720" anchor="b" anchorCtr="0"/>
          <a:p>
            <a:pPr algn="ctr"/>
            <a:r>
              <a:rPr lang="en-US" altLang="zh-CN" sz="4000" dirty="0">
                <a:solidFill>
                  <a:srgbClr val="FFFF00"/>
                </a:solidFill>
                <a:latin typeface="黑体" panose="02010609060101010101" pitchFamily="49" charset="-122"/>
                <a:ea typeface="黑体" panose="02010609060101010101" pitchFamily="49" charset="-122"/>
              </a:rPr>
              <a:t>5.4.3 </a:t>
            </a:r>
            <a:r>
              <a:rPr lang="zh-CN" altLang="en-US" sz="4000" dirty="0">
                <a:solidFill>
                  <a:srgbClr val="FFFF00"/>
                </a:solidFill>
                <a:latin typeface="黑体" panose="02010609060101010101" pitchFamily="49" charset="-122"/>
                <a:ea typeface="黑体" panose="02010609060101010101" pitchFamily="49" charset="-122"/>
              </a:rPr>
              <a:t>太阳的直接辐射</a:t>
            </a:r>
            <a:endParaRPr lang="zh-CN" altLang="en-US" sz="4000" dirty="0">
              <a:solidFill>
                <a:srgbClr val="FFFF00"/>
              </a:solidFill>
              <a:latin typeface="黑体" panose="02010609060101010101" pitchFamily="49" charset="-122"/>
              <a:ea typeface="黑体" panose="02010609060101010101" pitchFamily="49" charset="-122"/>
            </a:endParaRPr>
          </a:p>
        </p:txBody>
      </p:sp>
      <p:pic>
        <p:nvPicPr>
          <p:cNvPr id="39940" name="Picture 5" descr="Fig5-15"/>
          <p:cNvPicPr>
            <a:picLocks noChangeAspect="1"/>
          </p:cNvPicPr>
          <p:nvPr/>
        </p:nvPicPr>
        <p:blipFill>
          <a:blip r:embed="rId1"/>
          <a:srcRect b="1648"/>
          <a:stretch>
            <a:fillRect/>
          </a:stretch>
        </p:blipFill>
        <p:spPr>
          <a:xfrm>
            <a:off x="1331913" y="1143000"/>
            <a:ext cx="6526212" cy="5218113"/>
          </a:xfrm>
          <a:prstGeom prst="rect">
            <a:avLst/>
          </a:prstGeom>
          <a:noFill/>
          <a:ln w="9525">
            <a:noFill/>
          </a:ln>
        </p:spPr>
      </p:pic>
      <p:sp>
        <p:nvSpPr>
          <p:cNvPr id="39941" name="TextBox 3"/>
          <p:cNvSpPr txBox="1"/>
          <p:nvPr/>
        </p:nvSpPr>
        <p:spPr>
          <a:xfrm>
            <a:off x="2928938" y="6357938"/>
            <a:ext cx="4143375" cy="400050"/>
          </a:xfrm>
          <a:prstGeom prst="rect">
            <a:avLst/>
          </a:prstGeom>
          <a:noFill/>
          <a:ln w="9525">
            <a:noFill/>
          </a:ln>
        </p:spPr>
        <p:txBody>
          <a:bodyPr>
            <a:spAutoFit/>
          </a:bodyPr>
          <a:p>
            <a:pPr eaLnBrk="1" hangingPunct="1"/>
            <a:r>
              <a:rPr lang="zh-CN" altLang="en-US" sz="2000" b="1" dirty="0">
                <a:latin typeface="华文细黑" panose="02010600040101010101" pitchFamily="2" charset="-122"/>
                <a:ea typeface="华文细黑" panose="02010600040101010101" pitchFamily="2" charset="-122"/>
              </a:rPr>
              <a:t>大气上界和海平面的太阳辐射谱</a:t>
            </a:r>
            <a:endParaRPr lang="zh-CN" altLang="en-US" sz="2000" b="1" dirty="0">
              <a:latin typeface="华文细黑" panose="02010600040101010101" pitchFamily="2" charset="-122"/>
              <a:ea typeface="华文细黑" panose="02010600040101010101" pitchFamily="2" charset="-122"/>
            </a:endParaRPr>
          </a:p>
        </p:txBody>
      </p:sp>
      <p:sp>
        <p:nvSpPr>
          <p:cNvPr id="39942" name="TextBox 5"/>
          <p:cNvSpPr txBox="1"/>
          <p:nvPr/>
        </p:nvSpPr>
        <p:spPr>
          <a:xfrm>
            <a:off x="3714750" y="1500188"/>
            <a:ext cx="1428750" cy="400050"/>
          </a:xfrm>
          <a:prstGeom prst="rect">
            <a:avLst/>
          </a:prstGeom>
          <a:noFill/>
          <a:ln w="9525">
            <a:noFill/>
          </a:ln>
        </p:spPr>
        <p:txBody>
          <a:bodyPr>
            <a:spAutoFit/>
          </a:bodyPr>
          <a:p>
            <a:pPr eaLnBrk="1" hangingPunct="1"/>
            <a:r>
              <a:rPr lang="zh-CN" altLang="en-US" sz="2000" b="1" dirty="0">
                <a:solidFill>
                  <a:srgbClr val="FF0000"/>
                </a:solidFill>
                <a:latin typeface="Arial" panose="020B0604020202020204" pitchFamily="34" charset="0"/>
                <a:ea typeface="宋体" panose="02010600030101010101" pitchFamily="2" charset="-122"/>
              </a:rPr>
              <a:t>大气上界</a:t>
            </a:r>
            <a:endParaRPr lang="zh-CN" altLang="en-US" sz="2000" b="1" dirty="0">
              <a:solidFill>
                <a:srgbClr val="FF0000"/>
              </a:solidFill>
              <a:latin typeface="Arial" panose="020B0604020202020204" pitchFamily="34" charset="0"/>
              <a:ea typeface="宋体" panose="02010600030101010101" pitchFamily="2" charset="-122"/>
            </a:endParaRPr>
          </a:p>
        </p:txBody>
      </p:sp>
      <p:cxnSp>
        <p:nvCxnSpPr>
          <p:cNvPr id="39943" name="直接箭头连接符 7"/>
          <p:cNvCxnSpPr>
            <a:endCxn id="39942" idx="1"/>
          </p:cNvCxnSpPr>
          <p:nvPr/>
        </p:nvCxnSpPr>
        <p:spPr>
          <a:xfrm flipV="1">
            <a:off x="2857500" y="1700213"/>
            <a:ext cx="936625" cy="287337"/>
          </a:xfrm>
          <a:prstGeom prst="straightConnector1">
            <a:avLst/>
          </a:prstGeom>
          <a:ln w="28575" cap="flat" cmpd="sng">
            <a:solidFill>
              <a:srgbClr val="FF0000"/>
            </a:solidFill>
            <a:prstDash val="solid"/>
            <a:headEnd type="none" w="med" len="med"/>
            <a:tailEnd type="arrow" w="med" len="med"/>
          </a:ln>
        </p:spPr>
      </p:cxnSp>
      <p:sp>
        <p:nvSpPr>
          <p:cNvPr id="39944" name="TextBox 8"/>
          <p:cNvSpPr txBox="1"/>
          <p:nvPr/>
        </p:nvSpPr>
        <p:spPr>
          <a:xfrm>
            <a:off x="4929188" y="4286250"/>
            <a:ext cx="1428750" cy="400050"/>
          </a:xfrm>
          <a:prstGeom prst="rect">
            <a:avLst/>
          </a:prstGeom>
          <a:noFill/>
          <a:ln w="9525">
            <a:noFill/>
          </a:ln>
        </p:spPr>
        <p:txBody>
          <a:bodyPr>
            <a:spAutoFit/>
          </a:bodyPr>
          <a:p>
            <a:pPr eaLnBrk="1" hangingPunct="1"/>
            <a:r>
              <a:rPr lang="zh-CN" altLang="en-US" sz="2000" b="1" dirty="0">
                <a:solidFill>
                  <a:srgbClr val="008000"/>
                </a:solidFill>
                <a:latin typeface="Arial" panose="020B0604020202020204" pitchFamily="34" charset="0"/>
                <a:ea typeface="宋体" panose="02010600030101010101" pitchFamily="2" charset="-122"/>
              </a:rPr>
              <a:t>海平面</a:t>
            </a:r>
            <a:endParaRPr lang="zh-CN" altLang="en-US" sz="2000" b="1" dirty="0">
              <a:solidFill>
                <a:srgbClr val="008000"/>
              </a:solidFill>
              <a:latin typeface="Arial" panose="020B0604020202020204" pitchFamily="34" charset="0"/>
              <a:ea typeface="宋体" panose="02010600030101010101" pitchFamily="2" charset="-122"/>
            </a:endParaRPr>
          </a:p>
        </p:txBody>
      </p:sp>
      <p:cxnSp>
        <p:nvCxnSpPr>
          <p:cNvPr id="39945" name="直接箭头连接符 9"/>
          <p:cNvCxnSpPr/>
          <p:nvPr/>
        </p:nvCxnSpPr>
        <p:spPr>
          <a:xfrm flipV="1">
            <a:off x="4000500" y="4500563"/>
            <a:ext cx="1000125" cy="642937"/>
          </a:xfrm>
          <a:prstGeom prst="straightConnector1">
            <a:avLst/>
          </a:prstGeom>
          <a:ln w="28575" cap="flat" cmpd="sng">
            <a:solidFill>
              <a:srgbClr val="008000"/>
            </a:solidFill>
            <a:prstDash val="solid"/>
            <a:headEnd type="none" w="med" len="med"/>
            <a:tailEnd type="arrow" w="med" len="med"/>
          </a:ln>
        </p:spPr>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7"/>
          <p:cNvSpPr>
            <a:spLocks noGrp="1"/>
          </p:cNvSpPr>
          <p:nvPr>
            <p:ph type="title"/>
          </p:nvPr>
        </p:nvSpPr>
        <p:spPr>
          <a:xfrm>
            <a:off x="1403350" y="0"/>
            <a:ext cx="7740650" cy="1143000"/>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 </a:t>
            </a:r>
            <a:r>
              <a:rPr lang="zh-CN" altLang="en-US" sz="4000" dirty="0">
                <a:solidFill>
                  <a:srgbClr val="FFFF00"/>
                </a:solidFill>
                <a:latin typeface="黑体" panose="02010609060101010101" pitchFamily="49" charset="-122"/>
                <a:ea typeface="黑体" panose="02010609060101010101" pitchFamily="49" charset="-122"/>
              </a:rPr>
              <a:t>地面太阳直接辐射</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40963" name="Rectangle 10"/>
          <p:cNvSpPr>
            <a:spLocks noGrp="1"/>
          </p:cNvSpPr>
          <p:nvPr>
            <p:ph type="body" sz="half" idx="1"/>
          </p:nvPr>
        </p:nvSpPr>
        <p:spPr>
          <a:xfrm>
            <a:off x="252413" y="1422400"/>
            <a:ext cx="8748712" cy="5221288"/>
          </a:xfrm>
          <a:ln/>
        </p:spPr>
        <p:txBody>
          <a:bodyPr vert="horz" wrap="square" lIns="91440" tIns="45720" rIns="91440" bIns="45720" anchor="t" anchorCtr="0"/>
          <a:p>
            <a:r>
              <a:rPr lang="zh-CN" altLang="en-US" dirty="0">
                <a:ea typeface="宋体" panose="02010600030101010101" pitchFamily="2" charset="-122"/>
              </a:rPr>
              <a:t> </a:t>
            </a:r>
            <a:r>
              <a:rPr lang="zh-CN" altLang="en-US" dirty="0">
                <a:latin typeface="华文细黑" panose="02010600040101010101" pitchFamily="2" charset="-122"/>
                <a:ea typeface="华文细黑" panose="02010600040101010101" pitchFamily="2" charset="-122"/>
              </a:rPr>
              <a:t>假设：各吸收、散射过程相互独立</a:t>
            </a:r>
            <a:endParaRPr lang="zh-CN" altLang="en-US" dirty="0">
              <a:latin typeface="华文细黑" panose="02010600040101010101" pitchFamily="2" charset="-122"/>
              <a:ea typeface="华文细黑" panose="02010600040101010101" pitchFamily="2" charset="-122"/>
            </a:endParaRPr>
          </a:p>
          <a:p>
            <a:pPr lvl="1">
              <a:spcBef>
                <a:spcPts val="1200"/>
              </a:spcBef>
            </a:pPr>
            <a:r>
              <a:rPr lang="zh-CN" altLang="en-US" sz="2400" dirty="0">
                <a:latin typeface="华文细黑" panose="02010600040101010101" pitchFamily="2" charset="-122"/>
                <a:ea typeface="华文细黑" panose="02010600040101010101" pitchFamily="2" charset="-122"/>
              </a:rPr>
              <a:t>总的衰减系数：</a:t>
            </a:r>
            <a:endParaRPr lang="zh-CN" altLang="en-US" sz="2400" dirty="0">
              <a:latin typeface="华文细黑" panose="02010600040101010101" pitchFamily="2" charset="-122"/>
              <a:ea typeface="华文细黑" panose="02010600040101010101" pitchFamily="2" charset="-122"/>
            </a:endParaRPr>
          </a:p>
          <a:p>
            <a:pPr lvl="1"/>
            <a:endParaRPr lang="zh-CN" altLang="en-US" sz="2400" dirty="0">
              <a:latin typeface="华文细黑" panose="02010600040101010101" pitchFamily="2" charset="-122"/>
              <a:ea typeface="华文细黑" panose="02010600040101010101" pitchFamily="2" charset="-122"/>
            </a:endParaRPr>
          </a:p>
          <a:p>
            <a:pPr lvl="1"/>
            <a:endParaRPr lang="zh-CN" altLang="en-US" sz="2400" dirty="0">
              <a:latin typeface="华文细黑" panose="02010600040101010101" pitchFamily="2" charset="-122"/>
              <a:ea typeface="华文细黑" panose="02010600040101010101" pitchFamily="2" charset="-122"/>
            </a:endParaRPr>
          </a:p>
          <a:p>
            <a:pPr lvl="1"/>
            <a:endParaRPr lang="zh-CN" altLang="en-US" sz="2400" dirty="0">
              <a:latin typeface="华文细黑" panose="02010600040101010101" pitchFamily="2" charset="-122"/>
              <a:ea typeface="华文细黑" panose="02010600040101010101" pitchFamily="2" charset="-122"/>
            </a:endParaRPr>
          </a:p>
          <a:p>
            <a:pPr lvl="1"/>
            <a:r>
              <a:rPr lang="zh-CN" altLang="en-US" sz="2400" i="1" dirty="0">
                <a:latin typeface="华文细黑" panose="02010600040101010101" pitchFamily="2" charset="-122"/>
                <a:ea typeface="华文细黑" panose="02010600040101010101" pitchFamily="2" charset="-122"/>
              </a:rPr>
              <a:t>   </a:t>
            </a:r>
            <a:r>
              <a:rPr lang="en-US" altLang="zh-CN" sz="2400" i="1" dirty="0">
                <a:latin typeface="华文细黑" panose="02010600040101010101" pitchFamily="2" charset="-122"/>
                <a:ea typeface="华文细黑" panose="02010600040101010101" pitchFamily="2" charset="-122"/>
              </a:rPr>
              <a:t>k</a:t>
            </a:r>
            <a:r>
              <a:rPr lang="el-GR" altLang="zh-CN" sz="2400" baseline="-25000" dirty="0">
                <a:latin typeface="华文细黑" panose="02010600040101010101" pitchFamily="2" charset="-122"/>
                <a:ea typeface="华文细黑" panose="02010600040101010101" pitchFamily="2" charset="-122"/>
              </a:rPr>
              <a:t> λ</a:t>
            </a:r>
            <a:r>
              <a:rPr lang="en-US" altLang="zh-CN" sz="2400" baseline="-25000" dirty="0">
                <a:latin typeface="华文细黑" panose="02010600040101010101" pitchFamily="2" charset="-122"/>
                <a:ea typeface="华文细黑" panose="02010600040101010101" pitchFamily="2" charset="-122"/>
              </a:rPr>
              <a:t>,R</a:t>
            </a:r>
            <a:r>
              <a:rPr lang="en-US" altLang="zh-CN" sz="2400" i="1"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为气体分子散射所引起的衰减；</a:t>
            </a:r>
            <a:endParaRPr lang="zh-CN" altLang="en-US" sz="2400" dirty="0">
              <a:latin typeface="华文细黑" panose="02010600040101010101" pitchFamily="2" charset="-122"/>
              <a:ea typeface="华文细黑" panose="02010600040101010101" pitchFamily="2" charset="-122"/>
            </a:endParaRPr>
          </a:p>
          <a:p>
            <a:pPr lvl="1"/>
            <a:r>
              <a:rPr lang="zh-CN" altLang="en-US" sz="2400" dirty="0">
                <a:latin typeface="华文细黑" panose="02010600040101010101" pitchFamily="2" charset="-122"/>
                <a:ea typeface="华文细黑" panose="02010600040101010101" pitchFamily="2" charset="-122"/>
              </a:rPr>
              <a:t>   </a:t>
            </a:r>
            <a:r>
              <a:rPr lang="en-US" altLang="zh-CN" sz="2400" i="1" dirty="0">
                <a:latin typeface="华文细黑" panose="02010600040101010101" pitchFamily="2" charset="-122"/>
                <a:ea typeface="华文细黑" panose="02010600040101010101" pitchFamily="2" charset="-122"/>
              </a:rPr>
              <a:t>k</a:t>
            </a:r>
            <a:r>
              <a:rPr lang="el-GR" altLang="zh-CN" sz="2400" baseline="-25000" dirty="0">
                <a:latin typeface="华文细黑" panose="02010600040101010101" pitchFamily="2" charset="-122"/>
                <a:ea typeface="华文细黑" panose="02010600040101010101" pitchFamily="2" charset="-122"/>
              </a:rPr>
              <a:t> λ</a:t>
            </a:r>
            <a:r>
              <a:rPr lang="en-US" altLang="zh-CN" sz="2400" baseline="-25000" dirty="0">
                <a:latin typeface="华文细黑" panose="02010600040101010101" pitchFamily="2" charset="-122"/>
                <a:ea typeface="华文细黑" panose="02010600040101010101" pitchFamily="2" charset="-122"/>
              </a:rPr>
              <a:t>,p</a:t>
            </a:r>
            <a:r>
              <a:rPr lang="en-US"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为气溶胶粒子的散射所引起的衰减； </a:t>
            </a:r>
            <a:endParaRPr lang="zh-CN" altLang="en-US" sz="2400" dirty="0">
              <a:latin typeface="华文细黑" panose="02010600040101010101" pitchFamily="2" charset="-122"/>
              <a:ea typeface="华文细黑" panose="02010600040101010101" pitchFamily="2" charset="-122"/>
            </a:endParaRPr>
          </a:p>
          <a:p>
            <a:pPr lvl="1"/>
            <a:r>
              <a:rPr lang="zh-CN" altLang="en-US" sz="2400" i="1" dirty="0">
                <a:latin typeface="华文细黑" panose="02010600040101010101" pitchFamily="2" charset="-122"/>
                <a:ea typeface="华文细黑" panose="02010600040101010101" pitchFamily="2" charset="-122"/>
              </a:rPr>
              <a:t>   </a:t>
            </a:r>
            <a:r>
              <a:rPr lang="en-US" altLang="zh-CN" sz="2400" i="1" dirty="0">
                <a:latin typeface="华文细黑" panose="02010600040101010101" pitchFamily="2" charset="-122"/>
                <a:ea typeface="华文细黑" panose="02010600040101010101" pitchFamily="2" charset="-122"/>
              </a:rPr>
              <a:t>k</a:t>
            </a:r>
            <a:r>
              <a:rPr lang="el-GR" altLang="zh-CN" sz="2400" baseline="-25000" dirty="0">
                <a:latin typeface="华文细黑" panose="02010600040101010101" pitchFamily="2" charset="-122"/>
                <a:ea typeface="华文细黑" panose="02010600040101010101" pitchFamily="2" charset="-122"/>
              </a:rPr>
              <a:t> λ</a:t>
            </a:r>
            <a:r>
              <a:rPr lang="en-US" altLang="zh-CN" sz="2400" i="1" baseline="-25000" dirty="0">
                <a:latin typeface="华文细黑" panose="02010600040101010101" pitchFamily="2" charset="-122"/>
                <a:ea typeface="华文细黑" panose="02010600040101010101" pitchFamily="2" charset="-122"/>
              </a:rPr>
              <a:t>,</a:t>
            </a:r>
            <a:r>
              <a:rPr lang="en-US" altLang="zh-CN" sz="2400" baseline="-25000" dirty="0">
                <a:latin typeface="华文细黑" panose="02010600040101010101" pitchFamily="2" charset="-122"/>
                <a:ea typeface="华文细黑" panose="02010600040101010101" pitchFamily="2" charset="-122"/>
              </a:rPr>
              <a:t>O</a:t>
            </a:r>
            <a:r>
              <a:rPr lang="en-US"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为臭氧吸收所引起的衰减 ；</a:t>
            </a:r>
            <a:endParaRPr lang="zh-CN" altLang="en-US" sz="2400" dirty="0">
              <a:latin typeface="华文细黑" panose="02010600040101010101" pitchFamily="2" charset="-122"/>
              <a:ea typeface="华文细黑" panose="02010600040101010101" pitchFamily="2" charset="-122"/>
            </a:endParaRPr>
          </a:p>
          <a:p>
            <a:pPr lvl="1"/>
            <a:r>
              <a:rPr lang="zh-CN" altLang="en-US" sz="2400" dirty="0">
                <a:latin typeface="华文细黑" panose="02010600040101010101" pitchFamily="2" charset="-122"/>
                <a:ea typeface="华文细黑" panose="02010600040101010101" pitchFamily="2" charset="-122"/>
              </a:rPr>
              <a:t>   </a:t>
            </a:r>
            <a:r>
              <a:rPr lang="en-US" altLang="zh-CN" sz="2400" i="1" dirty="0">
                <a:latin typeface="华文细黑" panose="02010600040101010101" pitchFamily="2" charset="-122"/>
                <a:ea typeface="华文细黑" panose="02010600040101010101" pitchFamily="2" charset="-122"/>
              </a:rPr>
              <a:t>k</a:t>
            </a:r>
            <a:r>
              <a:rPr lang="el-GR" altLang="zh-CN" sz="2400" baseline="-25000" dirty="0">
                <a:latin typeface="华文细黑" panose="02010600040101010101" pitchFamily="2" charset="-122"/>
                <a:ea typeface="华文细黑" panose="02010600040101010101" pitchFamily="2" charset="-122"/>
              </a:rPr>
              <a:t> λ</a:t>
            </a:r>
            <a:r>
              <a:rPr lang="en-US" altLang="zh-CN" sz="2400" i="1" baseline="-25000" dirty="0">
                <a:latin typeface="华文细黑" panose="02010600040101010101" pitchFamily="2" charset="-122"/>
                <a:ea typeface="华文细黑" panose="02010600040101010101" pitchFamily="2" charset="-122"/>
              </a:rPr>
              <a:t>,</a:t>
            </a:r>
            <a:r>
              <a:rPr lang="en-US" altLang="zh-CN" sz="2400" baseline="-25000" dirty="0">
                <a:latin typeface="华文细黑" panose="02010600040101010101" pitchFamily="2" charset="-122"/>
                <a:ea typeface="华文细黑" panose="02010600040101010101" pitchFamily="2" charset="-122"/>
              </a:rPr>
              <a:t>v  </a:t>
            </a:r>
            <a:r>
              <a:rPr lang="zh-CN" altLang="en-US" sz="2400" dirty="0">
                <a:latin typeface="华文细黑" panose="02010600040101010101" pitchFamily="2" charset="-122"/>
                <a:ea typeface="华文细黑" panose="02010600040101010101" pitchFamily="2" charset="-122"/>
              </a:rPr>
              <a:t>为水汽的吸收所引起的衰减；</a:t>
            </a:r>
            <a:endParaRPr lang="zh-CN" altLang="en-US" sz="2400" dirty="0">
              <a:latin typeface="华文细黑" panose="02010600040101010101" pitchFamily="2" charset="-122"/>
              <a:ea typeface="华文细黑" panose="02010600040101010101" pitchFamily="2" charset="-122"/>
            </a:endParaRPr>
          </a:p>
          <a:p>
            <a:pPr lvl="1"/>
            <a:r>
              <a:rPr lang="zh-CN" altLang="en-US" sz="2400" i="1" dirty="0">
                <a:latin typeface="华文细黑" panose="02010600040101010101" pitchFamily="2" charset="-122"/>
                <a:ea typeface="华文细黑" panose="02010600040101010101" pitchFamily="2" charset="-122"/>
              </a:rPr>
              <a:t>   </a:t>
            </a:r>
            <a:r>
              <a:rPr lang="en-US" altLang="zh-CN" sz="2400" i="1" dirty="0">
                <a:latin typeface="华文细黑" panose="02010600040101010101" pitchFamily="2" charset="-122"/>
                <a:ea typeface="华文细黑" panose="02010600040101010101" pitchFamily="2" charset="-122"/>
              </a:rPr>
              <a:t>k</a:t>
            </a:r>
            <a:r>
              <a:rPr lang="el-GR" altLang="zh-CN" sz="2400" baseline="-25000" dirty="0">
                <a:latin typeface="华文细黑" panose="02010600040101010101" pitchFamily="2" charset="-122"/>
                <a:ea typeface="华文细黑" panose="02010600040101010101" pitchFamily="2" charset="-122"/>
              </a:rPr>
              <a:t> λ</a:t>
            </a:r>
            <a:r>
              <a:rPr lang="en-US" altLang="zh-CN" sz="2400" i="1" baseline="-25000" dirty="0">
                <a:latin typeface="华文细黑" panose="02010600040101010101" pitchFamily="2" charset="-122"/>
                <a:ea typeface="华文细黑" panose="02010600040101010101" pitchFamily="2" charset="-122"/>
              </a:rPr>
              <a:t>,a</a:t>
            </a:r>
            <a:r>
              <a:rPr lang="en-US"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为其它均匀混合气体分子（主要是</a:t>
            </a:r>
            <a:r>
              <a:rPr lang="en-US" altLang="zh-CN" sz="2400" dirty="0">
                <a:latin typeface="华文细黑" panose="02010600040101010101" pitchFamily="2" charset="-122"/>
                <a:ea typeface="华文细黑" panose="02010600040101010101" pitchFamily="2" charset="-122"/>
              </a:rPr>
              <a:t>O</a:t>
            </a:r>
            <a:r>
              <a:rPr lang="en-US" altLang="zh-CN" sz="2400" baseline="-25000" dirty="0">
                <a:latin typeface="华文细黑" panose="02010600040101010101" pitchFamily="2" charset="-122"/>
                <a:ea typeface="华文细黑" panose="02010600040101010101" pitchFamily="2" charset="-122"/>
              </a:rPr>
              <a:t>2</a:t>
            </a:r>
            <a:r>
              <a:rPr lang="zh-CN" altLang="en-US" sz="2400" dirty="0">
                <a:latin typeface="华文细黑" panose="02010600040101010101" pitchFamily="2" charset="-122"/>
                <a:ea typeface="华文细黑" panose="02010600040101010101" pitchFamily="2" charset="-122"/>
              </a:rPr>
              <a:t>和</a:t>
            </a:r>
            <a:r>
              <a:rPr lang="en-US" altLang="zh-CN" sz="2400" dirty="0">
                <a:latin typeface="华文细黑" panose="02010600040101010101" pitchFamily="2" charset="-122"/>
                <a:ea typeface="华文细黑" panose="02010600040101010101" pitchFamily="2" charset="-122"/>
              </a:rPr>
              <a:t>CO</a:t>
            </a:r>
            <a:r>
              <a:rPr lang="en-US" altLang="zh-CN" sz="2400" baseline="-25000" dirty="0">
                <a:latin typeface="华文细黑" panose="02010600040101010101" pitchFamily="2" charset="-122"/>
                <a:ea typeface="华文细黑" panose="02010600040101010101" pitchFamily="2" charset="-122"/>
              </a:rPr>
              <a:t>2</a:t>
            </a:r>
            <a:r>
              <a:rPr lang="zh-CN" altLang="en-US" sz="2400" dirty="0">
                <a:latin typeface="华文细黑" panose="02010600040101010101" pitchFamily="2" charset="-122"/>
                <a:ea typeface="华文细黑" panose="02010600040101010101" pitchFamily="2" charset="-122"/>
              </a:rPr>
              <a:t>）</a:t>
            </a:r>
            <a:endParaRPr lang="zh-CN" altLang="en-US" sz="2400" dirty="0">
              <a:latin typeface="华文细黑" panose="02010600040101010101" pitchFamily="2" charset="-122"/>
              <a:ea typeface="华文细黑" panose="02010600040101010101" pitchFamily="2" charset="-122"/>
            </a:endParaRPr>
          </a:p>
          <a:p>
            <a:pPr lvl="1">
              <a:buNone/>
            </a:pPr>
            <a:r>
              <a:rPr lang="zh-CN" altLang="en-US" sz="2400" dirty="0">
                <a:latin typeface="华文细黑" panose="02010600040101010101" pitchFamily="2" charset="-122"/>
                <a:ea typeface="华文细黑" panose="02010600040101010101" pitchFamily="2" charset="-122"/>
              </a:rPr>
              <a:t>              吸收所引起的衰减。</a:t>
            </a:r>
            <a:endParaRPr lang="zh-CN" altLang="en-US" sz="2400" dirty="0">
              <a:latin typeface="华文细黑" panose="02010600040101010101" pitchFamily="2" charset="-122"/>
              <a:ea typeface="华文细黑" panose="02010600040101010101" pitchFamily="2" charset="-122"/>
            </a:endParaRPr>
          </a:p>
          <a:p>
            <a:pPr lvl="1">
              <a:spcBef>
                <a:spcPct val="25000"/>
              </a:spcBef>
              <a:spcAft>
                <a:spcPct val="25000"/>
              </a:spcAft>
              <a:buFontTx/>
              <a:buNone/>
            </a:pPr>
            <a:endParaRPr lang="zh-CN" altLang="en-US" sz="2400" dirty="0">
              <a:latin typeface="Times New Roman" panose="02020603050405020304" pitchFamily="18" charset="0"/>
              <a:ea typeface="宋体" panose="02010600030101010101" pitchFamily="2" charset="-122"/>
            </a:endParaRPr>
          </a:p>
        </p:txBody>
      </p:sp>
      <p:graphicFrame>
        <p:nvGraphicFramePr>
          <p:cNvPr id="40964" name="Object 11"/>
          <p:cNvGraphicFramePr>
            <a:graphicFrameLocks noChangeAspect="1"/>
          </p:cNvGraphicFramePr>
          <p:nvPr>
            <p:ph sz="half" idx="2"/>
          </p:nvPr>
        </p:nvGraphicFramePr>
        <p:xfrm>
          <a:off x="900113" y="2524125"/>
          <a:ext cx="7272337" cy="904875"/>
        </p:xfrm>
        <a:graphic>
          <a:graphicData uri="http://schemas.openxmlformats.org/presentationml/2006/ole">
            <mc:AlternateContent xmlns:mc="http://schemas.openxmlformats.org/markup-compatibility/2006">
              <mc:Choice xmlns:v="urn:schemas-microsoft-com:vml" Requires="v">
                <p:oleObj spid="_x0000_s3090" name="" r:id="rId1" imgW="1943100" imgH="241300" progId="Equation.DSMT4">
                  <p:embed/>
                </p:oleObj>
              </mc:Choice>
              <mc:Fallback>
                <p:oleObj name="" r:id="rId1" imgW="1943100" imgH="241300" progId="Equation.DSMT4">
                  <p:embed/>
                  <p:pic>
                    <p:nvPicPr>
                      <p:cNvPr id="0" name="图片 3089"/>
                      <p:cNvPicPr/>
                      <p:nvPr/>
                    </p:nvPicPr>
                    <p:blipFill>
                      <a:blip r:embed="rId2"/>
                      <a:srcRect/>
                      <a:stretch>
                        <a:fillRect/>
                      </a:stretch>
                    </p:blipFill>
                    <p:spPr>
                      <a:xfrm>
                        <a:off x="900113" y="2524125"/>
                        <a:ext cx="7272337" cy="904875"/>
                      </a:xfrm>
                      <a:prstGeom prst="rect">
                        <a:avLst/>
                      </a:prstGeom>
                      <a:noFill/>
                      <a:ln w="38100">
                        <a:miter/>
                      </a:ln>
                    </p:spPr>
                  </p:pic>
                </p:oleObj>
              </mc:Fallback>
            </mc:AlternateContent>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4"/>
          <p:cNvSpPr>
            <a:spLocks noGrp="1"/>
          </p:cNvSpPr>
          <p:nvPr>
            <p:ph type="title"/>
          </p:nvPr>
        </p:nvSpPr>
        <p:spPr>
          <a:xfrm>
            <a:off x="1476375" y="188913"/>
            <a:ext cx="7667625" cy="563562"/>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 </a:t>
            </a:r>
            <a:r>
              <a:rPr lang="zh-CN" altLang="en-US" sz="4000" dirty="0">
                <a:solidFill>
                  <a:srgbClr val="FFFF00"/>
                </a:solidFill>
                <a:latin typeface="黑体" panose="02010609060101010101" pitchFamily="49" charset="-122"/>
                <a:ea typeface="黑体" panose="02010609060101010101" pitchFamily="49" charset="-122"/>
              </a:rPr>
              <a:t>地面太阳直接辐射</a:t>
            </a:r>
            <a:endParaRPr lang="zh-CN" altLang="en-US" sz="4000" dirty="0">
              <a:solidFill>
                <a:srgbClr val="FFFF00"/>
              </a:solidFill>
              <a:latin typeface="黑体" panose="02010609060101010101" pitchFamily="49" charset="-122"/>
              <a:ea typeface="黑体" panose="02010609060101010101" pitchFamily="49" charset="-122"/>
            </a:endParaRPr>
          </a:p>
        </p:txBody>
      </p:sp>
      <p:graphicFrame>
        <p:nvGraphicFramePr>
          <p:cNvPr id="41987" name="Object 6"/>
          <p:cNvGraphicFramePr>
            <a:graphicFrameLocks noChangeAspect="1"/>
          </p:cNvGraphicFramePr>
          <p:nvPr>
            <p:ph idx="1"/>
          </p:nvPr>
        </p:nvGraphicFramePr>
        <p:xfrm>
          <a:off x="684213" y="2513013"/>
          <a:ext cx="8208962" cy="3940175"/>
        </p:xfrm>
        <a:graphic>
          <a:graphicData uri="http://schemas.openxmlformats.org/presentationml/2006/ole">
            <mc:AlternateContent xmlns:mc="http://schemas.openxmlformats.org/markup-compatibility/2006">
              <mc:Choice xmlns:v="urn:schemas-microsoft-com:vml" Requires="v">
                <p:oleObj spid="_x0000_s3089" name="" r:id="rId1" imgW="3124200" imgH="1549400" progId="Equation.DSMT4">
                  <p:embed/>
                </p:oleObj>
              </mc:Choice>
              <mc:Fallback>
                <p:oleObj name="" r:id="rId1" imgW="3124200" imgH="1549400" progId="Equation.DSMT4">
                  <p:embed/>
                  <p:pic>
                    <p:nvPicPr>
                      <p:cNvPr id="0" name="图片 3088"/>
                      <p:cNvPicPr/>
                      <p:nvPr/>
                    </p:nvPicPr>
                    <p:blipFill>
                      <a:blip r:embed="rId2"/>
                      <a:srcRect/>
                      <a:stretch>
                        <a:fillRect/>
                      </a:stretch>
                    </p:blipFill>
                    <p:spPr>
                      <a:xfrm>
                        <a:off x="684213" y="2513013"/>
                        <a:ext cx="8208962" cy="3940175"/>
                      </a:xfrm>
                      <a:prstGeom prst="rect">
                        <a:avLst/>
                      </a:prstGeom>
                      <a:noFill/>
                      <a:ln w="38100">
                        <a:miter/>
                      </a:ln>
                    </p:spPr>
                  </p:pic>
                </p:oleObj>
              </mc:Fallback>
            </mc:AlternateContent>
          </a:graphicData>
        </a:graphic>
      </p:graphicFrame>
      <p:sp>
        <p:nvSpPr>
          <p:cNvPr id="41988" name="Rectangle 3"/>
          <p:cNvSpPr txBox="1"/>
          <p:nvPr/>
        </p:nvSpPr>
        <p:spPr>
          <a:xfrm>
            <a:off x="601663" y="1412875"/>
            <a:ext cx="7786687" cy="1152525"/>
          </a:xfrm>
          <a:prstGeom prst="rect">
            <a:avLst/>
          </a:prstGeom>
          <a:noFill/>
          <a:ln w="9525">
            <a:noFill/>
          </a:ln>
        </p:spPr>
        <p:txBody>
          <a:bodyPr/>
          <a:p>
            <a:pPr marL="342900" indent="-342900" eaLnBrk="1" hangingPunct="1">
              <a:spcBef>
                <a:spcPct val="20000"/>
              </a:spcBef>
              <a:buClr>
                <a:schemeClr val="hlink"/>
              </a:buClr>
              <a:buFont typeface="Wingdings" panose="05000000000000000000" pitchFamily="2" charset="2"/>
              <a:buChar char="v"/>
            </a:pPr>
            <a:r>
              <a:rPr lang="zh-CN" altLang="en-US" sz="2600" b="1" dirty="0">
                <a:solidFill>
                  <a:srgbClr val="0000FF"/>
                </a:solidFill>
                <a:latin typeface="华文细黑" panose="02010600040101010101" pitchFamily="2" charset="-122"/>
                <a:ea typeface="华文细黑" panose="02010600040101010101" pitchFamily="2" charset="-122"/>
              </a:rPr>
              <a:t>经过气体分子、气溶胶的削弱作用，到达地面的直接太阳辐射为</a:t>
            </a:r>
            <a:r>
              <a:rPr lang="en-US" altLang="zh-CN" sz="2600" b="1" dirty="0">
                <a:solidFill>
                  <a:srgbClr val="0000FF"/>
                </a:solidFill>
                <a:latin typeface="华文细黑" panose="02010600040101010101" pitchFamily="2" charset="-122"/>
                <a:ea typeface="华文细黑" panose="02010600040101010101" pitchFamily="2" charset="-122"/>
              </a:rPr>
              <a:t>:</a:t>
            </a:r>
            <a:endParaRPr lang="en-US" altLang="zh-CN" sz="2600" b="1"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TextBox 2"/>
          <p:cNvSpPr txBox="1"/>
          <p:nvPr/>
        </p:nvSpPr>
        <p:spPr>
          <a:xfrm>
            <a:off x="179388" y="6165850"/>
            <a:ext cx="8785225" cy="368300"/>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43011" name="Rectangle 3"/>
          <p:cNvSpPr>
            <a:spLocks noGrp="1"/>
          </p:cNvSpPr>
          <p:nvPr>
            <p:ph type="title"/>
          </p:nvPr>
        </p:nvSpPr>
        <p:spPr>
          <a:xfrm>
            <a:off x="1403350" y="188913"/>
            <a:ext cx="7740650" cy="700087"/>
          </a:xfrm>
          <a:ln/>
        </p:spPr>
        <p:txBody>
          <a:bodyPr vert="horz" wrap="square" lIns="91440" tIns="45720" rIns="91440" bIns="45720" anchor="b" anchorCtr="0"/>
          <a:p>
            <a:pPr algn="ctr"/>
            <a:r>
              <a:rPr lang="en-US" altLang="zh-CN" sz="4000" dirty="0">
                <a:solidFill>
                  <a:srgbClr val="FFFF00"/>
                </a:solidFill>
                <a:latin typeface="黑体" panose="02010609060101010101" pitchFamily="49" charset="-122"/>
                <a:ea typeface="黑体" panose="02010609060101010101" pitchFamily="49" charset="-122"/>
              </a:rPr>
              <a:t>2. </a:t>
            </a:r>
            <a:r>
              <a:rPr lang="zh-CN" altLang="en-US" sz="4000" dirty="0">
                <a:solidFill>
                  <a:srgbClr val="FFFF00"/>
                </a:solidFill>
                <a:latin typeface="黑体" panose="02010609060101010101" pitchFamily="49" charset="-122"/>
                <a:ea typeface="黑体" panose="02010609060101010101" pitchFamily="49" charset="-122"/>
              </a:rPr>
              <a:t>相对大气质量</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12293" name="Rectangle 5"/>
          <p:cNvSpPr>
            <a:spLocks noGrp="1" noChangeArrowheads="1"/>
          </p:cNvSpPr>
          <p:nvPr>
            <p:ph type="body" sz="half" idx="1"/>
          </p:nvPr>
        </p:nvSpPr>
        <p:spPr>
          <a:xfrm>
            <a:off x="684213" y="1341438"/>
            <a:ext cx="7847013" cy="1079500"/>
          </a:xfrm>
        </p:spPr>
        <p:txBody>
          <a:bodyPr vert="horz" wrap="square" lIns="91440" tIns="45720" rIns="91440" bIns="45720" numCol="1" anchor="t" anchorCtr="0" compatLnSpc="1"/>
          <a:lstStyle/>
          <a:p>
            <a:pPr marL="647700" marR="0" lvl="1" indent="-28575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Char char="§"/>
              <a:defRPr/>
            </a:pPr>
            <a:r>
              <a:rPr kumimoji="0" lang="zh-CN" altLang="en-US" sz="24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rPr>
              <a:t>相对大气质量：</a:t>
            </a: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日光自    角倾斜入射时与自天顶入射时的光学厚度之比</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p:txBody>
      </p:sp>
      <p:graphicFrame>
        <p:nvGraphicFramePr>
          <p:cNvPr id="43013" name="Object 6"/>
          <p:cNvGraphicFramePr>
            <a:graphicFrameLocks noChangeAspect="1"/>
          </p:cNvGraphicFramePr>
          <p:nvPr>
            <p:ph sz="quarter" idx="2"/>
          </p:nvPr>
        </p:nvGraphicFramePr>
        <p:xfrm>
          <a:off x="2411413" y="2205038"/>
          <a:ext cx="4392612" cy="1663700"/>
        </p:xfrm>
        <a:graphic>
          <a:graphicData uri="http://schemas.openxmlformats.org/presentationml/2006/ole">
            <mc:AlternateContent xmlns:mc="http://schemas.openxmlformats.org/markup-compatibility/2006">
              <mc:Choice xmlns:v="urn:schemas-microsoft-com:vml" Requires="v">
                <p:oleObj spid="_x0000_s3091" name="" r:id="rId1" imgW="1675765" imgH="635000" progId="Equation.DSMT4">
                  <p:embed/>
                </p:oleObj>
              </mc:Choice>
              <mc:Fallback>
                <p:oleObj name="" r:id="rId1" imgW="1675765" imgH="635000" progId="Equation.DSMT4">
                  <p:embed/>
                  <p:pic>
                    <p:nvPicPr>
                      <p:cNvPr id="0" name="图片 3090"/>
                      <p:cNvPicPr/>
                      <p:nvPr/>
                    </p:nvPicPr>
                    <p:blipFill>
                      <a:blip r:embed="rId2"/>
                      <a:srcRect/>
                      <a:stretch>
                        <a:fillRect/>
                      </a:stretch>
                    </p:blipFill>
                    <p:spPr>
                      <a:xfrm>
                        <a:off x="2411413" y="2205038"/>
                        <a:ext cx="4392612" cy="1663700"/>
                      </a:xfrm>
                      <a:prstGeom prst="rect">
                        <a:avLst/>
                      </a:prstGeom>
                      <a:noFill/>
                      <a:ln w="38100">
                        <a:miter/>
                      </a:ln>
                    </p:spPr>
                  </p:pic>
                </p:oleObj>
              </mc:Fallback>
            </mc:AlternateContent>
          </a:graphicData>
        </a:graphic>
      </p:graphicFrame>
      <p:graphicFrame>
        <p:nvGraphicFramePr>
          <p:cNvPr id="43014" name="Object 8"/>
          <p:cNvGraphicFramePr>
            <a:graphicFrameLocks noChangeAspect="1"/>
          </p:cNvGraphicFramePr>
          <p:nvPr>
            <p:ph sz="quarter" idx="3"/>
          </p:nvPr>
        </p:nvGraphicFramePr>
        <p:xfrm>
          <a:off x="3203575" y="5264150"/>
          <a:ext cx="2447925" cy="1549400"/>
        </p:xfrm>
        <a:graphic>
          <a:graphicData uri="http://schemas.openxmlformats.org/presentationml/2006/ole">
            <mc:AlternateContent xmlns:mc="http://schemas.openxmlformats.org/markup-compatibility/2006">
              <mc:Choice xmlns:v="urn:schemas-microsoft-com:vml" Requires="v">
                <p:oleObj spid="_x0000_s3092" name="" r:id="rId3" imgW="1002665" imgH="635000" progId="Equation.DSMT4">
                  <p:embed/>
                </p:oleObj>
              </mc:Choice>
              <mc:Fallback>
                <p:oleObj name="" r:id="rId3" imgW="1002665" imgH="635000" progId="Equation.DSMT4">
                  <p:embed/>
                  <p:pic>
                    <p:nvPicPr>
                      <p:cNvPr id="0" name="图片 3091"/>
                      <p:cNvPicPr/>
                      <p:nvPr/>
                    </p:nvPicPr>
                    <p:blipFill>
                      <a:blip r:embed="rId4"/>
                      <a:srcRect/>
                      <a:stretch>
                        <a:fillRect/>
                      </a:stretch>
                    </p:blipFill>
                    <p:spPr>
                      <a:xfrm>
                        <a:off x="3203575" y="5264150"/>
                        <a:ext cx="2447925" cy="1549400"/>
                      </a:xfrm>
                      <a:prstGeom prst="rect">
                        <a:avLst/>
                      </a:prstGeom>
                      <a:noFill/>
                      <a:ln w="38100">
                        <a:miter/>
                      </a:ln>
                    </p:spPr>
                  </p:pic>
                </p:oleObj>
              </mc:Fallback>
            </mc:AlternateContent>
          </a:graphicData>
        </a:graphic>
      </p:graphicFrame>
      <p:graphicFrame>
        <p:nvGraphicFramePr>
          <p:cNvPr id="43015" name="对象 2"/>
          <p:cNvGraphicFramePr>
            <a:graphicFrameLocks noChangeAspect="1"/>
          </p:cNvGraphicFramePr>
          <p:nvPr/>
        </p:nvGraphicFramePr>
        <p:xfrm>
          <a:off x="4498975" y="1384300"/>
          <a:ext cx="433388" cy="531813"/>
        </p:xfrm>
        <a:graphic>
          <a:graphicData uri="http://schemas.openxmlformats.org/presentationml/2006/ole">
            <mc:AlternateContent xmlns:mc="http://schemas.openxmlformats.org/markup-compatibility/2006">
              <mc:Choice xmlns:v="urn:schemas-microsoft-com:vml" Requires="v">
                <p:oleObj spid="_x0000_s3088" name="" r:id="rId5" imgW="165100" imgH="203200" progId="Equation.DSMT4">
                  <p:embed/>
                </p:oleObj>
              </mc:Choice>
              <mc:Fallback>
                <p:oleObj name="" r:id="rId5" imgW="165100" imgH="203200" progId="Equation.DSMT4">
                  <p:embed/>
                  <p:pic>
                    <p:nvPicPr>
                      <p:cNvPr id="0" name="图片 3087"/>
                      <p:cNvPicPr/>
                      <p:nvPr/>
                    </p:nvPicPr>
                    <p:blipFill>
                      <a:blip r:embed="rId6"/>
                      <a:stretch>
                        <a:fillRect/>
                      </a:stretch>
                    </p:blipFill>
                    <p:spPr>
                      <a:xfrm>
                        <a:off x="4498975" y="1384300"/>
                        <a:ext cx="433388" cy="531813"/>
                      </a:xfrm>
                      <a:prstGeom prst="rect">
                        <a:avLst/>
                      </a:prstGeom>
                      <a:noFill/>
                      <a:ln w="38100">
                        <a:noFill/>
                        <a:miter/>
                      </a:ln>
                    </p:spPr>
                  </p:pic>
                </p:oleObj>
              </mc:Fallback>
            </mc:AlternateContent>
          </a:graphicData>
        </a:graphic>
      </p:graphicFrame>
      <p:sp>
        <p:nvSpPr>
          <p:cNvPr id="43016" name="AutoShape 6"/>
          <p:cNvSpPr/>
          <p:nvPr/>
        </p:nvSpPr>
        <p:spPr>
          <a:xfrm rot="5400000">
            <a:off x="3314700" y="4471988"/>
            <a:ext cx="1979613" cy="360362"/>
          </a:xfrm>
          <a:prstGeom prst="rightArrow">
            <a:avLst>
              <a:gd name="adj1" fmla="val 50000"/>
              <a:gd name="adj2" fmla="val 132604"/>
            </a:avLst>
          </a:prstGeom>
          <a:solidFill>
            <a:schemeClr val="accent1"/>
          </a:solidFill>
          <a:ln w="12700" cap="flat" cmpd="sng">
            <a:solidFill>
              <a:schemeClr val="accent1"/>
            </a:solidFill>
            <a:prstDash val="solid"/>
            <a:miter/>
            <a:headEnd type="none" w="sm" len="sm"/>
            <a:tailEnd type="none" w="sm" len="sm"/>
          </a:ln>
        </p:spPr>
        <p:txBody>
          <a:bodyPr wrap="none" anchor="ctr" anchorCtr="0"/>
          <a:p>
            <a:pPr eaLnBrk="1" hangingPunct="1"/>
            <a:endParaRPr lang="en-US" altLang="zh-CN" dirty="0">
              <a:solidFill>
                <a:srgbClr val="3333FF"/>
              </a:solidFill>
              <a:latin typeface="Arial" panose="020B0604020202020204" pitchFamily="34" charset="0"/>
              <a:ea typeface="宋体" panose="02010600030101010101" pitchFamily="2" charset="-122"/>
            </a:endParaRPr>
          </a:p>
        </p:txBody>
      </p:sp>
      <p:sp>
        <p:nvSpPr>
          <p:cNvPr id="43017" name="TextBox 1"/>
          <p:cNvSpPr txBox="1"/>
          <p:nvPr/>
        </p:nvSpPr>
        <p:spPr>
          <a:xfrm>
            <a:off x="4484688" y="3960813"/>
            <a:ext cx="3759200" cy="998537"/>
          </a:xfrm>
          <a:prstGeom prst="rect">
            <a:avLst/>
          </a:prstGeom>
          <a:noFill/>
          <a:ln w="28575" cap="flat" cmpd="sng">
            <a:solidFill>
              <a:srgbClr val="FF33CC"/>
            </a:solidFill>
            <a:prstDash val="solid"/>
            <a:miter/>
            <a:headEnd type="none" w="med" len="med"/>
            <a:tailEnd type="none" w="med" len="med"/>
          </a:ln>
        </p:spPr>
        <p:txBody>
          <a:bodyPr>
            <a:spAutoFit/>
          </a:bodyPr>
          <a:p>
            <a:pPr eaLnBrk="1" hangingPunct="1">
              <a:lnSpc>
                <a:spcPct val="130000"/>
              </a:lnSpc>
            </a:pPr>
            <a:r>
              <a:rPr lang="zh-CN" altLang="en-US" sz="2400" b="1" dirty="0">
                <a:latin typeface="华文细黑" panose="02010600040101010101" pitchFamily="2" charset="-122"/>
                <a:ea typeface="华文细黑" panose="02010600040101010101" pitchFamily="2" charset="-122"/>
              </a:rPr>
              <a:t>假设</a:t>
            </a:r>
            <a:r>
              <a:rPr lang="en-US" altLang="zh-CN" sz="2400" b="1" i="1" dirty="0">
                <a:latin typeface="华文细黑" panose="02010600040101010101" pitchFamily="2" charset="-122"/>
                <a:ea typeface="华文细黑" panose="02010600040101010101" pitchFamily="2" charset="-122"/>
              </a:rPr>
              <a:t>k</a:t>
            </a:r>
            <a:r>
              <a:rPr lang="el-GR" altLang="zh-CN" sz="2400" b="1" i="1" baseline="-25000" dirty="0">
                <a:latin typeface="华文细黑" panose="02010600040101010101" pitchFamily="2" charset="-122"/>
                <a:ea typeface="华文细黑" panose="02010600040101010101" pitchFamily="2" charset="-122"/>
              </a:rPr>
              <a:t>λ</a:t>
            </a:r>
            <a:r>
              <a:rPr lang="zh-CN" altLang="en-US" sz="2400" b="1" dirty="0">
                <a:latin typeface="华文细黑" panose="02010600040101010101" pitchFamily="2" charset="-122"/>
                <a:ea typeface="华文细黑" panose="02010600040101010101" pitchFamily="2" charset="-122"/>
              </a:rPr>
              <a:t>为常数，即空气在光路上的组成不变</a:t>
            </a:r>
            <a:endParaRPr lang="zh-CN" altLang="en-US" sz="2400" b="1" dirty="0">
              <a:latin typeface="华文细黑" panose="02010600040101010101" pitchFamily="2" charset="-122"/>
              <a:ea typeface="华文细黑" panose="02010600040101010101" pitchFamily="2" charset="-122"/>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TextBox 5"/>
          <p:cNvSpPr txBox="1"/>
          <p:nvPr/>
        </p:nvSpPr>
        <p:spPr>
          <a:xfrm>
            <a:off x="285750" y="6286500"/>
            <a:ext cx="8715375" cy="369888"/>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44035" name="Rectangle 3"/>
          <p:cNvSpPr>
            <a:spLocks noGrp="1"/>
          </p:cNvSpPr>
          <p:nvPr>
            <p:ph type="title"/>
          </p:nvPr>
        </p:nvSpPr>
        <p:spPr>
          <a:xfrm>
            <a:off x="1403350" y="19050"/>
            <a:ext cx="7558088" cy="844550"/>
          </a:xfrm>
          <a:ln/>
        </p:spPr>
        <p:txBody>
          <a:bodyPr vert="horz" wrap="square" lIns="91440" tIns="45720" rIns="91440" bIns="45720" anchor="b" anchorCtr="0"/>
          <a:p>
            <a:pPr algn="ctr"/>
            <a:r>
              <a:rPr lang="zh-CN" altLang="en-US" dirty="0">
                <a:solidFill>
                  <a:srgbClr val="FFFF00"/>
                </a:solidFill>
                <a:latin typeface="黑体" panose="02010609060101010101" pitchFamily="49" charset="-122"/>
                <a:ea typeface="黑体" panose="02010609060101010101" pitchFamily="49" charset="-122"/>
              </a:rPr>
              <a:t>相对大气质量</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44036" name="Rectangle 8"/>
          <p:cNvSpPr>
            <a:spLocks noGrp="1"/>
          </p:cNvSpPr>
          <p:nvPr>
            <p:ph type="body" sz="half" idx="1"/>
          </p:nvPr>
        </p:nvSpPr>
        <p:spPr>
          <a:xfrm>
            <a:off x="539750" y="1327150"/>
            <a:ext cx="7847013" cy="3459163"/>
          </a:xfrm>
          <a:ln/>
        </p:spPr>
        <p:txBody>
          <a:bodyPr vert="horz" wrap="square" lIns="91440" tIns="45720" rIns="91440" bIns="45720" anchor="t" anchorCtr="0"/>
          <a:p>
            <a:pPr>
              <a:buClr>
                <a:schemeClr val="hlink"/>
              </a:buClr>
              <a:buSzTx/>
              <a:buFont typeface="Wingdings" panose="05000000000000000000" pitchFamily="2" charset="2"/>
            </a:pPr>
            <a:r>
              <a:rPr lang="zh-CN" altLang="en-US" dirty="0">
                <a:latin typeface="华文细黑" panose="02010600040101010101" pitchFamily="2" charset="-122"/>
                <a:ea typeface="华文细黑" panose="02010600040101010101" pitchFamily="2" charset="-122"/>
              </a:rPr>
              <a:t>    均匀混合气体相对大气质量</a:t>
            </a:r>
            <a:endParaRPr lang="zh-CN" altLang="en-US" dirty="0">
              <a:latin typeface="华文细黑" panose="02010600040101010101" pitchFamily="2" charset="-122"/>
              <a:ea typeface="华文细黑" panose="02010600040101010101" pitchFamily="2" charset="-122"/>
            </a:endParaRPr>
          </a:p>
          <a:p>
            <a:pPr lvl="1">
              <a:spcBef>
                <a:spcPts val="1800"/>
              </a:spcBef>
              <a:buClr>
                <a:schemeClr val="accent1"/>
              </a:buClr>
              <a:buFont typeface="Wingdings" panose="05000000000000000000" pitchFamily="2" charset="2"/>
            </a:pPr>
            <a:r>
              <a:rPr lang="zh-CN" altLang="en-US" sz="2400" dirty="0">
                <a:latin typeface="华文细黑" panose="02010600040101010101" pitchFamily="2" charset="-122"/>
                <a:ea typeface="华文细黑" panose="02010600040101010101" pitchFamily="2" charset="-122"/>
              </a:rPr>
              <a:t>平面平行无折射均一大气</a:t>
            </a:r>
            <a:endParaRPr lang="zh-CN" altLang="en-US" sz="2400" dirty="0">
              <a:latin typeface="华文细黑" panose="02010600040101010101" pitchFamily="2" charset="-122"/>
              <a:ea typeface="华文细黑" panose="02010600040101010101" pitchFamily="2" charset="-122"/>
            </a:endParaRPr>
          </a:p>
        </p:txBody>
      </p:sp>
      <p:graphicFrame>
        <p:nvGraphicFramePr>
          <p:cNvPr id="44037" name="Object 9"/>
          <p:cNvGraphicFramePr>
            <a:graphicFrameLocks noChangeAspect="1"/>
          </p:cNvGraphicFramePr>
          <p:nvPr>
            <p:ph sz="half" idx="2"/>
          </p:nvPr>
        </p:nvGraphicFramePr>
        <p:xfrm>
          <a:off x="1022350" y="2740025"/>
          <a:ext cx="6264275" cy="1331913"/>
        </p:xfrm>
        <a:graphic>
          <a:graphicData uri="http://schemas.openxmlformats.org/presentationml/2006/ole">
            <mc:AlternateContent xmlns:mc="http://schemas.openxmlformats.org/markup-compatibility/2006">
              <mc:Choice xmlns:v="urn:schemas-microsoft-com:vml" Requires="v">
                <p:oleObj spid="_x0000_s3093" name="" r:id="rId1" imgW="2628900" imgH="558800" progId="Equation.DSMT4">
                  <p:embed/>
                </p:oleObj>
              </mc:Choice>
              <mc:Fallback>
                <p:oleObj name="" r:id="rId1" imgW="2628900" imgH="558800" progId="Equation.DSMT4">
                  <p:embed/>
                  <p:pic>
                    <p:nvPicPr>
                      <p:cNvPr id="0" name="图片 3092"/>
                      <p:cNvPicPr/>
                      <p:nvPr/>
                    </p:nvPicPr>
                    <p:blipFill>
                      <a:blip r:embed="rId2"/>
                      <a:srcRect/>
                      <a:stretch>
                        <a:fillRect/>
                      </a:stretch>
                    </p:blipFill>
                    <p:spPr>
                      <a:xfrm>
                        <a:off x="1022350" y="2740025"/>
                        <a:ext cx="6264275" cy="1331913"/>
                      </a:xfrm>
                      <a:prstGeom prst="rect">
                        <a:avLst/>
                      </a:prstGeom>
                      <a:noFill/>
                      <a:ln w="38100">
                        <a:miter/>
                      </a:ln>
                    </p:spPr>
                  </p:pic>
                </p:oleObj>
              </mc:Fallback>
            </mc:AlternateContent>
          </a:graphicData>
        </a:graphic>
      </p:graphicFrame>
      <p:grpSp>
        <p:nvGrpSpPr>
          <p:cNvPr id="44038" name="组合 22"/>
          <p:cNvGrpSpPr/>
          <p:nvPr/>
        </p:nvGrpSpPr>
        <p:grpSpPr>
          <a:xfrm>
            <a:off x="1331913" y="3933825"/>
            <a:ext cx="6670675" cy="2968625"/>
            <a:chOff x="1331640" y="1432096"/>
            <a:chExt cx="6671245" cy="2968959"/>
          </a:xfrm>
        </p:grpSpPr>
        <p:grpSp>
          <p:nvGrpSpPr>
            <p:cNvPr id="44040" name="Group 2"/>
            <p:cNvGrpSpPr/>
            <p:nvPr/>
          </p:nvGrpSpPr>
          <p:grpSpPr>
            <a:xfrm>
              <a:off x="1690985" y="1484784"/>
              <a:ext cx="6311900" cy="2447926"/>
              <a:chOff x="1065" y="1298"/>
              <a:chExt cx="3976" cy="1542"/>
            </a:xfrm>
          </p:grpSpPr>
          <p:sp>
            <p:nvSpPr>
              <p:cNvPr id="44045" name="Line 5"/>
              <p:cNvSpPr/>
              <p:nvPr/>
            </p:nvSpPr>
            <p:spPr>
              <a:xfrm flipV="1">
                <a:off x="2290" y="1298"/>
                <a:ext cx="0" cy="1542"/>
              </a:xfrm>
              <a:prstGeom prst="line">
                <a:avLst/>
              </a:prstGeom>
              <a:ln w="38100" cap="flat" cmpd="sng">
                <a:solidFill>
                  <a:srgbClr val="080808"/>
                </a:solidFill>
                <a:prstDash val="solid"/>
                <a:headEnd type="none" w="sm" len="sm"/>
                <a:tailEnd type="arrow" w="med" len="med"/>
              </a:ln>
            </p:spPr>
          </p:sp>
          <p:sp>
            <p:nvSpPr>
              <p:cNvPr id="44046" name="Line 6"/>
              <p:cNvSpPr/>
              <p:nvPr/>
            </p:nvSpPr>
            <p:spPr>
              <a:xfrm>
                <a:off x="1065" y="1888"/>
                <a:ext cx="2903" cy="0"/>
              </a:xfrm>
              <a:prstGeom prst="line">
                <a:avLst/>
              </a:prstGeom>
              <a:ln w="28575" cap="flat" cmpd="sng">
                <a:solidFill>
                  <a:srgbClr val="080808"/>
                </a:solidFill>
                <a:prstDash val="dash"/>
                <a:headEnd type="none" w="sm" len="sm"/>
                <a:tailEnd type="none" w="sm" len="sm"/>
              </a:ln>
            </p:spPr>
          </p:sp>
          <p:sp>
            <p:nvSpPr>
              <p:cNvPr id="44047" name="Line 8"/>
              <p:cNvSpPr/>
              <p:nvPr/>
            </p:nvSpPr>
            <p:spPr>
              <a:xfrm flipH="1">
                <a:off x="2290" y="1570"/>
                <a:ext cx="1428" cy="1257"/>
              </a:xfrm>
              <a:prstGeom prst="line">
                <a:avLst/>
              </a:prstGeom>
              <a:ln w="38100" cap="flat" cmpd="sng">
                <a:solidFill>
                  <a:srgbClr val="080808"/>
                </a:solidFill>
                <a:prstDash val="solid"/>
                <a:headEnd type="none" w="sm" len="sm"/>
                <a:tailEnd type="none" w="sm" len="sm"/>
              </a:ln>
            </p:spPr>
          </p:sp>
          <p:sp>
            <p:nvSpPr>
              <p:cNvPr id="44048" name="Line 9"/>
              <p:cNvSpPr/>
              <p:nvPr/>
            </p:nvSpPr>
            <p:spPr>
              <a:xfrm>
                <a:off x="2290" y="2251"/>
                <a:ext cx="635" cy="0"/>
              </a:xfrm>
              <a:prstGeom prst="line">
                <a:avLst/>
              </a:prstGeom>
              <a:ln w="12700" cap="flat" cmpd="sng">
                <a:solidFill>
                  <a:srgbClr val="080808"/>
                </a:solidFill>
                <a:prstDash val="solid"/>
                <a:headEnd type="none" w="sm" len="sm"/>
                <a:tailEnd type="none" w="sm" len="sm"/>
              </a:ln>
            </p:spPr>
          </p:sp>
          <p:sp>
            <p:nvSpPr>
              <p:cNvPr id="44049" name="Line 10"/>
              <p:cNvSpPr/>
              <p:nvPr/>
            </p:nvSpPr>
            <p:spPr>
              <a:xfrm>
                <a:off x="2290" y="2341"/>
                <a:ext cx="545" cy="0"/>
              </a:xfrm>
              <a:prstGeom prst="line">
                <a:avLst/>
              </a:prstGeom>
              <a:ln w="12700" cap="flat" cmpd="sng">
                <a:solidFill>
                  <a:srgbClr val="080808"/>
                </a:solidFill>
                <a:prstDash val="solid"/>
                <a:headEnd type="none" w="sm" len="sm"/>
                <a:tailEnd type="none" w="sm" len="sm"/>
              </a:ln>
            </p:spPr>
          </p:sp>
          <p:sp>
            <p:nvSpPr>
              <p:cNvPr id="44050" name="Text Box 11"/>
              <p:cNvSpPr txBox="1"/>
              <p:nvPr/>
            </p:nvSpPr>
            <p:spPr>
              <a:xfrm>
                <a:off x="2018" y="2131"/>
                <a:ext cx="262" cy="233"/>
              </a:xfrm>
              <a:prstGeom prst="rect">
                <a:avLst/>
              </a:prstGeom>
              <a:noFill/>
              <a:ln w="9525">
                <a:noFill/>
              </a:ln>
            </p:spPr>
            <p:txBody>
              <a:bodyPr wrap="none">
                <a:spAutoFit/>
              </a:bodyPr>
              <a:p>
                <a:pPr eaLnBrk="1" hangingPunct="1"/>
                <a:r>
                  <a:rPr lang="en-US" altLang="zh-CN" b="1" dirty="0">
                    <a:solidFill>
                      <a:srgbClr val="080808"/>
                    </a:solidFill>
                    <a:latin typeface="Times New Roman" panose="02020603050405020304" pitchFamily="18" charset="0"/>
                    <a:ea typeface="宋体" panose="02010600030101010101" pitchFamily="2" charset="-122"/>
                  </a:rPr>
                  <a:t>dz</a:t>
                </a:r>
                <a:endParaRPr lang="en-US" altLang="zh-CN" b="1" dirty="0">
                  <a:solidFill>
                    <a:srgbClr val="080808"/>
                  </a:solidFill>
                  <a:latin typeface="Times New Roman" panose="02020603050405020304" pitchFamily="18" charset="0"/>
                  <a:ea typeface="宋体" panose="02010600030101010101" pitchFamily="2" charset="-122"/>
                </a:endParaRPr>
              </a:p>
            </p:txBody>
          </p:sp>
          <p:sp>
            <p:nvSpPr>
              <p:cNvPr id="44051" name="Text Box 12"/>
              <p:cNvSpPr txBox="1"/>
              <p:nvPr/>
            </p:nvSpPr>
            <p:spPr>
              <a:xfrm>
                <a:off x="2870" y="2205"/>
                <a:ext cx="237" cy="233"/>
              </a:xfrm>
              <a:prstGeom prst="rect">
                <a:avLst/>
              </a:prstGeom>
              <a:noFill/>
              <a:ln w="9525">
                <a:noFill/>
              </a:ln>
            </p:spPr>
            <p:txBody>
              <a:bodyPr wrap="none">
                <a:spAutoFit/>
              </a:bodyPr>
              <a:p>
                <a:pPr eaLnBrk="1" hangingPunct="1"/>
                <a:r>
                  <a:rPr lang="en-US" altLang="zh-CN" b="1" dirty="0">
                    <a:solidFill>
                      <a:srgbClr val="080808"/>
                    </a:solidFill>
                    <a:latin typeface="Times New Roman" panose="02020603050405020304" pitchFamily="18" charset="0"/>
                    <a:ea typeface="宋体" panose="02010600030101010101" pitchFamily="2" charset="-122"/>
                  </a:rPr>
                  <a:t>dl</a:t>
                </a:r>
                <a:endParaRPr lang="en-US" altLang="zh-CN" b="1" dirty="0">
                  <a:solidFill>
                    <a:srgbClr val="080808"/>
                  </a:solidFill>
                  <a:latin typeface="Times New Roman" panose="02020603050405020304" pitchFamily="18" charset="0"/>
                  <a:ea typeface="宋体" panose="02010600030101010101" pitchFamily="2" charset="-122"/>
                </a:endParaRPr>
              </a:p>
            </p:txBody>
          </p:sp>
          <p:sp>
            <p:nvSpPr>
              <p:cNvPr id="44052" name="Arc 13"/>
              <p:cNvSpPr/>
              <p:nvPr/>
            </p:nvSpPr>
            <p:spPr>
              <a:xfrm>
                <a:off x="2290" y="2568"/>
                <a:ext cx="181" cy="104"/>
              </a:xfrm>
              <a:custGeom>
                <a:avLst/>
                <a:gdLst>
                  <a:gd name="txL" fmla="*/ 0 w 21600"/>
                  <a:gd name="txT" fmla="*/ 0 h 21600"/>
                  <a:gd name="txR" fmla="*/ 21600 w 21600"/>
                  <a:gd name="txB" fmla="*/ 21600 h 21600"/>
                </a:gdLst>
                <a:ahLst/>
                <a:cxnLst>
                  <a:cxn ang="0">
                    <a:pos x="0" y="0"/>
                  </a:cxn>
                  <a:cxn ang="0">
                    <a:pos x="0" y="0"/>
                  </a:cxn>
                  <a:cxn ang="0">
                    <a:pos x="0" y="0"/>
                  </a:cxn>
                </a:cxnLst>
                <a:rect l="txL" t="txT" r="txR" b="txB"/>
                <a:pathLst>
                  <a:path w="21600" h="21600" fill="none">
                    <a:moveTo>
                      <a:pt x="0" y="-1"/>
                    </a:moveTo>
                    <a:cubicBezTo>
                      <a:pt x="11929" y="-1"/>
                      <a:pt x="21600" y="9670"/>
                      <a:pt x="21600" y="21600"/>
                    </a:cubicBezTo>
                  </a:path>
                  <a:path w="21600" h="21600" stroke="0">
                    <a:moveTo>
                      <a:pt x="0" y="-1"/>
                    </a:moveTo>
                    <a:cubicBezTo>
                      <a:pt x="11929" y="-1"/>
                      <a:pt x="21600" y="9670"/>
                      <a:pt x="21600" y="21600"/>
                    </a:cubicBezTo>
                    <a:lnTo>
                      <a:pt x="0" y="21600"/>
                    </a:lnTo>
                    <a:lnTo>
                      <a:pt x="0" y="-1"/>
                    </a:lnTo>
                    <a:close/>
                  </a:path>
                </a:pathLst>
              </a:custGeom>
              <a:noFill/>
              <a:ln w="28575" cap="flat" cmpd="sng">
                <a:solidFill>
                  <a:srgbClr val="080808">
                    <a:alpha val="100000"/>
                  </a:srgbClr>
                </a:solidFill>
                <a:prstDash val="solid"/>
                <a:round/>
                <a:headEnd type="none" w="sm" len="sm"/>
                <a:tailEnd type="triangle" w="med" len="med"/>
              </a:ln>
            </p:spPr>
            <p:txBody>
              <a:bodyPr/>
              <a:p>
                <a:endParaRPr lang="zh-CN" altLang="en-US"/>
              </a:p>
            </p:txBody>
          </p:sp>
          <p:sp>
            <p:nvSpPr>
              <p:cNvPr id="44053" name="Text Box 14"/>
              <p:cNvSpPr txBox="1"/>
              <p:nvPr/>
            </p:nvSpPr>
            <p:spPr>
              <a:xfrm rot="501851">
                <a:off x="2277" y="2341"/>
                <a:ext cx="311" cy="291"/>
              </a:xfrm>
              <a:prstGeom prst="rect">
                <a:avLst/>
              </a:prstGeom>
              <a:noFill/>
              <a:ln w="12700">
                <a:noFill/>
              </a:ln>
            </p:spPr>
            <p:txBody>
              <a:bodyPr wrap="none">
                <a:spAutoFit/>
              </a:bodyPr>
              <a:p>
                <a:pPr eaLnBrk="1" hangingPunct="1"/>
                <a:r>
                  <a:rPr lang="el-GR" altLang="zh-CN" sz="2400" b="1" dirty="0">
                    <a:solidFill>
                      <a:srgbClr val="080808"/>
                    </a:solidFill>
                    <a:latin typeface="宋体" panose="02010600030101010101" pitchFamily="2" charset="-122"/>
                    <a:ea typeface="宋体" panose="02010600030101010101" pitchFamily="2" charset="-122"/>
                  </a:rPr>
                  <a:t>θ</a:t>
                </a:r>
                <a:endParaRPr lang="el-GR" altLang="zh-CN" sz="2400" b="1" dirty="0">
                  <a:solidFill>
                    <a:srgbClr val="080808"/>
                  </a:solidFill>
                  <a:latin typeface="宋体" panose="02010600030101010101" pitchFamily="2" charset="-122"/>
                  <a:ea typeface="宋体" panose="02010600030101010101" pitchFamily="2" charset="-122"/>
                </a:endParaRPr>
              </a:p>
            </p:txBody>
          </p:sp>
          <p:sp>
            <p:nvSpPr>
              <p:cNvPr id="44054" name="Text Box 15"/>
              <p:cNvSpPr txBox="1"/>
              <p:nvPr/>
            </p:nvSpPr>
            <p:spPr>
              <a:xfrm>
                <a:off x="3264" y="1655"/>
                <a:ext cx="205" cy="233"/>
              </a:xfrm>
              <a:prstGeom prst="rect">
                <a:avLst/>
              </a:prstGeom>
              <a:noFill/>
              <a:ln w="9525">
                <a:noFill/>
              </a:ln>
            </p:spPr>
            <p:txBody>
              <a:bodyPr wrap="none">
                <a:spAutoFit/>
              </a:bodyPr>
              <a:p>
                <a:pPr eaLnBrk="1" hangingPunct="1"/>
                <a:r>
                  <a:rPr lang="en-US" altLang="zh-CN" b="1" dirty="0">
                    <a:solidFill>
                      <a:srgbClr val="080808"/>
                    </a:solidFill>
                    <a:latin typeface="Times New Roman" panose="02020603050405020304" pitchFamily="18" charset="0"/>
                    <a:ea typeface="宋体" panose="02010600030101010101" pitchFamily="2" charset="-122"/>
                  </a:rPr>
                  <a:t>P</a:t>
                </a:r>
                <a:endParaRPr lang="en-US" altLang="zh-CN" b="1" dirty="0">
                  <a:solidFill>
                    <a:srgbClr val="080808"/>
                  </a:solidFill>
                  <a:latin typeface="Times New Roman" panose="02020603050405020304" pitchFamily="18" charset="0"/>
                  <a:ea typeface="宋体" panose="02010600030101010101" pitchFamily="2" charset="-122"/>
                </a:endParaRPr>
              </a:p>
            </p:txBody>
          </p:sp>
          <p:sp>
            <p:nvSpPr>
              <p:cNvPr id="44055" name="Text Box 16"/>
              <p:cNvSpPr txBox="1"/>
              <p:nvPr/>
            </p:nvSpPr>
            <p:spPr>
              <a:xfrm>
                <a:off x="2063" y="1655"/>
                <a:ext cx="229" cy="233"/>
              </a:xfrm>
              <a:prstGeom prst="rect">
                <a:avLst/>
              </a:prstGeom>
              <a:noFill/>
              <a:ln w="9525">
                <a:noFill/>
              </a:ln>
            </p:spPr>
            <p:txBody>
              <a:bodyPr wrap="none">
                <a:spAutoFit/>
              </a:bodyPr>
              <a:p>
                <a:pPr eaLnBrk="1" hangingPunct="1"/>
                <a:r>
                  <a:rPr lang="en-US" altLang="zh-CN" b="1" dirty="0">
                    <a:solidFill>
                      <a:srgbClr val="080808"/>
                    </a:solidFill>
                    <a:latin typeface="Times New Roman" panose="02020603050405020304" pitchFamily="18" charset="0"/>
                    <a:ea typeface="宋体" panose="02010600030101010101" pitchFamily="2" charset="-122"/>
                  </a:rPr>
                  <a:t>Q</a:t>
                </a:r>
                <a:endParaRPr lang="en-US" altLang="zh-CN" b="1" dirty="0">
                  <a:solidFill>
                    <a:srgbClr val="080808"/>
                  </a:solidFill>
                  <a:latin typeface="Times New Roman" panose="02020603050405020304" pitchFamily="18" charset="0"/>
                  <a:ea typeface="宋体" panose="02010600030101010101" pitchFamily="2" charset="-122"/>
                </a:endParaRPr>
              </a:p>
            </p:txBody>
          </p:sp>
          <p:sp>
            <p:nvSpPr>
              <p:cNvPr id="44056" name="Text Box 17"/>
              <p:cNvSpPr txBox="1"/>
              <p:nvPr/>
            </p:nvSpPr>
            <p:spPr>
              <a:xfrm>
                <a:off x="3366" y="2114"/>
                <a:ext cx="1675" cy="291"/>
              </a:xfrm>
              <a:prstGeom prst="rect">
                <a:avLst/>
              </a:prstGeom>
              <a:noFill/>
              <a:ln w="12700" cap="flat" cmpd="sng">
                <a:solidFill>
                  <a:schemeClr val="tx1"/>
                </a:solidFill>
                <a:prstDash val="solid"/>
                <a:miter/>
                <a:headEnd type="none" w="sm" len="sm"/>
                <a:tailEnd type="none" w="sm" len="sm"/>
              </a:ln>
            </p:spPr>
            <p:txBody>
              <a:bodyPr wrap="none">
                <a:spAutoFit/>
              </a:bodyPr>
              <a:p>
                <a:pPr eaLnBrk="1" hangingPunct="1"/>
                <a:r>
                  <a:rPr lang="zh-CN" altLang="en-US" sz="2400" b="1" dirty="0">
                    <a:solidFill>
                      <a:srgbClr val="080808"/>
                    </a:solidFill>
                    <a:latin typeface="华文细黑" panose="02010600040101010101" pitchFamily="2" charset="-122"/>
                    <a:ea typeface="华文细黑" panose="02010600040101010101" pitchFamily="2" charset="-122"/>
                  </a:rPr>
                  <a:t>均质无折射大气层</a:t>
                </a:r>
                <a:endParaRPr lang="en-US" altLang="zh-CN" sz="2400" b="1" dirty="0">
                  <a:solidFill>
                    <a:srgbClr val="080808"/>
                  </a:solidFill>
                  <a:latin typeface="华文细黑" panose="02010600040101010101" pitchFamily="2" charset="-122"/>
                  <a:ea typeface="华文细黑" panose="02010600040101010101" pitchFamily="2" charset="-122"/>
                </a:endParaRPr>
              </a:p>
            </p:txBody>
          </p:sp>
        </p:grpSp>
        <p:grpSp>
          <p:nvGrpSpPr>
            <p:cNvPr id="44041" name="组合 24"/>
            <p:cNvGrpSpPr/>
            <p:nvPr/>
          </p:nvGrpSpPr>
          <p:grpSpPr>
            <a:xfrm>
              <a:off x="5760580" y="1432096"/>
              <a:ext cx="792088" cy="733726"/>
              <a:chOff x="6804248" y="1975021"/>
              <a:chExt cx="466725" cy="435748"/>
            </a:xfrm>
          </p:grpSpPr>
          <p:pic>
            <p:nvPicPr>
              <p:cNvPr id="44043" name="Picture 2"/>
              <p:cNvPicPr>
                <a:picLocks noChangeAspect="1"/>
              </p:cNvPicPr>
              <p:nvPr/>
            </p:nvPicPr>
            <p:blipFill>
              <a:blip r:embed="rId3"/>
              <a:stretch>
                <a:fillRect/>
              </a:stretch>
            </p:blipFill>
            <p:spPr>
              <a:xfrm>
                <a:off x="6804248" y="1975021"/>
                <a:ext cx="466725" cy="435748"/>
              </a:xfrm>
              <a:prstGeom prst="rect">
                <a:avLst/>
              </a:prstGeom>
              <a:noFill/>
              <a:ln w="9525">
                <a:noFill/>
              </a:ln>
            </p:spPr>
          </p:pic>
          <p:sp>
            <p:nvSpPr>
              <p:cNvPr id="44044" name="直角三角形 27"/>
              <p:cNvSpPr/>
              <p:nvPr/>
            </p:nvSpPr>
            <p:spPr>
              <a:xfrm>
                <a:off x="6804248" y="2192895"/>
                <a:ext cx="144016" cy="201527"/>
              </a:xfrm>
              <a:prstGeom prst="rtTriangle">
                <a:avLst/>
              </a:prstGeom>
              <a:solidFill>
                <a:schemeClr val="bg1"/>
              </a:solidFill>
              <a:ln w="9525" cap="flat" cmpd="sng">
                <a:solidFill>
                  <a:schemeClr val="bg1"/>
                </a:solidFill>
                <a:prstDash val="solid"/>
                <a:round/>
                <a:headEnd type="none" w="med" len="med"/>
                <a:tailEnd type="none" w="med" len="med"/>
              </a:ln>
            </p:spPr>
            <p:txBody>
              <a:bodyPr/>
              <a:p>
                <a:pPr eaLnBrk="1" hangingPunct="1"/>
                <a:endParaRPr lang="zh-CN" altLang="en-US" dirty="0">
                  <a:latin typeface="Arial" panose="020B0604020202020204" pitchFamily="34" charset="0"/>
                  <a:ea typeface="宋体" panose="02010600030101010101" pitchFamily="2" charset="-122"/>
                </a:endParaRPr>
              </a:p>
            </p:txBody>
          </p:sp>
        </p:grpSp>
        <p:pic>
          <p:nvPicPr>
            <p:cNvPr id="44042" name="Picture 11"/>
            <p:cNvPicPr>
              <a:picLocks noChangeAspect="1"/>
            </p:cNvPicPr>
            <p:nvPr/>
          </p:nvPicPr>
          <p:blipFill>
            <a:blip r:embed="rId4"/>
            <a:srcRect t="82668" b="-2"/>
            <a:stretch>
              <a:fillRect/>
            </a:stretch>
          </p:blipFill>
          <p:spPr>
            <a:xfrm>
              <a:off x="1331640" y="3933056"/>
              <a:ext cx="5485730" cy="467999"/>
            </a:xfrm>
            <a:prstGeom prst="rect">
              <a:avLst/>
            </a:prstGeom>
            <a:noFill/>
            <a:ln w="9525">
              <a:noFill/>
            </a:ln>
          </p:spPr>
        </p:pic>
      </p:grpSp>
      <p:sp>
        <p:nvSpPr>
          <p:cNvPr id="44039" name="Text Box 18"/>
          <p:cNvSpPr txBox="1"/>
          <p:nvPr/>
        </p:nvSpPr>
        <p:spPr>
          <a:xfrm>
            <a:off x="611188" y="5176838"/>
            <a:ext cx="1843087" cy="830262"/>
          </a:xfrm>
          <a:prstGeom prst="rect">
            <a:avLst/>
          </a:prstGeom>
          <a:solidFill>
            <a:srgbClr val="FF33CC"/>
          </a:solidFill>
          <a:ln w="9525">
            <a:noFill/>
          </a:ln>
        </p:spPr>
        <p:txBody>
          <a:bodyPr wrap="none">
            <a:spAutoFit/>
          </a:bodyPr>
          <a:p>
            <a:pPr eaLnBrk="1" hangingPunct="1"/>
            <a:r>
              <a:rPr lang="en-US" altLang="zh-CN" sz="2400" b="1" dirty="0">
                <a:solidFill>
                  <a:srgbClr val="080808"/>
                </a:solidFill>
                <a:latin typeface="Times New Roman" panose="02020603050405020304" pitchFamily="18" charset="0"/>
                <a:ea typeface="宋体" panose="02010600030101010101" pitchFamily="2" charset="-122"/>
              </a:rPr>
              <a:t>cos </a:t>
            </a:r>
            <a:r>
              <a:rPr lang="el-GR" altLang="zh-CN" sz="2400" b="1" dirty="0">
                <a:solidFill>
                  <a:srgbClr val="080808"/>
                </a:solidFill>
                <a:latin typeface="Times New Roman" panose="02020603050405020304" pitchFamily="18" charset="0"/>
                <a:ea typeface="宋体" panose="02010600030101010101" pitchFamily="2" charset="-122"/>
              </a:rPr>
              <a:t>θ </a:t>
            </a:r>
            <a:r>
              <a:rPr lang="en-US" altLang="zh-CN" sz="2400" b="1" dirty="0">
                <a:solidFill>
                  <a:srgbClr val="080808"/>
                </a:solidFill>
                <a:latin typeface="宋体" panose="02010600030101010101" pitchFamily="2" charset="-122"/>
                <a:ea typeface="宋体" panose="02010600030101010101" pitchFamily="2" charset="-122"/>
              </a:rPr>
              <a:t>=dz/dl</a:t>
            </a:r>
            <a:endParaRPr lang="en-US" altLang="zh-CN" sz="2400" b="1" dirty="0">
              <a:solidFill>
                <a:srgbClr val="080808"/>
              </a:solidFill>
              <a:latin typeface="宋体" panose="02010600030101010101" pitchFamily="2" charset="-122"/>
              <a:ea typeface="宋体" panose="02010600030101010101" pitchFamily="2" charset="-122"/>
            </a:endParaRPr>
          </a:p>
          <a:p>
            <a:pPr eaLnBrk="1" hangingPunct="1"/>
            <a:r>
              <a:rPr lang="en-US" altLang="zh-CN" sz="2400" b="1" dirty="0">
                <a:solidFill>
                  <a:srgbClr val="080808"/>
                </a:solidFill>
                <a:latin typeface="宋体" panose="02010600030101010101" pitchFamily="2" charset="-122"/>
                <a:ea typeface="宋体" panose="02010600030101010101" pitchFamily="2" charset="-122"/>
              </a:rPr>
              <a:t>dl= </a:t>
            </a:r>
            <a:r>
              <a:rPr lang="en-US" altLang="zh-CN" sz="2400" b="1" dirty="0">
                <a:solidFill>
                  <a:srgbClr val="080808"/>
                </a:solidFill>
                <a:latin typeface="Times New Roman" panose="02020603050405020304" pitchFamily="18" charset="0"/>
                <a:ea typeface="宋体" panose="02010600030101010101" pitchFamily="2" charset="-122"/>
              </a:rPr>
              <a:t>dz </a:t>
            </a:r>
            <a:r>
              <a:rPr lang="en-US" altLang="zh-CN" sz="2400" b="1" dirty="0">
                <a:solidFill>
                  <a:srgbClr val="080808"/>
                </a:solidFill>
                <a:latin typeface="宋体" panose="02010600030101010101" pitchFamily="2" charset="-122"/>
                <a:ea typeface="宋体" panose="02010600030101010101" pitchFamily="2" charset="-122"/>
              </a:rPr>
              <a:t>sec</a:t>
            </a:r>
            <a:r>
              <a:rPr lang="el-GR" altLang="zh-CN" sz="2400" b="1" dirty="0">
                <a:solidFill>
                  <a:srgbClr val="080808"/>
                </a:solidFill>
                <a:latin typeface="Times New Roman" panose="02020603050405020304" pitchFamily="18" charset="0"/>
                <a:ea typeface="宋体" panose="02010600030101010101" pitchFamily="2" charset="-122"/>
              </a:rPr>
              <a:t>θ</a:t>
            </a:r>
            <a:endParaRPr lang="el-GR" altLang="zh-CN" sz="2400" b="1" dirty="0">
              <a:solidFill>
                <a:srgbClr val="080808"/>
              </a:solidFill>
              <a:latin typeface="Times New Roman" panose="02020603050405020304" pitchFamily="18" charset="0"/>
              <a:ea typeface="宋体" panose="02010600030101010101" pitchFamily="2" charset="-122"/>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4"/>
          <p:cNvSpPr/>
          <p:nvPr/>
        </p:nvSpPr>
        <p:spPr>
          <a:xfrm>
            <a:off x="1331913" y="76200"/>
            <a:ext cx="7812087" cy="762000"/>
          </a:xfrm>
          <a:prstGeom prst="rect">
            <a:avLst/>
          </a:prstGeom>
          <a:noFill/>
          <a:ln w="9525">
            <a:noFill/>
          </a:ln>
        </p:spPr>
        <p:txBody>
          <a:bodyPr anchor="b" anchorCtr="0"/>
          <a:p>
            <a:pPr algn="ctr" eaLnBrk="1" hangingPunct="1"/>
            <a:r>
              <a:rPr lang="en-US" altLang="zh-CN" sz="3600" b="1" dirty="0">
                <a:solidFill>
                  <a:srgbClr val="FFFF00"/>
                </a:solidFill>
                <a:latin typeface="黑体" panose="02010609060101010101" pitchFamily="49" charset="-122"/>
                <a:ea typeface="黑体" panose="02010609060101010101" pitchFamily="49" charset="-122"/>
              </a:rPr>
              <a:t>3. </a:t>
            </a:r>
            <a:r>
              <a:rPr lang="zh-CN" altLang="en-US" sz="3600" b="1" dirty="0">
                <a:solidFill>
                  <a:srgbClr val="FFFF00"/>
                </a:solidFill>
                <a:latin typeface="黑体" panose="02010609060101010101" pitchFamily="49" charset="-122"/>
                <a:ea typeface="黑体" panose="02010609060101010101" pitchFamily="49" charset="-122"/>
              </a:rPr>
              <a:t>地面太阳直接辐射的简单模式</a:t>
            </a:r>
            <a:endParaRPr lang="zh-CN" altLang="en-US" sz="3600" b="1" dirty="0">
              <a:solidFill>
                <a:srgbClr val="FFFF00"/>
              </a:solidFill>
              <a:latin typeface="黑体" panose="02010609060101010101" pitchFamily="49" charset="-122"/>
              <a:ea typeface="黑体" panose="02010609060101010101" pitchFamily="49" charset="-122"/>
            </a:endParaRPr>
          </a:p>
        </p:txBody>
      </p:sp>
      <p:sp>
        <p:nvSpPr>
          <p:cNvPr id="14341" name="Rectangle 5"/>
          <p:cNvSpPr>
            <a:spLocks noChangeArrowheads="1"/>
          </p:cNvSpPr>
          <p:nvPr/>
        </p:nvSpPr>
        <p:spPr bwMode="auto">
          <a:xfrm>
            <a:off x="509588" y="1423988"/>
            <a:ext cx="8991600" cy="5148263"/>
          </a:xfrm>
          <a:prstGeom prst="rect">
            <a:avLst/>
          </a:prstGeom>
          <a:noFill/>
          <a:ln w="9525">
            <a:noFill/>
            <a:miter lim="800000"/>
          </a:ln>
        </p:spPr>
        <p:txBody>
          <a:bodyPr/>
          <a:lstStyle/>
          <a:p>
            <a:pPr marL="0" marR="0" lvl="1" indent="0" algn="l" defTabSz="914400" rtl="0" eaLnBrk="1" fontAlgn="base" latinLnBrk="0" hangingPunct="1">
              <a:lnSpc>
                <a:spcPct val="90000"/>
              </a:lnSpc>
              <a:spcBef>
                <a:spcPct val="25000"/>
              </a:spcBef>
              <a:spcAft>
                <a:spcPct val="25000"/>
              </a:spcAft>
              <a:buClrTx/>
              <a:buSzTx/>
              <a:buFont typeface="Arial" panose="020B0604020202020204" pitchFamily="34" charset="0"/>
              <a:buNone/>
              <a:defRPr/>
            </a:pPr>
            <a:r>
              <a:rPr kumimoji="0" lang="zh-CN" altLang="en-US" sz="32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总光学厚度（</a:t>
            </a: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日光以天顶角</a:t>
            </a:r>
            <a:r>
              <a:rPr kumimoji="0" lang="en-US" altLang="zh-CN" sz="2800" b="1" i="1"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θ</a:t>
            </a: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角倾斜入射）</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Arial" panose="020B0604020202020204" pitchFamily="34" charset="0"/>
              <a:buNone/>
              <a:defRPr/>
            </a:pPr>
            <a:endParaRPr kumimoji="0" lang="en-US" altLang="zh-CN" sz="32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Arial" panose="020B0604020202020204" pitchFamily="34" charset="0"/>
              <a:buNone/>
              <a:defRPr/>
            </a:pP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 空气分子散射</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 气溶胶粒子散射</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 臭氧吸收</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 水汽吸收</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a:p>
            <a:pPr marL="457200" marR="0" lvl="1" indent="0" algn="l" defTabSz="914400" rtl="0" eaLnBrk="1" fontAlgn="base" latinLnBrk="0" hangingPunct="1">
              <a:lnSpc>
                <a:spcPct val="90000"/>
              </a:lnSpc>
              <a:spcBef>
                <a:spcPct val="25000"/>
              </a:spcBef>
              <a:spcAft>
                <a:spcPct val="25000"/>
              </a:spcAft>
              <a:buClrTx/>
              <a:buSzTx/>
              <a:buFont typeface="Wingdings" panose="05000000000000000000" pitchFamily="2" charset="2"/>
              <a:buChar char="Ø"/>
              <a:defRPr/>
            </a:pPr>
            <a:r>
              <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rPr>
              <a:t> 均匀混合气体吸收</a:t>
            </a:r>
            <a:endParaRPr kumimoji="0" lang="zh-CN" altLang="en-US" sz="2800" b="1" i="0" u="none" strike="noStrike" kern="1200" cap="none" spc="0" normalizeH="0" baseline="0" noProof="0" dirty="0">
              <a:ln>
                <a:noFill/>
              </a:ln>
              <a:solidFill>
                <a:srgbClr val="000066"/>
              </a:solidFill>
              <a:effectLst/>
              <a:uLnTx/>
              <a:uFillTx/>
              <a:latin typeface="华文细黑" panose="02010600040101010101" pitchFamily="2" charset="-122"/>
              <a:ea typeface="华文细黑" panose="02010600040101010101" pitchFamily="2" charset="-122"/>
              <a:cs typeface="+mn-cs"/>
            </a:endParaRPr>
          </a:p>
        </p:txBody>
      </p:sp>
      <p:graphicFrame>
        <p:nvGraphicFramePr>
          <p:cNvPr id="45060" name="Object 6"/>
          <p:cNvGraphicFramePr>
            <a:graphicFrameLocks noChangeAspect="1"/>
          </p:cNvGraphicFramePr>
          <p:nvPr/>
        </p:nvGraphicFramePr>
        <p:xfrm>
          <a:off x="428625" y="2238375"/>
          <a:ext cx="8572500" cy="833438"/>
        </p:xfrm>
        <a:graphic>
          <a:graphicData uri="http://schemas.openxmlformats.org/presentationml/2006/ole">
            <mc:AlternateContent xmlns:mc="http://schemas.openxmlformats.org/markup-compatibility/2006">
              <mc:Choice xmlns:v="urn:schemas-microsoft-com:vml" Requires="v">
                <p:oleObj spid="_x0000_s3094" name="" r:id="rId1" imgW="3327400" imgH="254000" progId="Equation.DSMT4">
                  <p:embed/>
                </p:oleObj>
              </mc:Choice>
              <mc:Fallback>
                <p:oleObj name="" r:id="rId1" imgW="3327400" imgH="254000" progId="Equation.DSMT4">
                  <p:embed/>
                  <p:pic>
                    <p:nvPicPr>
                      <p:cNvPr id="0" name="图片 3093"/>
                      <p:cNvPicPr/>
                      <p:nvPr/>
                    </p:nvPicPr>
                    <p:blipFill>
                      <a:blip r:embed="rId2"/>
                      <a:stretch>
                        <a:fillRect/>
                      </a:stretch>
                    </p:blipFill>
                    <p:spPr>
                      <a:xfrm>
                        <a:off x="428625" y="2238375"/>
                        <a:ext cx="8572500" cy="833438"/>
                      </a:xfrm>
                      <a:prstGeom prst="rect">
                        <a:avLst/>
                      </a:prstGeom>
                      <a:noFill/>
                      <a:ln w="38100">
                        <a:noFill/>
                        <a:miter/>
                      </a:ln>
                    </p:spPr>
                  </p:pic>
                </p:oleObj>
              </mc:Fallback>
            </mc:AlternateContent>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TextBox 1"/>
          <p:cNvSpPr txBox="1"/>
          <p:nvPr/>
        </p:nvSpPr>
        <p:spPr>
          <a:xfrm>
            <a:off x="250825" y="6308725"/>
            <a:ext cx="8893175" cy="369888"/>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46083" name="Rectangle 7"/>
          <p:cNvSpPr>
            <a:spLocks noGrp="1"/>
          </p:cNvSpPr>
          <p:nvPr>
            <p:ph type="title"/>
          </p:nvPr>
        </p:nvSpPr>
        <p:spPr>
          <a:xfrm>
            <a:off x="1336675" y="115888"/>
            <a:ext cx="7772400" cy="773112"/>
          </a:xfrm>
          <a:ln/>
        </p:spPr>
        <p:txBody>
          <a:bodyPr vert="horz" wrap="square" lIns="91440" tIns="45720" rIns="91440" bIns="45720" anchor="ctr" anchorCtr="0"/>
          <a:p>
            <a:pPr algn="ct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1</a:t>
            </a:r>
            <a:r>
              <a:rPr lang="zh-CN" altLang="en-US" dirty="0">
                <a:solidFill>
                  <a:srgbClr val="FFFF00"/>
                </a:solidFill>
                <a:latin typeface="黑体" panose="02010609060101010101" pitchFamily="49" charset="-122"/>
                <a:ea typeface="黑体" panose="02010609060101010101" pitchFamily="49" charset="-122"/>
              </a:rPr>
              <a:t>）空气分子散射的光学厚度</a:t>
            </a:r>
            <a:endParaRPr lang="zh-CN" altLang="en-US" dirty="0">
              <a:solidFill>
                <a:srgbClr val="FFFF00"/>
              </a:solidFill>
              <a:latin typeface="黑体" panose="02010609060101010101" pitchFamily="49" charset="-122"/>
              <a:ea typeface="黑体" panose="02010609060101010101" pitchFamily="49" charset="-122"/>
            </a:endParaRPr>
          </a:p>
        </p:txBody>
      </p:sp>
      <p:graphicFrame>
        <p:nvGraphicFramePr>
          <p:cNvPr id="46084" name="Object 9"/>
          <p:cNvGraphicFramePr>
            <a:graphicFrameLocks noChangeAspect="1"/>
          </p:cNvGraphicFramePr>
          <p:nvPr>
            <p:ph sz="half" idx="1"/>
          </p:nvPr>
        </p:nvGraphicFramePr>
        <p:xfrm>
          <a:off x="1116013" y="2870200"/>
          <a:ext cx="7343775" cy="990600"/>
        </p:xfrm>
        <a:graphic>
          <a:graphicData uri="http://schemas.openxmlformats.org/presentationml/2006/ole">
            <mc:AlternateContent xmlns:mc="http://schemas.openxmlformats.org/markup-compatibility/2006">
              <mc:Choice xmlns:v="urn:schemas-microsoft-com:vml" Requires="v">
                <p:oleObj spid="_x0000_s3101" name="" r:id="rId1" imgW="2705100" imgH="431800" progId="Equation.DSMT4">
                  <p:embed/>
                </p:oleObj>
              </mc:Choice>
              <mc:Fallback>
                <p:oleObj name="" r:id="rId1" imgW="2705100" imgH="431800" progId="Equation.DSMT4">
                  <p:embed/>
                  <p:pic>
                    <p:nvPicPr>
                      <p:cNvPr id="0" name="图片 3100"/>
                      <p:cNvPicPr/>
                      <p:nvPr/>
                    </p:nvPicPr>
                    <p:blipFill>
                      <a:blip r:embed="rId2"/>
                      <a:srcRect/>
                      <a:stretch>
                        <a:fillRect/>
                      </a:stretch>
                    </p:blipFill>
                    <p:spPr>
                      <a:xfrm>
                        <a:off x="1116013" y="2870200"/>
                        <a:ext cx="7343775" cy="990600"/>
                      </a:xfrm>
                      <a:prstGeom prst="rect">
                        <a:avLst/>
                      </a:prstGeom>
                      <a:solidFill>
                        <a:srgbClr val="EAEAEA">
                          <a:alpha val="100000"/>
                        </a:srgbClr>
                      </a:solidFill>
                      <a:ln w="38100">
                        <a:miter/>
                      </a:ln>
                    </p:spPr>
                  </p:pic>
                </p:oleObj>
              </mc:Fallback>
            </mc:AlternateContent>
          </a:graphicData>
        </a:graphic>
      </p:graphicFrame>
      <p:graphicFrame>
        <p:nvGraphicFramePr>
          <p:cNvPr id="46085" name="Object 11"/>
          <p:cNvGraphicFramePr>
            <a:graphicFrameLocks noChangeAspect="1"/>
          </p:cNvGraphicFramePr>
          <p:nvPr>
            <p:ph sz="quarter" idx="2"/>
          </p:nvPr>
        </p:nvGraphicFramePr>
        <p:xfrm>
          <a:off x="1403350" y="4149725"/>
          <a:ext cx="6624638" cy="1079500"/>
        </p:xfrm>
        <a:graphic>
          <a:graphicData uri="http://schemas.openxmlformats.org/presentationml/2006/ole">
            <mc:AlternateContent xmlns:mc="http://schemas.openxmlformats.org/markup-compatibility/2006">
              <mc:Choice xmlns:v="urn:schemas-microsoft-com:vml" Requires="v">
                <p:oleObj spid="_x0000_s3095" name="" r:id="rId3" imgW="2146300" imgH="469900" progId="Equation.DSMT4">
                  <p:embed/>
                </p:oleObj>
              </mc:Choice>
              <mc:Fallback>
                <p:oleObj name="" r:id="rId3" imgW="2146300" imgH="469900" progId="Equation.DSMT4">
                  <p:embed/>
                  <p:pic>
                    <p:nvPicPr>
                      <p:cNvPr id="0" name="图片 3094"/>
                      <p:cNvPicPr/>
                      <p:nvPr/>
                    </p:nvPicPr>
                    <p:blipFill>
                      <a:blip r:embed="rId4"/>
                      <a:srcRect/>
                      <a:stretch>
                        <a:fillRect/>
                      </a:stretch>
                    </p:blipFill>
                    <p:spPr>
                      <a:xfrm>
                        <a:off x="1403350" y="4149725"/>
                        <a:ext cx="6624638" cy="1079500"/>
                      </a:xfrm>
                      <a:prstGeom prst="rect">
                        <a:avLst/>
                      </a:prstGeom>
                      <a:solidFill>
                        <a:srgbClr val="EAEAEA">
                          <a:alpha val="100000"/>
                        </a:srgbClr>
                      </a:solidFill>
                      <a:ln w="38100">
                        <a:miter/>
                      </a:ln>
                    </p:spPr>
                  </p:pic>
                </p:oleObj>
              </mc:Fallback>
            </mc:AlternateContent>
          </a:graphicData>
        </a:graphic>
      </p:graphicFrame>
      <p:graphicFrame>
        <p:nvGraphicFramePr>
          <p:cNvPr id="46086" name="Object 14"/>
          <p:cNvGraphicFramePr>
            <a:graphicFrameLocks noChangeAspect="1"/>
          </p:cNvGraphicFramePr>
          <p:nvPr>
            <p:ph sz="quarter" idx="3"/>
          </p:nvPr>
        </p:nvGraphicFramePr>
        <p:xfrm>
          <a:off x="2195513" y="5949950"/>
          <a:ext cx="5040312" cy="793750"/>
        </p:xfrm>
        <a:graphic>
          <a:graphicData uri="http://schemas.openxmlformats.org/presentationml/2006/ole">
            <mc:AlternateContent xmlns:mc="http://schemas.openxmlformats.org/markup-compatibility/2006">
              <mc:Choice xmlns:v="urn:schemas-microsoft-com:vml" Requires="v">
                <p:oleObj spid="_x0000_s3100" name="" r:id="rId5" imgW="1333500" imgH="254000" progId="Equation.DSMT4">
                  <p:embed/>
                </p:oleObj>
              </mc:Choice>
              <mc:Fallback>
                <p:oleObj name="" r:id="rId5" imgW="1333500" imgH="254000" progId="Equation.DSMT4">
                  <p:embed/>
                  <p:pic>
                    <p:nvPicPr>
                      <p:cNvPr id="0" name="图片 3099"/>
                      <p:cNvPicPr/>
                      <p:nvPr/>
                    </p:nvPicPr>
                    <p:blipFill>
                      <a:blip r:embed="rId6"/>
                      <a:srcRect/>
                      <a:stretch>
                        <a:fillRect/>
                      </a:stretch>
                    </p:blipFill>
                    <p:spPr>
                      <a:xfrm>
                        <a:off x="2195513" y="5949950"/>
                        <a:ext cx="5040312" cy="793750"/>
                      </a:xfrm>
                      <a:prstGeom prst="rect">
                        <a:avLst/>
                      </a:prstGeom>
                      <a:solidFill>
                        <a:srgbClr val="EAEAEA">
                          <a:alpha val="100000"/>
                        </a:srgbClr>
                      </a:solidFill>
                      <a:ln w="38100">
                        <a:miter/>
                      </a:ln>
                    </p:spPr>
                  </p:pic>
                </p:oleObj>
              </mc:Fallback>
            </mc:AlternateContent>
          </a:graphicData>
        </a:graphic>
      </p:graphicFrame>
      <p:sp>
        <p:nvSpPr>
          <p:cNvPr id="46087" name="Text Box 16"/>
          <p:cNvSpPr txBox="1"/>
          <p:nvPr/>
        </p:nvSpPr>
        <p:spPr>
          <a:xfrm>
            <a:off x="376238" y="5430838"/>
            <a:ext cx="8780462" cy="523875"/>
          </a:xfrm>
          <a:prstGeom prst="rect">
            <a:avLst/>
          </a:prstGeom>
          <a:noFill/>
          <a:ln w="9525">
            <a:noFill/>
          </a:ln>
        </p:spPr>
        <p:txBody>
          <a:bodyPr wrap="none">
            <a:spAutoFit/>
          </a:bodyPr>
          <a:p>
            <a:pPr eaLnBrk="1" hangingPunct="1"/>
            <a:r>
              <a:rPr lang="zh-CN" altLang="en-US" sz="2800" b="1" dirty="0">
                <a:latin typeface="华文细黑" panose="02010600040101010101" pitchFamily="2" charset="-122"/>
                <a:ea typeface="华文细黑" panose="02010600040101010101" pitchFamily="2" charset="-122"/>
              </a:rPr>
              <a:t>若考虑空气的折射率</a:t>
            </a:r>
            <a:r>
              <a:rPr lang="en-US" altLang="zh-CN" sz="2800" b="1" dirty="0">
                <a:latin typeface="华文细黑" panose="02010600040101010101" pitchFamily="2" charset="-122"/>
                <a:ea typeface="华文细黑" panose="02010600040101010101" pitchFamily="2" charset="-122"/>
              </a:rPr>
              <a:t>m</a:t>
            </a:r>
            <a:r>
              <a:rPr lang="zh-CN" altLang="en-US" sz="2800" b="1" dirty="0">
                <a:latin typeface="华文细黑" panose="02010600040101010101" pitchFamily="2" charset="-122"/>
                <a:ea typeface="华文细黑" panose="02010600040101010101" pitchFamily="2" charset="-122"/>
              </a:rPr>
              <a:t>也是波长的函数，上式可修正为</a:t>
            </a:r>
            <a:endParaRPr lang="zh-CN" altLang="en-US" sz="2800" b="1" dirty="0">
              <a:latin typeface="华文细黑" panose="02010600040101010101" pitchFamily="2" charset="-122"/>
              <a:ea typeface="华文细黑" panose="02010600040101010101" pitchFamily="2" charset="-122"/>
            </a:endParaRPr>
          </a:p>
        </p:txBody>
      </p:sp>
      <p:graphicFrame>
        <p:nvGraphicFramePr>
          <p:cNvPr id="46088" name="对象 2"/>
          <p:cNvGraphicFramePr>
            <a:graphicFrameLocks noChangeAspect="1"/>
          </p:cNvGraphicFramePr>
          <p:nvPr/>
        </p:nvGraphicFramePr>
        <p:xfrm>
          <a:off x="1285875" y="1341438"/>
          <a:ext cx="6742113" cy="1249362"/>
        </p:xfrm>
        <a:graphic>
          <a:graphicData uri="http://schemas.openxmlformats.org/presentationml/2006/ole">
            <mc:AlternateContent xmlns:mc="http://schemas.openxmlformats.org/markup-compatibility/2006">
              <mc:Choice xmlns:v="urn:schemas-microsoft-com:vml" Requires="v">
                <p:oleObj spid="_x0000_s3102" name="" r:id="rId7" imgW="2184400" imgH="482600" progId="Equation.DSMT4">
                  <p:embed/>
                </p:oleObj>
              </mc:Choice>
              <mc:Fallback>
                <p:oleObj name="" r:id="rId7" imgW="2184400" imgH="482600" progId="Equation.DSMT4">
                  <p:embed/>
                  <p:pic>
                    <p:nvPicPr>
                      <p:cNvPr id="0" name="图片 3101"/>
                      <p:cNvPicPr/>
                      <p:nvPr/>
                    </p:nvPicPr>
                    <p:blipFill>
                      <a:blip r:embed="rId8"/>
                      <a:stretch>
                        <a:fillRect/>
                      </a:stretch>
                    </p:blipFill>
                    <p:spPr>
                      <a:xfrm>
                        <a:off x="1285875" y="1341438"/>
                        <a:ext cx="6742113" cy="1249362"/>
                      </a:xfrm>
                      <a:prstGeom prst="rect">
                        <a:avLst/>
                      </a:prstGeom>
                      <a:solidFill>
                        <a:srgbClr val="EAEAEA"/>
                      </a:solidFill>
                      <a:ln w="38100">
                        <a:noFill/>
                        <a:miter/>
                      </a:ln>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3"/>
          <p:cNvSpPr>
            <a:spLocks noGrp="1"/>
          </p:cNvSpPr>
          <p:nvPr>
            <p:ph type="title"/>
          </p:nvPr>
        </p:nvSpPr>
        <p:spPr>
          <a:xfrm>
            <a:off x="1289050" y="71438"/>
            <a:ext cx="7848600" cy="785812"/>
          </a:xfrm>
          <a:ln/>
        </p:spPr>
        <p:txBody>
          <a:bodyPr vert="horz" wrap="square" lIns="91440" tIns="45720" rIns="91440" bIns="45720" anchor="b" anchorCtr="0"/>
          <a:p>
            <a:pPr algn="ct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2</a:t>
            </a:r>
            <a:r>
              <a:rPr lang="zh-CN" altLang="en-US" dirty="0">
                <a:solidFill>
                  <a:srgbClr val="FFFF00"/>
                </a:solidFill>
                <a:latin typeface="黑体" panose="02010609060101010101" pitchFamily="49" charset="-122"/>
                <a:ea typeface="黑体" panose="02010609060101010101" pitchFamily="49" charset="-122"/>
              </a:rPr>
              <a:t>）气溶胶散射的光学厚度</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16388" name="Rectangle 6"/>
          <p:cNvSpPr>
            <a:spLocks noGrp="1" noChangeArrowheads="1"/>
          </p:cNvSpPr>
          <p:nvPr>
            <p:ph type="body" sz="half" idx="1"/>
          </p:nvPr>
        </p:nvSpPr>
        <p:spPr>
          <a:xfrm>
            <a:off x="395288" y="1700213"/>
            <a:ext cx="8748713" cy="4752975"/>
          </a:xfrm>
        </p:spPr>
        <p:txBody>
          <a:bodyPr vert="horz" wrap="square" lIns="91440" tIns="45720" rIns="91440" bIns="45720" numCol="1" anchor="t" anchorCtr="0" compatLnSpc="1"/>
          <a:lstStyle/>
          <a:p>
            <a:pPr marL="342900" marR="0" lvl="0" indent="-342900" algn="l" defTabSz="914400" rtl="0" eaLnBrk="0" fontAlgn="base" latinLnBrk="0" hangingPunct="0">
              <a:lnSpc>
                <a:spcPct val="90000"/>
              </a:lnSpc>
              <a:spcBef>
                <a:spcPct val="20000"/>
              </a:spcBef>
              <a:spcAft>
                <a:spcPct val="0"/>
              </a:spcAft>
              <a:buClr>
                <a:schemeClr val="hlink"/>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Char char="§"/>
              <a:defRPr/>
            </a:pP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安斯川姆 </a:t>
            </a:r>
            <a:r>
              <a:rPr kumimoji="0" lang="en-US" altLang="zh-CN"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a:t>
            </a:r>
            <a:r>
              <a:rPr kumimoji="0" lang="en-US" altLang="zh-CN" sz="2800" b="1" i="0" u="none" strike="noStrike" kern="0" cap="none" spc="0" normalizeH="0" baseline="0" noProof="0" dirty="0" err="1">
                <a:ln>
                  <a:noFill/>
                </a:ln>
                <a:solidFill>
                  <a:schemeClr val="tx1"/>
                </a:solidFill>
                <a:effectLst/>
                <a:uLnTx/>
                <a:uFillTx/>
                <a:latin typeface="华文细黑" panose="02010600040101010101" pitchFamily="2" charset="-122"/>
                <a:ea typeface="华文细黑" panose="02010600040101010101" pitchFamily="2" charset="-122"/>
              </a:rPr>
              <a:t>Ångström</a:t>
            </a: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a:t>
            </a:r>
            <a:r>
              <a:rPr kumimoji="0" lang="en-US" altLang="zh-CN"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1964 ) </a:t>
            </a: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提出下式计算整层大气米散射的垂直光学厚度 </a:t>
            </a:r>
            <a:endPar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8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457200" marR="0" lvl="1" indent="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None/>
              <a:defRPr/>
            </a:pPr>
            <a:r>
              <a:rPr kumimoji="0" lang="zh-CN" altLang="en-US" sz="2800" b="1" i="1"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    </a:t>
            </a:r>
            <a:r>
              <a:rPr kumimoji="0" lang="en-US" altLang="zh-CN" sz="2800" b="1" i="1"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rPr>
              <a:t>    </a:t>
            </a: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称为浑浊度系数，随大气中气溶胶总量而变 。</a:t>
            </a:r>
            <a:endPar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457200" marR="0" lvl="1" indent="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None/>
              <a:defRPr/>
            </a:pPr>
            <a:r>
              <a:rPr kumimoji="0" lang="en-US" altLang="zh-CN" sz="2800" b="1" i="1"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α  </a:t>
            </a: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称为波长指数，平均半径越小，</a:t>
            </a:r>
            <a:r>
              <a:rPr kumimoji="0" lang="en-US" altLang="zh-CN" sz="2800" b="1" i="1"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α</a:t>
            </a:r>
            <a:r>
              <a:rPr kumimoji="0" lang="en-US" altLang="zh-CN"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Wingdings" panose="05000000000000000000" pitchFamily="2" charset="2"/>
              </a:rPr>
              <a:t>4</a:t>
            </a:r>
            <a:r>
              <a:rPr kumimoji="0" lang="zh-CN" altLang="en-US"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Wingdings" panose="05000000000000000000" pitchFamily="2" charset="2"/>
              </a:rPr>
              <a:t>。</a:t>
            </a:r>
            <a:endParaRPr kumimoji="0" lang="en-US" altLang="zh-CN" sz="28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Wingdings" panose="05000000000000000000" pitchFamily="2" charset="2"/>
            </a:endParaRPr>
          </a:p>
        </p:txBody>
      </p:sp>
      <p:graphicFrame>
        <p:nvGraphicFramePr>
          <p:cNvPr id="47108" name="Object 7"/>
          <p:cNvGraphicFramePr>
            <a:graphicFrameLocks noChangeAspect="1"/>
          </p:cNvGraphicFramePr>
          <p:nvPr>
            <p:ph sz="half" idx="2"/>
          </p:nvPr>
        </p:nvGraphicFramePr>
        <p:xfrm>
          <a:off x="2700338" y="3573463"/>
          <a:ext cx="3816350" cy="1004887"/>
        </p:xfrm>
        <a:graphic>
          <a:graphicData uri="http://schemas.openxmlformats.org/presentationml/2006/ole">
            <mc:AlternateContent xmlns:mc="http://schemas.openxmlformats.org/markup-compatibility/2006">
              <mc:Choice xmlns:v="urn:schemas-microsoft-com:vml" Requires="v">
                <p:oleObj spid="_x0000_s3096" name="" r:id="rId1" imgW="965200" imgH="254000" progId="Equation.DSMT4">
                  <p:embed/>
                </p:oleObj>
              </mc:Choice>
              <mc:Fallback>
                <p:oleObj name="" r:id="rId1" imgW="965200" imgH="254000" progId="Equation.DSMT4">
                  <p:embed/>
                  <p:pic>
                    <p:nvPicPr>
                      <p:cNvPr id="0" name="图片 3095"/>
                      <p:cNvPicPr/>
                      <p:nvPr/>
                    </p:nvPicPr>
                    <p:blipFill>
                      <a:blip r:embed="rId2"/>
                      <a:srcRect/>
                      <a:stretch>
                        <a:fillRect/>
                      </a:stretch>
                    </p:blipFill>
                    <p:spPr>
                      <a:xfrm>
                        <a:off x="2700338" y="3573463"/>
                        <a:ext cx="3816350" cy="1004887"/>
                      </a:xfrm>
                      <a:prstGeom prst="rect">
                        <a:avLst/>
                      </a:prstGeom>
                      <a:solidFill>
                        <a:srgbClr val="EAEAEA">
                          <a:alpha val="100000"/>
                        </a:srgbClr>
                      </a:solidFill>
                      <a:ln w="38100">
                        <a:miter/>
                      </a:ln>
                    </p:spPr>
                  </p:pic>
                </p:oleObj>
              </mc:Fallback>
            </mc:AlternateContent>
          </a:graphicData>
        </a:graphic>
      </p:graphicFrame>
      <p:graphicFrame>
        <p:nvGraphicFramePr>
          <p:cNvPr id="47109" name="对象 1"/>
          <p:cNvGraphicFramePr>
            <a:graphicFrameLocks noChangeAspect="1"/>
          </p:cNvGraphicFramePr>
          <p:nvPr/>
        </p:nvGraphicFramePr>
        <p:xfrm>
          <a:off x="2774950" y="1484313"/>
          <a:ext cx="3763963" cy="657225"/>
        </p:xfrm>
        <a:graphic>
          <a:graphicData uri="http://schemas.openxmlformats.org/presentationml/2006/ole">
            <mc:AlternateContent xmlns:mc="http://schemas.openxmlformats.org/markup-compatibility/2006">
              <mc:Choice xmlns:v="urn:schemas-microsoft-com:vml" Requires="v">
                <p:oleObj spid="_x0000_s3099" name="" r:id="rId3" imgW="1218565" imgH="254000" progId="Equation.DSMT4">
                  <p:embed/>
                </p:oleObj>
              </mc:Choice>
              <mc:Fallback>
                <p:oleObj name="" r:id="rId3" imgW="1218565" imgH="254000" progId="Equation.DSMT4">
                  <p:embed/>
                  <p:pic>
                    <p:nvPicPr>
                      <p:cNvPr id="0" name="图片 3098"/>
                      <p:cNvPicPr/>
                      <p:nvPr/>
                    </p:nvPicPr>
                    <p:blipFill>
                      <a:blip r:embed="rId4"/>
                      <a:stretch>
                        <a:fillRect/>
                      </a:stretch>
                    </p:blipFill>
                    <p:spPr>
                      <a:xfrm>
                        <a:off x="2774950" y="1484313"/>
                        <a:ext cx="3763963" cy="657225"/>
                      </a:xfrm>
                      <a:prstGeom prst="rect">
                        <a:avLst/>
                      </a:prstGeom>
                      <a:solidFill>
                        <a:srgbClr val="EAEAEA"/>
                      </a:solidFill>
                      <a:ln w="38100">
                        <a:noFill/>
                        <a:miter/>
                      </a:ln>
                    </p:spPr>
                  </p:pic>
                </p:oleObj>
              </mc:Fallback>
            </mc:AlternateContent>
          </a:graphicData>
        </a:graphic>
      </p:graphicFrame>
      <p:graphicFrame>
        <p:nvGraphicFramePr>
          <p:cNvPr id="47110" name="对象 2"/>
          <p:cNvGraphicFramePr>
            <a:graphicFrameLocks noChangeAspect="1"/>
          </p:cNvGraphicFramePr>
          <p:nvPr/>
        </p:nvGraphicFramePr>
        <p:xfrm>
          <a:off x="1258888" y="5113338"/>
          <a:ext cx="411162" cy="547687"/>
        </p:xfrm>
        <a:graphic>
          <a:graphicData uri="http://schemas.openxmlformats.org/presentationml/2006/ole">
            <mc:AlternateContent xmlns:mc="http://schemas.openxmlformats.org/markup-compatibility/2006">
              <mc:Choice xmlns:v="urn:schemas-microsoft-com:vml" Requires="v">
                <p:oleObj spid="_x0000_s3097" name="" r:id="rId5" imgW="152400" imgH="203200" progId="Equation.DSMT4">
                  <p:embed/>
                </p:oleObj>
              </mc:Choice>
              <mc:Fallback>
                <p:oleObj name="" r:id="rId5" imgW="152400" imgH="203200" progId="Equation.DSMT4">
                  <p:embed/>
                  <p:pic>
                    <p:nvPicPr>
                      <p:cNvPr id="0" name="图片 3096"/>
                      <p:cNvPicPr/>
                      <p:nvPr/>
                    </p:nvPicPr>
                    <p:blipFill>
                      <a:blip r:embed="rId6"/>
                      <a:stretch>
                        <a:fillRect/>
                      </a:stretch>
                    </p:blipFill>
                    <p:spPr>
                      <a:xfrm>
                        <a:off x="1258888" y="5113338"/>
                        <a:ext cx="411162" cy="547687"/>
                      </a:xfrm>
                      <a:prstGeom prst="rect">
                        <a:avLst/>
                      </a:prstGeom>
                      <a:solidFill>
                        <a:srgbClr val="EAEAEA"/>
                      </a:solidFill>
                      <a:ln w="38100">
                        <a:noFill/>
                        <a:miter/>
                      </a:ln>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30" name="Rectangle 3"/>
          <p:cNvSpPr/>
          <p:nvPr/>
        </p:nvSpPr>
        <p:spPr>
          <a:xfrm>
            <a:off x="1403350" y="195263"/>
            <a:ext cx="7740650" cy="650875"/>
          </a:xfrm>
          <a:prstGeom prst="rect">
            <a:avLst/>
          </a:prstGeom>
          <a:noFill/>
          <a:ln w="9525">
            <a:noFill/>
          </a:ln>
        </p:spPr>
        <p:txBody>
          <a:bodyPr anchor="b" anchorCtr="0"/>
          <a:p>
            <a:pPr algn="ctr" eaLnBrk="1" hangingPunct="1"/>
            <a:r>
              <a:rPr lang="zh-CN" altLang="en-US" sz="3200" b="1" dirty="0">
                <a:solidFill>
                  <a:srgbClr val="FFFF00"/>
                </a:solidFill>
                <a:latin typeface="黑体" panose="02010609060101010101" pitchFamily="49" charset="-122"/>
                <a:ea typeface="黑体" panose="02010609060101010101" pitchFamily="49" charset="-122"/>
              </a:rPr>
              <a:t>（</a:t>
            </a:r>
            <a:r>
              <a:rPr lang="en-US" altLang="zh-CN" sz="3200" b="1" dirty="0">
                <a:solidFill>
                  <a:srgbClr val="FFFF00"/>
                </a:solidFill>
                <a:latin typeface="黑体" panose="02010609060101010101" pitchFamily="49" charset="-122"/>
                <a:ea typeface="黑体" panose="02010609060101010101" pitchFamily="49" charset="-122"/>
              </a:rPr>
              <a:t>3</a:t>
            </a:r>
            <a:r>
              <a:rPr lang="zh-CN" altLang="en-US" sz="3200" b="1" dirty="0">
                <a:solidFill>
                  <a:srgbClr val="FFFF00"/>
                </a:solidFill>
                <a:latin typeface="黑体" panose="02010609060101010101" pitchFamily="49" charset="-122"/>
                <a:ea typeface="黑体" panose="02010609060101010101" pitchFamily="49" charset="-122"/>
              </a:rPr>
              <a:t>）臭氧吸收的光学厚度</a:t>
            </a:r>
            <a:endParaRPr lang="zh-CN" altLang="en-US" sz="3200" b="1" dirty="0">
              <a:solidFill>
                <a:srgbClr val="FFFF00"/>
              </a:solidFill>
              <a:latin typeface="黑体" panose="02010609060101010101" pitchFamily="49" charset="-122"/>
              <a:ea typeface="黑体" panose="02010609060101010101" pitchFamily="49" charset="-122"/>
            </a:endParaRPr>
          </a:p>
        </p:txBody>
      </p:sp>
      <p:sp>
        <p:nvSpPr>
          <p:cNvPr id="48131" name="Rectangle 5"/>
          <p:cNvSpPr>
            <a:spLocks noGrp="1"/>
          </p:cNvSpPr>
          <p:nvPr>
            <p:ph type="body" sz="half" idx="1"/>
          </p:nvPr>
        </p:nvSpPr>
        <p:spPr>
          <a:xfrm>
            <a:off x="684213" y="1844675"/>
            <a:ext cx="7847012" cy="4251325"/>
          </a:xfrm>
          <a:ln/>
        </p:spPr>
        <p:txBody>
          <a:bodyPr vert="horz" wrap="square" lIns="91440" tIns="45720" rIns="91440" bIns="45720" anchor="t" anchorCtr="0"/>
          <a:p>
            <a:pPr>
              <a:buClr>
                <a:schemeClr val="hlink"/>
              </a:buClr>
              <a:buSzTx/>
              <a:buFontTx/>
              <a:buNone/>
            </a:pPr>
            <a:endParaRPr lang="zh-CN" altLang="en-US" dirty="0">
              <a:ea typeface="宋体" panose="02010600030101010101" pitchFamily="2" charset="-122"/>
            </a:endParaRPr>
          </a:p>
          <a:p>
            <a:pPr>
              <a:buClr>
                <a:schemeClr val="hlink"/>
              </a:buClr>
              <a:buSzTx/>
              <a:buFont typeface="Wingdings" panose="05000000000000000000" pitchFamily="2" charset="2"/>
            </a:pPr>
            <a:endParaRPr lang="zh-CN" altLang="en-US" dirty="0">
              <a:ea typeface="宋体" panose="02010600030101010101" pitchFamily="2" charset="-122"/>
            </a:endParaRPr>
          </a:p>
          <a:p>
            <a:pPr lvl="1">
              <a:lnSpc>
                <a:spcPct val="130000"/>
              </a:lnSpc>
              <a:buClr>
                <a:schemeClr val="accent1"/>
              </a:buClr>
              <a:buFont typeface="Wingdings" panose="05000000000000000000" pitchFamily="2" charset="2"/>
            </a:pPr>
            <a:r>
              <a:rPr lang="zh-CN" altLang="en-US" dirty="0">
                <a:latin typeface="华文细黑" panose="02010600040101010101" pitchFamily="2" charset="-122"/>
                <a:ea typeface="华文细黑" panose="02010600040101010101" pitchFamily="2" charset="-122"/>
              </a:rPr>
              <a:t>式中：</a:t>
            </a:r>
            <a:r>
              <a:rPr lang="en-US" altLang="zh-CN" i="1" dirty="0">
                <a:latin typeface="华文细黑" panose="02010600040101010101" pitchFamily="2" charset="-122"/>
                <a:ea typeface="华文细黑" panose="02010600040101010101" pitchFamily="2" charset="-122"/>
              </a:rPr>
              <a:t>u</a:t>
            </a:r>
            <a:r>
              <a:rPr lang="en-US" altLang="zh-CN" baseline="-25000" dirty="0">
                <a:latin typeface="华文细黑" panose="02010600040101010101" pitchFamily="2" charset="-122"/>
                <a:ea typeface="华文细黑" panose="02010600040101010101" pitchFamily="2" charset="-122"/>
              </a:rPr>
              <a:t>O</a:t>
            </a:r>
            <a:r>
              <a:rPr lang="en-US" altLang="zh-CN" dirty="0">
                <a:latin typeface="华文细黑" panose="02010600040101010101" pitchFamily="2" charset="-122"/>
                <a:ea typeface="华文细黑" panose="02010600040101010101" pitchFamily="2" charset="-122"/>
              </a:rPr>
              <a:t> </a:t>
            </a:r>
            <a:r>
              <a:rPr lang="zh-CN" altLang="en-US" dirty="0">
                <a:latin typeface="华文细黑" panose="02010600040101010101" pitchFamily="2" charset="-122"/>
                <a:ea typeface="华文细黑" panose="02010600040101010101" pitchFamily="2" charset="-122"/>
              </a:rPr>
              <a:t>为臭氧总量（</a:t>
            </a:r>
            <a:r>
              <a:rPr lang="en-US" altLang="zh-CN" dirty="0">
                <a:latin typeface="华文细黑" panose="02010600040101010101" pitchFamily="2" charset="-122"/>
                <a:ea typeface="华文细黑" panose="02010600040101010101" pitchFamily="2" charset="-122"/>
              </a:rPr>
              <a:t>m</a:t>
            </a:r>
            <a:r>
              <a:rPr lang="zh-CN" altLang="en-US" dirty="0">
                <a:latin typeface="华文细黑" panose="02010600040101010101" pitchFamily="2" charset="-122"/>
                <a:ea typeface="华文细黑" panose="02010600040101010101" pitchFamily="2" charset="-122"/>
              </a:rPr>
              <a:t>），</a:t>
            </a:r>
            <a:r>
              <a:rPr lang="en-US" altLang="zh-CN" i="1" dirty="0">
                <a:latin typeface="华文细黑" panose="02010600040101010101" pitchFamily="2" charset="-122"/>
                <a:ea typeface="华文细黑" panose="02010600040101010101" pitchFamily="2" charset="-122"/>
              </a:rPr>
              <a:t>m</a:t>
            </a:r>
            <a:r>
              <a:rPr lang="en-US" altLang="zh-CN" baseline="-25000" dirty="0">
                <a:latin typeface="华文细黑" panose="02010600040101010101" pitchFamily="2" charset="-122"/>
                <a:ea typeface="华文细黑" panose="02010600040101010101" pitchFamily="2" charset="-122"/>
              </a:rPr>
              <a:t>O</a:t>
            </a:r>
            <a:r>
              <a:rPr lang="en-US" altLang="zh-CN" dirty="0">
                <a:latin typeface="华文细黑" panose="02010600040101010101" pitchFamily="2" charset="-122"/>
                <a:ea typeface="华文细黑" panose="02010600040101010101" pitchFamily="2" charset="-122"/>
              </a:rPr>
              <a:t> </a:t>
            </a:r>
            <a:r>
              <a:rPr lang="zh-CN" altLang="en-US" dirty="0">
                <a:latin typeface="华文细黑" panose="02010600040101010101" pitchFamily="2" charset="-122"/>
                <a:ea typeface="华文细黑" panose="02010600040101010101" pitchFamily="2" charset="-122"/>
              </a:rPr>
              <a:t>为臭氧的相对大气质量数 </a:t>
            </a:r>
            <a:endParaRPr lang="zh-CN" altLang="en-US" dirty="0">
              <a:latin typeface="华文细黑" panose="02010600040101010101" pitchFamily="2" charset="-122"/>
              <a:ea typeface="华文细黑" panose="02010600040101010101" pitchFamily="2" charset="-122"/>
            </a:endParaRPr>
          </a:p>
        </p:txBody>
      </p:sp>
      <p:graphicFrame>
        <p:nvGraphicFramePr>
          <p:cNvPr id="48132" name="Object 6"/>
          <p:cNvGraphicFramePr>
            <a:graphicFrameLocks noChangeAspect="1"/>
          </p:cNvGraphicFramePr>
          <p:nvPr>
            <p:ph sz="quarter" idx="2"/>
          </p:nvPr>
        </p:nvGraphicFramePr>
        <p:xfrm>
          <a:off x="2411413" y="1557338"/>
          <a:ext cx="4535487" cy="935037"/>
        </p:xfrm>
        <a:graphic>
          <a:graphicData uri="http://schemas.openxmlformats.org/presentationml/2006/ole">
            <mc:AlternateContent xmlns:mc="http://schemas.openxmlformats.org/markup-compatibility/2006">
              <mc:Choice xmlns:v="urn:schemas-microsoft-com:vml" Requires="v">
                <p:oleObj spid="_x0000_s3098" name="" r:id="rId1" imgW="1231265" imgH="254000" progId="Equation.DSMT4">
                  <p:embed/>
                </p:oleObj>
              </mc:Choice>
              <mc:Fallback>
                <p:oleObj name="" r:id="rId1" imgW="1231265" imgH="254000" progId="Equation.DSMT4">
                  <p:embed/>
                  <p:pic>
                    <p:nvPicPr>
                      <p:cNvPr id="0" name="图片 3097"/>
                      <p:cNvPicPr/>
                      <p:nvPr/>
                    </p:nvPicPr>
                    <p:blipFill>
                      <a:blip r:embed="rId2"/>
                      <a:srcRect/>
                      <a:stretch>
                        <a:fillRect/>
                      </a:stretch>
                    </p:blipFill>
                    <p:spPr>
                      <a:xfrm>
                        <a:off x="2411413" y="1557338"/>
                        <a:ext cx="4535487" cy="935037"/>
                      </a:xfrm>
                      <a:prstGeom prst="rect">
                        <a:avLst/>
                      </a:prstGeom>
                      <a:solidFill>
                        <a:srgbClr val="EAEAEA">
                          <a:alpha val="100000"/>
                        </a:srgbClr>
                      </a:solidFill>
                      <a:ln w="38100">
                        <a:miter/>
                      </a:ln>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4" name="Rectangle 2"/>
          <p:cNvSpPr>
            <a:spLocks noGrp="1"/>
          </p:cNvSpPr>
          <p:nvPr>
            <p:ph type="title"/>
          </p:nvPr>
        </p:nvSpPr>
        <p:spPr>
          <a:xfrm>
            <a:off x="1331913" y="115888"/>
            <a:ext cx="7631112" cy="844550"/>
          </a:xfrm>
          <a:ln/>
        </p:spPr>
        <p:txBody>
          <a:bodyPr vert="horz" wrap="square" lIns="91440" tIns="45720" rIns="91440" bIns="45720" anchor="ctr" anchorCtr="0"/>
          <a:p>
            <a:pPr algn="ctr"/>
            <a:r>
              <a:rPr lang="zh-CN" altLang="en-US" dirty="0">
                <a:solidFill>
                  <a:srgbClr val="FFFF00"/>
                </a:solidFill>
                <a:latin typeface="黑体" panose="02010609060101010101" pitchFamily="49" charset="-122"/>
                <a:ea typeface="黑体" panose="02010609060101010101" pitchFamily="49" charset="-122"/>
              </a:rPr>
              <a:t>（</a:t>
            </a:r>
            <a:r>
              <a:rPr lang="en-US" altLang="zh-CN" dirty="0">
                <a:solidFill>
                  <a:srgbClr val="FFFF00"/>
                </a:solidFill>
                <a:latin typeface="黑体" panose="02010609060101010101" pitchFamily="49" charset="-122"/>
                <a:ea typeface="黑体" panose="02010609060101010101" pitchFamily="49" charset="-122"/>
              </a:rPr>
              <a:t>4</a:t>
            </a:r>
            <a:r>
              <a:rPr lang="zh-CN" altLang="en-US" dirty="0">
                <a:solidFill>
                  <a:srgbClr val="FFFF00"/>
                </a:solidFill>
                <a:latin typeface="黑体" panose="02010609060101010101" pitchFamily="49" charset="-122"/>
                <a:ea typeface="黑体" panose="02010609060101010101" pitchFamily="49" charset="-122"/>
              </a:rPr>
              <a:t>）水汽吸收的光学厚度</a:t>
            </a:r>
            <a:endParaRPr lang="zh-CN" altLang="en-US" dirty="0">
              <a:solidFill>
                <a:srgbClr val="FFFF00"/>
              </a:solidFill>
              <a:latin typeface="黑体" panose="02010609060101010101" pitchFamily="49" charset="-122"/>
              <a:ea typeface="黑体" panose="02010609060101010101" pitchFamily="49" charset="-122"/>
            </a:endParaRPr>
          </a:p>
        </p:txBody>
      </p:sp>
      <p:sp>
        <p:nvSpPr>
          <p:cNvPr id="71683" name="Rectangle 8"/>
          <p:cNvSpPr>
            <a:spLocks noGrp="1" noRot="1" noChangeAspect="1" noMove="1" noResize="1" noEditPoints="1" noAdjustHandles="1" noChangeArrowheads="1" noChangeShapeType="1" noTextEdit="1"/>
          </p:cNvSpPr>
          <p:nvPr>
            <p:ph type="body" sz="half" idx="1"/>
          </p:nvPr>
        </p:nvSpPr>
        <p:spPr bwMode="auto">
          <a:xfrm>
            <a:off x="611188" y="1268413"/>
            <a:ext cx="8064500" cy="4972050"/>
          </a:xfrm>
          <a:blipFill>
            <a:blip r:embed="rId1"/>
            <a:stretch>
              <a:fillRect r="-454"/>
            </a:stretch>
          </a:blipFill>
          <a:ln/>
          <a:effectLst/>
          <a:scene3d>
            <a:camera prst="orthographicFront"/>
            <a:lightRig rig="balanced" dir="t"/>
          </a:scene3d>
          <a:sp3d prstMaterial="plastic"/>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noFill/>
                <a:effectLst/>
                <a:uLnTx/>
                <a:uFillTx/>
                <a:latin typeface="+mn-lt"/>
                <a:ea typeface="+mn-ea"/>
                <a:cs typeface="+mn-cs"/>
              </a:rPr>
              <a:t> </a:t>
            </a:r>
            <a:endParaRPr kumimoji="0" lang="zh-CN" altLang="en-US" sz="2800" b="1" i="0" u="none" strike="noStrike" kern="0" cap="none" spc="0" normalizeH="0" baseline="0" noProof="0">
              <a:ln>
                <a:noFill/>
              </a:ln>
              <a:noFill/>
              <a:effectLst/>
              <a:uLnTx/>
              <a:uFillTx/>
              <a:latin typeface="+mn-lt"/>
              <a:ea typeface="+mn-ea"/>
              <a:cs typeface="+mn-cs"/>
            </a:endParaRPr>
          </a:p>
        </p:txBody>
      </p:sp>
      <p:graphicFrame>
        <p:nvGraphicFramePr>
          <p:cNvPr id="49156" name="Object 9"/>
          <p:cNvGraphicFramePr>
            <a:graphicFrameLocks noChangeAspect="1"/>
          </p:cNvGraphicFramePr>
          <p:nvPr>
            <p:ph sz="quarter" idx="2"/>
          </p:nvPr>
        </p:nvGraphicFramePr>
        <p:xfrm>
          <a:off x="2000250" y="4929188"/>
          <a:ext cx="6000750" cy="1323975"/>
        </p:xfrm>
        <a:graphic>
          <a:graphicData uri="http://schemas.openxmlformats.org/presentationml/2006/ole">
            <mc:AlternateContent xmlns:mc="http://schemas.openxmlformats.org/markup-compatibility/2006">
              <mc:Choice xmlns:v="urn:schemas-microsoft-com:vml" Requires="v">
                <p:oleObj spid="_x0000_s3108" name="" r:id="rId2" imgW="2070100" imgH="457200" progId="Equation.DSMT4">
                  <p:embed/>
                </p:oleObj>
              </mc:Choice>
              <mc:Fallback>
                <p:oleObj name="" r:id="rId2" imgW="2070100" imgH="457200" progId="Equation.DSMT4">
                  <p:embed/>
                  <p:pic>
                    <p:nvPicPr>
                      <p:cNvPr id="0" name="图片 3107"/>
                      <p:cNvPicPr/>
                      <p:nvPr/>
                    </p:nvPicPr>
                    <p:blipFill>
                      <a:blip r:embed="rId3"/>
                      <a:srcRect/>
                      <a:stretch>
                        <a:fillRect/>
                      </a:stretch>
                    </p:blipFill>
                    <p:spPr>
                      <a:xfrm>
                        <a:off x="2000250" y="4929188"/>
                        <a:ext cx="6000750" cy="1323975"/>
                      </a:xfrm>
                      <a:prstGeom prst="rect">
                        <a:avLst/>
                      </a:prstGeom>
                      <a:solidFill>
                        <a:srgbClr val="EAEAEA">
                          <a:alpha val="100000"/>
                        </a:srgbClr>
                      </a:solidFill>
                      <a:ln w="38100">
                        <a:miter/>
                      </a:ln>
                    </p:spPr>
                  </p:pic>
                </p:oleObj>
              </mc:Fallback>
            </mc:AlternateContent>
          </a:graphicData>
        </a:graphic>
      </p:graphicFrame>
      <p:graphicFrame>
        <p:nvGraphicFramePr>
          <p:cNvPr id="49157" name="Object 11"/>
          <p:cNvGraphicFramePr>
            <a:graphicFrameLocks noChangeAspect="1"/>
          </p:cNvGraphicFramePr>
          <p:nvPr>
            <p:ph sz="quarter" idx="3"/>
          </p:nvPr>
        </p:nvGraphicFramePr>
        <p:xfrm>
          <a:off x="2500313" y="2428875"/>
          <a:ext cx="4895850" cy="711200"/>
        </p:xfrm>
        <a:graphic>
          <a:graphicData uri="http://schemas.openxmlformats.org/presentationml/2006/ole">
            <mc:AlternateContent xmlns:mc="http://schemas.openxmlformats.org/markup-compatibility/2006">
              <mc:Choice xmlns:v="urn:schemas-microsoft-com:vml" Requires="v">
                <p:oleObj spid="_x0000_s3109" name="" r:id="rId4" imgW="1574800" imgH="228600" progId="Equation.DSMT4">
                  <p:embed/>
                </p:oleObj>
              </mc:Choice>
              <mc:Fallback>
                <p:oleObj name="" r:id="rId4" imgW="1574800" imgH="228600" progId="Equation.DSMT4">
                  <p:embed/>
                  <p:pic>
                    <p:nvPicPr>
                      <p:cNvPr id="0" name="图片 3108"/>
                      <p:cNvPicPr/>
                      <p:nvPr/>
                    </p:nvPicPr>
                    <p:blipFill>
                      <a:blip r:embed="rId5"/>
                      <a:srcRect/>
                      <a:stretch>
                        <a:fillRect/>
                      </a:stretch>
                    </p:blipFill>
                    <p:spPr>
                      <a:xfrm>
                        <a:off x="2500313" y="2428875"/>
                        <a:ext cx="4895850" cy="711200"/>
                      </a:xfrm>
                      <a:prstGeom prst="rect">
                        <a:avLst/>
                      </a:prstGeom>
                      <a:solidFill>
                        <a:srgbClr val="EAEAEA">
                          <a:alpha val="100000"/>
                        </a:srgbClr>
                      </a:solidFill>
                      <a:ln w="38100">
                        <a:miter/>
                      </a:ln>
                    </p:spPr>
                  </p:pic>
                </p:oleObj>
              </mc:Fallback>
            </mc:AlternateContent>
          </a:graphicData>
        </a:graphic>
      </p:graphicFrame>
      <p:graphicFrame>
        <p:nvGraphicFramePr>
          <p:cNvPr id="49158" name="Object 5"/>
          <p:cNvGraphicFramePr>
            <a:graphicFrameLocks noChangeAspect="1"/>
          </p:cNvGraphicFramePr>
          <p:nvPr/>
        </p:nvGraphicFramePr>
        <p:xfrm>
          <a:off x="2643188" y="4157663"/>
          <a:ext cx="4113212" cy="561975"/>
        </p:xfrm>
        <a:graphic>
          <a:graphicData uri="http://schemas.openxmlformats.org/presentationml/2006/ole">
            <mc:AlternateContent xmlns:mc="http://schemas.openxmlformats.org/markup-compatibility/2006">
              <mc:Choice xmlns:v="urn:schemas-microsoft-com:vml" Requires="v">
                <p:oleObj spid="_x0000_s3105" name="" r:id="rId6" imgW="1739900" imgH="228600" progId="Equation.3">
                  <p:embed/>
                </p:oleObj>
              </mc:Choice>
              <mc:Fallback>
                <p:oleObj name="" r:id="rId6" imgW="1739900" imgH="228600" progId="Equation.3">
                  <p:embed/>
                  <p:pic>
                    <p:nvPicPr>
                      <p:cNvPr id="0" name="图片 3104"/>
                      <p:cNvPicPr/>
                      <p:nvPr/>
                    </p:nvPicPr>
                    <p:blipFill>
                      <a:blip r:embed="rId7"/>
                      <a:stretch>
                        <a:fillRect/>
                      </a:stretch>
                    </p:blipFill>
                    <p:spPr>
                      <a:xfrm>
                        <a:off x="2643188" y="4157663"/>
                        <a:ext cx="4113212" cy="561975"/>
                      </a:xfrm>
                      <a:prstGeom prst="rect">
                        <a:avLst/>
                      </a:prstGeom>
                      <a:solidFill>
                        <a:schemeClr val="bg1"/>
                      </a:solidFill>
                      <a:ln w="38100">
                        <a:noFill/>
                        <a:miter/>
                      </a:ln>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8" name="Rectangle 3"/>
          <p:cNvSpPr/>
          <p:nvPr/>
        </p:nvSpPr>
        <p:spPr>
          <a:xfrm>
            <a:off x="1403350" y="195263"/>
            <a:ext cx="7740650" cy="650875"/>
          </a:xfrm>
          <a:prstGeom prst="rect">
            <a:avLst/>
          </a:prstGeom>
          <a:noFill/>
          <a:ln w="9525">
            <a:noFill/>
          </a:ln>
        </p:spPr>
        <p:txBody>
          <a:bodyPr anchor="b" anchorCtr="0"/>
          <a:p>
            <a:pPr algn="ctr" eaLnBrk="1" hangingPunct="1"/>
            <a:r>
              <a:rPr lang="zh-CN" altLang="en-US" sz="3200" b="1" dirty="0">
                <a:solidFill>
                  <a:srgbClr val="FFFF00"/>
                </a:solidFill>
                <a:latin typeface="黑体" panose="02010609060101010101" pitchFamily="49" charset="-122"/>
                <a:ea typeface="黑体" panose="02010609060101010101" pitchFamily="49" charset="-122"/>
              </a:rPr>
              <a:t>（</a:t>
            </a:r>
            <a:r>
              <a:rPr lang="en-US" altLang="zh-CN" sz="3200" b="1" dirty="0">
                <a:solidFill>
                  <a:srgbClr val="FFFF00"/>
                </a:solidFill>
                <a:latin typeface="黑体" panose="02010609060101010101" pitchFamily="49" charset="-122"/>
                <a:ea typeface="黑体" panose="02010609060101010101" pitchFamily="49" charset="-122"/>
              </a:rPr>
              <a:t>5</a:t>
            </a:r>
            <a:r>
              <a:rPr lang="zh-CN" altLang="en-US" sz="3200" b="1" dirty="0">
                <a:solidFill>
                  <a:srgbClr val="FFFF00"/>
                </a:solidFill>
                <a:latin typeface="黑体" panose="02010609060101010101" pitchFamily="49" charset="-122"/>
                <a:ea typeface="黑体" panose="02010609060101010101" pitchFamily="49" charset="-122"/>
              </a:rPr>
              <a:t>）均匀混合气体吸收的光学厚度</a:t>
            </a:r>
            <a:endParaRPr lang="zh-CN" altLang="en-US" sz="3200" b="1" dirty="0">
              <a:solidFill>
                <a:srgbClr val="FFFF00"/>
              </a:solidFill>
              <a:latin typeface="黑体" panose="02010609060101010101" pitchFamily="49" charset="-122"/>
              <a:ea typeface="黑体" panose="02010609060101010101" pitchFamily="49" charset="-122"/>
            </a:endParaRPr>
          </a:p>
        </p:txBody>
      </p:sp>
      <p:graphicFrame>
        <p:nvGraphicFramePr>
          <p:cNvPr id="50179" name="Object 9"/>
          <p:cNvGraphicFramePr>
            <a:graphicFrameLocks noChangeAspect="1"/>
          </p:cNvGraphicFramePr>
          <p:nvPr>
            <p:ph sz="quarter" idx="3"/>
          </p:nvPr>
        </p:nvGraphicFramePr>
        <p:xfrm>
          <a:off x="1714500" y="3643313"/>
          <a:ext cx="5616575" cy="1374775"/>
        </p:xfrm>
        <a:graphic>
          <a:graphicData uri="http://schemas.openxmlformats.org/presentationml/2006/ole">
            <mc:AlternateContent xmlns:mc="http://schemas.openxmlformats.org/markup-compatibility/2006">
              <mc:Choice xmlns:v="urn:schemas-microsoft-com:vml" Requires="v">
                <p:oleObj spid="_x0000_s3103" name="" r:id="rId1" imgW="1866900" imgH="457200" progId="Equation.DSMT4">
                  <p:embed/>
                </p:oleObj>
              </mc:Choice>
              <mc:Fallback>
                <p:oleObj name="" r:id="rId1" imgW="1866900" imgH="457200" progId="Equation.DSMT4">
                  <p:embed/>
                  <p:pic>
                    <p:nvPicPr>
                      <p:cNvPr id="0" name="图片 3102"/>
                      <p:cNvPicPr/>
                      <p:nvPr/>
                    </p:nvPicPr>
                    <p:blipFill>
                      <a:blip r:embed="rId2"/>
                      <a:srcRect/>
                      <a:stretch>
                        <a:fillRect/>
                      </a:stretch>
                    </p:blipFill>
                    <p:spPr>
                      <a:xfrm>
                        <a:off x="1714500" y="3643313"/>
                        <a:ext cx="5616575" cy="1374775"/>
                      </a:xfrm>
                      <a:prstGeom prst="rect">
                        <a:avLst/>
                      </a:prstGeom>
                      <a:noFill/>
                      <a:ln w="38100">
                        <a:miter/>
                      </a:ln>
                    </p:spPr>
                  </p:pic>
                </p:oleObj>
              </mc:Fallback>
            </mc:AlternateContent>
          </a:graphicData>
        </a:graphic>
      </p:graphicFrame>
      <p:graphicFrame>
        <p:nvGraphicFramePr>
          <p:cNvPr id="50180" name="Object 3"/>
          <p:cNvGraphicFramePr>
            <a:graphicFrameLocks noChangeAspect="1"/>
          </p:cNvGraphicFramePr>
          <p:nvPr/>
        </p:nvGraphicFramePr>
        <p:xfrm>
          <a:off x="2786063" y="2143125"/>
          <a:ext cx="3500437" cy="584200"/>
        </p:xfrm>
        <a:graphic>
          <a:graphicData uri="http://schemas.openxmlformats.org/presentationml/2006/ole">
            <mc:AlternateContent xmlns:mc="http://schemas.openxmlformats.org/markup-compatibility/2006">
              <mc:Choice xmlns:v="urn:schemas-microsoft-com:vml" Requires="v">
                <p:oleObj spid="_x0000_s3104" name="" r:id="rId3" imgW="1422400" imgH="228600" progId="Equation.3">
                  <p:embed/>
                </p:oleObj>
              </mc:Choice>
              <mc:Fallback>
                <p:oleObj name="" r:id="rId3" imgW="1422400" imgH="228600" progId="Equation.3">
                  <p:embed/>
                  <p:pic>
                    <p:nvPicPr>
                      <p:cNvPr id="0" name="图片 3103"/>
                      <p:cNvPicPr/>
                      <p:nvPr/>
                    </p:nvPicPr>
                    <p:blipFill>
                      <a:blip r:embed="rId4"/>
                      <a:stretch>
                        <a:fillRect/>
                      </a:stretch>
                    </p:blipFill>
                    <p:spPr>
                      <a:xfrm>
                        <a:off x="2786063" y="2143125"/>
                        <a:ext cx="3500437" cy="584200"/>
                      </a:xfrm>
                      <a:prstGeom prst="rect">
                        <a:avLst/>
                      </a:prstGeom>
                      <a:noFill/>
                      <a:ln w="38100">
                        <a:noFill/>
                        <a:miter/>
                      </a:ln>
                    </p:spPr>
                  </p:pic>
                </p:oleObj>
              </mc:Fallback>
            </mc:AlternateContent>
          </a:graphicData>
        </a:graphic>
      </p:graphicFrame>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Rectangle 2"/>
          <p:cNvSpPr>
            <a:spLocks noGrp="1"/>
          </p:cNvSpPr>
          <p:nvPr>
            <p:ph type="title"/>
          </p:nvPr>
        </p:nvSpPr>
        <p:spPr>
          <a:xfrm>
            <a:off x="1441450" y="203200"/>
            <a:ext cx="7667625" cy="633413"/>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4.</a:t>
            </a:r>
            <a:r>
              <a:rPr lang="zh-CN" altLang="en-US" dirty="0">
                <a:solidFill>
                  <a:srgbClr val="FFFF00"/>
                </a:solidFill>
                <a:latin typeface="黑体" panose="02010609060101010101" pitchFamily="49" charset="-122"/>
                <a:ea typeface="黑体" panose="02010609060101010101" pitchFamily="49" charset="-122"/>
              </a:rPr>
              <a:t>地面太阳直接辐射光谱</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51203" name="Picture 6"/>
          <p:cNvPicPr>
            <a:picLocks noChangeAspect="1"/>
          </p:cNvPicPr>
          <p:nvPr/>
        </p:nvPicPr>
        <p:blipFill>
          <a:blip r:embed="rId1"/>
          <a:stretch>
            <a:fillRect/>
          </a:stretch>
        </p:blipFill>
        <p:spPr>
          <a:xfrm>
            <a:off x="762000" y="928688"/>
            <a:ext cx="7842250" cy="5929312"/>
          </a:xfrm>
          <a:prstGeom prst="rect">
            <a:avLst/>
          </a:prstGeom>
          <a:noFill/>
          <a:ln w="9525">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6" name="TextBox 1"/>
          <p:cNvSpPr txBox="1"/>
          <p:nvPr/>
        </p:nvSpPr>
        <p:spPr>
          <a:xfrm>
            <a:off x="323850" y="6165850"/>
            <a:ext cx="8640763" cy="368300"/>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52227" name="Rectangle 2"/>
          <p:cNvSpPr>
            <a:spLocks noGrp="1"/>
          </p:cNvSpPr>
          <p:nvPr>
            <p:ph type="title"/>
          </p:nvPr>
        </p:nvSpPr>
        <p:spPr>
          <a:xfrm>
            <a:off x="1403350" y="0"/>
            <a:ext cx="7740650" cy="1143000"/>
          </a:xfrm>
          <a:ln/>
        </p:spPr>
        <p:txBody>
          <a:bodyPr vert="horz" wrap="square" lIns="91440" tIns="45720" rIns="91440" bIns="45720" anchor="ctr" anchorCtr="0"/>
          <a:p>
            <a:pPr algn="ctr"/>
            <a:r>
              <a:rPr lang="en-US" altLang="zh-CN" dirty="0">
                <a:solidFill>
                  <a:srgbClr val="FFFF00"/>
                </a:solidFill>
                <a:latin typeface="黑体" panose="02010609060101010101" pitchFamily="49" charset="-122"/>
                <a:ea typeface="黑体" panose="02010609060101010101" pitchFamily="49" charset="-122"/>
              </a:rPr>
              <a:t>5. </a:t>
            </a:r>
            <a:r>
              <a:rPr lang="zh-CN" altLang="en-US" dirty="0">
                <a:solidFill>
                  <a:srgbClr val="FFFF00"/>
                </a:solidFill>
                <a:latin typeface="黑体" panose="02010609060101010101" pitchFamily="49" charset="-122"/>
                <a:ea typeface="黑体" panose="02010609060101010101" pitchFamily="49" charset="-122"/>
              </a:rPr>
              <a:t>大气上界太阳光谱的地面测量</a:t>
            </a:r>
            <a:r>
              <a:rPr lang="en-US" altLang="zh-CN" dirty="0">
                <a:solidFill>
                  <a:srgbClr val="FFFF00"/>
                </a:solidFill>
                <a:latin typeface="黑体" panose="02010609060101010101" pitchFamily="49" charset="-122"/>
                <a:ea typeface="黑体" panose="02010609060101010101" pitchFamily="49" charset="-122"/>
              </a:rPr>
              <a:t>-</a:t>
            </a:r>
            <a:r>
              <a:rPr lang="zh-CN" altLang="en-US" dirty="0">
                <a:solidFill>
                  <a:srgbClr val="FF0000"/>
                </a:solidFill>
                <a:latin typeface="黑体" panose="02010609060101010101" pitchFamily="49" charset="-122"/>
                <a:ea typeface="黑体" panose="02010609060101010101" pitchFamily="49" charset="-122"/>
              </a:rPr>
              <a:t>长法</a:t>
            </a:r>
            <a:endParaRPr lang="zh-CN" altLang="en-US" dirty="0">
              <a:solidFill>
                <a:srgbClr val="FF0000"/>
              </a:solidFill>
              <a:latin typeface="黑体" panose="02010609060101010101" pitchFamily="49" charset="-122"/>
              <a:ea typeface="黑体" panose="02010609060101010101" pitchFamily="49" charset="-122"/>
            </a:endParaRPr>
          </a:p>
        </p:txBody>
      </p:sp>
      <p:sp>
        <p:nvSpPr>
          <p:cNvPr id="19463" name="Rectangle 6"/>
          <p:cNvSpPr>
            <a:spLocks noGrp="1" noChangeArrowheads="1"/>
          </p:cNvSpPr>
          <p:nvPr>
            <p:ph type="body" sz="half" idx="1"/>
          </p:nvPr>
        </p:nvSpPr>
        <p:spPr>
          <a:xfrm>
            <a:off x="323850" y="1196975"/>
            <a:ext cx="8928100" cy="5661025"/>
          </a:xfrm>
        </p:spPr>
        <p:txBody>
          <a:bodyPr vert="horz" wrap="square" lIns="91440" tIns="45720" rIns="91440" bIns="45720" numCol="1" anchor="t" anchorCtr="0" compatLnSpc="1"/>
          <a:lstStyle/>
          <a:p>
            <a:pPr marL="0" marR="0" lvl="1" indent="539750" algn="l" defTabSz="914400" rtl="0" eaLnBrk="0" fontAlgn="base" latinLnBrk="0" hangingPunct="0">
              <a:lnSpc>
                <a:spcPct val="130000"/>
              </a:lnSpc>
              <a:spcBef>
                <a:spcPct val="20000"/>
              </a:spcBef>
              <a:spcAft>
                <a:spcPct val="0"/>
              </a:spcAft>
              <a:buClr>
                <a:schemeClr val="accent1"/>
              </a:buClr>
              <a:buSzTx/>
              <a:buFontTx/>
              <a:buNone/>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如果在一段时间大气的光学特性</a:t>
            </a:r>
            <a:r>
              <a:rPr kumimoji="0" lang="en-US" altLang="zh-CN"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a:t>
            </a:r>
            <a:r>
              <a:rPr kumimoji="0" lang="zh-CN" altLang="en-US" sz="2400" b="1" i="1"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Symbol" panose="05050102010706020507" pitchFamily="18" charset="2"/>
              </a:rPr>
              <a:t></a:t>
            </a:r>
            <a:r>
              <a:rPr kumimoji="0" lang="zh-CN" altLang="en-US" sz="2400" b="1" i="1" u="none" strike="noStrike" kern="0" cap="none" spc="0" normalizeH="0" baseline="-25000" noProof="0" dirty="0">
                <a:ln>
                  <a:noFill/>
                </a:ln>
                <a:solidFill>
                  <a:schemeClr val="tx1"/>
                </a:solidFill>
                <a:effectLst/>
                <a:uLnTx/>
                <a:uFillTx/>
                <a:latin typeface="华文细黑" panose="02010600040101010101" pitchFamily="2" charset="-122"/>
                <a:ea typeface="华文细黑" panose="02010600040101010101" pitchFamily="2" charset="-122"/>
                <a:sym typeface="Symbol" panose="05050102010706020507" pitchFamily="18" charset="2"/>
              </a:rPr>
              <a:t></a:t>
            </a:r>
            <a:r>
              <a:rPr kumimoji="0" lang="en-US" altLang="zh-CN"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sym typeface="Symbol" panose="05050102010706020507" pitchFamily="18" charset="2"/>
              </a:rPr>
              <a:t>)</a:t>
            </a: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不变，则地面所测太阳直接辐射光谱仅随</a:t>
            </a:r>
            <a:r>
              <a:rPr kumimoji="0" lang="en-US" altLang="zh-CN" sz="2400" b="1" i="1"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m</a:t>
            </a:r>
            <a:r>
              <a:rPr kumimoji="0" lang="en-US" altLang="zh-CN"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 </a:t>
            </a: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变化。</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342900" marR="0" lvl="0" indent="-342900" algn="l" defTabSz="914400" rtl="0" eaLnBrk="0" fontAlgn="base" latinLnBrk="0" hangingPunct="0">
              <a:lnSpc>
                <a:spcPct val="9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90000"/>
              </a:lnSpc>
              <a:spcBef>
                <a:spcPct val="20000"/>
              </a:spcBef>
              <a:spcAft>
                <a:spcPct val="0"/>
              </a:spcAft>
              <a:buClr>
                <a:schemeClr val="accent1"/>
              </a:buClr>
              <a:buSzTx/>
              <a:buFont typeface="Wingdings" panose="05000000000000000000" pitchFamily="2" charset="2"/>
              <a:buChar char="§"/>
              <a:defRPr/>
            </a:pPr>
            <a:endParaRPr kumimoji="0" lang="zh-CN" altLang="en-US"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120000"/>
              </a:lnSpc>
              <a:spcBef>
                <a:spcPct val="0"/>
              </a:spcBef>
              <a:spcAft>
                <a:spcPct val="0"/>
              </a:spcAft>
              <a:buClr>
                <a:schemeClr val="accent1"/>
              </a:buClr>
              <a:buSzTx/>
              <a:buFontTx/>
              <a:buNone/>
              <a:defRPr/>
            </a:pPr>
            <a:endParaRPr kumimoji="0" lang="en-US" altLang="zh-CN" sz="2400" b="1" i="0" u="none" strike="noStrike" kern="0" cap="none" spc="0" normalizeH="0" baseline="0" noProof="0" dirty="0">
              <a:ln>
                <a:noFill/>
              </a:ln>
              <a:solidFill>
                <a:schemeClr val="tx1"/>
              </a:solidFill>
              <a:effectLst/>
              <a:uLnTx/>
              <a:uFillTx/>
              <a:latin typeface="Arial" panose="020B0604020202020204" pitchFamily="34" charset="0"/>
              <a:ea typeface="宋体" panose="02010600030101010101" pitchFamily="2" charset="-122"/>
            </a:endParaRPr>
          </a:p>
          <a:p>
            <a:pPr marL="742950" marR="0" lvl="1" indent="-285750" algn="l" defTabSz="914400" rtl="0" eaLnBrk="0" fontAlgn="base" latinLnBrk="0" hangingPunct="0">
              <a:lnSpc>
                <a:spcPct val="120000"/>
              </a:lnSpc>
              <a:spcBef>
                <a:spcPct val="0"/>
              </a:spcBef>
              <a:spcAft>
                <a:spcPct val="0"/>
              </a:spcAft>
              <a:buClr>
                <a:schemeClr val="accent1"/>
              </a:buClr>
              <a:buSzTx/>
              <a:buFontTx/>
              <a:buNone/>
              <a:defRPr/>
            </a:pPr>
            <a:endParaRPr kumimoji="0" lang="en-US" altLang="zh-CN" sz="2400" b="1" i="0" u="none" strike="noStrike" kern="0" cap="none" spc="0" normalizeH="0" baseline="0" noProof="0" dirty="0">
              <a:ln>
                <a:noFill/>
              </a:ln>
              <a:solidFill>
                <a:srgbClr val="FF0000"/>
              </a:solidFill>
              <a:effectLst/>
              <a:uLnTx/>
              <a:uFillTx/>
              <a:latin typeface="Arial" panose="020B0604020202020204" pitchFamily="34" charset="0"/>
              <a:ea typeface="宋体" panose="02010600030101010101" pitchFamily="2" charset="-122"/>
            </a:endParaRPr>
          </a:p>
          <a:p>
            <a:pPr marL="179705" marR="0" lvl="1" indent="-285750" algn="l" defTabSz="914400" rtl="0" eaLnBrk="0" fontAlgn="base" latinLnBrk="0" hangingPunct="0">
              <a:lnSpc>
                <a:spcPct val="120000"/>
              </a:lnSpc>
              <a:spcBef>
                <a:spcPct val="0"/>
              </a:spcBef>
              <a:spcAft>
                <a:spcPct val="0"/>
              </a:spcAft>
              <a:buClr>
                <a:schemeClr val="accent1"/>
              </a:buClr>
              <a:buSzTx/>
              <a:buFontTx/>
              <a:buNone/>
              <a:defRPr/>
            </a:pPr>
            <a:r>
              <a:rPr kumimoji="0" lang="zh-CN" altLang="en-US" sz="22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rPr>
              <a:t>局限性：</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需花费较长时间进行观测，以保证</a:t>
            </a:r>
            <a:r>
              <a:rPr kumimoji="0" lang="en-US" altLang="zh-CN"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m</a:t>
            </a: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有相当大的变化范围；</a:t>
            </a:r>
            <a:endPar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20000"/>
              </a:lnSpc>
              <a:spcBef>
                <a:spcPct val="0"/>
              </a:spcBef>
              <a:spcAft>
                <a:spcPct val="0"/>
              </a:spcAft>
              <a:buClr>
                <a:schemeClr val="accent1"/>
              </a:buClr>
              <a:buSzTx/>
              <a:buFontTx/>
              <a:buNone/>
              <a:defRPr/>
            </a:pPr>
            <a:r>
              <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必须选择晴朗稳定的天气条件；紫外、红外观测不全，需补足。</a:t>
            </a:r>
            <a:endParaRPr kumimoji="0" lang="zh-CN" altLang="en-US" sz="22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p:txBody>
      </p:sp>
      <p:graphicFrame>
        <p:nvGraphicFramePr>
          <p:cNvPr id="52229" name="Object 7"/>
          <p:cNvGraphicFramePr>
            <a:graphicFrameLocks noChangeAspect="1"/>
          </p:cNvGraphicFramePr>
          <p:nvPr>
            <p:ph sz="quarter" idx="2"/>
          </p:nvPr>
        </p:nvGraphicFramePr>
        <p:xfrm>
          <a:off x="395288" y="2392363"/>
          <a:ext cx="4608512" cy="688975"/>
        </p:xfrm>
        <a:graphic>
          <a:graphicData uri="http://schemas.openxmlformats.org/presentationml/2006/ole">
            <mc:AlternateContent xmlns:mc="http://schemas.openxmlformats.org/markup-compatibility/2006">
              <mc:Choice xmlns:v="urn:schemas-microsoft-com:vml" Requires="v">
                <p:oleObj spid="_x0000_s3110" name="" r:id="rId1" imgW="1612900" imgH="241300" progId="Equation.DSMT4">
                  <p:embed/>
                </p:oleObj>
              </mc:Choice>
              <mc:Fallback>
                <p:oleObj name="" r:id="rId1" imgW="1612900" imgH="241300" progId="Equation.DSMT4">
                  <p:embed/>
                  <p:pic>
                    <p:nvPicPr>
                      <p:cNvPr id="0" name="图片 3109"/>
                      <p:cNvPicPr/>
                      <p:nvPr/>
                    </p:nvPicPr>
                    <p:blipFill>
                      <a:blip r:embed="rId2"/>
                      <a:srcRect/>
                      <a:stretch>
                        <a:fillRect/>
                      </a:stretch>
                    </p:blipFill>
                    <p:spPr>
                      <a:xfrm>
                        <a:off x="395288" y="2392363"/>
                        <a:ext cx="4608512" cy="688975"/>
                      </a:xfrm>
                      <a:prstGeom prst="rect">
                        <a:avLst/>
                      </a:prstGeom>
                      <a:noFill/>
                      <a:ln w="38100">
                        <a:miter/>
                      </a:ln>
                    </p:spPr>
                  </p:pic>
                </p:oleObj>
              </mc:Fallback>
            </mc:AlternateContent>
          </a:graphicData>
        </a:graphic>
      </p:graphicFrame>
      <p:graphicFrame>
        <p:nvGraphicFramePr>
          <p:cNvPr id="52230" name="Object 9"/>
          <p:cNvGraphicFramePr>
            <a:graphicFrameLocks noChangeAspect="1"/>
          </p:cNvGraphicFramePr>
          <p:nvPr>
            <p:ph sz="quarter" idx="3"/>
          </p:nvPr>
        </p:nvGraphicFramePr>
        <p:xfrm>
          <a:off x="395288" y="3286125"/>
          <a:ext cx="4464050" cy="719138"/>
        </p:xfrm>
        <a:graphic>
          <a:graphicData uri="http://schemas.openxmlformats.org/presentationml/2006/ole">
            <mc:AlternateContent xmlns:mc="http://schemas.openxmlformats.org/markup-compatibility/2006">
              <mc:Choice xmlns:v="urn:schemas-microsoft-com:vml" Requires="v">
                <p:oleObj spid="_x0000_s3106" name="" r:id="rId3" imgW="1574800" imgH="254000" progId="Equation.DSMT4">
                  <p:embed/>
                </p:oleObj>
              </mc:Choice>
              <mc:Fallback>
                <p:oleObj name="" r:id="rId3" imgW="1574800" imgH="254000" progId="Equation.DSMT4">
                  <p:embed/>
                  <p:pic>
                    <p:nvPicPr>
                      <p:cNvPr id="0" name="图片 3105"/>
                      <p:cNvPicPr/>
                      <p:nvPr/>
                    </p:nvPicPr>
                    <p:blipFill>
                      <a:blip r:embed="rId4"/>
                      <a:srcRect/>
                      <a:stretch>
                        <a:fillRect/>
                      </a:stretch>
                    </p:blipFill>
                    <p:spPr>
                      <a:xfrm>
                        <a:off x="395288" y="3286125"/>
                        <a:ext cx="4464050" cy="719138"/>
                      </a:xfrm>
                      <a:prstGeom prst="rect">
                        <a:avLst/>
                      </a:prstGeom>
                      <a:noFill/>
                      <a:ln w="38100">
                        <a:miter/>
                      </a:ln>
                    </p:spPr>
                  </p:pic>
                </p:oleObj>
              </mc:Fallback>
            </mc:AlternateContent>
          </a:graphicData>
        </a:graphic>
      </p:graphicFrame>
      <p:graphicFrame>
        <p:nvGraphicFramePr>
          <p:cNvPr id="52231" name="Object 11"/>
          <p:cNvGraphicFramePr>
            <a:graphicFrameLocks noChangeAspect="1"/>
          </p:cNvGraphicFramePr>
          <p:nvPr/>
        </p:nvGraphicFramePr>
        <p:xfrm>
          <a:off x="1196975" y="5053013"/>
          <a:ext cx="2079625" cy="608012"/>
        </p:xfrm>
        <a:graphic>
          <a:graphicData uri="http://schemas.openxmlformats.org/presentationml/2006/ole">
            <mc:AlternateContent xmlns:mc="http://schemas.openxmlformats.org/markup-compatibility/2006">
              <mc:Choice xmlns:v="urn:schemas-microsoft-com:vml" Requires="v">
                <p:oleObj spid="_x0000_s3107" name="" r:id="rId5" imgW="685800" imgH="203200" progId="Equation.DSMT4">
                  <p:embed/>
                </p:oleObj>
              </mc:Choice>
              <mc:Fallback>
                <p:oleObj name="" r:id="rId5" imgW="685800" imgH="203200" progId="Equation.DSMT4">
                  <p:embed/>
                  <p:pic>
                    <p:nvPicPr>
                      <p:cNvPr id="0" name="图片 3106"/>
                      <p:cNvPicPr/>
                      <p:nvPr/>
                    </p:nvPicPr>
                    <p:blipFill>
                      <a:blip r:embed="rId6"/>
                      <a:stretch>
                        <a:fillRect/>
                      </a:stretch>
                    </p:blipFill>
                    <p:spPr>
                      <a:xfrm>
                        <a:off x="1196975" y="5053013"/>
                        <a:ext cx="2079625" cy="608012"/>
                      </a:xfrm>
                      <a:prstGeom prst="rect">
                        <a:avLst/>
                      </a:prstGeom>
                      <a:noFill/>
                      <a:ln w="38100">
                        <a:noFill/>
                        <a:miter/>
                      </a:ln>
                    </p:spPr>
                  </p:pic>
                </p:oleObj>
              </mc:Fallback>
            </mc:AlternateContent>
          </a:graphicData>
        </a:graphic>
      </p:graphicFrame>
      <p:pic>
        <p:nvPicPr>
          <p:cNvPr id="52232" name="Picture 12"/>
          <p:cNvPicPr>
            <a:picLocks noChangeAspect="1"/>
          </p:cNvPicPr>
          <p:nvPr/>
        </p:nvPicPr>
        <p:blipFill>
          <a:blip r:embed="rId7"/>
          <a:stretch>
            <a:fillRect/>
          </a:stretch>
        </p:blipFill>
        <p:spPr>
          <a:xfrm>
            <a:off x="4953000" y="1857375"/>
            <a:ext cx="4191000" cy="3981450"/>
          </a:xfrm>
          <a:prstGeom prst="rect">
            <a:avLst/>
          </a:prstGeom>
          <a:noFill/>
          <a:ln w="9525">
            <a:noFill/>
          </a:ln>
        </p:spPr>
      </p:pic>
      <p:graphicFrame>
        <p:nvGraphicFramePr>
          <p:cNvPr id="52233" name="对象 2"/>
          <p:cNvGraphicFramePr>
            <a:graphicFrameLocks noChangeAspect="1"/>
          </p:cNvGraphicFramePr>
          <p:nvPr/>
        </p:nvGraphicFramePr>
        <p:xfrm>
          <a:off x="300038" y="4149725"/>
          <a:ext cx="4848225" cy="619125"/>
        </p:xfrm>
        <a:graphic>
          <a:graphicData uri="http://schemas.openxmlformats.org/presentationml/2006/ole">
            <mc:AlternateContent xmlns:mc="http://schemas.openxmlformats.org/markup-compatibility/2006">
              <mc:Choice xmlns:v="urn:schemas-microsoft-com:vml" Requires="v">
                <p:oleObj spid="_x0000_s3111" name="" r:id="rId8" imgW="2654300" imgH="254000" progId="Equation.DSMT4">
                  <p:embed/>
                </p:oleObj>
              </mc:Choice>
              <mc:Fallback>
                <p:oleObj name="" r:id="rId8" imgW="2654300" imgH="254000" progId="Equation.DSMT4">
                  <p:embed/>
                  <p:pic>
                    <p:nvPicPr>
                      <p:cNvPr id="0" name="图片 3110"/>
                      <p:cNvPicPr/>
                      <p:nvPr/>
                    </p:nvPicPr>
                    <p:blipFill>
                      <a:blip r:embed="rId9"/>
                      <a:stretch>
                        <a:fillRect/>
                      </a:stretch>
                    </p:blipFill>
                    <p:spPr>
                      <a:xfrm>
                        <a:off x="300038" y="4149725"/>
                        <a:ext cx="4848225" cy="619125"/>
                      </a:xfrm>
                      <a:prstGeom prst="rect">
                        <a:avLst/>
                      </a:prstGeom>
                      <a:noFill/>
                      <a:ln w="38100">
                        <a:noFill/>
                        <a:miter/>
                      </a:ln>
                    </p:spPr>
                  </p:pic>
                </p:oleObj>
              </mc:Fallback>
            </mc:AlternateContent>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3250" name="Rectangle 4"/>
          <p:cNvSpPr>
            <a:spLocks noGrp="1"/>
          </p:cNvSpPr>
          <p:nvPr>
            <p:ph type="title"/>
          </p:nvPr>
        </p:nvSpPr>
        <p:spPr>
          <a:xfrm>
            <a:off x="1403350" y="76200"/>
            <a:ext cx="7740650" cy="762000"/>
          </a:xfrm>
          <a:ln/>
        </p:spPr>
        <p:txBody>
          <a:bodyPr vert="horz" wrap="square" lIns="91440" tIns="45720" rIns="91440" bIns="45720" anchor="b" anchorCtr="0"/>
          <a:p>
            <a:pPr algn="ctr"/>
            <a:r>
              <a:rPr lang="en-US" altLang="zh-CN" sz="3600" dirty="0">
                <a:solidFill>
                  <a:srgbClr val="FFFF00"/>
                </a:solidFill>
                <a:latin typeface="黑体" panose="02010609060101010101" pitchFamily="49" charset="-122"/>
                <a:ea typeface="黑体" panose="02010609060101010101" pitchFamily="49" charset="-122"/>
              </a:rPr>
              <a:t>5.4.4 </a:t>
            </a:r>
            <a:r>
              <a:rPr lang="zh-CN" altLang="en-US" sz="3600" dirty="0">
                <a:solidFill>
                  <a:srgbClr val="FFFF00"/>
                </a:solidFill>
                <a:latin typeface="黑体" panose="02010609060101010101" pitchFamily="49" charset="-122"/>
                <a:ea typeface="黑体" panose="02010609060101010101" pitchFamily="49" charset="-122"/>
              </a:rPr>
              <a:t>天空的散射辐射</a:t>
            </a:r>
            <a:endParaRPr lang="zh-CN" altLang="en-US" sz="3600" dirty="0">
              <a:solidFill>
                <a:srgbClr val="FFFF00"/>
              </a:solidFill>
              <a:latin typeface="黑体" panose="02010609060101010101" pitchFamily="49" charset="-122"/>
              <a:ea typeface="黑体" panose="02010609060101010101" pitchFamily="49" charset="-122"/>
            </a:endParaRPr>
          </a:p>
        </p:txBody>
      </p:sp>
      <p:sp>
        <p:nvSpPr>
          <p:cNvPr id="53251" name="Rectangle 3"/>
          <p:cNvSpPr txBox="1"/>
          <p:nvPr/>
        </p:nvSpPr>
        <p:spPr>
          <a:xfrm>
            <a:off x="827088" y="1844675"/>
            <a:ext cx="8066087" cy="4525963"/>
          </a:xfrm>
          <a:prstGeom prst="rect">
            <a:avLst/>
          </a:prstGeom>
          <a:noFill/>
          <a:ln w="9525">
            <a:noFill/>
          </a:ln>
        </p:spPr>
        <p:txBody>
          <a:bodyPr/>
          <a:p>
            <a:pPr eaLnBrk="1" hangingPunct="1">
              <a:lnSpc>
                <a:spcPct val="150000"/>
              </a:lnSpc>
              <a:spcBef>
                <a:spcPct val="20000"/>
              </a:spcBef>
              <a:buClr>
                <a:schemeClr val="hlink"/>
              </a:buClr>
              <a:buSzPct val="70000"/>
              <a:buFont typeface="Wingdings" panose="05000000000000000000" pitchFamily="2" charset="2"/>
            </a:pPr>
            <a:r>
              <a:rPr lang="zh-CN" altLang="en-US" sz="3200" b="1" dirty="0">
                <a:latin typeface="黑体" panose="02010609060101010101" pitchFamily="49" charset="-122"/>
                <a:ea typeface="黑体" panose="02010609060101010101" pitchFamily="49" charset="-122"/>
              </a:rPr>
              <a:t>无论是晴朗无云或全天是云的白昼，天空总是明亮的。这些光是空气分子和大气气溶胶颗粒散射太阳辐射的结果。</a:t>
            </a:r>
            <a:endParaRPr lang="en-US" altLang="zh-CN" sz="3200" b="1" dirty="0">
              <a:latin typeface="黑体" panose="02010609060101010101" pitchFamily="49" charset="-122"/>
              <a:ea typeface="黑体" panose="02010609060101010101" pitchFamily="49" charset="-12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4" name="TextBox 1"/>
          <p:cNvSpPr txBox="1"/>
          <p:nvPr/>
        </p:nvSpPr>
        <p:spPr>
          <a:xfrm>
            <a:off x="250825" y="6300788"/>
            <a:ext cx="8713788" cy="368300"/>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pic>
        <p:nvPicPr>
          <p:cNvPr id="54275" name="Picture 2"/>
          <p:cNvPicPr>
            <a:picLocks noChangeAspect="1"/>
          </p:cNvPicPr>
          <p:nvPr/>
        </p:nvPicPr>
        <p:blipFill>
          <a:blip r:embed="rId1"/>
          <a:stretch>
            <a:fillRect/>
          </a:stretch>
        </p:blipFill>
        <p:spPr>
          <a:xfrm>
            <a:off x="2484438" y="1412875"/>
            <a:ext cx="6480175" cy="5338763"/>
          </a:xfrm>
          <a:prstGeom prst="rect">
            <a:avLst/>
          </a:prstGeom>
          <a:noFill/>
          <a:ln w="9525">
            <a:noFill/>
          </a:ln>
        </p:spPr>
      </p:pic>
      <p:sp>
        <p:nvSpPr>
          <p:cNvPr id="54276" name="Rectangle 3"/>
          <p:cNvSpPr>
            <a:spLocks noGrp="1"/>
          </p:cNvSpPr>
          <p:nvPr>
            <p:ph idx="1"/>
          </p:nvPr>
        </p:nvSpPr>
        <p:spPr>
          <a:xfrm>
            <a:off x="476250" y="1412875"/>
            <a:ext cx="3232150" cy="647700"/>
          </a:xfrm>
          <a:ln/>
        </p:spPr>
        <p:txBody>
          <a:bodyPr vert="horz" wrap="square" lIns="91440" tIns="45720" rIns="91440" bIns="45720" anchor="t" anchorCtr="0"/>
          <a:p>
            <a:pPr>
              <a:spcBef>
                <a:spcPct val="25000"/>
              </a:spcBef>
              <a:spcAft>
                <a:spcPct val="25000"/>
              </a:spcAft>
              <a:buFontTx/>
              <a:buNone/>
            </a:pPr>
            <a:r>
              <a:rPr lang="en-US" altLang="zh-CN" sz="3200" dirty="0">
                <a:latin typeface="华文细黑" panose="02010600040101010101" pitchFamily="2" charset="-122"/>
                <a:ea typeface="华文细黑" panose="02010600040101010101" pitchFamily="2" charset="-122"/>
              </a:rPr>
              <a:t>1. </a:t>
            </a:r>
            <a:r>
              <a:rPr lang="zh-CN" altLang="en-US" sz="3200" dirty="0">
                <a:latin typeface="华文细黑" panose="02010600040101010101" pitchFamily="2" charset="-122"/>
                <a:ea typeface="华文细黑" panose="02010600040101010101" pitchFamily="2" charset="-122"/>
              </a:rPr>
              <a:t>空气分子散射</a:t>
            </a:r>
            <a:endParaRPr lang="zh-CN" altLang="en-US" sz="3200" dirty="0">
              <a:latin typeface="华文细黑" panose="02010600040101010101" pitchFamily="2" charset="-122"/>
              <a:ea typeface="华文细黑" panose="02010600040101010101" pitchFamily="2" charset="-122"/>
            </a:endParaRPr>
          </a:p>
          <a:p>
            <a:pPr lvl="1">
              <a:spcBef>
                <a:spcPct val="25000"/>
              </a:spcBef>
              <a:spcAft>
                <a:spcPct val="25000"/>
              </a:spcAft>
              <a:buFontTx/>
              <a:buNone/>
            </a:pPr>
            <a:endParaRPr lang="en-US" altLang="zh-CN" sz="3200" dirty="0">
              <a:latin typeface="Times New Roman" panose="02020603050405020304" pitchFamily="18" charset="0"/>
              <a:ea typeface="宋体" panose="02010600030101010101" pitchFamily="2" charset="-122"/>
            </a:endParaRPr>
          </a:p>
        </p:txBody>
      </p:sp>
      <p:sp>
        <p:nvSpPr>
          <p:cNvPr id="54277" name="Rectangle 4"/>
          <p:cNvSpPr>
            <a:spLocks noGrp="1"/>
          </p:cNvSpPr>
          <p:nvPr>
            <p:ph type="title"/>
          </p:nvPr>
        </p:nvSpPr>
        <p:spPr>
          <a:xfrm>
            <a:off x="1403350" y="76200"/>
            <a:ext cx="7740650" cy="762000"/>
          </a:xfrm>
          <a:ln/>
        </p:spPr>
        <p:txBody>
          <a:bodyPr vert="horz" wrap="square" lIns="91440" tIns="45720" rIns="91440" bIns="45720" anchor="b" anchorCtr="0"/>
          <a:p>
            <a:pPr algn="ctr"/>
            <a:r>
              <a:rPr lang="en-US" altLang="zh-CN" sz="3600" dirty="0">
                <a:solidFill>
                  <a:srgbClr val="FFFF00"/>
                </a:solidFill>
                <a:latin typeface="黑体" panose="02010609060101010101" pitchFamily="49" charset="-122"/>
                <a:ea typeface="黑体" panose="02010609060101010101" pitchFamily="49" charset="-122"/>
              </a:rPr>
              <a:t>5.4.4 </a:t>
            </a:r>
            <a:r>
              <a:rPr lang="zh-CN" altLang="en-US" sz="3600" dirty="0">
                <a:solidFill>
                  <a:srgbClr val="FFFF00"/>
                </a:solidFill>
                <a:latin typeface="黑体" panose="02010609060101010101" pitchFamily="49" charset="-122"/>
                <a:ea typeface="黑体" panose="02010609060101010101" pitchFamily="49" charset="-122"/>
              </a:rPr>
              <a:t>天空的散射辐射</a:t>
            </a:r>
            <a:endParaRPr lang="zh-CN" altLang="en-US" sz="36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8" name="Rectangle 4"/>
          <p:cNvSpPr>
            <a:spLocks noGrp="1"/>
          </p:cNvSpPr>
          <p:nvPr>
            <p:ph type="title"/>
          </p:nvPr>
        </p:nvSpPr>
        <p:spPr>
          <a:xfrm>
            <a:off x="1403350" y="76200"/>
            <a:ext cx="7740650" cy="762000"/>
          </a:xfrm>
          <a:ln/>
        </p:spPr>
        <p:txBody>
          <a:bodyPr vert="horz" wrap="square" lIns="91440" tIns="45720" rIns="91440" bIns="45720" anchor="b" anchorCtr="0"/>
          <a:p>
            <a:pPr algn="ctr"/>
            <a:r>
              <a:rPr lang="en-US" altLang="zh-CN" sz="3600" dirty="0">
                <a:solidFill>
                  <a:srgbClr val="FFFF00"/>
                </a:solidFill>
                <a:latin typeface="黑体" panose="02010609060101010101" pitchFamily="49" charset="-122"/>
                <a:ea typeface="黑体" panose="02010609060101010101" pitchFamily="49" charset="-122"/>
              </a:rPr>
              <a:t>5.4.4 </a:t>
            </a:r>
            <a:r>
              <a:rPr lang="zh-CN" altLang="en-US" sz="3600" dirty="0">
                <a:solidFill>
                  <a:srgbClr val="FFFF00"/>
                </a:solidFill>
                <a:latin typeface="黑体" panose="02010609060101010101" pitchFamily="49" charset="-122"/>
                <a:ea typeface="黑体" panose="02010609060101010101" pitchFamily="49" charset="-122"/>
              </a:rPr>
              <a:t>天空的散射辐射</a:t>
            </a:r>
            <a:endParaRPr lang="zh-CN" altLang="en-US" sz="3600" dirty="0">
              <a:solidFill>
                <a:srgbClr val="FFFF00"/>
              </a:solidFill>
              <a:latin typeface="黑体" panose="02010609060101010101" pitchFamily="49" charset="-122"/>
              <a:ea typeface="黑体" panose="02010609060101010101" pitchFamily="49" charset="-122"/>
            </a:endParaRPr>
          </a:p>
        </p:txBody>
      </p:sp>
      <p:sp>
        <p:nvSpPr>
          <p:cNvPr id="55299" name="Rectangle 2"/>
          <p:cNvSpPr txBox="1"/>
          <p:nvPr/>
        </p:nvSpPr>
        <p:spPr>
          <a:xfrm>
            <a:off x="404813" y="1412875"/>
            <a:ext cx="8488362" cy="863600"/>
          </a:xfrm>
          <a:prstGeom prst="rect">
            <a:avLst/>
          </a:prstGeom>
          <a:noFill/>
          <a:ln w="9525">
            <a:noFill/>
          </a:ln>
        </p:spPr>
        <p:txBody>
          <a:bodyPr/>
          <a:p>
            <a:pPr marL="342900" indent="-342900">
              <a:spcBef>
                <a:spcPct val="25000"/>
              </a:spcBef>
              <a:spcAft>
                <a:spcPct val="25000"/>
              </a:spcAft>
              <a:buClr>
                <a:schemeClr val="hlink"/>
              </a:buClr>
            </a:pPr>
            <a:r>
              <a:rPr lang="en-US" altLang="zh-CN" sz="3200" b="1" dirty="0">
                <a:latin typeface="黑体" panose="02010609060101010101" pitchFamily="49" charset="-122"/>
                <a:ea typeface="黑体" panose="02010609060101010101" pitchFamily="49" charset="-122"/>
              </a:rPr>
              <a:t>2. </a:t>
            </a:r>
            <a:r>
              <a:rPr lang="zh-CN" altLang="en-US" sz="3200" b="1" dirty="0">
                <a:latin typeface="黑体" panose="02010609060101010101" pitchFamily="49" charset="-122"/>
                <a:ea typeface="黑体" panose="02010609060101010101" pitchFamily="49" charset="-122"/>
              </a:rPr>
              <a:t>气溶胶颗粒的散射</a:t>
            </a:r>
            <a:endParaRPr lang="zh-CN" altLang="en-US" sz="3200" b="1" dirty="0">
              <a:latin typeface="黑体" panose="02010609060101010101" pitchFamily="49" charset="-122"/>
              <a:ea typeface="黑体" panose="02010609060101010101" pitchFamily="49" charset="-122"/>
            </a:endParaRPr>
          </a:p>
        </p:txBody>
      </p:sp>
      <p:sp>
        <p:nvSpPr>
          <p:cNvPr id="55300" name="Rectangle 3"/>
          <p:cNvSpPr txBox="1"/>
          <p:nvPr/>
        </p:nvSpPr>
        <p:spPr>
          <a:xfrm>
            <a:off x="519113" y="2276475"/>
            <a:ext cx="8516937" cy="4105275"/>
          </a:xfrm>
          <a:prstGeom prst="rect">
            <a:avLst/>
          </a:prstGeom>
          <a:noFill/>
          <a:ln w="9525">
            <a:noFill/>
          </a:ln>
        </p:spPr>
        <p:txBody>
          <a:bodyPr/>
          <a:p>
            <a:pPr marL="342900" indent="-342900" eaLnBrk="1" hangingPunct="1">
              <a:lnSpc>
                <a:spcPct val="150000"/>
              </a:lnSpc>
              <a:spcBef>
                <a:spcPct val="20000"/>
              </a:spcBef>
              <a:buClr>
                <a:schemeClr val="hlink"/>
              </a:buClr>
              <a:buSzPct val="70000"/>
              <a:buFont typeface="Wingdings" panose="05000000000000000000" pitchFamily="2" charset="2"/>
              <a:buChar char="v"/>
            </a:pPr>
            <a:r>
              <a:rPr lang="zh-CN" altLang="en-US" sz="2800" b="1" dirty="0">
                <a:latin typeface="华文细黑" panose="02010600040101010101" pitchFamily="2" charset="-122"/>
                <a:ea typeface="华文细黑" panose="02010600040101010101" pitchFamily="2" charset="-122"/>
              </a:rPr>
              <a:t>瑞利散射总存在，米散射因大气颗粒物而存在。</a:t>
            </a:r>
            <a:endParaRPr lang="en-US" altLang="zh-CN" sz="2800" b="1" dirty="0">
              <a:latin typeface="华文细黑" panose="02010600040101010101" pitchFamily="2" charset="-122"/>
              <a:ea typeface="华文细黑" panose="02010600040101010101" pitchFamily="2" charset="-122"/>
            </a:endParaRPr>
          </a:p>
          <a:p>
            <a:pPr marL="342900" indent="-342900" eaLnBrk="1" hangingPunct="1">
              <a:lnSpc>
                <a:spcPct val="150000"/>
              </a:lnSpc>
              <a:spcBef>
                <a:spcPct val="20000"/>
              </a:spcBef>
              <a:buClr>
                <a:schemeClr val="hlink"/>
              </a:buClr>
              <a:buSzPct val="70000"/>
              <a:buFont typeface="Wingdings" panose="05000000000000000000" pitchFamily="2" charset="2"/>
              <a:buChar char="v"/>
            </a:pPr>
            <a:r>
              <a:rPr lang="zh-CN" altLang="en-US" sz="2800" b="1" dirty="0">
                <a:latin typeface="华文细黑" panose="02010600040101010101" pitchFamily="2" charset="-122"/>
                <a:ea typeface="华文细黑" panose="02010600040101010101" pitchFamily="2" charset="-122"/>
              </a:rPr>
              <a:t>瑞利散射与波长四次方成反比，米散射光谱接近入射辐射。</a:t>
            </a:r>
            <a:endParaRPr lang="en-US" altLang="zh-CN" sz="2800" b="1" dirty="0">
              <a:latin typeface="华文细黑" panose="02010600040101010101" pitchFamily="2" charset="-122"/>
              <a:ea typeface="华文细黑" panose="02010600040101010101" pitchFamily="2" charset="-122"/>
            </a:endParaRPr>
          </a:p>
          <a:p>
            <a:pPr marL="342900" indent="-342900" eaLnBrk="1" hangingPunct="1">
              <a:lnSpc>
                <a:spcPct val="150000"/>
              </a:lnSpc>
              <a:spcBef>
                <a:spcPct val="20000"/>
              </a:spcBef>
              <a:buClr>
                <a:schemeClr val="hlink"/>
              </a:buClr>
              <a:buSzPct val="70000"/>
              <a:buFont typeface="Wingdings" panose="05000000000000000000" pitchFamily="2" charset="2"/>
              <a:buChar char="v"/>
            </a:pPr>
            <a:r>
              <a:rPr lang="zh-CN" altLang="en-US" sz="2800" b="1" dirty="0">
                <a:latin typeface="华文细黑" panose="02010600040101010101" pitchFamily="2" charset="-122"/>
                <a:ea typeface="华文细黑" panose="02010600040101010101" pitchFamily="2" charset="-122"/>
              </a:rPr>
              <a:t>当散射过程以米散射为主时，在太阳周围的天空表现出很强的散射光强。</a:t>
            </a:r>
            <a:endParaRPr lang="en-US" altLang="zh-CN" sz="2800" b="1" dirty="0">
              <a:latin typeface="华文细黑" panose="02010600040101010101" pitchFamily="2" charset="-122"/>
              <a:ea typeface="华文细黑" panose="02010600040101010101" pitchFamily="2" charset="-122"/>
            </a:endParaRPr>
          </a:p>
          <a:p>
            <a:pPr marL="342900" indent="-342900" eaLnBrk="1" hangingPunct="1">
              <a:lnSpc>
                <a:spcPct val="150000"/>
              </a:lnSpc>
              <a:spcBef>
                <a:spcPct val="20000"/>
              </a:spcBef>
              <a:buClr>
                <a:schemeClr val="hlink"/>
              </a:buClr>
              <a:buSzPct val="70000"/>
              <a:buFont typeface="Wingdings" panose="05000000000000000000" pitchFamily="2" charset="2"/>
            </a:pPr>
            <a:endParaRPr lang="en-US" altLang="zh-CN" sz="3200" b="1" dirty="0">
              <a:latin typeface="Garamond" pitchFamily="18" charset="0"/>
              <a:ea typeface="宋体" panose="02010600030101010101" pitchFamily="2" charset="-122"/>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2" name="Rectangle 2"/>
          <p:cNvSpPr>
            <a:spLocks noGrp="1"/>
          </p:cNvSpPr>
          <p:nvPr>
            <p:ph idx="1"/>
          </p:nvPr>
        </p:nvSpPr>
        <p:spPr>
          <a:xfrm>
            <a:off x="525463" y="1454150"/>
            <a:ext cx="4983162" cy="4711700"/>
          </a:xfrm>
          <a:ln/>
        </p:spPr>
        <p:txBody>
          <a:bodyPr vert="horz" wrap="square" lIns="91440" tIns="45720" rIns="91440" bIns="45720" anchor="t" anchorCtr="0"/>
          <a:p>
            <a:pPr>
              <a:spcBef>
                <a:spcPct val="25000"/>
              </a:spcBef>
              <a:spcAft>
                <a:spcPct val="25000"/>
              </a:spcAft>
              <a:buFontTx/>
              <a:buNone/>
            </a:pPr>
            <a:r>
              <a:rPr lang="en-US" altLang="zh-CN" dirty="0">
                <a:latin typeface="黑体" panose="02010609060101010101" pitchFamily="49" charset="-122"/>
                <a:ea typeface="黑体" panose="02010609060101010101" pitchFamily="49" charset="-122"/>
              </a:rPr>
              <a:t>3. </a:t>
            </a:r>
            <a:r>
              <a:rPr lang="zh-CN" altLang="en-US" dirty="0">
                <a:latin typeface="黑体" panose="02010609060101010101" pitchFamily="49" charset="-122"/>
                <a:ea typeface="黑体" panose="02010609060101010101" pitchFamily="49" charset="-122"/>
              </a:rPr>
              <a:t>阳伞效应</a:t>
            </a:r>
            <a:endParaRPr lang="zh-CN" altLang="en-US" dirty="0">
              <a:latin typeface="黑体" panose="02010609060101010101" pitchFamily="49" charset="-122"/>
              <a:ea typeface="黑体" panose="02010609060101010101" pitchFamily="49" charset="-122"/>
            </a:endParaRPr>
          </a:p>
          <a:p>
            <a:pPr marL="250825" lvl="1">
              <a:lnSpc>
                <a:spcPct val="130000"/>
              </a:lnSpc>
              <a:spcBef>
                <a:spcPct val="25000"/>
              </a:spcBef>
              <a:spcAft>
                <a:spcPct val="25000"/>
              </a:spcAft>
              <a:buFontTx/>
              <a:buChar char="•"/>
            </a:pPr>
            <a:r>
              <a:rPr lang="zh-CN" altLang="en-US" dirty="0">
                <a:solidFill>
                  <a:srgbClr val="FF0000"/>
                </a:solidFill>
                <a:latin typeface="华文细黑" panose="02010600040101010101" pitchFamily="2" charset="-122"/>
                <a:ea typeface="华文细黑" panose="02010600040101010101" pitchFamily="2" charset="-122"/>
              </a:rPr>
              <a:t>定义：</a:t>
            </a:r>
            <a:r>
              <a:rPr lang="zh-CN" altLang="en-US" dirty="0">
                <a:latin typeface="华文细黑" panose="02010600040101010101" pitchFamily="2" charset="-122"/>
                <a:ea typeface="华文细黑" panose="02010600040101010101" pitchFamily="2" charset="-122"/>
              </a:rPr>
              <a:t>由于云和气溶胶（特别是火山灰）对太阳辐射的强散射作用，导致到达地面的太阳辐射能减少，称为阳伞效应或反射效应。</a:t>
            </a:r>
            <a:endParaRPr lang="zh-CN" altLang="en-US" dirty="0">
              <a:latin typeface="华文细黑" panose="02010600040101010101" pitchFamily="2" charset="-122"/>
              <a:ea typeface="华文细黑" panose="02010600040101010101" pitchFamily="2" charset="-122"/>
            </a:endParaRPr>
          </a:p>
        </p:txBody>
      </p:sp>
      <p:pic>
        <p:nvPicPr>
          <p:cNvPr id="56323" name="Picture 4"/>
          <p:cNvPicPr>
            <a:picLocks noChangeAspect="1"/>
          </p:cNvPicPr>
          <p:nvPr/>
        </p:nvPicPr>
        <p:blipFill>
          <a:blip r:embed="rId1"/>
          <a:stretch>
            <a:fillRect/>
          </a:stretch>
        </p:blipFill>
        <p:spPr>
          <a:xfrm>
            <a:off x="5580063" y="2300288"/>
            <a:ext cx="3419475" cy="2281237"/>
          </a:xfrm>
          <a:prstGeom prst="rect">
            <a:avLst/>
          </a:prstGeom>
          <a:noFill/>
          <a:ln w="9525">
            <a:noFill/>
          </a:ln>
        </p:spPr>
      </p:pic>
      <p:sp>
        <p:nvSpPr>
          <p:cNvPr id="56324" name="Rectangle 4"/>
          <p:cNvSpPr>
            <a:spLocks noGrp="1"/>
          </p:cNvSpPr>
          <p:nvPr>
            <p:ph type="title"/>
          </p:nvPr>
        </p:nvSpPr>
        <p:spPr>
          <a:ln/>
        </p:spPr>
        <p:txBody>
          <a:bodyPr vert="horz" wrap="square" lIns="91440" tIns="45720" rIns="91440" bIns="45720" anchor="b" anchorCtr="0"/>
          <a:p>
            <a:pPr algn="ctr"/>
            <a:r>
              <a:rPr lang="en-US" altLang="zh-CN" sz="3600" dirty="0">
                <a:solidFill>
                  <a:srgbClr val="FFFF00"/>
                </a:solidFill>
                <a:latin typeface="黑体" panose="02010609060101010101" pitchFamily="49" charset="-122"/>
                <a:ea typeface="黑体" panose="02010609060101010101" pitchFamily="49" charset="-122"/>
              </a:rPr>
              <a:t>5.4.4  </a:t>
            </a:r>
            <a:r>
              <a:rPr lang="zh-CN" altLang="en-US" sz="3600" dirty="0">
                <a:solidFill>
                  <a:srgbClr val="FFFF00"/>
                </a:solidFill>
                <a:latin typeface="黑体" panose="02010609060101010101" pitchFamily="49" charset="-122"/>
                <a:ea typeface="黑体" panose="02010609060101010101" pitchFamily="49" charset="-122"/>
              </a:rPr>
              <a:t>天空的散射辐射</a:t>
            </a:r>
            <a:endParaRPr lang="zh-CN" altLang="en-US" sz="3600"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6" name="Rectangle 2"/>
          <p:cNvSpPr>
            <a:spLocks noGrp="1" noRot="1"/>
          </p:cNvSpPr>
          <p:nvPr>
            <p:ph type="title"/>
          </p:nvPr>
        </p:nvSpPr>
        <p:spPr>
          <a:xfrm>
            <a:off x="323850" y="990600"/>
            <a:ext cx="5329238" cy="1143000"/>
          </a:xfrm>
          <a:ln/>
        </p:spPr>
        <p:txBody>
          <a:bodyPr vert="horz" wrap="square" lIns="91440" tIns="45720" rIns="91440" bIns="45720" anchor="ctr" anchorCtr="0"/>
          <a:p>
            <a:pPr eaLnBrk="1" hangingPunct="1"/>
            <a:r>
              <a:rPr lang="zh-CN" altLang="en-US" dirty="0">
                <a:solidFill>
                  <a:srgbClr val="0000FF"/>
                </a:solidFill>
                <a:latin typeface="黑体" panose="02010609060101010101" pitchFamily="49" charset="-122"/>
                <a:ea typeface="黑体" panose="02010609060101010101" pitchFamily="49" charset="-122"/>
              </a:rPr>
              <a:t>大的火山喷发事件</a:t>
            </a:r>
            <a:endParaRPr lang="en-US" altLang="zh-CN" dirty="0">
              <a:solidFill>
                <a:srgbClr val="0000FF"/>
              </a:solidFill>
              <a:latin typeface="黑体" panose="02010609060101010101" pitchFamily="49" charset="-122"/>
              <a:ea typeface="黑体" panose="02010609060101010101" pitchFamily="49" charset="-122"/>
            </a:endParaRPr>
          </a:p>
        </p:txBody>
      </p:sp>
      <p:sp>
        <p:nvSpPr>
          <p:cNvPr id="57347" name="Rectangle 3"/>
          <p:cNvSpPr>
            <a:spLocks noGrp="1"/>
          </p:cNvSpPr>
          <p:nvPr>
            <p:ph idx="1"/>
          </p:nvPr>
        </p:nvSpPr>
        <p:spPr>
          <a:xfrm>
            <a:off x="250825" y="2205038"/>
            <a:ext cx="5549900" cy="4525962"/>
          </a:xfrm>
          <a:ln/>
        </p:spPr>
        <p:txBody>
          <a:bodyPr vert="horz" wrap="square" lIns="91440" tIns="45720" rIns="91440" bIns="45720" anchor="t" anchorCtr="0"/>
          <a:p>
            <a:pPr eaLnBrk="1" hangingPunct="1"/>
            <a:r>
              <a:rPr lang="zh-CN" altLang="en-US" dirty="0">
                <a:latin typeface="华文细黑" panose="02010600040101010101" pitchFamily="2" charset="-122"/>
                <a:ea typeface="华文细黑" panose="02010600040101010101" pitchFamily="2" charset="-122"/>
              </a:rPr>
              <a:t>大尺度的火山喷发时</a:t>
            </a:r>
            <a:endParaRPr lang="en-US" altLang="zh-CN" dirty="0">
              <a:latin typeface="华文细黑" panose="02010600040101010101" pitchFamily="2" charset="-122"/>
              <a:ea typeface="华文细黑" panose="02010600040101010101" pitchFamily="2" charset="-122"/>
            </a:endParaRPr>
          </a:p>
          <a:p>
            <a:pPr lvl="1" eaLnBrk="1" hangingPunct="1"/>
            <a:r>
              <a:rPr lang="zh-CN" altLang="en-US" sz="2400" dirty="0">
                <a:latin typeface="华文细黑" panose="02010600040101010101" pitchFamily="2" charset="-122"/>
                <a:ea typeface="华文细黑" panose="02010600040101010101" pitchFamily="2" charset="-122"/>
              </a:rPr>
              <a:t>向大气中释放大量的</a:t>
            </a:r>
            <a:r>
              <a:rPr lang="en-US" altLang="zh-CN" sz="2400" dirty="0">
                <a:latin typeface="华文细黑" panose="02010600040101010101" pitchFamily="2" charset="-122"/>
                <a:ea typeface="华文细黑" panose="02010600040101010101" pitchFamily="2" charset="-122"/>
              </a:rPr>
              <a:t> SO</a:t>
            </a:r>
            <a:r>
              <a:rPr lang="en-US" altLang="zh-CN" sz="2400" baseline="-25000" dirty="0">
                <a:latin typeface="华文细黑" panose="02010600040101010101" pitchFamily="2" charset="-122"/>
                <a:ea typeface="华文细黑" panose="02010600040101010101" pitchFamily="2" charset="-122"/>
              </a:rPr>
              <a:t>2</a:t>
            </a:r>
            <a:r>
              <a:rPr lang="en-US" altLang="zh-CN" sz="2400" dirty="0">
                <a:latin typeface="华文细黑" panose="02010600040101010101" pitchFamily="2" charset="-122"/>
                <a:ea typeface="华文细黑" panose="02010600040101010101" pitchFamily="2" charset="-122"/>
              </a:rPr>
              <a:t> </a:t>
            </a:r>
            <a:endParaRPr lang="en-US" altLang="zh-CN" sz="2400" dirty="0">
              <a:latin typeface="华文细黑" panose="02010600040101010101" pitchFamily="2" charset="-122"/>
              <a:ea typeface="华文细黑" panose="02010600040101010101" pitchFamily="2" charset="-122"/>
            </a:endParaRPr>
          </a:p>
          <a:p>
            <a:pPr marL="914400" lvl="2" indent="0" eaLnBrk="1" hangingPunct="1">
              <a:buNone/>
            </a:pPr>
            <a:r>
              <a:rPr lang="zh-CN" altLang="en-US" sz="2000" dirty="0">
                <a:latin typeface="华文细黑" panose="02010600040101010101" pitchFamily="2" charset="-122"/>
                <a:ea typeface="华文细黑" panose="02010600040101010101" pitchFamily="2" charset="-122"/>
              </a:rPr>
              <a:t>形成硫酸盐气溶胶，阻挡太阳辐射到达地面</a:t>
            </a:r>
            <a:endParaRPr lang="en-US" altLang="zh-CN" sz="2000" dirty="0">
              <a:latin typeface="华文细黑" panose="02010600040101010101" pitchFamily="2" charset="-122"/>
              <a:ea typeface="华文细黑" panose="02010600040101010101" pitchFamily="2" charset="-122"/>
            </a:endParaRPr>
          </a:p>
          <a:p>
            <a:pPr marL="914400" lvl="2" indent="0" eaLnBrk="1" hangingPunct="1">
              <a:buNone/>
            </a:pPr>
            <a:r>
              <a:rPr lang="zh-CN" altLang="en-US" sz="2000" dirty="0">
                <a:latin typeface="华文细黑" panose="02010600040101010101" pitchFamily="2" charset="-122"/>
                <a:ea typeface="华文细黑" panose="02010600040101010101" pitchFamily="2" charset="-122"/>
              </a:rPr>
              <a:t>冷却气候</a:t>
            </a:r>
            <a:endParaRPr lang="en-US" altLang="zh-CN" sz="2000" dirty="0">
              <a:latin typeface="华文细黑" panose="02010600040101010101" pitchFamily="2" charset="-122"/>
              <a:ea typeface="华文细黑" panose="02010600040101010101" pitchFamily="2" charset="-122"/>
            </a:endParaRPr>
          </a:p>
          <a:p>
            <a:pPr eaLnBrk="1" hangingPunct="1">
              <a:lnSpc>
                <a:spcPct val="90000"/>
              </a:lnSpc>
              <a:spcBef>
                <a:spcPts val="1800"/>
              </a:spcBef>
            </a:pPr>
            <a:r>
              <a:rPr lang="en-US" altLang="zh-CN" dirty="0">
                <a:latin typeface="华文细黑" panose="02010600040101010101" pitchFamily="2" charset="-122"/>
                <a:ea typeface="华文细黑" panose="02010600040101010101" pitchFamily="2" charset="-122"/>
              </a:rPr>
              <a:t>1991 </a:t>
            </a:r>
            <a:r>
              <a:rPr lang="zh-CN" altLang="en-US" dirty="0">
                <a:latin typeface="华文细黑" panose="02010600040101010101" pitchFamily="2" charset="-122"/>
                <a:ea typeface="华文细黑" panose="02010600040101010101" pitchFamily="2" charset="-122"/>
              </a:rPr>
              <a:t>年皮纳图博火山喷发</a:t>
            </a:r>
            <a:endParaRPr lang="en-US" altLang="zh-CN" dirty="0">
              <a:latin typeface="华文细黑" panose="02010600040101010101" pitchFamily="2" charset="-122"/>
              <a:ea typeface="华文细黑" panose="02010600040101010101" pitchFamily="2" charset="-122"/>
            </a:endParaRPr>
          </a:p>
          <a:p>
            <a:pPr lvl="1" eaLnBrk="1" hangingPunct="1"/>
            <a:r>
              <a:rPr lang="zh-CN" altLang="en-US" sz="2400" dirty="0">
                <a:latin typeface="华文细黑" panose="02010600040101010101" pitchFamily="2" charset="-122"/>
                <a:ea typeface="华文细黑" panose="02010600040101010101" pitchFamily="2" charset="-122"/>
              </a:rPr>
              <a:t>喷发后一年，产生</a:t>
            </a:r>
            <a:r>
              <a:rPr lang="en-US" altLang="zh-CN" sz="2400" dirty="0">
                <a:latin typeface="华文细黑" panose="02010600040101010101" pitchFamily="2" charset="-122"/>
                <a:ea typeface="华文细黑" panose="02010600040101010101" pitchFamily="2" charset="-122"/>
              </a:rPr>
              <a:t>0.6°C </a:t>
            </a:r>
            <a:r>
              <a:rPr lang="zh-CN" altLang="en-US" sz="2400" dirty="0">
                <a:latin typeface="华文细黑" panose="02010600040101010101" pitchFamily="2" charset="-122"/>
                <a:ea typeface="华文细黑" panose="02010600040101010101" pitchFamily="2" charset="-122"/>
              </a:rPr>
              <a:t>的冷却</a:t>
            </a:r>
            <a:endParaRPr lang="en-US" altLang="zh-CN" sz="2400" dirty="0">
              <a:latin typeface="华文细黑" panose="02010600040101010101" pitchFamily="2" charset="-122"/>
              <a:ea typeface="华文细黑" panose="02010600040101010101" pitchFamily="2" charset="-122"/>
            </a:endParaRPr>
          </a:p>
          <a:p>
            <a:pPr marL="914400" lvl="2" indent="0" eaLnBrk="1" hangingPunct="1">
              <a:buNone/>
            </a:pPr>
            <a:r>
              <a:rPr lang="zh-CN" altLang="en-US" sz="2000" dirty="0">
                <a:latin typeface="华文细黑" panose="02010600040101010101" pitchFamily="2" charset="-122"/>
                <a:ea typeface="华文细黑" panose="02010600040101010101" pitchFamily="2" charset="-122"/>
              </a:rPr>
              <a:t>但</a:t>
            </a:r>
            <a:r>
              <a:rPr lang="en-US" altLang="zh-CN" sz="2000" dirty="0">
                <a:latin typeface="华文细黑" panose="02010600040101010101" pitchFamily="2" charset="-122"/>
                <a:ea typeface="华文细黑" panose="02010600040101010101" pitchFamily="2" charset="-122"/>
              </a:rPr>
              <a:t>2</a:t>
            </a:r>
            <a:r>
              <a:rPr lang="zh-CN" altLang="en-US" sz="2000" dirty="0">
                <a:latin typeface="华文细黑" panose="02010600040101010101" pitchFamily="2" charset="-122"/>
                <a:ea typeface="华文细黑" panose="02010600040101010101" pitchFamily="2" charset="-122"/>
              </a:rPr>
              <a:t>年之内，又回到背景温度水平</a:t>
            </a:r>
            <a:r>
              <a:rPr lang="en-US" altLang="zh-CN" sz="2000" dirty="0">
                <a:latin typeface="华文细黑" panose="02010600040101010101" pitchFamily="2" charset="-122"/>
                <a:ea typeface="华文细黑" panose="02010600040101010101" pitchFamily="2" charset="-122"/>
              </a:rPr>
              <a:t> </a:t>
            </a:r>
            <a:endParaRPr lang="en-US" altLang="zh-CN" sz="2000" dirty="0">
              <a:latin typeface="华文细黑" panose="02010600040101010101" pitchFamily="2" charset="-122"/>
              <a:ea typeface="华文细黑" panose="02010600040101010101" pitchFamily="2" charset="-122"/>
            </a:endParaRPr>
          </a:p>
        </p:txBody>
      </p:sp>
      <p:pic>
        <p:nvPicPr>
          <p:cNvPr id="57348" name="Picture 4" descr="figure 16-26"/>
          <p:cNvPicPr>
            <a:picLocks noChangeAspect="1"/>
          </p:cNvPicPr>
          <p:nvPr/>
        </p:nvPicPr>
        <p:blipFill>
          <a:blip r:embed="rId1">
            <a:lum bright="-17999" contrast="36000"/>
          </a:blip>
          <a:stretch>
            <a:fillRect/>
          </a:stretch>
        </p:blipFill>
        <p:spPr>
          <a:xfrm>
            <a:off x="5715000" y="990600"/>
            <a:ext cx="3429000" cy="5867400"/>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70" name="Rectangle 7"/>
          <p:cNvSpPr/>
          <p:nvPr/>
        </p:nvSpPr>
        <p:spPr>
          <a:xfrm>
            <a:off x="1354138" y="0"/>
            <a:ext cx="6299200" cy="701675"/>
          </a:xfrm>
          <a:prstGeom prst="rect">
            <a:avLst/>
          </a:prstGeom>
          <a:noFill/>
          <a:ln w="9525">
            <a:noFill/>
          </a:ln>
        </p:spPr>
        <p:txBody>
          <a:bodyPr wrap="none">
            <a:spAutoFit/>
          </a:bodyPr>
          <a:p>
            <a:pPr eaLnBrk="1" hangingPunct="1"/>
            <a:r>
              <a:rPr lang="zh-CN" altLang="en-US" b="1" dirty="0">
                <a:solidFill>
                  <a:schemeClr val="tx2"/>
                </a:solidFill>
                <a:latin typeface="Arial" panose="020B0604020202020204" pitchFamily="34" charset="0"/>
                <a:ea typeface="宋体" panose="02010600030101010101" pitchFamily="2" charset="-122"/>
              </a:rPr>
              <a:t>太阳的直接辐射反射和吸收</a:t>
            </a:r>
            <a:endParaRPr lang="zh-CN" altLang="en-US" b="1" dirty="0">
              <a:solidFill>
                <a:schemeClr val="tx2"/>
              </a:solidFill>
              <a:latin typeface="Arial" panose="020B0604020202020204" pitchFamily="34" charset="0"/>
              <a:ea typeface="宋体" panose="02010600030101010101" pitchFamily="2" charset="-122"/>
            </a:endParaRPr>
          </a:p>
        </p:txBody>
      </p:sp>
      <p:pic>
        <p:nvPicPr>
          <p:cNvPr id="58371" name="Picture 8" descr="大氣科學概論2"/>
          <p:cNvPicPr>
            <a:picLocks noChangeAspect="1"/>
          </p:cNvPicPr>
          <p:nvPr/>
        </p:nvPicPr>
        <p:blipFill>
          <a:blip r:embed="rId1"/>
          <a:srcRect t="4257"/>
          <a:stretch>
            <a:fillRect/>
          </a:stretch>
        </p:blipFill>
        <p:spPr>
          <a:xfrm>
            <a:off x="447675" y="1092200"/>
            <a:ext cx="8532813" cy="4784725"/>
          </a:xfrm>
          <a:prstGeom prst="rect">
            <a:avLst/>
          </a:prstGeom>
          <a:noFill/>
          <a:ln w="9525">
            <a:noFill/>
          </a:ln>
        </p:spPr>
      </p:pic>
      <p:sp>
        <p:nvSpPr>
          <p:cNvPr id="58372" name="Text Box 9"/>
          <p:cNvSpPr txBox="1"/>
          <p:nvPr/>
        </p:nvSpPr>
        <p:spPr>
          <a:xfrm>
            <a:off x="393700" y="5876925"/>
            <a:ext cx="8642350" cy="849313"/>
          </a:xfrm>
          <a:prstGeom prst="rect">
            <a:avLst/>
          </a:prstGeom>
          <a:solidFill>
            <a:srgbClr val="FFFF99"/>
          </a:solidFill>
          <a:ln w="9525">
            <a:noFill/>
          </a:ln>
        </p:spPr>
        <p:txBody>
          <a:bodyPr>
            <a:spAutoFit/>
          </a:bodyPr>
          <a:p>
            <a:pPr eaLnBrk="1" hangingPunct="1">
              <a:lnSpc>
                <a:spcPct val="130000"/>
              </a:lnSpc>
            </a:pPr>
            <a:r>
              <a:rPr lang="zh-CN" altLang="en-US" sz="2000" b="1" dirty="0">
                <a:solidFill>
                  <a:srgbClr val="FF3300"/>
                </a:solidFill>
                <a:latin typeface="Arial" panose="020B0604020202020204" pitchFamily="34" charset="0"/>
                <a:ea typeface="宋体" panose="02010600030101010101" pitchFamily="2" charset="-122"/>
              </a:rPr>
              <a:t>平均而言</a:t>
            </a:r>
            <a:r>
              <a:rPr lang="zh-TW" altLang="en-US" sz="2000" b="1" dirty="0">
                <a:solidFill>
                  <a:srgbClr val="FF3300"/>
                </a:solidFill>
                <a:latin typeface="Arial" panose="020B0604020202020204" pitchFamily="34" charset="0"/>
                <a:ea typeface="宋体" panose="02010600030101010101" pitchFamily="2" charset="-122"/>
              </a:rPr>
              <a:t>，每年</a:t>
            </a:r>
            <a:r>
              <a:rPr lang="zh-CN" altLang="en-US" sz="2000" b="1" dirty="0">
                <a:solidFill>
                  <a:srgbClr val="FF3300"/>
                </a:solidFill>
                <a:latin typeface="Arial" panose="020B0604020202020204" pitchFamily="34" charset="0"/>
                <a:ea typeface="宋体" panose="02010600030101010101" pitchFamily="2" charset="-122"/>
              </a:rPr>
              <a:t>入射地球的太阳辐射约</a:t>
            </a:r>
            <a:r>
              <a:rPr lang="en-US" altLang="zh-TW" sz="2000" b="1" dirty="0">
                <a:solidFill>
                  <a:srgbClr val="FF3300"/>
                </a:solidFill>
                <a:latin typeface="Arial" panose="020B0604020202020204" pitchFamily="34" charset="0"/>
                <a:ea typeface="宋体" panose="02010600030101010101" pitchFamily="2" charset="-122"/>
              </a:rPr>
              <a:t>30 %</a:t>
            </a:r>
            <a:r>
              <a:rPr lang="zh-TW" altLang="en-US" sz="2000" b="1" dirty="0">
                <a:solidFill>
                  <a:srgbClr val="FF3300"/>
                </a:solidFill>
                <a:latin typeface="Arial" panose="020B0604020202020204" pitchFamily="34" charset="0"/>
                <a:ea typeface="宋体" panose="02010600030101010101" pitchFamily="2" charset="-122"/>
              </a:rPr>
              <a:t>由地球和</a:t>
            </a:r>
            <a:r>
              <a:rPr lang="zh-CN" altLang="en-US" sz="2000" b="1" dirty="0">
                <a:solidFill>
                  <a:srgbClr val="FF3300"/>
                </a:solidFill>
                <a:latin typeface="Arial" panose="020B0604020202020204" pitchFamily="34" charset="0"/>
                <a:ea typeface="宋体" panose="02010600030101010101" pitchFamily="2" charset="-122"/>
              </a:rPr>
              <a:t>大气反射和散射回太空</a:t>
            </a:r>
            <a:r>
              <a:rPr lang="zh-TW" altLang="en-US" sz="2000" b="1" dirty="0">
                <a:solidFill>
                  <a:srgbClr val="FF3300"/>
                </a:solidFill>
                <a:latin typeface="Arial" panose="020B0604020202020204" pitchFamily="34" charset="0"/>
                <a:ea typeface="宋体" panose="02010600030101010101" pitchFamily="2" charset="-122"/>
              </a:rPr>
              <a:t>（地球行星反照率</a:t>
            </a:r>
            <a:r>
              <a:rPr lang="en-US" altLang="zh-TW" sz="2000" b="1" dirty="0">
                <a:solidFill>
                  <a:srgbClr val="FF3300"/>
                </a:solidFill>
                <a:latin typeface="Arial" panose="020B0604020202020204" pitchFamily="34" charset="0"/>
                <a:ea typeface="宋体" panose="02010600030101010101" pitchFamily="2" charset="-122"/>
              </a:rPr>
              <a:t>0.3</a:t>
            </a:r>
            <a:r>
              <a:rPr lang="zh-TW" altLang="en-US" sz="2000" b="1" dirty="0">
                <a:solidFill>
                  <a:srgbClr val="FF3300"/>
                </a:solidFill>
                <a:latin typeface="Arial" panose="020B0604020202020204" pitchFamily="34" charset="0"/>
                <a:ea typeface="宋体" panose="02010600030101010101" pitchFamily="2" charset="-122"/>
              </a:rPr>
              <a:t>），</a:t>
            </a:r>
            <a:r>
              <a:rPr lang="en-US" altLang="zh-TW" sz="2000" b="1" dirty="0">
                <a:solidFill>
                  <a:srgbClr val="FF3300"/>
                </a:solidFill>
                <a:latin typeface="Arial" panose="020B0604020202020204" pitchFamily="34" charset="0"/>
                <a:ea typeface="宋体" panose="02010600030101010101" pitchFamily="2" charset="-122"/>
              </a:rPr>
              <a:t>19 %</a:t>
            </a:r>
            <a:r>
              <a:rPr lang="zh-TW" altLang="en-US" sz="2000" b="1" dirty="0">
                <a:solidFill>
                  <a:srgbClr val="FF3300"/>
                </a:solidFill>
                <a:latin typeface="Arial" panose="020B0604020202020204" pitchFamily="34" charset="0"/>
                <a:ea typeface="宋体" panose="02010600030101010101" pitchFamily="2" charset="-122"/>
              </a:rPr>
              <a:t>被</a:t>
            </a:r>
            <a:r>
              <a:rPr lang="zh-CN" altLang="en-US" sz="2000" b="1" dirty="0">
                <a:solidFill>
                  <a:srgbClr val="FF3300"/>
                </a:solidFill>
                <a:latin typeface="Arial" panose="020B0604020202020204" pitchFamily="34" charset="0"/>
                <a:ea typeface="宋体" panose="02010600030101010101" pitchFamily="2" charset="-122"/>
              </a:rPr>
              <a:t>大气选择性吸收</a:t>
            </a:r>
            <a:r>
              <a:rPr lang="zh-TW" altLang="en-US" sz="2000" b="1" dirty="0">
                <a:solidFill>
                  <a:srgbClr val="FF3300"/>
                </a:solidFill>
                <a:latin typeface="Arial" panose="020B0604020202020204" pitchFamily="34" charset="0"/>
                <a:ea typeface="宋体" panose="02010600030101010101" pitchFamily="2" charset="-122"/>
              </a:rPr>
              <a:t>，</a:t>
            </a:r>
            <a:r>
              <a:rPr lang="en-US" altLang="zh-TW" sz="2000" b="1" dirty="0">
                <a:solidFill>
                  <a:srgbClr val="FF3300"/>
                </a:solidFill>
                <a:latin typeface="Arial" panose="020B0604020202020204" pitchFamily="34" charset="0"/>
                <a:ea typeface="宋体" panose="02010600030101010101" pitchFamily="2" charset="-122"/>
              </a:rPr>
              <a:t>51 %</a:t>
            </a:r>
            <a:r>
              <a:rPr lang="zh-TW" altLang="en-US" sz="2000" b="1" dirty="0">
                <a:solidFill>
                  <a:srgbClr val="FF3300"/>
                </a:solidFill>
                <a:latin typeface="Arial" panose="020B0604020202020204" pitchFamily="34" charset="0"/>
                <a:ea typeface="宋体" panose="02010600030101010101" pitchFamily="2" charset="-122"/>
              </a:rPr>
              <a:t>被地表吸收。</a:t>
            </a:r>
            <a:endParaRPr lang="zh-TW" altLang="en-US" sz="2000" b="1" dirty="0">
              <a:solidFill>
                <a:srgbClr val="FF3300"/>
              </a:solidFill>
              <a:latin typeface="Arial" panose="020B0604020202020204" pitchFamily="34" charset="0"/>
              <a:ea typeface="宋体" panose="02010600030101010101" pitchFamily="2" charset="-122"/>
            </a:endParaRPr>
          </a:p>
        </p:txBody>
      </p:sp>
      <p:sp>
        <p:nvSpPr>
          <p:cNvPr id="58373" name="Rectangle 8"/>
          <p:cNvSpPr/>
          <p:nvPr/>
        </p:nvSpPr>
        <p:spPr>
          <a:xfrm>
            <a:off x="1403350" y="254000"/>
            <a:ext cx="7740650" cy="584200"/>
          </a:xfrm>
          <a:prstGeom prst="rect">
            <a:avLst/>
          </a:prstGeom>
          <a:noFill/>
          <a:ln w="9525">
            <a:noFill/>
          </a:ln>
        </p:spPr>
        <p:txBody>
          <a:bodyPr>
            <a:spAutoFit/>
          </a:bodyPr>
          <a:p>
            <a:pPr algn="ctr" eaLnBrk="1" hangingPunct="1"/>
            <a:r>
              <a:rPr lang="en-US" altLang="zh-CN" sz="3200" b="1" dirty="0">
                <a:solidFill>
                  <a:srgbClr val="FFFF00"/>
                </a:solidFill>
                <a:latin typeface="黑体" panose="02010609060101010101" pitchFamily="49" charset="-122"/>
                <a:ea typeface="黑体" panose="02010609060101010101" pitchFamily="49" charset="-122"/>
              </a:rPr>
              <a:t>5.4.5 </a:t>
            </a:r>
            <a:r>
              <a:rPr lang="zh-CN" altLang="en-US" sz="3200" b="1" dirty="0">
                <a:solidFill>
                  <a:srgbClr val="FFFF00"/>
                </a:solidFill>
                <a:latin typeface="黑体" panose="02010609060101010101" pitchFamily="49" charset="-122"/>
                <a:ea typeface="黑体" panose="02010609060101010101" pitchFamily="49" charset="-122"/>
              </a:rPr>
              <a:t>地面对太阳辐射的反射和吸收</a:t>
            </a:r>
            <a:endParaRPr lang="zh-CN" altLang="en-US" sz="3200" b="1" dirty="0">
              <a:solidFill>
                <a:srgbClr val="FFFF00"/>
              </a:solidFill>
              <a:latin typeface="黑体" panose="02010609060101010101" pitchFamily="49" charset="-122"/>
              <a:ea typeface="黑体" panose="02010609060101010101" pitchFamily="49" charset="-122"/>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4" name="Rectangle 3"/>
          <p:cNvSpPr txBox="1"/>
          <p:nvPr/>
        </p:nvSpPr>
        <p:spPr>
          <a:xfrm>
            <a:off x="684213" y="1196975"/>
            <a:ext cx="7991475" cy="5111750"/>
          </a:xfrm>
          <a:prstGeom prst="rect">
            <a:avLst/>
          </a:prstGeom>
          <a:noFill/>
          <a:ln w="9525">
            <a:noFill/>
          </a:ln>
        </p:spPr>
        <p:txBody>
          <a:bodyPr/>
          <a:p>
            <a:pPr marL="342900" indent="-342900" eaLnBrk="1" hangingPunct="1">
              <a:lnSpc>
                <a:spcPct val="130000"/>
              </a:lnSpc>
              <a:spcBef>
                <a:spcPct val="20000"/>
              </a:spcBef>
              <a:buClr>
                <a:schemeClr val="hlink"/>
              </a:buClr>
              <a:buSzPct val="90000"/>
              <a:buFont typeface="Wingdings" panose="05000000000000000000" pitchFamily="2" charset="2"/>
              <a:buChar char="n"/>
            </a:pPr>
            <a:r>
              <a:rPr lang="zh-CN" altLang="en-US" sz="2800" b="1" dirty="0">
                <a:latin typeface="华文细黑" panose="02010600040101010101" pitchFamily="2" charset="-122"/>
                <a:ea typeface="华文细黑" panose="02010600040101010101" pitchFamily="2" charset="-122"/>
              </a:rPr>
              <a:t>约有</a:t>
            </a:r>
            <a:r>
              <a:rPr lang="en-US" altLang="zh-CN" sz="2800" b="1" dirty="0">
                <a:latin typeface="华文细黑" panose="02010600040101010101" pitchFamily="2" charset="-122"/>
                <a:ea typeface="华文细黑" panose="02010600040101010101" pitchFamily="2" charset="-122"/>
              </a:rPr>
              <a:t>30</a:t>
            </a:r>
            <a:r>
              <a:rPr lang="zh-CN" altLang="en-US" sz="2800" b="1" dirty="0">
                <a:latin typeface="华文细黑" panose="02010600040101010101" pitchFamily="2" charset="-122"/>
                <a:ea typeface="华文细黑" panose="02010600040101010101" pitchFamily="2" charset="-122"/>
              </a:rPr>
              <a:t>％的太阳辐射能被地</a:t>
            </a:r>
            <a:r>
              <a:rPr lang="en-US" altLang="zh-CN" sz="2800" b="1" dirty="0">
                <a:latin typeface="华文细黑" panose="02010600040101010101" pitchFamily="2" charset="-122"/>
                <a:ea typeface="华文细黑" panose="02010600040101010101" pitchFamily="2" charset="-122"/>
              </a:rPr>
              <a:t>-</a:t>
            </a:r>
            <a:r>
              <a:rPr lang="zh-CN" altLang="en-US" sz="2800" b="1" dirty="0">
                <a:latin typeface="华文细黑" panose="02010600040101010101" pitchFamily="2" charset="-122"/>
                <a:ea typeface="华文细黑" panose="02010600040101010101" pitchFamily="2" charset="-122"/>
              </a:rPr>
              <a:t>气系统反射回太空</a:t>
            </a:r>
            <a:r>
              <a:rPr lang="en-US" altLang="zh-CN" sz="2800" b="1" dirty="0">
                <a:latin typeface="华文细黑" panose="02010600040101010101" pitchFamily="2" charset="-122"/>
                <a:ea typeface="华文细黑" panose="02010600040101010101" pitchFamily="2" charset="-122"/>
              </a:rPr>
              <a:t>,</a:t>
            </a:r>
            <a:r>
              <a:rPr lang="zh-CN" altLang="en-US" sz="2800" b="1" dirty="0">
                <a:latin typeface="华文细黑" panose="02010600040101010101" pitchFamily="2" charset="-122"/>
                <a:ea typeface="华文细黑" panose="02010600040101010101" pitchFamily="2" charset="-122"/>
              </a:rPr>
              <a:t>其中三分之二是云反射的，其余部分则被地面反射和被各种大气成分所散射。</a:t>
            </a:r>
            <a:endParaRPr lang="en-US" altLang="zh-CN" sz="2800" b="1" dirty="0">
              <a:latin typeface="华文细黑" panose="02010600040101010101" pitchFamily="2" charset="-122"/>
              <a:ea typeface="华文细黑" panose="02010600040101010101" pitchFamily="2" charset="-122"/>
            </a:endParaRPr>
          </a:p>
          <a:p>
            <a:pPr marL="342900" indent="-342900" eaLnBrk="1" hangingPunct="1">
              <a:lnSpc>
                <a:spcPct val="130000"/>
              </a:lnSpc>
              <a:spcBef>
                <a:spcPct val="20000"/>
              </a:spcBef>
              <a:buClr>
                <a:schemeClr val="hlink"/>
              </a:buClr>
              <a:buSzPct val="90000"/>
              <a:buFont typeface="Wingdings" panose="05000000000000000000" pitchFamily="2" charset="2"/>
              <a:buChar char="n"/>
            </a:pPr>
            <a:r>
              <a:rPr lang="zh-CN" altLang="en-US" sz="2800" b="1" dirty="0">
                <a:latin typeface="华文细黑" panose="02010600040101010101" pitchFamily="2" charset="-122"/>
                <a:ea typeface="华文细黑" panose="02010600040101010101" pitchFamily="2" charset="-122"/>
              </a:rPr>
              <a:t>而冰和雪的覆盖状况能引起反射率显著变化。例如，陆地被雪覆盖或洋面结冰时，将使其反射率增大</a:t>
            </a:r>
            <a:r>
              <a:rPr lang="en-US" altLang="zh-CN" sz="2800" b="1" dirty="0">
                <a:latin typeface="华文细黑" panose="02010600040101010101" pitchFamily="2" charset="-122"/>
                <a:ea typeface="华文细黑" panose="02010600040101010101" pitchFamily="2" charset="-122"/>
              </a:rPr>
              <a:t>30</a:t>
            </a:r>
            <a:r>
              <a:rPr lang="zh-CN" altLang="en-US" sz="2800" b="1" dirty="0">
                <a:latin typeface="华文细黑" panose="02010600040101010101" pitchFamily="2" charset="-122"/>
                <a:ea typeface="华文细黑" panose="02010600040101010101" pitchFamily="2" charset="-122"/>
              </a:rPr>
              <a:t>～</a:t>
            </a:r>
            <a:r>
              <a:rPr lang="en-US" altLang="zh-CN" sz="2800" b="1" dirty="0">
                <a:latin typeface="华文细黑" panose="02010600040101010101" pitchFamily="2" charset="-122"/>
                <a:ea typeface="华文细黑" panose="02010600040101010101" pitchFamily="2" charset="-122"/>
              </a:rPr>
              <a:t>40</a:t>
            </a:r>
            <a:r>
              <a:rPr lang="zh-CN" altLang="en-US" sz="2800" b="1" dirty="0">
                <a:latin typeface="华文细黑" panose="02010600040101010101" pitchFamily="2" charset="-122"/>
                <a:ea typeface="华文细黑" panose="02010600040101010101" pitchFamily="2" charset="-122"/>
              </a:rPr>
              <a:t>％，新雪面更可使反射率增大</a:t>
            </a:r>
            <a:r>
              <a:rPr lang="en-US" altLang="zh-CN" sz="2800" b="1" dirty="0">
                <a:latin typeface="华文细黑" panose="02010600040101010101" pitchFamily="2" charset="-122"/>
                <a:ea typeface="华文细黑" panose="02010600040101010101" pitchFamily="2" charset="-122"/>
              </a:rPr>
              <a:t>60</a:t>
            </a:r>
            <a:r>
              <a:rPr lang="zh-CN" altLang="en-US" sz="2800" b="1" dirty="0">
                <a:latin typeface="华文细黑" panose="02010600040101010101" pitchFamily="2" charset="-122"/>
                <a:ea typeface="华文细黑" panose="02010600040101010101" pitchFamily="2" charset="-122"/>
              </a:rPr>
              <a:t>％左右。</a:t>
            </a:r>
            <a:endParaRPr lang="en-US" altLang="zh-CN" sz="2800" b="1" dirty="0">
              <a:latin typeface="华文细黑" panose="02010600040101010101" pitchFamily="2" charset="-122"/>
              <a:ea typeface="华文细黑" panose="02010600040101010101" pitchFamily="2" charset="-122"/>
            </a:endParaRPr>
          </a:p>
          <a:p>
            <a:pPr marL="342900" indent="-342900" eaLnBrk="1" hangingPunct="1">
              <a:lnSpc>
                <a:spcPct val="130000"/>
              </a:lnSpc>
              <a:spcBef>
                <a:spcPct val="20000"/>
              </a:spcBef>
              <a:buClr>
                <a:schemeClr val="hlink"/>
              </a:buClr>
              <a:buSzPct val="90000"/>
              <a:buFont typeface="Wingdings" panose="05000000000000000000" pitchFamily="2" charset="2"/>
              <a:buChar char="n"/>
            </a:pPr>
            <a:r>
              <a:rPr lang="zh-CN" altLang="en-US" sz="2800" b="1" dirty="0">
                <a:latin typeface="华文细黑" panose="02010600040101010101" pitchFamily="2" charset="-122"/>
                <a:ea typeface="华文细黑" panose="02010600040101010101" pitchFamily="2" charset="-122"/>
              </a:rPr>
              <a:t>陆面、土壤的性质和植被类型不同</a:t>
            </a:r>
            <a:r>
              <a:rPr lang="en-US" altLang="zh-CN" sz="2800" b="1" dirty="0">
                <a:latin typeface="华文细黑" panose="02010600040101010101" pitchFamily="2" charset="-122"/>
                <a:ea typeface="华文细黑" panose="02010600040101010101" pitchFamily="2" charset="-122"/>
              </a:rPr>
              <a:t>,</a:t>
            </a:r>
            <a:r>
              <a:rPr lang="zh-CN" altLang="en-US" sz="2800" b="1" dirty="0">
                <a:latin typeface="华文细黑" panose="02010600040101010101" pitchFamily="2" charset="-122"/>
                <a:ea typeface="华文细黑" panose="02010600040101010101" pitchFamily="2" charset="-122"/>
              </a:rPr>
              <a:t>也能使反射率改变，但这些差异一般不超过</a:t>
            </a:r>
            <a:r>
              <a:rPr lang="en-US" altLang="zh-CN" sz="2800" b="1" dirty="0">
                <a:latin typeface="华文细黑" panose="02010600040101010101" pitchFamily="2" charset="-122"/>
                <a:ea typeface="华文细黑" panose="02010600040101010101" pitchFamily="2" charset="-122"/>
              </a:rPr>
              <a:t>10</a:t>
            </a:r>
            <a:r>
              <a:rPr lang="zh-CN" altLang="en-US" sz="2800" b="1" dirty="0">
                <a:latin typeface="华文细黑" panose="02010600040101010101" pitchFamily="2" charset="-122"/>
                <a:ea typeface="华文细黑" panose="02010600040101010101" pitchFamily="2" charset="-122"/>
              </a:rPr>
              <a:t>～</a:t>
            </a:r>
            <a:r>
              <a:rPr lang="en-US" altLang="zh-CN" sz="2800" b="1" dirty="0">
                <a:latin typeface="华文细黑" panose="02010600040101010101" pitchFamily="2" charset="-122"/>
                <a:ea typeface="华文细黑" panose="02010600040101010101" pitchFamily="2" charset="-122"/>
              </a:rPr>
              <a:t>20</a:t>
            </a:r>
            <a:r>
              <a:rPr lang="zh-CN" altLang="en-US" sz="2800" b="1" dirty="0">
                <a:latin typeface="华文细黑" panose="02010600040101010101" pitchFamily="2" charset="-122"/>
                <a:ea typeface="华文细黑" panose="02010600040101010101" pitchFamily="2" charset="-122"/>
              </a:rPr>
              <a:t>％。</a:t>
            </a:r>
            <a:endParaRPr lang="en-US" altLang="zh-CN" sz="2800" b="1" dirty="0">
              <a:latin typeface="华文细黑" panose="02010600040101010101" pitchFamily="2" charset="-122"/>
              <a:ea typeface="华文细黑" panose="02010600040101010101" pitchFamily="2" charset="-122"/>
            </a:endParaRPr>
          </a:p>
        </p:txBody>
      </p:sp>
      <p:sp>
        <p:nvSpPr>
          <p:cNvPr id="59395" name="TextBox 6"/>
          <p:cNvSpPr txBox="1"/>
          <p:nvPr/>
        </p:nvSpPr>
        <p:spPr>
          <a:xfrm>
            <a:off x="1476375" y="333375"/>
            <a:ext cx="7632700" cy="584200"/>
          </a:xfrm>
          <a:prstGeom prst="rect">
            <a:avLst/>
          </a:prstGeom>
          <a:noFill/>
          <a:ln w="9525">
            <a:noFill/>
          </a:ln>
        </p:spPr>
        <p:txBody>
          <a:bodyPr>
            <a:spAutoFit/>
          </a:bodyPr>
          <a:p>
            <a:pPr algn="ctr" eaLnBrk="1" hangingPunct="1"/>
            <a:r>
              <a:rPr lang="zh-CN" altLang="en-US" sz="3200" dirty="0">
                <a:solidFill>
                  <a:srgbClr val="FFFF00"/>
                </a:solidFill>
                <a:latin typeface="黑体" panose="02010609060101010101" pitchFamily="49" charset="-122"/>
                <a:ea typeface="黑体" panose="02010609060101010101" pitchFamily="49" charset="-122"/>
              </a:rPr>
              <a:t>反照率是地</a:t>
            </a:r>
            <a:r>
              <a:rPr lang="en-US" altLang="zh-CN" sz="3200" dirty="0">
                <a:solidFill>
                  <a:srgbClr val="FFFF00"/>
                </a:solidFill>
                <a:latin typeface="黑体" panose="02010609060101010101" pitchFamily="49" charset="-122"/>
                <a:ea typeface="黑体" panose="02010609060101010101" pitchFamily="49" charset="-122"/>
              </a:rPr>
              <a:t>-</a:t>
            </a:r>
            <a:r>
              <a:rPr lang="zh-CN" altLang="en-US" sz="3200" dirty="0">
                <a:solidFill>
                  <a:srgbClr val="FFFF00"/>
                </a:solidFill>
                <a:latin typeface="黑体" panose="02010609060101010101" pitchFamily="49" charset="-122"/>
                <a:ea typeface="黑体" panose="02010609060101010101" pitchFamily="49" charset="-122"/>
              </a:rPr>
              <a:t>气系统的不确定因子</a:t>
            </a:r>
            <a:endParaRPr lang="zh-CN" altLang="en-US" sz="3200" dirty="0">
              <a:solidFill>
                <a:srgbClr val="FFFF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8" name="Rectangle 8"/>
          <p:cNvSpPr/>
          <p:nvPr/>
        </p:nvSpPr>
        <p:spPr>
          <a:xfrm>
            <a:off x="1403350" y="254000"/>
            <a:ext cx="7740650" cy="584200"/>
          </a:xfrm>
          <a:prstGeom prst="rect">
            <a:avLst/>
          </a:prstGeom>
          <a:noFill/>
          <a:ln w="9525">
            <a:noFill/>
          </a:ln>
        </p:spPr>
        <p:txBody>
          <a:bodyPr>
            <a:spAutoFit/>
          </a:bodyPr>
          <a:p>
            <a:pPr algn="ctr" eaLnBrk="1" hangingPunct="1"/>
            <a:r>
              <a:rPr lang="en-US" altLang="zh-CN" sz="3200" b="1" dirty="0">
                <a:solidFill>
                  <a:srgbClr val="FFFF00"/>
                </a:solidFill>
                <a:latin typeface="黑体" panose="02010609060101010101" pitchFamily="49" charset="-122"/>
                <a:ea typeface="黑体" panose="02010609060101010101" pitchFamily="49" charset="-122"/>
              </a:rPr>
              <a:t>5.4.5 </a:t>
            </a:r>
            <a:r>
              <a:rPr lang="zh-CN" altLang="en-US" sz="3200" b="1" dirty="0">
                <a:solidFill>
                  <a:srgbClr val="FFFF00"/>
                </a:solidFill>
                <a:latin typeface="黑体" panose="02010609060101010101" pitchFamily="49" charset="-122"/>
                <a:ea typeface="黑体" panose="02010609060101010101" pitchFamily="49" charset="-122"/>
              </a:rPr>
              <a:t>地面对太阳辐射的反射和吸收</a:t>
            </a:r>
            <a:endParaRPr lang="zh-CN" altLang="en-US" sz="3200" b="1" dirty="0">
              <a:solidFill>
                <a:srgbClr val="FFFF00"/>
              </a:solidFill>
              <a:latin typeface="黑体" panose="02010609060101010101" pitchFamily="49" charset="-122"/>
              <a:ea typeface="黑体" panose="02010609060101010101" pitchFamily="49" charset="-122"/>
            </a:endParaRPr>
          </a:p>
        </p:txBody>
      </p:sp>
      <p:pic>
        <p:nvPicPr>
          <p:cNvPr id="60419" name="Picture 9"/>
          <p:cNvPicPr>
            <a:picLocks noChangeAspect="1"/>
          </p:cNvPicPr>
          <p:nvPr/>
        </p:nvPicPr>
        <p:blipFill>
          <a:blip r:embed="rId1"/>
          <a:stretch>
            <a:fillRect/>
          </a:stretch>
        </p:blipFill>
        <p:spPr>
          <a:xfrm>
            <a:off x="4356100" y="1074738"/>
            <a:ext cx="4787900" cy="5738812"/>
          </a:xfrm>
          <a:prstGeom prst="rect">
            <a:avLst/>
          </a:prstGeom>
          <a:noFill/>
          <a:ln w="9525">
            <a:noFill/>
          </a:ln>
        </p:spPr>
      </p:pic>
      <p:sp>
        <p:nvSpPr>
          <p:cNvPr id="60420" name="TextBox 1"/>
          <p:cNvSpPr txBox="1"/>
          <p:nvPr/>
        </p:nvSpPr>
        <p:spPr>
          <a:xfrm>
            <a:off x="250825" y="1773238"/>
            <a:ext cx="4289425" cy="3311525"/>
          </a:xfrm>
          <a:prstGeom prst="rect">
            <a:avLst/>
          </a:prstGeom>
          <a:noFill/>
          <a:ln w="9525">
            <a:noFill/>
          </a:ln>
        </p:spPr>
        <p:txBody>
          <a:bodyPr>
            <a:spAutoFit/>
          </a:bodyPr>
          <a:p>
            <a:pPr eaLnBrk="1" hangingPunct="1">
              <a:lnSpc>
                <a:spcPct val="110000"/>
              </a:lnSpc>
              <a:buFont typeface="Wingdings" panose="05000000000000000000" pitchFamily="2" charset="2"/>
            </a:pPr>
            <a:r>
              <a:rPr lang="en-US" altLang="zh-CN" sz="2400" b="1" dirty="0">
                <a:solidFill>
                  <a:srgbClr val="FF0000"/>
                </a:solidFill>
                <a:latin typeface="华文细黑" panose="02010600040101010101" pitchFamily="2" charset="-122"/>
                <a:ea typeface="华文细黑" panose="02010600040101010101" pitchFamily="2" charset="-122"/>
              </a:rPr>
              <a:t>1.</a:t>
            </a:r>
            <a:r>
              <a:rPr lang="zh-CN" altLang="en-US" sz="2400" b="1" dirty="0">
                <a:solidFill>
                  <a:srgbClr val="FF0000"/>
                </a:solidFill>
                <a:latin typeface="华文细黑" panose="02010600040101010101" pitchFamily="2" charset="-122"/>
                <a:ea typeface="华文细黑" panose="02010600040101010101" pitchFamily="2" charset="-122"/>
              </a:rPr>
              <a:t>地面反照率</a:t>
            </a:r>
            <a:endParaRPr lang="zh-CN" altLang="en-US" sz="2400" b="1" dirty="0">
              <a:solidFill>
                <a:srgbClr val="FF0000"/>
              </a:solidFill>
              <a:latin typeface="华文细黑" panose="02010600040101010101" pitchFamily="2" charset="-122"/>
              <a:ea typeface="华文细黑" panose="02010600040101010101" pitchFamily="2" charset="-122"/>
            </a:endParaRPr>
          </a:p>
          <a:p>
            <a:pPr eaLnBrk="1" hangingPunct="1">
              <a:lnSpc>
                <a:spcPct val="110000"/>
              </a:lnSpc>
            </a:pPr>
            <a:endParaRPr lang="en-US" altLang="zh-CN" sz="2400" b="1" dirty="0">
              <a:solidFill>
                <a:srgbClr val="FF0000"/>
              </a:solidFill>
              <a:latin typeface="华文细黑" panose="02010600040101010101" pitchFamily="2" charset="-122"/>
              <a:ea typeface="华文细黑" panose="02010600040101010101" pitchFamily="2" charset="-122"/>
            </a:endParaRPr>
          </a:p>
          <a:p>
            <a:pPr eaLnBrk="1" hangingPunct="1">
              <a:lnSpc>
                <a:spcPct val="110000"/>
              </a:lnSpc>
            </a:pPr>
            <a:r>
              <a:rPr lang="zh-CN" altLang="en-US" sz="2400" b="1" dirty="0">
                <a:solidFill>
                  <a:srgbClr val="FF0000"/>
                </a:solidFill>
                <a:latin typeface="华文细黑" panose="02010600040101010101" pitchFamily="2" charset="-122"/>
                <a:ea typeface="华文细黑" panose="02010600040101010101" pitchFamily="2" charset="-122"/>
              </a:rPr>
              <a:t>定义：</a:t>
            </a:r>
            <a:r>
              <a:rPr lang="zh-CN" altLang="en-US" sz="2400" b="1" dirty="0">
                <a:solidFill>
                  <a:srgbClr val="0000FF"/>
                </a:solidFill>
                <a:latin typeface="华文细黑" panose="02010600040101010101" pitchFamily="2" charset="-122"/>
                <a:ea typeface="华文细黑" panose="02010600040101010101" pitchFamily="2" charset="-122"/>
              </a:rPr>
              <a:t>地表各个方向反射的全部辐射通量与入射辐射通量的比。</a:t>
            </a:r>
            <a:br>
              <a:rPr lang="en-US" altLang="zh-CN" sz="2400" b="1" dirty="0">
                <a:solidFill>
                  <a:srgbClr val="0000FF"/>
                </a:solidFill>
                <a:latin typeface="华文细黑" panose="02010600040101010101" pitchFamily="2" charset="-122"/>
                <a:ea typeface="华文细黑" panose="02010600040101010101" pitchFamily="2" charset="-122"/>
              </a:rPr>
            </a:br>
            <a:br>
              <a:rPr lang="en-US" altLang="zh-CN" sz="2400" b="1" dirty="0">
                <a:solidFill>
                  <a:srgbClr val="0000FF"/>
                </a:solidFill>
                <a:latin typeface="华文细黑" panose="02010600040101010101" pitchFamily="2" charset="-122"/>
                <a:ea typeface="华文细黑" panose="02010600040101010101" pitchFamily="2" charset="-122"/>
              </a:rPr>
            </a:br>
            <a:r>
              <a:rPr lang="zh-CN" altLang="en-US" sz="2400" b="1" dirty="0">
                <a:solidFill>
                  <a:srgbClr val="0000FF"/>
                </a:solidFill>
                <a:latin typeface="华文细黑" panose="02010600040101010101" pitchFamily="2" charset="-122"/>
                <a:ea typeface="华文细黑" panose="02010600040101010101" pitchFamily="2" charset="-122"/>
              </a:rPr>
              <a:t>反照率是反射率对所有观测方向的积分。</a:t>
            </a:r>
            <a:endParaRPr lang="zh-CN" altLang="en-US" sz="2400" b="1"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2" name="Rectangle 2"/>
          <p:cNvSpPr>
            <a:spLocks noGrp="1"/>
          </p:cNvSpPr>
          <p:nvPr>
            <p:ph type="title"/>
          </p:nvPr>
        </p:nvSpPr>
        <p:spPr>
          <a:xfrm>
            <a:off x="1403350" y="33338"/>
            <a:ext cx="7740650" cy="1019175"/>
          </a:xfrm>
          <a:ln/>
        </p:spPr>
        <p:txBody>
          <a:bodyPr vert="horz" wrap="square" lIns="91440" tIns="45720" rIns="91440" bIns="45720" anchor="ctr" anchorCtr="0"/>
          <a:p>
            <a:pPr algn="ctr"/>
            <a:r>
              <a:rPr lang="en-US" altLang="zh-CN" sz="4000" dirty="0">
                <a:solidFill>
                  <a:srgbClr val="FFFF00"/>
                </a:solidFill>
                <a:latin typeface="黑体" panose="02010609060101010101" pitchFamily="49" charset="-122"/>
                <a:ea typeface="黑体" panose="02010609060101010101" pitchFamily="49" charset="-122"/>
              </a:rPr>
              <a:t>1.</a:t>
            </a:r>
            <a:r>
              <a:rPr lang="zh-CN" altLang="en-US" sz="4000" dirty="0">
                <a:solidFill>
                  <a:srgbClr val="FFFF00"/>
                </a:solidFill>
                <a:latin typeface="黑体" panose="02010609060101010101" pitchFamily="49" charset="-122"/>
                <a:ea typeface="黑体" panose="02010609060101010101" pitchFamily="49" charset="-122"/>
              </a:rPr>
              <a:t>地面反照率</a:t>
            </a:r>
            <a:endParaRPr lang="zh-CN" altLang="en-US" sz="4000" dirty="0">
              <a:solidFill>
                <a:srgbClr val="FFFF00"/>
              </a:solidFill>
              <a:latin typeface="黑体" panose="02010609060101010101" pitchFamily="49" charset="-122"/>
              <a:ea typeface="黑体" panose="02010609060101010101" pitchFamily="49" charset="-122"/>
            </a:endParaRPr>
          </a:p>
        </p:txBody>
      </p:sp>
      <p:sp>
        <p:nvSpPr>
          <p:cNvPr id="61443" name="Rectangle 7"/>
          <p:cNvSpPr>
            <a:spLocks noGrp="1"/>
          </p:cNvSpPr>
          <p:nvPr>
            <p:ph idx="1"/>
          </p:nvPr>
        </p:nvSpPr>
        <p:spPr>
          <a:xfrm>
            <a:off x="0" y="1066800"/>
            <a:ext cx="8991600" cy="5791200"/>
          </a:xfrm>
          <a:ln/>
        </p:spPr>
        <p:txBody>
          <a:bodyPr vert="horz" wrap="square" lIns="91440" tIns="45720" rIns="91440" bIns="45720" anchor="t" anchorCtr="0"/>
          <a:p>
            <a:pPr>
              <a:buFontTx/>
              <a:buNone/>
            </a:pPr>
            <a:endParaRPr lang="zh-CN" altLang="en-US" dirty="0">
              <a:ea typeface="宋体" panose="02010600030101010101" pitchFamily="2" charset="-122"/>
            </a:endParaRPr>
          </a:p>
          <a:p>
            <a:pPr lvl="1"/>
            <a:r>
              <a:rPr lang="zh-CN" altLang="en-US" dirty="0">
                <a:solidFill>
                  <a:srgbClr val="FF33CC"/>
                </a:solidFill>
                <a:latin typeface="华文细黑" panose="02010600040101010101" pitchFamily="2" charset="-122"/>
                <a:ea typeface="华文细黑" panose="02010600040101010101" pitchFamily="2" charset="-122"/>
              </a:rPr>
              <a:t>应用：植被指数（</a:t>
            </a:r>
            <a:r>
              <a:rPr lang="en-US" altLang="zh-CN" dirty="0">
                <a:solidFill>
                  <a:srgbClr val="FF33CC"/>
                </a:solidFill>
                <a:latin typeface="华文细黑" panose="02010600040101010101" pitchFamily="2" charset="-122"/>
                <a:ea typeface="华文细黑" panose="02010600040101010101" pitchFamily="2" charset="-122"/>
              </a:rPr>
              <a:t>NDVI</a:t>
            </a:r>
            <a:r>
              <a:rPr lang="zh-CN" altLang="en-US" dirty="0">
                <a:solidFill>
                  <a:srgbClr val="FF33CC"/>
                </a:solidFill>
                <a:latin typeface="华文细黑" panose="02010600040101010101" pitchFamily="2" charset="-122"/>
                <a:ea typeface="华文细黑" panose="02010600040101010101" pitchFamily="2" charset="-122"/>
              </a:rPr>
              <a:t>）</a:t>
            </a:r>
            <a:endParaRPr lang="zh-CN" altLang="en-US" dirty="0">
              <a:solidFill>
                <a:srgbClr val="FF33CC"/>
              </a:solidFill>
              <a:latin typeface="华文细黑" panose="02010600040101010101" pitchFamily="2" charset="-122"/>
              <a:ea typeface="华文细黑" panose="02010600040101010101" pitchFamily="2" charset="-122"/>
            </a:endParaRPr>
          </a:p>
          <a:p>
            <a:pPr lvl="1"/>
            <a:endParaRPr lang="zh-CN" altLang="en-US" dirty="0">
              <a:latin typeface="华文细黑" panose="02010600040101010101" pitchFamily="2" charset="-122"/>
              <a:ea typeface="华文细黑" panose="02010600040101010101" pitchFamily="2" charset="-122"/>
            </a:endParaRPr>
          </a:p>
          <a:p>
            <a:pPr lvl="1">
              <a:lnSpc>
                <a:spcPct val="120000"/>
              </a:lnSpc>
            </a:pPr>
            <a:r>
              <a:rPr lang="zh-CN" altLang="en-US" dirty="0">
                <a:latin typeface="华文细黑" panose="02010600040101010101" pitchFamily="2" charset="-122"/>
                <a:ea typeface="华文细黑" panose="02010600040101010101" pitchFamily="2" charset="-122"/>
              </a:rPr>
              <a:t>在</a:t>
            </a:r>
            <a:r>
              <a:rPr lang="en-US" altLang="zh-CN" dirty="0">
                <a:latin typeface="华文细黑" panose="02010600040101010101" pitchFamily="2" charset="-122"/>
                <a:ea typeface="华文细黑" panose="02010600040101010101" pitchFamily="2" charset="-122"/>
              </a:rPr>
              <a:t>NOAA</a:t>
            </a:r>
            <a:r>
              <a:rPr lang="zh-CN" altLang="en-US" dirty="0">
                <a:latin typeface="华文细黑" panose="02010600040101010101" pitchFamily="2" charset="-122"/>
                <a:ea typeface="华文细黑" panose="02010600040101010101" pitchFamily="2" charset="-122"/>
              </a:rPr>
              <a:t>气象卫星上利用二个通道，分别测量可见光通道（如：</a:t>
            </a:r>
            <a:r>
              <a:rPr lang="en-US" altLang="zh-CN" dirty="0">
                <a:latin typeface="华文细黑" panose="02010600040101010101" pitchFamily="2" charset="-122"/>
                <a:ea typeface="华文细黑" panose="02010600040101010101" pitchFamily="2" charset="-122"/>
              </a:rPr>
              <a:t>0.58~0.68μm</a:t>
            </a:r>
            <a:r>
              <a:rPr lang="zh-CN" altLang="en-US" dirty="0">
                <a:latin typeface="华文细黑" panose="02010600040101010101" pitchFamily="2" charset="-122"/>
                <a:ea typeface="华文细黑" panose="02010600040101010101" pitchFamily="2" charset="-122"/>
              </a:rPr>
              <a:t>）和近红外通道（如：</a:t>
            </a:r>
            <a:r>
              <a:rPr lang="en-US" altLang="zh-CN" dirty="0">
                <a:latin typeface="华文细黑" panose="02010600040101010101" pitchFamily="2" charset="-122"/>
                <a:ea typeface="华文细黑" panose="02010600040101010101" pitchFamily="2" charset="-122"/>
              </a:rPr>
              <a:t>0.7~1.1μm</a:t>
            </a:r>
            <a:r>
              <a:rPr lang="zh-CN" altLang="en-US" dirty="0">
                <a:latin typeface="华文细黑" panose="02010600040101010101" pitchFamily="2" charset="-122"/>
                <a:ea typeface="华文细黑" panose="02010600040101010101" pitchFamily="2" charset="-122"/>
              </a:rPr>
              <a:t>）波段的地面反照率。</a:t>
            </a:r>
            <a:endParaRPr lang="zh-CN" altLang="en-US" dirty="0">
              <a:latin typeface="华文细黑" panose="02010600040101010101" pitchFamily="2" charset="-122"/>
              <a:ea typeface="华文细黑" panose="02010600040101010101" pitchFamily="2" charset="-122"/>
            </a:endParaRPr>
          </a:p>
          <a:p>
            <a:pPr lvl="1">
              <a:spcBef>
                <a:spcPts val="3000"/>
              </a:spcBef>
              <a:spcAft>
                <a:spcPts val="3000"/>
              </a:spcAft>
            </a:pPr>
            <a:r>
              <a:rPr lang="en-US" altLang="zh-CN" dirty="0">
                <a:latin typeface="华文细黑" panose="02010600040101010101" pitchFamily="2" charset="-122"/>
                <a:ea typeface="华文细黑" panose="02010600040101010101" pitchFamily="2" charset="-122"/>
              </a:rPr>
              <a:t>NDVI = (Ch2</a:t>
            </a:r>
            <a:r>
              <a:rPr lang="en-US" altLang="zh-CN" dirty="0">
                <a:latin typeface="华文细黑" panose="02010600040101010101" pitchFamily="2" charset="-122"/>
                <a:ea typeface="华文细黑" panose="02010600040101010101" pitchFamily="2" charset="-122"/>
                <a:sym typeface="Symbol" panose="05050102010706020507" pitchFamily="18" charset="2"/>
              </a:rPr>
              <a:t></a:t>
            </a:r>
            <a:r>
              <a:rPr lang="en-US" altLang="zh-CN" dirty="0">
                <a:latin typeface="华文细黑" panose="02010600040101010101" pitchFamily="2" charset="-122"/>
                <a:ea typeface="华文细黑" panose="02010600040101010101" pitchFamily="2" charset="-122"/>
              </a:rPr>
              <a:t>Ch1) / (Ch2+Ch1)</a:t>
            </a:r>
            <a:endParaRPr lang="en-US" altLang="zh-CN" dirty="0">
              <a:latin typeface="华文细黑" panose="02010600040101010101" pitchFamily="2" charset="-122"/>
              <a:ea typeface="华文细黑" panose="02010600040101010101" pitchFamily="2" charset="-122"/>
            </a:endParaRPr>
          </a:p>
          <a:p>
            <a:pPr lvl="1"/>
            <a:r>
              <a:rPr lang="zh-CN" altLang="en-US" dirty="0">
                <a:latin typeface="华文细黑" panose="02010600040101010101" pitchFamily="2" charset="-122"/>
                <a:ea typeface="华文细黑" panose="02010600040101010101" pitchFamily="2" charset="-122"/>
              </a:rPr>
              <a:t>当植被生长茂盛，植被指数值就较大。</a:t>
            </a:r>
            <a:endParaRPr lang="zh-CN" altLang="en-US" dirty="0">
              <a:latin typeface="华文细黑" panose="02010600040101010101" pitchFamily="2" charset="-122"/>
              <a:ea typeface="华文细黑" panose="02010600040101010101" pitchFamily="2" charset="-122"/>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6" name="Title 1"/>
          <p:cNvSpPr>
            <a:spLocks noGrp="1"/>
          </p:cNvSpPr>
          <p:nvPr>
            <p:ph type="title"/>
          </p:nvPr>
        </p:nvSpPr>
        <p:spPr>
          <a:ln/>
        </p:spPr>
        <p:txBody>
          <a:bodyPr vert="horz" wrap="square" lIns="91440" tIns="45720" rIns="91440" bIns="45720" anchor="ctr" anchorCtr="0"/>
          <a:p>
            <a:pPr algn="ctr"/>
            <a:r>
              <a:rPr lang="en-US" altLang="en-US" sz="3600" dirty="0">
                <a:solidFill>
                  <a:srgbClr val="FFFF00"/>
                </a:solidFill>
                <a:latin typeface="黑体" panose="02010609060101010101" pitchFamily="49" charset="-122"/>
                <a:ea typeface="黑体" panose="02010609060101010101" pitchFamily="49" charset="-122"/>
              </a:rPr>
              <a:t>典型地面覆盖类型的</a:t>
            </a:r>
            <a:r>
              <a:rPr lang="en-US" altLang="zh-CN" sz="3600" dirty="0">
                <a:solidFill>
                  <a:srgbClr val="FFFF00"/>
                </a:solidFill>
                <a:latin typeface="黑体" panose="02010609060101010101" pitchFamily="49" charset="-122"/>
                <a:ea typeface="黑体" panose="02010609060101010101" pitchFamily="49" charset="-122"/>
              </a:rPr>
              <a:t>NDVI</a:t>
            </a:r>
            <a:r>
              <a:rPr lang="en-US" altLang="en-US" sz="3600" dirty="0">
                <a:solidFill>
                  <a:srgbClr val="FFFF00"/>
                </a:solidFill>
                <a:latin typeface="黑体" panose="02010609060101010101" pitchFamily="49" charset="-122"/>
                <a:ea typeface="黑体" panose="02010609060101010101" pitchFamily="49" charset="-122"/>
              </a:rPr>
              <a:t>值域</a:t>
            </a:r>
            <a:endParaRPr lang="zh-CN" altLang="en-US" sz="3600" dirty="0">
              <a:solidFill>
                <a:srgbClr val="FFFF00"/>
              </a:solidFill>
              <a:latin typeface="黑体" panose="02010609060101010101" pitchFamily="49" charset="-122"/>
              <a:ea typeface="黑体" panose="02010609060101010101" pitchFamily="49" charset="-122"/>
            </a:endParaRPr>
          </a:p>
        </p:txBody>
      </p:sp>
      <p:sp>
        <p:nvSpPr>
          <p:cNvPr id="62467" name="Content Placeholder 2"/>
          <p:cNvSpPr>
            <a:spLocks noGrp="1"/>
          </p:cNvSpPr>
          <p:nvPr>
            <p:ph idx="1"/>
          </p:nvPr>
        </p:nvSpPr>
        <p:spPr>
          <a:xfrm>
            <a:off x="1331913" y="1412875"/>
            <a:ext cx="6059487" cy="4525963"/>
          </a:xfrm>
          <a:ln/>
        </p:spPr>
        <p:txBody>
          <a:bodyPr vert="horz" wrap="square" lIns="91440" tIns="45720" rIns="91440" bIns="45720" anchor="t" anchorCtr="0"/>
          <a:p>
            <a:pPr>
              <a:lnSpc>
                <a:spcPct val="150000"/>
              </a:lnSpc>
            </a:pPr>
            <a:r>
              <a:rPr lang="zh-CN" altLang="en-US" sz="2400" dirty="0">
                <a:latin typeface="华文细黑" panose="02010600040101010101" pitchFamily="2" charset="-122"/>
                <a:ea typeface="华文细黑" panose="02010600040101010101" pitchFamily="2" charset="-122"/>
              </a:rPr>
              <a:t>云、水、雪</a:t>
            </a:r>
            <a:endParaRPr lang="en-US" altLang="zh-CN" sz="2400" dirty="0">
              <a:latin typeface="华文细黑" panose="02010600040101010101" pitchFamily="2" charset="-122"/>
              <a:ea typeface="华文细黑" panose="02010600040101010101" pitchFamily="2" charset="-122"/>
            </a:endParaRPr>
          </a:p>
          <a:p>
            <a:pPr>
              <a:lnSpc>
                <a:spcPct val="150000"/>
              </a:lnSpc>
              <a:buNone/>
            </a:pPr>
            <a:r>
              <a:rPr lang="zh-CN" altLang="en-US" sz="2400" dirty="0">
                <a:latin typeface="华文细黑" panose="02010600040101010101" pitchFamily="2" charset="-122"/>
                <a:ea typeface="华文细黑" panose="02010600040101010101" pitchFamily="2" charset="-122"/>
              </a:rPr>
              <a:t>   </a:t>
            </a:r>
            <a:r>
              <a:rPr lang="en-US" altLang="zh-CN" sz="2400" dirty="0">
                <a:solidFill>
                  <a:srgbClr val="0000FF"/>
                </a:solidFill>
                <a:latin typeface="华文细黑" panose="02010600040101010101" pitchFamily="2" charset="-122"/>
                <a:ea typeface="华文细黑" panose="02010600040101010101" pitchFamily="2" charset="-122"/>
              </a:rPr>
              <a:t>R&gt;NIR</a:t>
            </a:r>
            <a:r>
              <a:rPr lang="zh-CN" altLang="en-US" sz="2400" dirty="0">
                <a:solidFill>
                  <a:srgbClr val="0000FF"/>
                </a:solidFill>
                <a:latin typeface="华文细黑" panose="02010600040101010101" pitchFamily="2" charset="-122"/>
                <a:ea typeface="华文细黑" panose="02010600040101010101" pitchFamily="2" charset="-122"/>
              </a:rPr>
              <a:t>，则</a:t>
            </a:r>
            <a:r>
              <a:rPr lang="en-US" altLang="zh-CN" sz="2400" dirty="0">
                <a:solidFill>
                  <a:srgbClr val="0000FF"/>
                </a:solidFill>
                <a:latin typeface="华文细黑" panose="02010600040101010101" pitchFamily="2" charset="-122"/>
                <a:ea typeface="华文细黑" panose="02010600040101010101" pitchFamily="2" charset="-122"/>
              </a:rPr>
              <a:t>NDVI&lt;0</a:t>
            </a:r>
            <a:endParaRPr lang="en-US" altLang="zh-CN" sz="2400" dirty="0">
              <a:solidFill>
                <a:srgbClr val="0000FF"/>
              </a:solidFill>
              <a:latin typeface="华文细黑" panose="02010600040101010101" pitchFamily="2" charset="-122"/>
              <a:ea typeface="华文细黑" panose="02010600040101010101" pitchFamily="2" charset="-122"/>
            </a:endParaRPr>
          </a:p>
          <a:p>
            <a:pPr>
              <a:lnSpc>
                <a:spcPct val="150000"/>
              </a:lnSpc>
            </a:pPr>
            <a:r>
              <a:rPr lang="zh-CN" altLang="en-US" sz="2400" dirty="0">
                <a:latin typeface="华文细黑" panose="02010600040101010101" pitchFamily="2" charset="-122"/>
                <a:ea typeface="华文细黑" panose="02010600040101010101" pitchFamily="2" charset="-122"/>
              </a:rPr>
              <a:t>岩石、裸土</a:t>
            </a:r>
            <a:endParaRPr lang="en-US" altLang="zh-CN" sz="2400" dirty="0">
              <a:latin typeface="华文细黑" panose="02010600040101010101" pitchFamily="2" charset="-122"/>
              <a:ea typeface="华文细黑" panose="02010600040101010101" pitchFamily="2" charset="-122"/>
            </a:endParaRPr>
          </a:p>
          <a:p>
            <a:pPr>
              <a:lnSpc>
                <a:spcPct val="150000"/>
              </a:lnSpc>
              <a:buNone/>
            </a:pPr>
            <a:r>
              <a:rPr lang="zh-CN"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  </a:t>
            </a:r>
            <a:r>
              <a:rPr lang="en-US" altLang="zh-CN" sz="2400" dirty="0">
                <a:solidFill>
                  <a:srgbClr val="0000FF"/>
                </a:solidFill>
                <a:latin typeface="华文细黑" panose="02010600040101010101" pitchFamily="2" charset="-122"/>
                <a:ea typeface="华文细黑" panose="02010600040101010101" pitchFamily="2" charset="-122"/>
              </a:rPr>
              <a:t>R≈NIR</a:t>
            </a:r>
            <a:r>
              <a:rPr lang="zh-CN" altLang="en-US" sz="2400" dirty="0">
                <a:solidFill>
                  <a:srgbClr val="0000FF"/>
                </a:solidFill>
                <a:latin typeface="华文细黑" panose="02010600040101010101" pitchFamily="2" charset="-122"/>
                <a:ea typeface="华文细黑" panose="02010600040101010101" pitchFamily="2" charset="-122"/>
              </a:rPr>
              <a:t>，则</a:t>
            </a:r>
            <a:r>
              <a:rPr lang="en-US" altLang="zh-CN" sz="2400" dirty="0">
                <a:solidFill>
                  <a:srgbClr val="0000FF"/>
                </a:solidFill>
                <a:latin typeface="华文细黑" panose="02010600040101010101" pitchFamily="2" charset="-122"/>
                <a:ea typeface="华文细黑" panose="02010600040101010101" pitchFamily="2" charset="-122"/>
              </a:rPr>
              <a:t>NDVI≈0</a:t>
            </a:r>
            <a:endParaRPr lang="en-US" altLang="zh-CN" sz="2400" dirty="0">
              <a:solidFill>
                <a:srgbClr val="0000FF"/>
              </a:solidFill>
              <a:latin typeface="华文细黑" panose="02010600040101010101" pitchFamily="2" charset="-122"/>
              <a:ea typeface="华文细黑" panose="02010600040101010101" pitchFamily="2" charset="-122"/>
            </a:endParaRPr>
          </a:p>
          <a:p>
            <a:pPr>
              <a:lnSpc>
                <a:spcPct val="150000"/>
              </a:lnSpc>
            </a:pPr>
            <a:r>
              <a:rPr lang="zh-CN" altLang="en-US" sz="2400" dirty="0">
                <a:latin typeface="华文细黑" panose="02010600040101010101" pitchFamily="2" charset="-122"/>
                <a:ea typeface="华文细黑" panose="02010600040101010101" pitchFamily="2" charset="-122"/>
              </a:rPr>
              <a:t>植被</a:t>
            </a:r>
            <a:endParaRPr lang="en-US" altLang="zh-CN" sz="2400" dirty="0">
              <a:latin typeface="华文细黑" panose="02010600040101010101" pitchFamily="2" charset="-122"/>
              <a:ea typeface="华文细黑" panose="02010600040101010101" pitchFamily="2" charset="-122"/>
            </a:endParaRPr>
          </a:p>
          <a:p>
            <a:pPr>
              <a:lnSpc>
                <a:spcPct val="150000"/>
              </a:lnSpc>
              <a:buNone/>
            </a:pPr>
            <a:r>
              <a:rPr lang="zh-CN"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  </a:t>
            </a:r>
            <a:r>
              <a:rPr lang="en-US" altLang="zh-CN" sz="2400" dirty="0">
                <a:solidFill>
                  <a:srgbClr val="0000FF"/>
                </a:solidFill>
                <a:latin typeface="华文细黑" panose="02010600040101010101" pitchFamily="2" charset="-122"/>
                <a:ea typeface="华文细黑" panose="02010600040101010101" pitchFamily="2" charset="-122"/>
              </a:rPr>
              <a:t>R&lt;NIR</a:t>
            </a:r>
            <a:r>
              <a:rPr lang="zh-CN" altLang="en-US" sz="2400" dirty="0">
                <a:solidFill>
                  <a:srgbClr val="0000FF"/>
                </a:solidFill>
                <a:latin typeface="华文细黑" panose="02010600040101010101" pitchFamily="2" charset="-122"/>
                <a:ea typeface="华文细黑" panose="02010600040101010101" pitchFamily="2" charset="-122"/>
              </a:rPr>
              <a:t>，则</a:t>
            </a:r>
            <a:r>
              <a:rPr lang="en-US" altLang="zh-CN" sz="2400" dirty="0">
                <a:solidFill>
                  <a:srgbClr val="0000FF"/>
                </a:solidFill>
                <a:latin typeface="华文细黑" panose="02010600040101010101" pitchFamily="2" charset="-122"/>
                <a:ea typeface="华文细黑" panose="02010600040101010101" pitchFamily="2" charset="-122"/>
              </a:rPr>
              <a:t>NDVI&gt;0</a:t>
            </a:r>
            <a:endParaRPr lang="en-US" altLang="zh-CN" sz="2400" dirty="0">
              <a:solidFill>
                <a:srgbClr val="0000FF"/>
              </a:solidFill>
              <a:latin typeface="华文细黑" panose="02010600040101010101" pitchFamily="2" charset="-122"/>
              <a:ea typeface="华文细黑" panose="02010600040101010101" pitchFamily="2" charset="-122"/>
            </a:endParaRPr>
          </a:p>
          <a:p>
            <a:pPr>
              <a:lnSpc>
                <a:spcPct val="150000"/>
              </a:lnSpc>
              <a:buNone/>
            </a:pPr>
            <a:r>
              <a:rPr lang="zh-CN" altLang="zh-CN" sz="2400" dirty="0">
                <a:latin typeface="华文细黑" panose="02010600040101010101" pitchFamily="2" charset="-122"/>
                <a:ea typeface="华文细黑" panose="02010600040101010101" pitchFamily="2" charset="-122"/>
              </a:rPr>
              <a:t> </a:t>
            </a:r>
            <a:r>
              <a:rPr lang="zh-CN" altLang="en-US" sz="2400" dirty="0">
                <a:latin typeface="华文细黑" panose="02010600040101010101" pitchFamily="2" charset="-122"/>
                <a:ea typeface="华文细黑" panose="02010600040101010101" pitchFamily="2" charset="-122"/>
              </a:rPr>
              <a:t> 植被覆盖度越大，</a:t>
            </a:r>
            <a:r>
              <a:rPr lang="en-US" altLang="zh-CN" sz="2400" dirty="0">
                <a:latin typeface="华文细黑" panose="02010600040101010101" pitchFamily="2" charset="-122"/>
                <a:ea typeface="华文细黑" panose="02010600040101010101" pitchFamily="2" charset="-122"/>
              </a:rPr>
              <a:t>NDVI</a:t>
            </a:r>
            <a:r>
              <a:rPr lang="zh-CN" altLang="en-US" sz="2400" dirty="0">
                <a:latin typeface="华文细黑" panose="02010600040101010101" pitchFamily="2" charset="-122"/>
                <a:ea typeface="华文细黑" panose="02010600040101010101" pitchFamily="2" charset="-122"/>
              </a:rPr>
              <a:t>越大</a:t>
            </a:r>
            <a:endParaRPr lang="en-US" altLang="zh-CN" sz="2400" dirty="0">
              <a:latin typeface="华文细黑" panose="02010600040101010101" pitchFamily="2" charset="-122"/>
              <a:ea typeface="华文细黑" panose="02010600040101010101" pitchFamily="2" charset="-122"/>
            </a:endParaRPr>
          </a:p>
        </p:txBody>
      </p:sp>
    </p:spTree>
  </p:cSld>
  <p:clrMapOvr>
    <a:masterClrMapping/>
  </p:clrMapOvr>
  <p:transition spd="slow"/>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3490" name="TextBox 3"/>
          <p:cNvSpPr txBox="1"/>
          <p:nvPr/>
        </p:nvSpPr>
        <p:spPr>
          <a:xfrm>
            <a:off x="357188" y="6357938"/>
            <a:ext cx="8643937" cy="369887"/>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63491" name="Rectangle 2"/>
          <p:cNvSpPr>
            <a:spLocks noGrp="1"/>
          </p:cNvSpPr>
          <p:nvPr>
            <p:ph type="title"/>
          </p:nvPr>
        </p:nvSpPr>
        <p:spPr>
          <a:xfrm>
            <a:off x="1416050" y="230188"/>
            <a:ext cx="7704138" cy="671512"/>
          </a:xfrm>
          <a:ln/>
        </p:spPr>
        <p:txBody>
          <a:bodyPr vert="horz" wrap="square" lIns="91440" tIns="45720" rIns="91440" bIns="45720" anchor="ctr" anchorCtr="0"/>
          <a:p>
            <a:pPr algn="ctr"/>
            <a:r>
              <a:rPr lang="zh-CN" altLang="en-US" dirty="0">
                <a:solidFill>
                  <a:srgbClr val="FFFF00"/>
                </a:solidFill>
                <a:latin typeface="黑体" panose="02010609060101010101" pitchFamily="49" charset="-122"/>
                <a:ea typeface="黑体" panose="02010609060101010101" pitchFamily="49" charset="-122"/>
              </a:rPr>
              <a:t>卫星反演的植被指数</a:t>
            </a:r>
            <a:r>
              <a:rPr lang="zh-CN" altLang="en-US" i="1" dirty="0">
                <a:solidFill>
                  <a:srgbClr val="FFFF00"/>
                </a:solidFill>
                <a:latin typeface="黑体" panose="02010609060101010101" pitchFamily="49" charset="-122"/>
                <a:ea typeface="黑体" panose="02010609060101010101" pitchFamily="49" charset="-122"/>
              </a:rPr>
              <a:t> </a:t>
            </a:r>
            <a:endParaRPr lang="zh-CN" altLang="en-US" i="1" dirty="0">
              <a:solidFill>
                <a:srgbClr val="FFFF00"/>
              </a:solidFill>
              <a:latin typeface="黑体" panose="02010609060101010101" pitchFamily="49" charset="-122"/>
              <a:ea typeface="黑体" panose="02010609060101010101" pitchFamily="49" charset="-122"/>
            </a:endParaRPr>
          </a:p>
        </p:txBody>
      </p:sp>
      <p:pic>
        <p:nvPicPr>
          <p:cNvPr id="63492" name="Picture 6"/>
          <p:cNvPicPr>
            <a:picLocks noChangeAspect="1"/>
          </p:cNvPicPr>
          <p:nvPr/>
        </p:nvPicPr>
        <p:blipFill>
          <a:blip r:embed="rId1"/>
          <a:stretch>
            <a:fillRect/>
          </a:stretch>
        </p:blipFill>
        <p:spPr>
          <a:xfrm>
            <a:off x="1116013" y="1071563"/>
            <a:ext cx="6734175" cy="5753100"/>
          </a:xfrm>
          <a:prstGeom prst="rect">
            <a:avLst/>
          </a:prstGeom>
          <a:noFill/>
          <a:ln w="9525">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4" name="Rectangle 3"/>
          <p:cNvSpPr txBox="1"/>
          <p:nvPr/>
        </p:nvSpPr>
        <p:spPr>
          <a:xfrm>
            <a:off x="603250" y="1341438"/>
            <a:ext cx="8072438" cy="5040312"/>
          </a:xfrm>
          <a:prstGeom prst="rect">
            <a:avLst/>
          </a:prstGeom>
          <a:noFill/>
          <a:ln w="9525">
            <a:noFill/>
          </a:ln>
        </p:spPr>
        <p:txBody>
          <a:bodyPr/>
          <a:p>
            <a:pPr marL="342900" indent="-342900" eaLnBrk="1" hangingPunct="1">
              <a:lnSpc>
                <a:spcPct val="120000"/>
              </a:lnSpc>
              <a:spcBef>
                <a:spcPts val="1200"/>
              </a:spcBef>
              <a:buClr>
                <a:schemeClr val="hlink"/>
              </a:buClr>
              <a:buSzPct val="70000"/>
              <a:buFont typeface="Wingdings" panose="05000000000000000000" pitchFamily="2" charset="2"/>
              <a:buChar char="n"/>
            </a:pPr>
            <a:r>
              <a:rPr lang="zh-CN" altLang="en-US" sz="2400" b="1" dirty="0">
                <a:solidFill>
                  <a:srgbClr val="0000FF"/>
                </a:solidFill>
                <a:latin typeface="华文细黑" panose="02010600040101010101" pitchFamily="2" charset="-122"/>
                <a:ea typeface="华文细黑" panose="02010600040101010101" pitchFamily="2" charset="-122"/>
              </a:rPr>
              <a:t>地表反照率的增加，会导致净辐射的减小，感热通量和潜热通量减少，进而造成大气辐合上升减弱，云和降水减少，土壤湿度减小，使得地表反照率增加，形成一个正反馈过程。</a:t>
            </a:r>
            <a:endParaRPr lang="en-US" altLang="zh-CN" sz="2400" b="1" dirty="0">
              <a:solidFill>
                <a:srgbClr val="0000FF"/>
              </a:solidFill>
              <a:latin typeface="华文细黑" panose="02010600040101010101" pitchFamily="2" charset="-122"/>
              <a:ea typeface="华文细黑" panose="02010600040101010101" pitchFamily="2" charset="-122"/>
            </a:endParaRPr>
          </a:p>
          <a:p>
            <a:pPr marL="342900" indent="-342900" eaLnBrk="1" hangingPunct="1">
              <a:lnSpc>
                <a:spcPct val="120000"/>
              </a:lnSpc>
              <a:spcBef>
                <a:spcPts val="1200"/>
              </a:spcBef>
              <a:buClr>
                <a:schemeClr val="hlink"/>
              </a:buClr>
              <a:buSzPct val="70000"/>
              <a:buFont typeface="Wingdings" panose="05000000000000000000" pitchFamily="2" charset="2"/>
              <a:buChar char="n"/>
            </a:pPr>
            <a:r>
              <a:rPr lang="zh-CN" altLang="en-US" sz="2400" b="1" dirty="0">
                <a:solidFill>
                  <a:srgbClr val="0000FF"/>
                </a:solidFill>
                <a:latin typeface="华文细黑" panose="02010600040101010101" pitchFamily="2" charset="-122"/>
                <a:ea typeface="华文细黑" panose="02010600040101010101" pitchFamily="2" charset="-122"/>
              </a:rPr>
              <a:t>冰雪</a:t>
            </a:r>
            <a:r>
              <a:rPr lang="en-US" altLang="zh-CN" sz="2400" b="1" dirty="0">
                <a:solidFill>
                  <a:srgbClr val="0000FF"/>
                </a:solidFill>
                <a:latin typeface="华文细黑" panose="02010600040101010101" pitchFamily="2" charset="-122"/>
                <a:ea typeface="华文细黑" panose="02010600040101010101" pitchFamily="2" charset="-122"/>
              </a:rPr>
              <a:t>-</a:t>
            </a:r>
            <a:r>
              <a:rPr lang="zh-CN" altLang="en-US" sz="2400" b="1" dirty="0">
                <a:solidFill>
                  <a:srgbClr val="0000FF"/>
                </a:solidFill>
                <a:latin typeface="华文细黑" panose="02010600040101010101" pitchFamily="2" charset="-122"/>
                <a:ea typeface="华文细黑" panose="02010600040101010101" pitchFamily="2" charset="-122"/>
              </a:rPr>
              <a:t>反射率</a:t>
            </a:r>
            <a:r>
              <a:rPr lang="en-US" altLang="zh-CN" sz="2400" b="1" dirty="0">
                <a:solidFill>
                  <a:srgbClr val="0000FF"/>
                </a:solidFill>
                <a:latin typeface="华文细黑" panose="02010600040101010101" pitchFamily="2" charset="-122"/>
                <a:ea typeface="华文细黑" panose="02010600040101010101" pitchFamily="2" charset="-122"/>
              </a:rPr>
              <a:t>-</a:t>
            </a:r>
            <a:r>
              <a:rPr lang="zh-CN" altLang="en-US" sz="2400" b="1" dirty="0">
                <a:solidFill>
                  <a:srgbClr val="0000FF"/>
                </a:solidFill>
                <a:latin typeface="华文细黑" panose="02010600040101010101" pitchFamily="2" charset="-122"/>
                <a:ea typeface="华文细黑" panose="02010600040101010101" pitchFamily="2" charset="-122"/>
              </a:rPr>
              <a:t>温度之间存在“正反馈过程”</a:t>
            </a:r>
            <a:r>
              <a:rPr lang="en-US" altLang="zh-CN" sz="2400" b="1" dirty="0">
                <a:solidFill>
                  <a:srgbClr val="0000FF"/>
                </a:solidFill>
                <a:latin typeface="华文细黑" panose="02010600040101010101" pitchFamily="2" charset="-122"/>
                <a:ea typeface="华文细黑" panose="02010600040101010101" pitchFamily="2" charset="-122"/>
              </a:rPr>
              <a:t>,</a:t>
            </a:r>
            <a:r>
              <a:rPr lang="zh-CN" altLang="en-US" sz="2400" b="1" dirty="0">
                <a:solidFill>
                  <a:srgbClr val="0000FF"/>
                </a:solidFill>
                <a:latin typeface="华文细黑" panose="02010600040101010101" pitchFamily="2" charset="-122"/>
                <a:ea typeface="华文细黑" panose="02010600040101010101" pitchFamily="2" charset="-122"/>
              </a:rPr>
              <a:t>即冰雪的覆盖增大地表的反照率，使地</a:t>
            </a:r>
            <a:r>
              <a:rPr lang="en-US" altLang="zh-CN" sz="2400" b="1" dirty="0">
                <a:solidFill>
                  <a:srgbClr val="0000FF"/>
                </a:solidFill>
                <a:latin typeface="华文细黑" panose="02010600040101010101" pitchFamily="2" charset="-122"/>
                <a:ea typeface="华文细黑" panose="02010600040101010101" pitchFamily="2" charset="-122"/>
              </a:rPr>
              <a:t>-</a:t>
            </a:r>
            <a:r>
              <a:rPr lang="zh-CN" altLang="en-US" sz="2400" b="1" dirty="0">
                <a:solidFill>
                  <a:srgbClr val="0000FF"/>
                </a:solidFill>
                <a:latin typeface="华文细黑" panose="02010600040101010101" pitchFamily="2" charset="-122"/>
                <a:ea typeface="华文细黑" panose="02010600040101010101" pitchFamily="2" charset="-122"/>
              </a:rPr>
              <a:t>气系统吸收的辐射减少</a:t>
            </a:r>
            <a:r>
              <a:rPr lang="en-US" altLang="zh-CN" sz="2400" b="1" dirty="0">
                <a:solidFill>
                  <a:srgbClr val="0000FF"/>
                </a:solidFill>
                <a:latin typeface="华文细黑" panose="02010600040101010101" pitchFamily="2" charset="-122"/>
                <a:ea typeface="华文细黑" panose="02010600040101010101" pitchFamily="2" charset="-122"/>
              </a:rPr>
              <a:t>,</a:t>
            </a:r>
            <a:r>
              <a:rPr lang="zh-CN" altLang="en-US" sz="2400" b="1" dirty="0">
                <a:solidFill>
                  <a:srgbClr val="0000FF"/>
                </a:solidFill>
                <a:latin typeface="华文细黑" panose="02010600040101010101" pitchFamily="2" charset="-122"/>
                <a:ea typeface="华文细黑" panose="02010600040101010101" pitchFamily="2" charset="-122"/>
              </a:rPr>
              <a:t>从而降低气温，而降温又将进一步使冰雪面积扩展，反照率继续增大，造成温度越来越低。</a:t>
            </a:r>
            <a:endParaRPr lang="en-US" altLang="zh-CN" sz="2400" b="1" dirty="0">
              <a:solidFill>
                <a:srgbClr val="0000FF"/>
              </a:solidFill>
              <a:latin typeface="华文细黑" panose="02010600040101010101" pitchFamily="2" charset="-122"/>
              <a:ea typeface="华文细黑" panose="02010600040101010101" pitchFamily="2" charset="-122"/>
            </a:endParaRPr>
          </a:p>
          <a:p>
            <a:pPr marL="342900" indent="-342900" eaLnBrk="1" hangingPunct="1">
              <a:lnSpc>
                <a:spcPct val="120000"/>
              </a:lnSpc>
              <a:spcBef>
                <a:spcPts val="1200"/>
              </a:spcBef>
              <a:buClr>
                <a:schemeClr val="hlink"/>
              </a:buClr>
              <a:buSzPct val="70000"/>
              <a:buFont typeface="Wingdings" panose="05000000000000000000" pitchFamily="2" charset="2"/>
              <a:buChar char="n"/>
            </a:pPr>
            <a:r>
              <a:rPr lang="zh-CN" altLang="en-US" sz="2400" b="1" dirty="0">
                <a:solidFill>
                  <a:srgbClr val="0000FF"/>
                </a:solidFill>
                <a:latin typeface="华文细黑" panose="02010600040101010101" pitchFamily="2" charset="-122"/>
                <a:ea typeface="华文细黑" panose="02010600040101010101" pitchFamily="2" charset="-122"/>
              </a:rPr>
              <a:t>极地海冰融化造成反照率的减小，从而更多的吸收太阳辐射，气温升高，加速海冰的融化。</a:t>
            </a:r>
            <a:endParaRPr lang="zh-CN" altLang="en-US" sz="2400" b="1" dirty="0">
              <a:solidFill>
                <a:srgbClr val="0000FF"/>
              </a:solidFill>
              <a:latin typeface="华文细黑" panose="02010600040101010101" pitchFamily="2" charset="-122"/>
              <a:ea typeface="华文细黑" panose="02010600040101010101" pitchFamily="2" charset="-122"/>
            </a:endParaRPr>
          </a:p>
        </p:txBody>
      </p:sp>
      <p:sp>
        <p:nvSpPr>
          <p:cNvPr id="64515" name="TextBox 4"/>
          <p:cNvSpPr txBox="1"/>
          <p:nvPr/>
        </p:nvSpPr>
        <p:spPr>
          <a:xfrm>
            <a:off x="1403350" y="333375"/>
            <a:ext cx="7240588" cy="584200"/>
          </a:xfrm>
          <a:prstGeom prst="rect">
            <a:avLst/>
          </a:prstGeom>
          <a:noFill/>
          <a:ln w="9525">
            <a:noFill/>
          </a:ln>
        </p:spPr>
        <p:txBody>
          <a:bodyPr>
            <a:spAutoFit/>
          </a:bodyPr>
          <a:p>
            <a:pPr algn="ctr" eaLnBrk="1" hangingPunct="1"/>
            <a:r>
              <a:rPr lang="zh-CN" altLang="en-US" sz="3200" b="1" dirty="0">
                <a:solidFill>
                  <a:srgbClr val="FFFF00"/>
                </a:solidFill>
                <a:latin typeface="黑体" panose="02010609060101010101" pitchFamily="49" charset="-122"/>
                <a:ea typeface="黑体" panose="02010609060101010101" pitchFamily="49" charset="-122"/>
              </a:rPr>
              <a:t>地表反照率对气候变化的反馈机制</a:t>
            </a:r>
            <a:endParaRPr lang="zh-CN" altLang="en-US" sz="3200" b="1" dirty="0">
              <a:solidFill>
                <a:srgbClr val="FFFF00"/>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8" name="TextBox 3"/>
          <p:cNvSpPr txBox="1"/>
          <p:nvPr/>
        </p:nvSpPr>
        <p:spPr>
          <a:xfrm>
            <a:off x="357188" y="6357938"/>
            <a:ext cx="8643937" cy="369887"/>
          </a:xfrm>
          <a:prstGeom prst="rect">
            <a:avLst/>
          </a:prstGeom>
          <a:solidFill>
            <a:schemeClr val="bg1"/>
          </a:solidFill>
          <a:ln w="9525">
            <a:noFill/>
          </a:ln>
        </p:spPr>
        <p:txBody>
          <a:bodyPr>
            <a:spAutoFit/>
          </a:bodyPr>
          <a:p>
            <a:pPr eaLnBrk="1" hangingPunct="1"/>
            <a:endParaRPr lang="zh-CN" altLang="en-US" dirty="0">
              <a:latin typeface="Arial" panose="020B0604020202020204" pitchFamily="34" charset="0"/>
              <a:ea typeface="宋体" panose="02010600030101010101" pitchFamily="2" charset="-122"/>
            </a:endParaRPr>
          </a:p>
        </p:txBody>
      </p:sp>
      <p:sp>
        <p:nvSpPr>
          <p:cNvPr id="65539" name="Rectangle 3"/>
          <p:cNvSpPr>
            <a:spLocks noGrp="1"/>
          </p:cNvSpPr>
          <p:nvPr>
            <p:ph type="title"/>
          </p:nvPr>
        </p:nvSpPr>
        <p:spPr>
          <a:xfrm>
            <a:off x="1428750" y="163513"/>
            <a:ext cx="7740650" cy="693737"/>
          </a:xfrm>
          <a:ln/>
        </p:spPr>
        <p:txBody>
          <a:bodyPr vert="horz" wrap="square" lIns="91440" tIns="45720" rIns="91440" bIns="45720" anchor="b" anchorCtr="0"/>
          <a:p>
            <a:pPr algn="ctr"/>
            <a:r>
              <a:rPr lang="en-US" altLang="zh-CN" sz="4000" dirty="0">
                <a:solidFill>
                  <a:srgbClr val="FFFF00"/>
                </a:solidFill>
                <a:latin typeface="黑体" panose="02010609060101010101" pitchFamily="49" charset="-122"/>
                <a:ea typeface="黑体" panose="02010609060101010101" pitchFamily="49" charset="-122"/>
              </a:rPr>
              <a:t>2. </a:t>
            </a:r>
            <a:r>
              <a:rPr lang="zh-CN" altLang="en-US" sz="4000" dirty="0">
                <a:solidFill>
                  <a:srgbClr val="FFFF00"/>
                </a:solidFill>
                <a:latin typeface="黑体" panose="02010609060101010101" pitchFamily="49" charset="-122"/>
                <a:ea typeface="黑体" panose="02010609060101010101" pitchFamily="49" charset="-122"/>
              </a:rPr>
              <a:t>云的反照率</a:t>
            </a:r>
            <a:endParaRPr lang="zh-CN" altLang="en-US" sz="4000" dirty="0">
              <a:solidFill>
                <a:srgbClr val="FFFF00"/>
              </a:solidFill>
              <a:latin typeface="黑体" panose="02010609060101010101" pitchFamily="49" charset="-122"/>
              <a:ea typeface="黑体" panose="02010609060101010101" pitchFamily="49" charset="-122"/>
            </a:endParaRPr>
          </a:p>
        </p:txBody>
      </p:sp>
      <p:pic>
        <p:nvPicPr>
          <p:cNvPr id="99332" name="Picture 6"/>
          <p:cNvPicPr>
            <a:picLocks noChangeAspect="1" noChangeArrowheads="1"/>
          </p:cNvPicPr>
          <p:nvPr/>
        </p:nvPicPr>
        <p:blipFill>
          <a:blip r:embed="rId1"/>
          <a:srcRect/>
          <a:stretch>
            <a:fillRect/>
          </a:stretch>
        </p:blipFill>
        <p:spPr bwMode="auto">
          <a:xfrm>
            <a:off x="1835969" y="2705216"/>
            <a:ext cx="5688359" cy="3676112"/>
          </a:xfrm>
          <a:prstGeom prst="rect">
            <a:avLst/>
          </a:prstGeom>
          <a:solidFill>
            <a:srgbClr val="FFFFFF">
              <a:shade val="85000"/>
            </a:srgbClr>
          </a:solidFill>
          <a:ln w="88900" cap="sq">
            <a:solidFill>
              <a:srgbClr val="FFFFFF"/>
            </a:solidFill>
            <a:miter lim="800000"/>
            <a:headEnd/>
            <a:tailEnd/>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65541" name="TextBox 1"/>
          <p:cNvSpPr txBox="1"/>
          <p:nvPr/>
        </p:nvSpPr>
        <p:spPr>
          <a:xfrm>
            <a:off x="684213" y="1268413"/>
            <a:ext cx="8245475" cy="1271587"/>
          </a:xfrm>
          <a:prstGeom prst="rect">
            <a:avLst/>
          </a:prstGeom>
          <a:noFill/>
          <a:ln w="9525">
            <a:noFill/>
          </a:ln>
        </p:spPr>
        <p:txBody>
          <a:bodyPr>
            <a:spAutoFit/>
          </a:bodyPr>
          <a:p>
            <a:pPr eaLnBrk="1" hangingPunct="1">
              <a:lnSpc>
                <a:spcPct val="120000"/>
              </a:lnSpc>
            </a:pPr>
            <a:r>
              <a:rPr lang="zh-CN" altLang="en-US" sz="2200" b="1" dirty="0">
                <a:solidFill>
                  <a:srgbClr val="0000FF"/>
                </a:solidFill>
                <a:latin typeface="华文细黑" panose="02010600040101010101" pitchFamily="2" charset="-122"/>
                <a:ea typeface="华文细黑" panose="02010600040101010101" pitchFamily="2" charset="-122"/>
              </a:rPr>
              <a:t>云的反照率既依赖于云的厚度、相态和含水量等云的微物理特性，而且和太阳高度角及下垫面反照率有关。一般来说，云的反照率随云层厚度、云中含水量而增大。</a:t>
            </a:r>
            <a:endParaRPr lang="en-US" altLang="zh-CN" sz="2200" b="1" dirty="0">
              <a:solidFill>
                <a:srgbClr val="0000FF"/>
              </a:solidFill>
              <a:latin typeface="华文细黑" panose="02010600040101010101" pitchFamily="2" charset="-122"/>
              <a:ea typeface="华文细黑" panose="0201060004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2" name="Rectangle 3"/>
          <p:cNvSpPr>
            <a:spLocks noGrp="1"/>
          </p:cNvSpPr>
          <p:nvPr>
            <p:ph type="title"/>
          </p:nvPr>
        </p:nvSpPr>
        <p:spPr>
          <a:xfrm>
            <a:off x="1403350" y="130175"/>
            <a:ext cx="7740650" cy="814388"/>
          </a:xfrm>
          <a:ln/>
        </p:spPr>
        <p:txBody>
          <a:bodyPr vert="horz" wrap="square" lIns="91440" tIns="45720" rIns="91440" bIns="45720" anchor="b" anchorCtr="0"/>
          <a:p>
            <a:pPr algn="ctr"/>
            <a:r>
              <a:rPr lang="zh-CN" altLang="en-US" dirty="0">
                <a:solidFill>
                  <a:srgbClr val="FFFF00"/>
                </a:solidFill>
                <a:latin typeface="黑体" panose="02010609060101010101" pitchFamily="49" charset="-122"/>
                <a:ea typeface="黑体" panose="02010609060101010101" pitchFamily="49" charset="-122"/>
              </a:rPr>
              <a:t>卫星资料反演的云的分类</a:t>
            </a:r>
            <a:endParaRPr lang="zh-CN" altLang="en-US" dirty="0">
              <a:solidFill>
                <a:srgbClr val="FFFF00"/>
              </a:solidFill>
              <a:latin typeface="黑体" panose="02010609060101010101" pitchFamily="49" charset="-122"/>
              <a:ea typeface="黑体" panose="02010609060101010101" pitchFamily="49" charset="-122"/>
            </a:endParaRPr>
          </a:p>
        </p:txBody>
      </p:sp>
      <p:pic>
        <p:nvPicPr>
          <p:cNvPr id="66563" name="Picture 4"/>
          <p:cNvPicPr>
            <a:picLocks noChangeAspect="1"/>
          </p:cNvPicPr>
          <p:nvPr/>
        </p:nvPicPr>
        <p:blipFill>
          <a:blip r:embed="rId1"/>
          <a:stretch>
            <a:fillRect/>
          </a:stretch>
        </p:blipFill>
        <p:spPr>
          <a:xfrm>
            <a:off x="719138" y="1162050"/>
            <a:ext cx="7740650" cy="5362575"/>
          </a:xfrm>
          <a:prstGeom prst="rect">
            <a:avLst/>
          </a:prstGeom>
          <a:noFill/>
          <a:ln w="9525">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6" name="Rectangle 5"/>
          <p:cNvSpPr/>
          <p:nvPr/>
        </p:nvSpPr>
        <p:spPr>
          <a:xfrm>
            <a:off x="1371600" y="115888"/>
            <a:ext cx="7772400" cy="814387"/>
          </a:xfrm>
          <a:prstGeom prst="rect">
            <a:avLst/>
          </a:prstGeom>
          <a:noFill/>
          <a:ln w="9525">
            <a:noFill/>
          </a:ln>
        </p:spPr>
        <p:txBody>
          <a:bodyPr anchor="ctr" anchorCtr="0"/>
          <a:p>
            <a:pPr algn="ctr" eaLnBrk="1" hangingPunct="1"/>
            <a:r>
              <a:rPr lang="en-US" altLang="zh-CN" sz="4000" b="1" dirty="0">
                <a:solidFill>
                  <a:srgbClr val="FFFF00"/>
                </a:solidFill>
                <a:latin typeface="黑体" panose="02010609060101010101" pitchFamily="49" charset="-122"/>
                <a:ea typeface="黑体" panose="02010609060101010101" pitchFamily="49" charset="-122"/>
              </a:rPr>
              <a:t>3.</a:t>
            </a:r>
            <a:r>
              <a:rPr lang="zh-CN" altLang="en-US" sz="4000" b="1" dirty="0">
                <a:solidFill>
                  <a:srgbClr val="FFFF00"/>
                </a:solidFill>
                <a:latin typeface="黑体" panose="02010609060101010101" pitchFamily="49" charset="-122"/>
                <a:ea typeface="黑体" panose="02010609060101010101" pitchFamily="49" charset="-122"/>
              </a:rPr>
              <a:t>行星反照率</a:t>
            </a:r>
            <a:r>
              <a:rPr lang="zh-CN" altLang="en-US" sz="4000" i="1" dirty="0">
                <a:solidFill>
                  <a:srgbClr val="FFFF00"/>
                </a:solidFill>
                <a:latin typeface="黑体" panose="02010609060101010101" pitchFamily="49" charset="-122"/>
                <a:ea typeface="黑体" panose="02010609060101010101" pitchFamily="49" charset="-122"/>
              </a:rPr>
              <a:t> </a:t>
            </a:r>
            <a:endParaRPr lang="zh-CN" altLang="en-US" sz="4000" i="1" dirty="0">
              <a:solidFill>
                <a:srgbClr val="FFFF00"/>
              </a:solidFill>
              <a:latin typeface="黑体" panose="02010609060101010101" pitchFamily="49" charset="-122"/>
              <a:ea typeface="黑体" panose="02010609060101010101" pitchFamily="49" charset="-122"/>
            </a:endParaRPr>
          </a:p>
        </p:txBody>
      </p:sp>
      <p:sp>
        <p:nvSpPr>
          <p:cNvPr id="46083" name="Rectangle 8"/>
          <p:cNvSpPr>
            <a:spLocks noGrp="1" noChangeArrowheads="1"/>
          </p:cNvSpPr>
          <p:nvPr>
            <p:ph idx="1"/>
          </p:nvPr>
        </p:nvSpPr>
        <p:spPr>
          <a:xfrm>
            <a:off x="0" y="852488"/>
            <a:ext cx="8991600" cy="5791200"/>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Tx/>
              <a:buNone/>
              <a:defRPr/>
            </a:pPr>
            <a:endParaRPr kumimoji="0" lang="zh-CN" altLang="en-US" sz="2800" b="1" i="0" u="none" strike="noStrike" kern="0" cap="none" spc="0" normalizeH="0" baseline="0" noProof="0" dirty="0">
              <a:ln>
                <a:noFill/>
              </a:ln>
              <a:solidFill>
                <a:schemeClr val="tx1"/>
              </a:solidFill>
              <a:effectLst/>
              <a:uLnTx/>
              <a:uFillTx/>
              <a:latin typeface="+mn-lt"/>
              <a:ea typeface="宋体" panose="02010600030101010101" pitchFamily="2" charset="-122"/>
              <a:cs typeface="+mn-cs"/>
            </a:endParaRPr>
          </a:p>
          <a:p>
            <a:pPr marL="742950" marR="0" lvl="1" indent="-285750" algn="l" defTabSz="914400" rtl="0" eaLnBrk="0" fontAlgn="base" latinLnBrk="0" hangingPunct="0">
              <a:lnSpc>
                <a:spcPct val="130000"/>
              </a:lnSpc>
              <a:spcBef>
                <a:spcPct val="20000"/>
              </a:spcBef>
              <a:spcAft>
                <a:spcPct val="0"/>
              </a:spcAft>
              <a:buClr>
                <a:schemeClr val="accent1"/>
              </a:buClr>
              <a:buSzTx/>
              <a:buFont typeface="Wingdings" panose="05000000000000000000" pitchFamily="2" charset="2"/>
              <a:buChar char="§"/>
              <a:defRPr/>
            </a:pPr>
            <a:r>
              <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地球</a:t>
            </a:r>
            <a:r>
              <a:rPr kumimoji="0" lang="en-US" altLang="zh-CN"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a:t>
            </a:r>
            <a:r>
              <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大气系统的反照率称为</a:t>
            </a:r>
            <a:r>
              <a:rPr kumimoji="0" lang="zh-CN" altLang="en-US" sz="26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rPr>
              <a:t>行星反照率</a:t>
            </a:r>
            <a:r>
              <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，它表示射入地球的太阳辐射被大气、云及地面反射回宇宙空间的总百分数。</a:t>
            </a:r>
            <a:endPar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935990" marR="0" lvl="1" indent="-285750" algn="l" defTabSz="914400" rtl="0" eaLnBrk="0" fontAlgn="base" latinLnBrk="0" hangingPunct="0">
              <a:lnSpc>
                <a:spcPct val="130000"/>
              </a:lnSpc>
              <a:spcBef>
                <a:spcPct val="20000"/>
              </a:spcBef>
              <a:spcAft>
                <a:spcPct val="0"/>
              </a:spcAft>
              <a:buClr>
                <a:schemeClr val="accent1"/>
              </a:buClr>
              <a:buSzTx/>
              <a:buFont typeface="Wingdings" panose="05000000000000000000" pitchFamily="2" charset="2"/>
              <a:buChar char="Ø"/>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地区行星反照率</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935990" marR="0" lvl="1" indent="-285750" algn="l" defTabSz="914400" rtl="0" eaLnBrk="0" fontAlgn="base" latinLnBrk="0" hangingPunct="0">
              <a:lnSpc>
                <a:spcPct val="130000"/>
              </a:lnSpc>
              <a:spcBef>
                <a:spcPct val="20000"/>
              </a:spcBef>
              <a:spcAft>
                <a:spcPct val="0"/>
              </a:spcAft>
              <a:buClr>
                <a:schemeClr val="accent1"/>
              </a:buClr>
              <a:buSzTx/>
              <a:buFont typeface="Wingdings" panose="05000000000000000000" pitchFamily="2" charset="2"/>
              <a:buChar char="Ø"/>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全球行星反照率</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00000"/>
              </a:lnSpc>
              <a:spcBef>
                <a:spcPts val="2400"/>
              </a:spcBef>
              <a:spcAft>
                <a:spcPts val="1200"/>
              </a:spcAft>
              <a:buClr>
                <a:schemeClr val="accent1"/>
              </a:buClr>
              <a:buSzTx/>
              <a:buFontTx/>
              <a:buNone/>
              <a:defRPr/>
            </a:pPr>
            <a:r>
              <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目前认为全球的行星反照率数值可取</a:t>
            </a:r>
            <a:r>
              <a:rPr kumimoji="0" lang="en-US" altLang="zh-CN" sz="2600" b="1" i="0" u="none" strike="noStrike" kern="0" cap="none" spc="0" normalizeH="0" baseline="0" noProof="0" dirty="0">
                <a:ln>
                  <a:noFill/>
                </a:ln>
                <a:solidFill>
                  <a:srgbClr val="FF0000"/>
                </a:solidFill>
                <a:effectLst/>
                <a:uLnTx/>
                <a:uFillTx/>
                <a:latin typeface="华文细黑" panose="02010600040101010101" pitchFamily="2" charset="-122"/>
                <a:ea typeface="华文细黑" panose="02010600040101010101" pitchFamily="2" charset="-122"/>
              </a:rPr>
              <a:t>0.30</a:t>
            </a:r>
            <a:r>
              <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a:t>
            </a:r>
            <a:endParaRPr kumimoji="0" lang="zh-CN" altLang="en-US" sz="26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993140" marR="0" lvl="1" indent="-342900" algn="l" defTabSz="914400" rtl="0" eaLnBrk="0" fontAlgn="base" latinLnBrk="0" hangingPunct="0">
              <a:lnSpc>
                <a:spcPct val="120000"/>
              </a:lnSpc>
              <a:spcBef>
                <a:spcPct val="0"/>
              </a:spcBef>
              <a:spcAft>
                <a:spcPct val="10000"/>
              </a:spcAft>
              <a:buClr>
                <a:schemeClr val="accent1"/>
              </a:buClr>
              <a:buSzTx/>
              <a:buFont typeface="Wingdings" panose="05000000000000000000" pitchFamily="2" charset="2"/>
              <a:buChar char="Ø"/>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地球表面的反照率；</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993140" marR="0" lvl="1" indent="-342900" algn="l" defTabSz="914400" rtl="0" eaLnBrk="0" fontAlgn="base" latinLnBrk="0" hangingPunct="0">
              <a:lnSpc>
                <a:spcPct val="120000"/>
              </a:lnSpc>
              <a:spcBef>
                <a:spcPct val="0"/>
              </a:spcBef>
              <a:spcAft>
                <a:spcPct val="10000"/>
              </a:spcAft>
              <a:buClr>
                <a:schemeClr val="accent1"/>
              </a:buClr>
              <a:buSzTx/>
              <a:buFont typeface="Wingdings" panose="05000000000000000000" pitchFamily="2" charset="2"/>
              <a:buChar char="Ø"/>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云反照率；</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993140" marR="0" lvl="1" indent="-342900" algn="l" defTabSz="914400" rtl="0" eaLnBrk="0" fontAlgn="base" latinLnBrk="0" hangingPunct="0">
              <a:lnSpc>
                <a:spcPct val="120000"/>
              </a:lnSpc>
              <a:spcBef>
                <a:spcPct val="0"/>
              </a:spcBef>
              <a:spcAft>
                <a:spcPct val="10000"/>
              </a:spcAft>
              <a:buClr>
                <a:schemeClr val="accent1"/>
              </a:buClr>
              <a:buSzTx/>
              <a:buFont typeface="Wingdings" panose="05000000000000000000" pitchFamily="2" charset="2"/>
              <a:buChar char="Ø"/>
              <a:defRPr/>
            </a:pPr>
            <a:r>
              <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rPr>
              <a:t>大气的后向散射作用。</a:t>
            </a:r>
            <a:endParaRPr kumimoji="0" lang="zh-CN" altLang="en-US" sz="2400" b="1" i="0" u="none" strike="noStrike" kern="0" cap="none" spc="0" normalizeH="0" baseline="0" noProof="0" dirty="0">
              <a:ln>
                <a:noFill/>
              </a:ln>
              <a:solidFill>
                <a:schemeClr val="tx1"/>
              </a:solidFill>
              <a:effectLst/>
              <a:uLnTx/>
              <a:uFillTx/>
              <a:latin typeface="华文细黑" panose="02010600040101010101" pitchFamily="2" charset="-122"/>
              <a:ea typeface="华文细黑" panose="02010600040101010101" pitchFamily="2" charset="-122"/>
            </a:endParaRPr>
          </a:p>
          <a:p>
            <a:pPr marL="742950" marR="0" lvl="1" indent="-285750" algn="l" defTabSz="914400" rtl="0" eaLnBrk="0" fontAlgn="base" latinLnBrk="0" hangingPunct="0">
              <a:lnSpc>
                <a:spcPct val="100000"/>
              </a:lnSpc>
              <a:spcBef>
                <a:spcPct val="25000"/>
              </a:spcBef>
              <a:spcAft>
                <a:spcPct val="25000"/>
              </a:spcAft>
              <a:buClr>
                <a:schemeClr val="accent1"/>
              </a:buClr>
              <a:buSzTx/>
              <a:buFontTx/>
              <a:buNone/>
              <a:defRPr/>
            </a:pPr>
            <a:endParaRPr kumimoji="0" lang="zh-CN" altLang="en-US" sz="2800" b="1" i="0" u="none" strike="noStrike" kern="0" cap="none" spc="0" normalizeH="0" baseline="0" noProof="0" dirty="0">
              <a:ln>
                <a:noFill/>
              </a:ln>
              <a:solidFill>
                <a:schemeClr val="tx1"/>
              </a:solidFill>
              <a:effectLst/>
              <a:uLnTx/>
              <a:uFillTx/>
              <a:latin typeface="Times New Roman" panose="02020603050405020304" pitchFamily="18" charset="0"/>
              <a:ea typeface="宋体" panose="02010600030101010101" pitchFamily="2" charset="-122"/>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8610" name="Picture 3"/>
          <p:cNvPicPr>
            <a:picLocks noChangeAspect="1"/>
          </p:cNvPicPr>
          <p:nvPr/>
        </p:nvPicPr>
        <p:blipFill>
          <a:blip r:embed="rId1"/>
          <a:stretch>
            <a:fillRect/>
          </a:stretch>
        </p:blipFill>
        <p:spPr>
          <a:xfrm>
            <a:off x="395288" y="404813"/>
            <a:ext cx="8640762" cy="6337300"/>
          </a:xfrm>
          <a:prstGeom prst="rect">
            <a:avLst/>
          </a:prstGeom>
          <a:noFill/>
          <a:ln w="9525">
            <a:noFill/>
          </a:ln>
        </p:spPr>
      </p:pic>
      <p:sp>
        <p:nvSpPr>
          <p:cNvPr id="68611" name="TextBox 4"/>
          <p:cNvSpPr txBox="1"/>
          <p:nvPr/>
        </p:nvSpPr>
        <p:spPr>
          <a:xfrm>
            <a:off x="3100388" y="614363"/>
            <a:ext cx="3487737" cy="582612"/>
          </a:xfrm>
          <a:prstGeom prst="rect">
            <a:avLst/>
          </a:prstGeom>
          <a:noFill/>
          <a:ln w="9525">
            <a:noFill/>
          </a:ln>
        </p:spPr>
        <p:txBody>
          <a:bodyPr wrap="none" lIns="0" tIns="0" rIns="0" bIns="41029">
            <a:spAutoFit/>
          </a:bodyPr>
          <a:p>
            <a:pPr eaLnBrk="1" hangingPunct="1">
              <a:lnSpc>
                <a:spcPts val="4940"/>
              </a:lnSpc>
            </a:pPr>
            <a:r>
              <a:rPr lang="en-US" altLang="zh-CN" sz="3200" dirty="0">
                <a:solidFill>
                  <a:srgbClr val="002B82"/>
                </a:solidFill>
                <a:latin typeface="黑体" panose="02010609060101010101" pitchFamily="49" charset="-122"/>
                <a:ea typeface="黑体" panose="02010609060101010101" pitchFamily="49" charset="-122"/>
              </a:rPr>
              <a:t>TOA</a:t>
            </a:r>
            <a:r>
              <a:rPr lang="zh-CN" altLang="en-US" sz="3200" dirty="0">
                <a:solidFill>
                  <a:srgbClr val="002B82"/>
                </a:solidFill>
                <a:latin typeface="黑体" panose="02010609060101010101" pitchFamily="49" charset="-122"/>
                <a:ea typeface="黑体" panose="02010609060101010101" pitchFamily="49" charset="-122"/>
              </a:rPr>
              <a:t>反照率</a:t>
            </a:r>
            <a:r>
              <a:rPr lang="en-US" altLang="zh-CN" sz="3200" dirty="0">
                <a:solidFill>
                  <a:srgbClr val="002B82"/>
                </a:solidFill>
                <a:latin typeface="黑体" panose="02010609060101010101" pitchFamily="49" charset="-122"/>
                <a:ea typeface="黑体" panose="02010609060101010101" pitchFamily="49" charset="-122"/>
              </a:rPr>
              <a:t>–</a:t>
            </a:r>
            <a:r>
              <a:rPr lang="zh-CN" altLang="en-US" sz="3200" dirty="0">
                <a:solidFill>
                  <a:srgbClr val="002B82"/>
                </a:solidFill>
                <a:latin typeface="黑体" panose="02010609060101010101" pitchFamily="49" charset="-122"/>
                <a:ea typeface="黑体" panose="02010609060101010101" pitchFamily="49" charset="-122"/>
              </a:rPr>
              <a:t>年平均</a:t>
            </a:r>
            <a:endParaRPr lang="en-US" altLang="zh-CN" sz="3200" dirty="0">
              <a:solidFill>
                <a:srgbClr val="002B82"/>
              </a:solidFill>
              <a:latin typeface="黑体" panose="02010609060101010101" pitchFamily="49" charset="-122"/>
              <a:ea typeface="黑体" panose="02010609060101010101" pitchFamily="49" charset="-122"/>
            </a:endParaRPr>
          </a:p>
        </p:txBody>
      </p:sp>
    </p:spTree>
  </p:cSld>
  <p:clrMapOvr>
    <a:masterClrMapping/>
  </p:clrMapOvr>
  <p:transition spd="slow"/>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4" name="Rectangle 2"/>
          <p:cNvSpPr>
            <a:spLocks noGrp="1"/>
          </p:cNvSpPr>
          <p:nvPr>
            <p:ph type="title"/>
          </p:nvPr>
        </p:nvSpPr>
        <p:spPr>
          <a:xfrm>
            <a:off x="1408113" y="214313"/>
            <a:ext cx="7735887" cy="711200"/>
          </a:xfrm>
          <a:ln/>
        </p:spPr>
        <p:txBody>
          <a:bodyPr vert="horz" wrap="square" lIns="91440" tIns="45720" rIns="91440" bIns="45720" anchor="ctr" anchorCtr="0"/>
          <a:p>
            <a:pPr algn="ctr"/>
            <a:r>
              <a:rPr lang="en-US" altLang="zh-CN" sz="3600" dirty="0">
                <a:solidFill>
                  <a:srgbClr val="FFFF00"/>
                </a:solidFill>
                <a:latin typeface="黑体" panose="02010609060101010101" pitchFamily="49" charset="-122"/>
                <a:ea typeface="黑体" panose="02010609060101010101" pitchFamily="49" charset="-122"/>
              </a:rPr>
              <a:t>5.4 </a:t>
            </a:r>
            <a:r>
              <a:rPr lang="zh-CN" altLang="en-US" sz="3600" dirty="0">
                <a:solidFill>
                  <a:srgbClr val="FFFF00"/>
                </a:solidFill>
                <a:latin typeface="黑体" panose="02010609060101010101" pitchFamily="49" charset="-122"/>
                <a:ea typeface="黑体" panose="02010609060101010101" pitchFamily="49" charset="-122"/>
              </a:rPr>
              <a:t>太阳辐射在地球大气中的传输</a:t>
            </a:r>
            <a:endParaRPr lang="zh-CN" altLang="en-US" sz="3600" dirty="0">
              <a:solidFill>
                <a:srgbClr val="FFFF00"/>
              </a:solidFill>
              <a:latin typeface="黑体" panose="02010609060101010101" pitchFamily="49" charset="-122"/>
              <a:ea typeface="黑体" panose="02010609060101010101" pitchFamily="49" charset="-122"/>
            </a:endParaRPr>
          </a:p>
        </p:txBody>
      </p:sp>
      <p:sp>
        <p:nvSpPr>
          <p:cNvPr id="69635" name="Rectangle 4"/>
          <p:cNvSpPr>
            <a:spLocks noGrp="1"/>
          </p:cNvSpPr>
          <p:nvPr>
            <p:ph idx="1"/>
          </p:nvPr>
        </p:nvSpPr>
        <p:spPr>
          <a:xfrm>
            <a:off x="457200" y="1412875"/>
            <a:ext cx="8578850" cy="3600450"/>
          </a:xfrm>
          <a:ln/>
        </p:spPr>
        <p:txBody>
          <a:bodyPr vert="horz" wrap="square" lIns="91440" tIns="45720" rIns="91440" bIns="45720" anchor="t" anchorCtr="0"/>
          <a:p>
            <a:pPr algn="ctr">
              <a:lnSpc>
                <a:spcPct val="200000"/>
              </a:lnSpc>
              <a:buFontTx/>
              <a:buNone/>
            </a:pPr>
            <a:r>
              <a:rPr lang="zh-CN" altLang="en-US" sz="3200" dirty="0">
                <a:solidFill>
                  <a:srgbClr val="FF0000"/>
                </a:solidFill>
                <a:latin typeface="黑体" panose="02010609060101010101" pitchFamily="49" charset="-122"/>
                <a:ea typeface="黑体" panose="02010609060101010101" pitchFamily="49" charset="-122"/>
              </a:rPr>
              <a:t>重点</a:t>
            </a:r>
            <a:endParaRPr lang="zh-CN" altLang="en-US" sz="3200" dirty="0">
              <a:solidFill>
                <a:srgbClr val="FF0000"/>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r>
              <a:rPr lang="zh-CN" altLang="en-US" dirty="0">
                <a:solidFill>
                  <a:srgbClr val="0000FF"/>
                </a:solidFill>
                <a:latin typeface="黑体" panose="02010609060101010101" pitchFamily="49" charset="-122"/>
                <a:ea typeface="黑体" panose="02010609060101010101" pitchFamily="49" charset="-122"/>
              </a:rPr>
              <a:t> 太阳辐射光谱、太阳常数、大气上界辐射能分布。</a:t>
            </a:r>
            <a:endParaRPr lang="zh-CN" altLang="en-US" dirty="0">
              <a:solidFill>
                <a:srgbClr val="0000FF"/>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r>
              <a:rPr lang="zh-CN" altLang="en-US" dirty="0">
                <a:solidFill>
                  <a:srgbClr val="0000FF"/>
                </a:solidFill>
                <a:latin typeface="黑体" panose="02010609060101010101" pitchFamily="49" charset="-122"/>
                <a:ea typeface="黑体" panose="02010609060101010101" pitchFamily="49" charset="-122"/>
              </a:rPr>
              <a:t> 太阳辐射在地气系统中的传输。</a:t>
            </a:r>
            <a:endParaRPr lang="zh-CN" altLang="en-US" dirty="0">
              <a:solidFill>
                <a:srgbClr val="0000FF"/>
              </a:solidFill>
              <a:latin typeface="黑体" panose="02010609060101010101" pitchFamily="49" charset="-122"/>
              <a:ea typeface="黑体" panose="02010609060101010101" pitchFamily="49" charset="-122"/>
            </a:endParaRPr>
          </a:p>
          <a:p>
            <a:pPr>
              <a:lnSpc>
                <a:spcPct val="200000"/>
              </a:lnSpc>
              <a:buFont typeface="Wingdings" panose="05000000000000000000" pitchFamily="2" charset="2"/>
              <a:buChar char="v"/>
            </a:pPr>
            <a:endParaRPr lang="zh-CN" altLang="en-US" dirty="0">
              <a:ea typeface="宋体" panose="02010600030101010101" pitchFamily="2" charset="-122"/>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8" name="WordArt 3"/>
          <p:cNvSpPr>
            <a:spLocks noTextEdit="1"/>
          </p:cNvSpPr>
          <p:nvPr/>
        </p:nvSpPr>
        <p:spPr>
          <a:xfrm>
            <a:off x="3995738" y="1989138"/>
            <a:ext cx="1173162" cy="1008062"/>
          </a:xfrm>
          <a:prstGeom prst="rect">
            <a:avLst/>
          </a:prstGeom>
        </p:spPr>
        <p:txBody>
          <a:bodyPr wrap="none" fromWordArt="1">
            <a:prstTxWarp prst="textDeflate">
              <a:avLst>
                <a:gd name="adj" fmla="val 0"/>
              </a:avLst>
            </a:prstTxWarp>
            <a:normAutofit/>
          </a:bodyPr>
          <a:p>
            <a:pPr algn="ctr"/>
            <a:r>
              <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rPr>
              <a:t>完</a:t>
            </a:r>
            <a:endParaRPr lang="zh-CN" altLang="en-US" sz="3600" b="1">
              <a:ln w="28575" cap="flat" cmpd="sng">
                <a:solidFill>
                  <a:schemeClr val="bg1"/>
                </a:solidFill>
                <a:prstDash val="solid"/>
                <a:headEnd type="none" w="med" len="med"/>
                <a:tailEnd type="none" w="med" len="med"/>
              </a:ln>
              <a:solidFill>
                <a:schemeClr val="folHlink">
                  <a:alpha val="76862"/>
                </a:schemeClr>
              </a:solidFill>
              <a:effectLst>
                <a:outerShdw dist="89803" dir="2699999" algn="ctr" rotWithShape="0">
                  <a:schemeClr val="tx2">
                    <a:alpha val="50000"/>
                  </a:schemeClr>
                </a:outerShdw>
              </a:effectLst>
              <a:latin typeface="+mn-ea" charset="0"/>
              <a:ea typeface="+mn-ea"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70658"/>
                                        </p:tgtEl>
                                        <p:attrNameLst>
                                          <p:attrName>style.visibility</p:attrName>
                                        </p:attrNameLst>
                                      </p:cBhvr>
                                      <p:to>
                                        <p:strVal val="visible"/>
                                      </p:to>
                                    </p:set>
                                    <p:anim calcmode="lin" valueType="num">
                                      <p:cBhvr>
                                        <p:cTn id="7" dur="500" fill="hold"/>
                                        <p:tgtEl>
                                          <p:spTgt spid="70658"/>
                                        </p:tgtEl>
                                        <p:attrNameLst>
                                          <p:attrName>ppt_w</p:attrName>
                                        </p:attrNameLst>
                                      </p:cBhvr>
                                      <p:tavLst>
                                        <p:tav tm="0">
                                          <p:val>
                                            <p:fltVal val="0.000000"/>
                                          </p:val>
                                        </p:tav>
                                        <p:tav tm="100000">
                                          <p:val>
                                            <p:strVal val="#ppt_w"/>
                                          </p:val>
                                        </p:tav>
                                      </p:tavLst>
                                    </p:anim>
                                    <p:anim calcmode="lin" valueType="num">
                                      <p:cBhvr>
                                        <p:cTn id="8" dur="500" fill="hold"/>
                                        <p:tgtEl>
                                          <p:spTgt spid="70658"/>
                                        </p:tgtEl>
                                        <p:attrNameLst>
                                          <p:attrName>ppt_h</p:attrName>
                                        </p:attrNameLst>
                                      </p:cBhvr>
                                      <p:tavLst>
                                        <p:tav tm="0">
                                          <p:val>
                                            <p:fltVal val="0.000000"/>
                                          </p:val>
                                        </p:tav>
                                        <p:tav tm="100000">
                                          <p:val>
                                            <p:strVal val="#ppt_h"/>
                                          </p:val>
                                        </p:tav>
                                      </p:tavLst>
                                    </p:anim>
                                    <p:animEffect transition="in" filter="fade">
                                      <p:cBhvr>
                                        <p:cTn id="9" dur="500"/>
                                        <p:tgtEl>
                                          <p:spTgt spid="706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db2004132l">
  <a:themeElements>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db2004132l">
  <a:themeElements>
    <a:clrScheme name="1_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fontScheme name="1_cdb2004132l">
      <a:majorFont>
        <a:latin typeface="楷体_GB2312"/>
        <a:ea typeface="楷体_GB2312"/>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1_cdb2004132l 1">
        <a:dk1>
          <a:srgbClr val="1D4940"/>
        </a:dk1>
        <a:lt1>
          <a:srgbClr val="FFFFFF"/>
        </a:lt1>
        <a:dk2>
          <a:srgbClr val="3F716F"/>
        </a:dk2>
        <a:lt2>
          <a:srgbClr val="DDDDDD"/>
        </a:lt2>
        <a:accent1>
          <a:srgbClr val="669E86"/>
        </a:accent1>
        <a:accent2>
          <a:srgbClr val="A2CAB4"/>
        </a:accent2>
        <a:accent3>
          <a:srgbClr val="FFFFFF"/>
        </a:accent3>
        <a:accent4>
          <a:srgbClr val="173D35"/>
        </a:accent4>
        <a:accent5>
          <a:srgbClr val="B8CCC3"/>
        </a:accent5>
        <a:accent6>
          <a:srgbClr val="92B7A3"/>
        </a:accent6>
        <a:hlink>
          <a:srgbClr val="8CA35F"/>
        </a:hlink>
        <a:folHlink>
          <a:srgbClr val="C1B05D"/>
        </a:folHlink>
      </a:clrScheme>
      <a:clrMap bg1="lt1" tx1="dk1" bg2="lt2" tx2="dk2" accent1="accent1" accent2="accent2" accent3="accent3" accent4="accent4" accent5="accent5" accent6="accent6" hlink="hlink" folHlink="folHlink"/>
    </a:extraClrScheme>
    <a:extraClrScheme>
      <a:clrScheme name="1_cdb2004132l 2">
        <a:dk1>
          <a:srgbClr val="2D4473"/>
        </a:dk1>
        <a:lt1>
          <a:srgbClr val="FFFFFF"/>
        </a:lt1>
        <a:dk2>
          <a:srgbClr val="2B6185"/>
        </a:dk2>
        <a:lt2>
          <a:srgbClr val="D3D9DD"/>
        </a:lt2>
        <a:accent1>
          <a:srgbClr val="638AA1"/>
        </a:accent1>
        <a:accent2>
          <a:srgbClr val="8CA8B5"/>
        </a:accent2>
        <a:accent3>
          <a:srgbClr val="FFFFFF"/>
        </a:accent3>
        <a:accent4>
          <a:srgbClr val="253961"/>
        </a:accent4>
        <a:accent5>
          <a:srgbClr val="B7C4CD"/>
        </a:accent5>
        <a:accent6>
          <a:srgbClr val="7E98A4"/>
        </a:accent6>
        <a:hlink>
          <a:srgbClr val="6FA2E7"/>
        </a:hlink>
        <a:folHlink>
          <a:srgbClr val="99C25C"/>
        </a:folHlink>
      </a:clrScheme>
      <a:clrMap bg1="lt1" tx1="dk1" bg2="lt2" tx2="dk2" accent1="accent1" accent2="accent2" accent3="accent3" accent4="accent4" accent5="accent5" accent6="accent6" hlink="hlink" folHlink="folHlink"/>
    </a:extraClrScheme>
    <a:extraClrScheme>
      <a:clrScheme name="1_cdb2004132l 3">
        <a:dk1>
          <a:srgbClr val="1A1A70"/>
        </a:dk1>
        <a:lt1>
          <a:srgbClr val="FFFFFF"/>
        </a:lt1>
        <a:dk2>
          <a:srgbClr val="243D8C"/>
        </a:dk2>
        <a:lt2>
          <a:srgbClr val="DDDDDD"/>
        </a:lt2>
        <a:accent1>
          <a:srgbClr val="3E78C6"/>
        </a:accent1>
        <a:accent2>
          <a:srgbClr val="84A1E8"/>
        </a:accent2>
        <a:accent3>
          <a:srgbClr val="FFFFFF"/>
        </a:accent3>
        <a:accent4>
          <a:srgbClr val="14145F"/>
        </a:accent4>
        <a:accent5>
          <a:srgbClr val="AFBEDF"/>
        </a:accent5>
        <a:accent6>
          <a:srgbClr val="7791D2"/>
        </a:accent6>
        <a:hlink>
          <a:srgbClr val="90B54D"/>
        </a:hlink>
        <a:folHlink>
          <a:srgbClr val="F3C43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cdb2004132l</Template>
  <TotalTime>0</TotalTime>
  <Words>4501</Words>
  <Application>WPS 演示</Application>
  <PresentationFormat>全屏显示(4:3)</PresentationFormat>
  <Paragraphs>441</Paragraphs>
  <Slides>64</Slides>
  <Notes>36</Notes>
  <HiddenSlides>0</HiddenSlides>
  <MMClips>0</MMClips>
  <ScaleCrop>false</ScaleCrop>
  <HeadingPairs>
    <vt:vector size="8" baseType="variant">
      <vt:variant>
        <vt:lpstr>已用的字体</vt:lpstr>
      </vt:variant>
      <vt:variant>
        <vt:i4>22</vt:i4>
      </vt:variant>
      <vt:variant>
        <vt:lpstr>主题</vt:lpstr>
      </vt:variant>
      <vt:variant>
        <vt:i4>2</vt:i4>
      </vt:variant>
      <vt:variant>
        <vt:lpstr>嵌入 OLE 服务器</vt:lpstr>
      </vt:variant>
      <vt:variant>
        <vt:i4>42</vt:i4>
      </vt:variant>
      <vt:variant>
        <vt:lpstr>幻灯片标题</vt:lpstr>
      </vt:variant>
      <vt:variant>
        <vt:i4>64</vt:i4>
      </vt:variant>
    </vt:vector>
  </HeadingPairs>
  <TitlesOfParts>
    <vt:vector size="130" baseType="lpstr">
      <vt:lpstr>Arial</vt:lpstr>
      <vt:lpstr>宋体</vt:lpstr>
      <vt:lpstr>Wingdings</vt:lpstr>
      <vt:lpstr>楷体_GB2312</vt:lpstr>
      <vt:lpstr>新宋体</vt:lpstr>
      <vt:lpstr>Verdana</vt:lpstr>
      <vt:lpstr>Calibri</vt:lpstr>
      <vt:lpstr>黑体</vt:lpstr>
      <vt:lpstr>Times New Roman</vt:lpstr>
      <vt:lpstr>Wingdings 2</vt:lpstr>
      <vt:lpstr>Wingdings</vt:lpstr>
      <vt:lpstr>MS PGothic</vt:lpstr>
      <vt:lpstr>华文细黑</vt:lpstr>
      <vt:lpstr>Webdings</vt:lpstr>
      <vt:lpstr>Symbol</vt:lpstr>
      <vt:lpstr>Garamond</vt:lpstr>
      <vt:lpstr>Original Garamond Std Roman</vt:lpstr>
      <vt:lpstr>dcr10</vt:lpstr>
      <vt:lpstr>Segoe Print</vt:lpstr>
      <vt:lpstr>微软雅黑</vt:lpstr>
      <vt:lpstr>+mn-ea</vt:lpstr>
      <vt:lpstr>Arial Unicode MS</vt:lpstr>
      <vt:lpstr>cdb2004132l</vt:lpstr>
      <vt:lpstr>1_cdb2004132l</vt:lpstr>
      <vt:lpstr>Photoshop.Image.6</vt:lpstr>
      <vt:lpstr>Equation.3</vt:lpstr>
      <vt:lpstr>Equation.3</vt:lpstr>
      <vt:lpstr>Equation.3</vt:lpstr>
      <vt:lpstr>Equation.3</vt:lpstr>
      <vt:lpstr>Equation.3</vt:lpstr>
      <vt:lpstr>Equation.DSMT4</vt:lpstr>
      <vt:lpstr>Equation.DSMT4</vt:lpstr>
      <vt:lpstr>Equation.3</vt:lpstr>
      <vt:lpstr>Equation.3</vt:lpstr>
      <vt:lpstr>Equation.DSMT4</vt:lpstr>
      <vt:lpstr>Photoshop.Image.6</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Photoshop.Image.6</vt:lpstr>
      <vt:lpstr>Equation.DSMT4</vt:lpstr>
      <vt:lpstr>Equation.DSMT4</vt:lpstr>
      <vt:lpstr>Equation.DSMT4</vt:lpstr>
      <vt:lpstr>Equation.DSMT4</vt:lpstr>
      <vt:lpstr>Equation.DSMT4</vt:lpstr>
      <vt:lpstr>Equation.DSMT4</vt:lpstr>
      <vt:lpstr>Equation.3</vt:lpstr>
      <vt:lpstr>Equation.DSMT4</vt:lpstr>
      <vt:lpstr>Equation.3</vt:lpstr>
      <vt:lpstr>Equation.DSMT4</vt:lpstr>
      <vt:lpstr>Photoshop.Image.6</vt:lpstr>
      <vt:lpstr>Equation.DSMT4</vt:lpstr>
      <vt:lpstr>Equation.DSMT4</vt:lpstr>
      <vt:lpstr>Equation.DSMT4</vt:lpstr>
      <vt:lpstr>Photoshop.Image.6</vt:lpstr>
      <vt:lpstr>Photoshop.Image.6</vt:lpstr>
      <vt:lpstr>Equation.3</vt:lpstr>
      <vt:lpstr>Equation.3</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气象统计分析与预报方法 复习概要</dc:title>
  <dc:creator>User</dc:creator>
  <cp:lastModifiedBy>赵元丞</cp:lastModifiedBy>
  <cp:revision>852</cp:revision>
  <dcterms:created xsi:type="dcterms:W3CDTF">2008-12-05T07:55:53Z</dcterms:created>
  <dcterms:modified xsi:type="dcterms:W3CDTF">2026-10-10T00:50:53Z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2052-12.1.0.28802</vt:lpwstr>
  </property>
  <property fmtid="{D5CDD505-2E9C-101B-9397-08002B2CF9AE}" pid="3" name="ICV">
    <vt:lpwstr>5F0F352D6A024079940629BABB960D82_13</vt:lpwstr>
  </property>
</Properties>
</file>