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
  </p:notesMasterIdLst>
  <p:sldIdLst>
    <p:sldId id="256" r:id="rId3"/>
    <p:sldId id="407" r:id="rId4"/>
    <p:sldId id="408" r:id="rId5"/>
    <p:sldId id="399" r:id="rId6"/>
    <p:sldId id="370" r:id="rId8"/>
    <p:sldId id="371" r:id="rId9"/>
    <p:sldId id="388" r:id="rId10"/>
    <p:sldId id="400" r:id="rId11"/>
    <p:sldId id="401" r:id="rId12"/>
    <p:sldId id="402" r:id="rId13"/>
    <p:sldId id="373" r:id="rId14"/>
    <p:sldId id="374" r:id="rId15"/>
    <p:sldId id="405" r:id="rId16"/>
    <p:sldId id="406" r:id="rId17"/>
    <p:sldId id="403" r:id="rId18"/>
    <p:sldId id="375" r:id="rId19"/>
    <p:sldId id="376" r:id="rId20"/>
    <p:sldId id="404" r:id="rId21"/>
    <p:sldId id="378" r:id="rId22"/>
    <p:sldId id="323" r:id="rId23"/>
  </p:sldIdLst>
  <p:sldSz cx="9144000" cy="6858000" type="screen4x3"/>
  <p:notesSz cx="6858000" cy="9144000"/>
  <p:defaultTex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80800"/>
    <a:srgbClr val="0000FF"/>
    <a:srgbClr val="FF66FF"/>
    <a:srgbClr val="D60093"/>
    <a:srgbClr val="FF0000"/>
    <a:srgbClr val="008000"/>
    <a:srgbClr val="FF0066"/>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20380"/>
    <p:restoredTop sz="94712"/>
  </p:normalViewPr>
  <p:slideViewPr>
    <p:cSldViewPr showGuides="1">
      <p:cViewPr varScale="1">
        <p:scale>
          <a:sx n="93" d="100"/>
          <a:sy n="93" d="100"/>
        </p:scale>
        <p:origin x="608" y="7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notesMaster" Target="notesMasters/notesMaster1.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5.wmf"/><Relationship Id="rId2" Type="http://schemas.openxmlformats.org/officeDocument/2006/relationships/image" Target="../media/image14.wmf"/><Relationship Id="rId1" Type="http://schemas.openxmlformats.org/officeDocument/2006/relationships/image" Target="../media/image13.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7.vml.rels><?xml version="1.0" encoding="UTF-8" standalone="yes"?>
<Relationships xmlns="http://schemas.openxmlformats.org/package/2006/relationships"><Relationship Id="rId4" Type="http://schemas.openxmlformats.org/officeDocument/2006/relationships/image" Target="../media/image24.wmf"/><Relationship Id="rId3" Type="http://schemas.openxmlformats.org/officeDocument/2006/relationships/image" Target="../media/image23.wmf"/><Relationship Id="rId2" Type="http://schemas.openxmlformats.org/officeDocument/2006/relationships/image" Target="../media/image22.wmf"/><Relationship Id="rId1" Type="http://schemas.openxmlformats.org/officeDocument/2006/relationships/image" Target="../media/image21.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25.wmf"/><Relationship Id="rId1" Type="http://schemas.openxmlformats.org/officeDocument/2006/relationships/image" Target="../media/image26.jpeg"/></Relationships>
</file>

<file path=ppt/drawings/_rels/vmlDrawing9.vml.rels><?xml version="1.0" encoding="UTF-8" standalone="yes"?>
<Relationships xmlns="http://schemas.openxmlformats.org/package/2006/relationships"><Relationship Id="rId2" Type="http://schemas.openxmlformats.org/officeDocument/2006/relationships/image" Target="../media/image27.wmf"/><Relationship Id="rId1" Type="http://schemas.openxmlformats.org/officeDocument/2006/relationships/image" Target="../media/image26.jpeg"/></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image" Target="../media/image29.wmf"/><Relationship Id="rId1" Type="http://schemas.openxmlformats.org/officeDocument/2006/relationships/image" Target="../media/image28.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2.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3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buFontTx/>
              <a:buNone/>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buFontTx/>
              <a:buNone/>
              <a:defRPr sz="12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buFontTx/>
              <a:buNone/>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
            <a:pPr lvl="0" algn="r" eaLnBrk="1" hangingPunct="1">
              <a:buNone/>
            </a:pPr>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ea typeface="宋体" panose="02010600030101010101" pitchFamily="2" charset="-122"/>
              </a:rPr>
            </a:fld>
            <a:endParaRPr lang="zh-CN" altLang="en-US" dirty="0">
              <a:latin typeface="Arial" panose="020B0604020202020204" pitchFamily="34" charset="0"/>
              <a:ea typeface="宋体" panose="02010600030101010101" pitchFamily="2" charset="-122"/>
            </a:endParaRPr>
          </a:p>
        </p:txBody>
      </p:sp>
      <p:sp>
        <p:nvSpPr>
          <p:cNvPr id="8195" name="Rectangle 2"/>
          <p:cNvSpPr>
            <a:spLocks noTextEdit="1"/>
          </p:cNvSpPr>
          <p:nvPr>
            <p:ph type="sldImg"/>
          </p:nvPr>
        </p:nvSpPr>
        <p:spPr>
          <a:ln>
            <a:solidFill>
              <a:srgbClr val="000000">
                <a:alpha val="100000"/>
              </a:srgbClr>
            </a:solidFill>
            <a:miter lim="800000"/>
          </a:ln>
        </p:spPr>
      </p:sp>
      <p:sp>
        <p:nvSpPr>
          <p:cNvPr id="8196" name="Rectangle 3"/>
          <p:cNvSpPr>
            <a:spLocks noGrp="1"/>
          </p:cNvSpPr>
          <p:nvPr>
            <p:ph type="body"/>
          </p:nvPr>
        </p:nvSpPr>
        <p:spPr>
          <a:noFill/>
          <a:ln>
            <a:noFill/>
          </a:ln>
        </p:spPr>
        <p:txBody>
          <a:bodyPr wrap="square" lIns="91440" tIns="45720" rIns="91440" bIns="45720" anchor="t" anchorCtr="0"/>
          <a:p>
            <a:pPr lvl="0"/>
            <a:endParaRPr lang="zh-CN" altLang="en-US" dirty="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幻灯片图像占位符 1"/>
          <p:cNvSpPr>
            <a:spLocks noGrp="1" noRot="1" noChangeAspect="1" noTextEdit="1"/>
          </p:cNvSpPr>
          <p:nvPr>
            <p:ph type="sldImg"/>
          </p:nvPr>
        </p:nvSpPr>
        <p:spPr>
          <a:ln>
            <a:solidFill>
              <a:srgbClr val="000000">
                <a:alpha val="100000"/>
              </a:srgbClr>
            </a:solidFill>
            <a:miter lim="800000"/>
          </a:ln>
        </p:spPr>
      </p:sp>
      <p:sp>
        <p:nvSpPr>
          <p:cNvPr id="10243" name="备注占位符 2"/>
          <p:cNvSpPr>
            <a:spLocks noGrp="1"/>
          </p:cNvSpPr>
          <p:nvPr>
            <p:ph type="body" idx="1"/>
          </p:nvPr>
        </p:nvSpPr>
        <p:spPr>
          <a:noFill/>
          <a:ln>
            <a:noFill/>
          </a:ln>
        </p:spPr>
        <p:txBody>
          <a:bodyPr wrap="square" lIns="91440" tIns="45720" rIns="91440" bIns="45720" anchor="t" anchorCtr="0"/>
          <a:p>
            <a:pPr lvl="0"/>
            <a:r>
              <a:rPr lang="en-US" altLang="zh-CN" dirty="0">
                <a:ea typeface="宋体" panose="02010600030101010101" pitchFamily="2" charset="-122"/>
              </a:rPr>
              <a:t> </a:t>
            </a:r>
            <a:endParaRPr lang="zh-CN" altLang="en-US" dirty="0">
              <a:ea typeface="宋体" panose="02010600030101010101" pitchFamily="2" charset="-122"/>
            </a:endParaRPr>
          </a:p>
        </p:txBody>
      </p:sp>
      <p:sp>
        <p:nvSpPr>
          <p:cNvPr id="10244" name="灯片编号占位符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ea typeface="宋体" panose="02010600030101010101" pitchFamily="2" charset="-122"/>
              </a:rPr>
            </a:fld>
            <a:endParaRPr lang="zh-CN" altLang="en-US" dirty="0">
              <a:latin typeface="Arial" panose="020B0604020202020204" pitchFamily="34" charset="0"/>
              <a:ea typeface="宋体" panose="02010600030101010101" pitchFamily="2" charset="-122"/>
            </a:endParaRPr>
          </a:p>
        </p:txBody>
      </p:sp>
      <p:sp>
        <p:nvSpPr>
          <p:cNvPr id="12291" name="Rectangle 2"/>
          <p:cNvSpPr>
            <a:spLocks noTextEdit="1"/>
          </p:cNvSpPr>
          <p:nvPr>
            <p:ph type="sldImg"/>
          </p:nvPr>
        </p:nvSpPr>
        <p:spPr>
          <a:ln>
            <a:solidFill>
              <a:srgbClr val="000000">
                <a:alpha val="100000"/>
              </a:srgbClr>
            </a:solidFill>
            <a:miter lim="800000"/>
          </a:ln>
        </p:spPr>
      </p:sp>
      <p:sp>
        <p:nvSpPr>
          <p:cNvPr id="12292" name="Rectangle 3"/>
          <p:cNvSpPr>
            <a:spLocks noGrp="1"/>
          </p:cNvSpPr>
          <p:nvPr>
            <p:ph type="body"/>
          </p:nvPr>
        </p:nvSpPr>
        <p:spPr>
          <a:noFill/>
          <a:ln>
            <a:noFill/>
          </a:ln>
        </p:spPr>
        <p:txBody>
          <a:bodyPr wrap="square" lIns="91440" tIns="45720" rIns="91440" bIns="45720" anchor="t" anchorCtr="0"/>
          <a:p>
            <a:pPr lvl="0"/>
            <a:endParaRPr lang="zh-CN" altLang="en-US" dirty="0">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ea typeface="宋体" panose="02010600030101010101" pitchFamily="2" charset="-122"/>
              </a:rPr>
            </a:fld>
            <a:endParaRPr lang="zh-CN" altLang="en-US" dirty="0">
              <a:latin typeface="Arial" panose="020B0604020202020204" pitchFamily="34" charset="0"/>
              <a:ea typeface="宋体" panose="02010600030101010101" pitchFamily="2" charset="-122"/>
            </a:endParaRPr>
          </a:p>
        </p:txBody>
      </p:sp>
      <p:sp>
        <p:nvSpPr>
          <p:cNvPr id="19459" name="Rectangle 2"/>
          <p:cNvSpPr>
            <a:spLocks noTextEdit="1"/>
          </p:cNvSpPr>
          <p:nvPr>
            <p:ph type="sldImg"/>
          </p:nvPr>
        </p:nvSpPr>
        <p:spPr>
          <a:ln>
            <a:solidFill>
              <a:srgbClr val="000000">
                <a:alpha val="100000"/>
              </a:srgbClr>
            </a:solidFill>
            <a:miter lim="800000"/>
          </a:ln>
        </p:spPr>
      </p:sp>
      <p:sp>
        <p:nvSpPr>
          <p:cNvPr id="19460" name="Rectangle 3"/>
          <p:cNvSpPr>
            <a:spLocks noGrp="1"/>
          </p:cNvSpPr>
          <p:nvPr>
            <p:ph type="body"/>
          </p:nvPr>
        </p:nvSpPr>
        <p:spPr>
          <a:noFill/>
          <a:ln>
            <a:noFill/>
          </a:ln>
        </p:spPr>
        <p:txBody>
          <a:bodyPr wrap="square" lIns="91440" tIns="45720" rIns="91440" bIns="45720" anchor="t" anchorCtr="0"/>
          <a:p>
            <a:pPr lvl="0"/>
            <a:endParaRPr lang="zh-CN" altLang="en-US" dirty="0">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zh-CN" altLang="en-US" dirty="0">
                <a:latin typeface="Arial" panose="020B0604020202020204" pitchFamily="34" charset="0"/>
                <a:ea typeface="宋体" panose="02010600030101010101" pitchFamily="2" charset="-122"/>
              </a:rPr>
            </a:fld>
            <a:endParaRPr lang="zh-CN" altLang="en-US" dirty="0">
              <a:latin typeface="Arial" panose="020B0604020202020204" pitchFamily="34" charset="0"/>
              <a:ea typeface="宋体" panose="02010600030101010101" pitchFamily="2" charset="-122"/>
            </a:endParaRPr>
          </a:p>
        </p:txBody>
      </p:sp>
      <p:sp>
        <p:nvSpPr>
          <p:cNvPr id="25603" name="Rectangle 1026"/>
          <p:cNvSpPr>
            <a:spLocks noTextEdit="1"/>
          </p:cNvSpPr>
          <p:nvPr>
            <p:ph type="sldImg"/>
          </p:nvPr>
        </p:nvSpPr>
        <p:spPr>
          <a:ln>
            <a:solidFill>
              <a:srgbClr val="000000">
                <a:alpha val="100000"/>
              </a:srgbClr>
            </a:solidFill>
            <a:miter lim="800000"/>
          </a:ln>
        </p:spPr>
      </p:sp>
      <p:sp>
        <p:nvSpPr>
          <p:cNvPr id="25604" name="Rectangle 1027"/>
          <p:cNvSpPr>
            <a:spLocks noGrp="1"/>
          </p:cNvSpPr>
          <p:nvPr>
            <p:ph type="body"/>
          </p:nvPr>
        </p:nvSpPr>
        <p:spPr>
          <a:noFill/>
          <a:ln>
            <a:noFill/>
          </a:ln>
        </p:spPr>
        <p:txBody>
          <a:bodyPr wrap="square" lIns="91440" tIns="45720" rIns="91440" bIns="45720" anchor="t" anchorCtr="0"/>
          <a:p>
            <a:pPr lvl="0"/>
            <a:endParaRPr lang="zh-CN" altLang="en-US" dirty="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image" Target="../media/image2.png"/><Relationship Id="rId4" Type="http://schemas.openxmlformats.org/officeDocument/2006/relationships/oleObject" Target="../embeddings/oleObject2.bin"/><Relationship Id="rId3" Type="http://schemas.openxmlformats.org/officeDocument/2006/relationships/image" Target="../media/image1.png"/><Relationship Id="rId2" Type="http://schemas.openxmlformats.org/officeDocument/2006/relationships/oleObject" Target="../embeddings/oleObject1.bin"/><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5" name="Rectangle 17"/>
          <p:cNvSpPr>
            <a:spLocks noChangeArrowheads="1"/>
          </p:cNvSpPr>
          <p:nvPr/>
        </p:nvSpPr>
        <p:spPr bwMode="auto">
          <a:xfrm>
            <a:off x="-1587" y="5157788"/>
            <a:ext cx="9145588" cy="1708150"/>
          </a:xfrm>
          <a:prstGeom prst="rect">
            <a:avLst/>
          </a:prstGeom>
          <a:solidFill>
            <a:schemeClr val="bg2"/>
          </a:solidFill>
          <a:ln>
            <a:noFill/>
          </a:ln>
        </p:spPr>
        <p:txBody>
          <a:bodyPr wrap="none" anchor="ctr"/>
          <a:lstStyle>
            <a:lvl1pPr>
              <a:buFont typeface="Arial" panose="020B0604020202020204" pitchFamily="34" charset="0"/>
              <a:defRPr>
                <a:solidFill>
                  <a:schemeClr val="tx1"/>
                </a:solidFill>
                <a:latin typeface="Arial" panose="020B0604020202020204" pitchFamily="34" charset="0"/>
              </a:defRPr>
            </a:lvl1pPr>
            <a:lvl2pPr marL="742950" indent="-285750">
              <a:buFont typeface="Arial" panose="020B0604020202020204" pitchFamily="34" charset="0"/>
              <a:defRPr>
                <a:solidFill>
                  <a:schemeClr val="tx1"/>
                </a:solidFill>
                <a:latin typeface="Arial" panose="020B0604020202020204" pitchFamily="34" charset="0"/>
              </a:defRPr>
            </a:lvl2pPr>
            <a:lvl3pPr marL="1143000" indent="-228600">
              <a:buFont typeface="Arial" panose="020B0604020202020204" pitchFamily="34" charset="0"/>
              <a:defRPr>
                <a:solidFill>
                  <a:schemeClr val="tx1"/>
                </a:solidFill>
                <a:latin typeface="Arial" panose="020B0604020202020204" pitchFamily="34" charset="0"/>
              </a:defRPr>
            </a:lvl3pPr>
            <a:lvl4pPr marL="1600200" indent="-228600">
              <a:buFont typeface="Arial" panose="020B0604020202020204" pitchFamily="34" charset="0"/>
              <a:defRPr>
                <a:solidFill>
                  <a:schemeClr val="tx1"/>
                </a:solidFill>
                <a:latin typeface="Arial" panose="020B0604020202020204" pitchFamily="34" charset="0"/>
              </a:defRPr>
            </a:lvl4pPr>
            <a:lvl5pPr marL="2057400" indent="-228600">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 name="Rectangle 18"/>
          <p:cNvSpPr>
            <a:spLocks noChangeArrowheads="1"/>
          </p:cNvSpPr>
          <p:nvPr/>
        </p:nvSpPr>
        <p:spPr bwMode="auto">
          <a:xfrm>
            <a:off x="0" y="0"/>
            <a:ext cx="9144000" cy="4935538"/>
          </a:xfrm>
          <a:prstGeom prst="rect">
            <a:avLst/>
          </a:prstGeom>
          <a:solidFill>
            <a:schemeClr val="tx1"/>
          </a:solidFill>
          <a:ln>
            <a:noFill/>
          </a:ln>
        </p:spPr>
        <p:txBody>
          <a:bodyPr wrap="none" anchor="ctr"/>
          <a:lstStyle>
            <a:lvl1pPr>
              <a:buFont typeface="Arial" panose="020B0604020202020204" pitchFamily="34" charset="0"/>
              <a:defRPr>
                <a:solidFill>
                  <a:schemeClr val="tx1"/>
                </a:solidFill>
                <a:latin typeface="Arial" panose="020B0604020202020204" pitchFamily="34" charset="0"/>
              </a:defRPr>
            </a:lvl1pPr>
            <a:lvl2pPr marL="742950" indent="-285750">
              <a:buFont typeface="Arial" panose="020B0604020202020204" pitchFamily="34" charset="0"/>
              <a:defRPr>
                <a:solidFill>
                  <a:schemeClr val="tx1"/>
                </a:solidFill>
                <a:latin typeface="Arial" panose="020B0604020202020204" pitchFamily="34" charset="0"/>
              </a:defRPr>
            </a:lvl2pPr>
            <a:lvl3pPr marL="1143000" indent="-228600">
              <a:buFont typeface="Arial" panose="020B0604020202020204" pitchFamily="34" charset="0"/>
              <a:defRPr>
                <a:solidFill>
                  <a:schemeClr val="tx1"/>
                </a:solidFill>
                <a:latin typeface="Arial" panose="020B0604020202020204" pitchFamily="34" charset="0"/>
              </a:defRPr>
            </a:lvl3pPr>
            <a:lvl4pPr marL="1600200" indent="-228600">
              <a:buFont typeface="Arial" panose="020B0604020202020204" pitchFamily="34" charset="0"/>
              <a:defRPr>
                <a:solidFill>
                  <a:schemeClr val="tx1"/>
                </a:solidFill>
                <a:latin typeface="Arial" panose="020B0604020202020204" pitchFamily="34" charset="0"/>
              </a:defRPr>
            </a:lvl4pPr>
            <a:lvl5pPr marL="2057400" indent="-228600">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 name="Rectangle 19"/>
          <p:cNvSpPr>
            <a:spLocks noChangeArrowheads="1"/>
          </p:cNvSpPr>
          <p:nvPr/>
        </p:nvSpPr>
        <p:spPr bwMode="auto">
          <a:xfrm>
            <a:off x="1270000" y="4933950"/>
            <a:ext cx="7874000" cy="223838"/>
          </a:xfrm>
          <a:prstGeom prst="rect">
            <a:avLst/>
          </a:prstGeom>
          <a:solidFill>
            <a:schemeClr val="hlink"/>
          </a:solidFill>
          <a:ln>
            <a:noFill/>
          </a:ln>
        </p:spPr>
        <p:txBody>
          <a:bodyPr wrap="none" anchor="ctr"/>
          <a:lstStyle>
            <a:lvl1pPr>
              <a:buFont typeface="Arial" panose="020B0604020202020204" pitchFamily="34" charset="0"/>
              <a:defRPr>
                <a:solidFill>
                  <a:schemeClr val="tx1"/>
                </a:solidFill>
                <a:latin typeface="Arial" panose="020B0604020202020204" pitchFamily="34" charset="0"/>
              </a:defRPr>
            </a:lvl1pPr>
            <a:lvl2pPr marL="742950" indent="-285750">
              <a:buFont typeface="Arial" panose="020B0604020202020204" pitchFamily="34" charset="0"/>
              <a:defRPr>
                <a:solidFill>
                  <a:schemeClr val="tx1"/>
                </a:solidFill>
                <a:latin typeface="Arial" panose="020B0604020202020204" pitchFamily="34" charset="0"/>
              </a:defRPr>
            </a:lvl2pPr>
            <a:lvl3pPr marL="1143000" indent="-228600">
              <a:buFont typeface="Arial" panose="020B0604020202020204" pitchFamily="34" charset="0"/>
              <a:defRPr>
                <a:solidFill>
                  <a:schemeClr val="tx1"/>
                </a:solidFill>
                <a:latin typeface="Arial" panose="020B0604020202020204" pitchFamily="34" charset="0"/>
              </a:defRPr>
            </a:lvl3pPr>
            <a:lvl4pPr marL="1600200" indent="-228600">
              <a:buFont typeface="Arial" panose="020B0604020202020204" pitchFamily="34" charset="0"/>
              <a:defRPr>
                <a:solidFill>
                  <a:schemeClr val="tx1"/>
                </a:solidFill>
                <a:latin typeface="Arial" panose="020B0604020202020204" pitchFamily="34" charset="0"/>
              </a:defRPr>
            </a:lvl4pPr>
            <a:lvl5pPr marL="2057400" indent="-228600">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8" name="Text Box 14"/>
          <p:cNvSpPr txBox="1">
            <a:spLocks noChangeArrowheads="1"/>
          </p:cNvSpPr>
          <p:nvPr/>
        </p:nvSpPr>
        <p:spPr bwMode="gray">
          <a:xfrm>
            <a:off x="2268538" y="5949950"/>
            <a:ext cx="4608513" cy="366713"/>
          </a:xfrm>
          <a:prstGeom prst="rect">
            <a:avLst/>
          </a:prstGeom>
          <a:noFill/>
          <a:ln>
            <a:noFill/>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College of Atmospheric Sciences</a:t>
            </a:r>
            <a:endParaRPr kumimoji="0" lang="en-US" altLang="zh-CN" sz="1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 name="Rectangle 20"/>
          <p:cNvSpPr>
            <a:spLocks noChangeArrowheads="1"/>
          </p:cNvSpPr>
          <p:nvPr/>
        </p:nvSpPr>
        <p:spPr bwMode="auto">
          <a:xfrm>
            <a:off x="-9525" y="4935538"/>
            <a:ext cx="1282700" cy="222250"/>
          </a:xfrm>
          <a:prstGeom prst="rect">
            <a:avLst/>
          </a:prstGeom>
          <a:solidFill>
            <a:schemeClr val="accent1"/>
          </a:solidFill>
          <a:ln>
            <a:noFill/>
          </a:ln>
        </p:spPr>
        <p:txBody>
          <a:bodyPr wrap="none" anchor="ctr"/>
          <a:lstStyle>
            <a:lvl1pPr>
              <a:buFont typeface="Arial" panose="020B0604020202020204" pitchFamily="34" charset="0"/>
              <a:defRPr>
                <a:solidFill>
                  <a:schemeClr val="tx1"/>
                </a:solidFill>
                <a:latin typeface="Arial" panose="020B0604020202020204" pitchFamily="34" charset="0"/>
              </a:defRPr>
            </a:lvl1pPr>
            <a:lvl2pPr marL="742950" indent="-285750">
              <a:buFont typeface="Arial" panose="020B0604020202020204" pitchFamily="34" charset="0"/>
              <a:defRPr>
                <a:solidFill>
                  <a:schemeClr val="tx1"/>
                </a:solidFill>
                <a:latin typeface="Arial" panose="020B0604020202020204" pitchFamily="34" charset="0"/>
              </a:defRPr>
            </a:lvl2pPr>
            <a:lvl3pPr marL="1143000" indent="-228600">
              <a:buFont typeface="Arial" panose="020B0604020202020204" pitchFamily="34" charset="0"/>
              <a:defRPr>
                <a:solidFill>
                  <a:schemeClr val="tx1"/>
                </a:solidFill>
                <a:latin typeface="Arial" panose="020B0604020202020204" pitchFamily="34" charset="0"/>
              </a:defRPr>
            </a:lvl3pPr>
            <a:lvl4pPr marL="1600200" indent="-228600">
              <a:buFont typeface="Arial" panose="020B0604020202020204" pitchFamily="34" charset="0"/>
              <a:defRPr>
                <a:solidFill>
                  <a:schemeClr val="tx1"/>
                </a:solidFill>
                <a:latin typeface="Arial" panose="020B0604020202020204" pitchFamily="34" charset="0"/>
              </a:defRPr>
            </a:lvl4pPr>
            <a:lvl5pPr marL="2057400" indent="-228600">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aphicFrame>
        <p:nvGraphicFramePr>
          <p:cNvPr id="2055" name="Object 21"/>
          <p:cNvGraphicFramePr>
            <a:graphicFrameLocks noChangeAspect="1"/>
          </p:cNvGraphicFramePr>
          <p:nvPr/>
        </p:nvGraphicFramePr>
        <p:xfrm>
          <a:off x="1279525" y="5054600"/>
          <a:ext cx="2351088" cy="609600"/>
        </p:xfrm>
        <a:graphic>
          <a:graphicData uri="http://schemas.openxmlformats.org/presentationml/2006/ole">
            <mc:AlternateContent xmlns:mc="http://schemas.openxmlformats.org/markup-compatibility/2006">
              <mc:Choice xmlns:v="urn:schemas-microsoft-com:vml" Requires="v">
                <p:oleObj spid="_x0000_s3076" name="" r:id="rId2" imgW="2540000" imgH="609600" progId="Photoshop.Image.6">
                  <p:embed/>
                </p:oleObj>
              </mc:Choice>
              <mc:Fallback>
                <p:oleObj name="" r:id="rId2" imgW="2540000" imgH="609600" progId="Photoshop.Image.6">
                  <p:embed/>
                  <p:pic>
                    <p:nvPicPr>
                      <p:cNvPr id="0" name="图片 3075"/>
                      <p:cNvPicPr/>
                      <p:nvPr/>
                    </p:nvPicPr>
                    <p:blipFill>
                      <a:blip r:embed="rId3"/>
                      <a:stretch>
                        <a:fillRect/>
                      </a:stretch>
                    </p:blipFill>
                    <p:spPr>
                      <a:xfrm>
                        <a:off x="1279525" y="5054600"/>
                        <a:ext cx="2351088" cy="609600"/>
                      </a:xfrm>
                      <a:prstGeom prst="rect">
                        <a:avLst/>
                      </a:prstGeom>
                      <a:noFill/>
                      <a:ln w="38100">
                        <a:noFill/>
                        <a:miter/>
                      </a:ln>
                    </p:spPr>
                  </p:pic>
                </p:oleObj>
              </mc:Fallback>
            </mc:AlternateContent>
          </a:graphicData>
        </a:graphic>
      </p:graphicFrame>
      <p:graphicFrame>
        <p:nvGraphicFramePr>
          <p:cNvPr id="2056" name="Object 22"/>
          <p:cNvGraphicFramePr>
            <a:graphicFrameLocks noChangeAspect="1"/>
          </p:cNvGraphicFramePr>
          <p:nvPr/>
        </p:nvGraphicFramePr>
        <p:xfrm>
          <a:off x="0" y="3500438"/>
          <a:ext cx="1266825" cy="1430337"/>
        </p:xfrm>
        <a:graphic>
          <a:graphicData uri="http://schemas.openxmlformats.org/presentationml/2006/ole">
            <mc:AlternateContent xmlns:mc="http://schemas.openxmlformats.org/markup-compatibility/2006">
              <mc:Choice xmlns:v="urn:schemas-microsoft-com:vml" Requires="v">
                <p:oleObj spid="_x0000_s3077" name="" r:id="rId4" imgW="2540000" imgH="2540000" progId="Photoshop.Image.6">
                  <p:embed/>
                </p:oleObj>
              </mc:Choice>
              <mc:Fallback>
                <p:oleObj name="" r:id="rId4" imgW="2540000" imgH="2540000" progId="Photoshop.Image.6">
                  <p:embed/>
                  <p:pic>
                    <p:nvPicPr>
                      <p:cNvPr id="0" name="图片 3076"/>
                      <p:cNvPicPr/>
                      <p:nvPr/>
                    </p:nvPicPr>
                    <p:blipFill>
                      <a:blip r:embed="rId5"/>
                      <a:stretch>
                        <a:fillRect/>
                      </a:stretch>
                    </p:blipFill>
                    <p:spPr>
                      <a:xfrm>
                        <a:off x="0" y="3500438"/>
                        <a:ext cx="1266825" cy="1430337"/>
                      </a:xfrm>
                      <a:prstGeom prst="rect">
                        <a:avLst/>
                      </a:prstGeom>
                      <a:noFill/>
                      <a:ln w="38100">
                        <a:noFill/>
                        <a:miter/>
                      </a:ln>
                    </p:spPr>
                  </p:pic>
                </p:oleObj>
              </mc:Fallback>
            </mc:AlternateContent>
          </a:graphicData>
        </a:graphic>
      </p:graphicFrame>
      <p:sp>
        <p:nvSpPr>
          <p:cNvPr id="12" name="Rectangle 23"/>
          <p:cNvSpPr>
            <a:spLocks noChangeArrowheads="1"/>
          </p:cNvSpPr>
          <p:nvPr/>
        </p:nvSpPr>
        <p:spPr bwMode="auto">
          <a:xfrm>
            <a:off x="1266825" y="1125538"/>
            <a:ext cx="2368550" cy="4535488"/>
          </a:xfrm>
          <a:prstGeom prst="rect">
            <a:avLst/>
          </a:prstGeom>
          <a:noFill/>
          <a:ln w="0">
            <a:solidFill>
              <a:schemeClr val="accent1"/>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defRPr>
            </a:lvl1pPr>
            <a:lvl2pPr marL="742950" indent="-285750">
              <a:buFont typeface="Arial" panose="020B0604020202020204" pitchFamily="34" charset="0"/>
              <a:defRPr>
                <a:solidFill>
                  <a:schemeClr val="tx1"/>
                </a:solidFill>
                <a:latin typeface="Arial" panose="020B0604020202020204" pitchFamily="34" charset="0"/>
              </a:defRPr>
            </a:lvl2pPr>
            <a:lvl3pPr marL="1143000" indent="-228600">
              <a:buFont typeface="Arial" panose="020B0604020202020204" pitchFamily="34" charset="0"/>
              <a:defRPr>
                <a:solidFill>
                  <a:schemeClr val="tx1"/>
                </a:solidFill>
                <a:latin typeface="Arial" panose="020B0604020202020204" pitchFamily="34" charset="0"/>
              </a:defRPr>
            </a:lvl3pPr>
            <a:lvl4pPr marL="1600200" indent="-228600">
              <a:buFont typeface="Arial" panose="020B0604020202020204" pitchFamily="34" charset="0"/>
              <a:defRPr>
                <a:solidFill>
                  <a:schemeClr val="tx1"/>
                </a:solidFill>
                <a:latin typeface="Arial" panose="020B0604020202020204" pitchFamily="34" charset="0"/>
              </a:defRPr>
            </a:lvl4pPr>
            <a:lvl5pPr marL="2057400" indent="-228600">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3" name="Rectangle 24"/>
          <p:cNvSpPr>
            <a:spLocks noChangeArrowheads="1"/>
          </p:cNvSpPr>
          <p:nvPr/>
        </p:nvSpPr>
        <p:spPr bwMode="auto">
          <a:xfrm flipH="1">
            <a:off x="8221663" y="0"/>
            <a:ext cx="95250" cy="2060575"/>
          </a:xfrm>
          <a:prstGeom prst="rect">
            <a:avLst/>
          </a:prstGeom>
          <a:solidFill>
            <a:schemeClr val="accent1"/>
          </a:solidFill>
          <a:ln>
            <a:noFill/>
          </a:ln>
        </p:spPr>
        <p:txBody>
          <a:bodyPr wrap="none" anchor="ctr"/>
          <a:lstStyle>
            <a:lvl1pPr>
              <a:buFont typeface="Arial" panose="020B0604020202020204" pitchFamily="34" charset="0"/>
              <a:defRPr>
                <a:solidFill>
                  <a:schemeClr val="tx1"/>
                </a:solidFill>
                <a:latin typeface="Arial" panose="020B0604020202020204" pitchFamily="34" charset="0"/>
              </a:defRPr>
            </a:lvl1pPr>
            <a:lvl2pPr marL="742950" indent="-285750">
              <a:buFont typeface="Arial" panose="020B0604020202020204" pitchFamily="34" charset="0"/>
              <a:defRPr>
                <a:solidFill>
                  <a:schemeClr val="tx1"/>
                </a:solidFill>
                <a:latin typeface="Arial" panose="020B0604020202020204" pitchFamily="34" charset="0"/>
              </a:defRPr>
            </a:lvl2pPr>
            <a:lvl3pPr marL="1143000" indent="-228600">
              <a:buFont typeface="Arial" panose="020B0604020202020204" pitchFamily="34" charset="0"/>
              <a:defRPr>
                <a:solidFill>
                  <a:schemeClr val="tx1"/>
                </a:solidFill>
                <a:latin typeface="Arial" panose="020B0604020202020204" pitchFamily="34" charset="0"/>
              </a:defRPr>
            </a:lvl3pPr>
            <a:lvl4pPr marL="1600200" indent="-228600">
              <a:buFont typeface="Arial" panose="020B0604020202020204" pitchFamily="34" charset="0"/>
              <a:defRPr>
                <a:solidFill>
                  <a:schemeClr val="tx1"/>
                </a:solidFill>
                <a:latin typeface="Arial" panose="020B0604020202020204" pitchFamily="34" charset="0"/>
              </a:defRPr>
            </a:lvl4pPr>
            <a:lvl5pPr marL="2057400" indent="-228600">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4" name="Rectangle 25"/>
          <p:cNvSpPr>
            <a:spLocks noChangeArrowheads="1"/>
          </p:cNvSpPr>
          <p:nvPr/>
        </p:nvSpPr>
        <p:spPr bwMode="auto">
          <a:xfrm>
            <a:off x="250825" y="260350"/>
            <a:ext cx="8569325" cy="4392613"/>
          </a:xfrm>
          <a:prstGeom prst="rect">
            <a:avLst/>
          </a:prstGeom>
          <a:noFill/>
          <a:ln w="0">
            <a:solidFill>
              <a:schemeClr val="tx2"/>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defRPr>
            </a:lvl1pPr>
            <a:lvl2pPr marL="742950" indent="-285750">
              <a:buFont typeface="Arial" panose="020B0604020202020204" pitchFamily="34" charset="0"/>
              <a:defRPr>
                <a:solidFill>
                  <a:schemeClr val="tx1"/>
                </a:solidFill>
                <a:latin typeface="Arial" panose="020B0604020202020204" pitchFamily="34" charset="0"/>
              </a:defRPr>
            </a:lvl2pPr>
            <a:lvl3pPr marL="1143000" indent="-228600">
              <a:buFont typeface="Arial" panose="020B0604020202020204" pitchFamily="34" charset="0"/>
              <a:defRPr>
                <a:solidFill>
                  <a:schemeClr val="tx1"/>
                </a:solidFill>
                <a:latin typeface="Arial" panose="020B0604020202020204" pitchFamily="34" charset="0"/>
              </a:defRPr>
            </a:lvl3pPr>
            <a:lvl4pPr marL="1600200" indent="-228600">
              <a:buFont typeface="Arial" panose="020B0604020202020204" pitchFamily="34" charset="0"/>
              <a:defRPr>
                <a:solidFill>
                  <a:schemeClr val="tx1"/>
                </a:solidFill>
                <a:latin typeface="Arial" panose="020B0604020202020204" pitchFamily="34" charset="0"/>
              </a:defRPr>
            </a:lvl4pPr>
            <a:lvl5pPr marL="2057400" indent="-228600">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5" name="Rectangle 26"/>
          <p:cNvSpPr>
            <a:spLocks noChangeArrowheads="1"/>
          </p:cNvSpPr>
          <p:nvPr/>
        </p:nvSpPr>
        <p:spPr bwMode="auto">
          <a:xfrm>
            <a:off x="7775575" y="908050"/>
            <a:ext cx="1368425" cy="1439863"/>
          </a:xfrm>
          <a:prstGeom prst="rect">
            <a:avLst/>
          </a:prstGeom>
          <a:noFill/>
          <a:ln w="0">
            <a:solidFill>
              <a:schemeClr val="tx2"/>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defRPr>
            </a:lvl1pPr>
            <a:lvl2pPr marL="742950" indent="-285750">
              <a:buFont typeface="Arial" panose="020B0604020202020204" pitchFamily="34" charset="0"/>
              <a:defRPr>
                <a:solidFill>
                  <a:schemeClr val="tx1"/>
                </a:solidFill>
                <a:latin typeface="Arial" panose="020B0604020202020204" pitchFamily="34" charset="0"/>
              </a:defRPr>
            </a:lvl2pPr>
            <a:lvl3pPr marL="1143000" indent="-228600">
              <a:buFont typeface="Arial" panose="020B0604020202020204" pitchFamily="34" charset="0"/>
              <a:defRPr>
                <a:solidFill>
                  <a:schemeClr val="tx1"/>
                </a:solidFill>
                <a:latin typeface="Arial" panose="020B0604020202020204" pitchFamily="34" charset="0"/>
              </a:defRPr>
            </a:lvl3pPr>
            <a:lvl4pPr marL="1600200" indent="-228600">
              <a:buFont typeface="Arial" panose="020B0604020202020204" pitchFamily="34" charset="0"/>
              <a:defRPr>
                <a:solidFill>
                  <a:schemeClr val="tx1"/>
                </a:solidFill>
                <a:latin typeface="Arial" panose="020B0604020202020204" pitchFamily="34" charset="0"/>
              </a:defRPr>
            </a:lvl4pPr>
            <a:lvl5pPr marL="2057400" indent="-228600">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6" name="Rectangle 27"/>
          <p:cNvSpPr>
            <a:spLocks noChangeArrowheads="1"/>
          </p:cNvSpPr>
          <p:nvPr/>
        </p:nvSpPr>
        <p:spPr bwMode="auto">
          <a:xfrm>
            <a:off x="611188" y="1916113"/>
            <a:ext cx="7921625" cy="1584325"/>
          </a:xfrm>
          <a:prstGeom prst="rect">
            <a:avLst/>
          </a:prstGeom>
          <a:noFill/>
          <a:ln w="0">
            <a:solidFill>
              <a:schemeClr val="tx2"/>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defRPr>
            </a:lvl1pPr>
            <a:lvl2pPr marL="742950" indent="-285750">
              <a:buFont typeface="Arial" panose="020B0604020202020204" pitchFamily="34" charset="0"/>
              <a:defRPr>
                <a:solidFill>
                  <a:schemeClr val="tx1"/>
                </a:solidFill>
                <a:latin typeface="Arial" panose="020B0604020202020204" pitchFamily="34" charset="0"/>
              </a:defRPr>
            </a:lvl2pPr>
            <a:lvl3pPr marL="1143000" indent="-228600">
              <a:buFont typeface="Arial" panose="020B0604020202020204" pitchFamily="34" charset="0"/>
              <a:defRPr>
                <a:solidFill>
                  <a:schemeClr val="tx1"/>
                </a:solidFill>
                <a:latin typeface="Arial" panose="020B0604020202020204" pitchFamily="34" charset="0"/>
              </a:defRPr>
            </a:lvl3pPr>
            <a:lvl4pPr marL="1600200" indent="-228600">
              <a:buFont typeface="Arial" panose="020B0604020202020204" pitchFamily="34" charset="0"/>
              <a:defRPr>
                <a:solidFill>
                  <a:schemeClr val="tx1"/>
                </a:solidFill>
                <a:latin typeface="Arial" panose="020B0604020202020204" pitchFamily="34" charset="0"/>
              </a:defRPr>
            </a:lvl4pPr>
            <a:lvl5pPr marL="2057400" indent="-228600">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5" name="Rectangle 3"/>
          <p:cNvSpPr>
            <a:spLocks noGrp="1" noChangeArrowheads="1"/>
          </p:cNvSpPr>
          <p:nvPr>
            <p:ph type="subTitle" idx="1"/>
          </p:nvPr>
        </p:nvSpPr>
        <p:spPr bwMode="black">
          <a:xfrm>
            <a:off x="1752600" y="3733800"/>
            <a:ext cx="6019800" cy="381000"/>
          </a:xfrm>
        </p:spPr>
        <p:txBody>
          <a:bodyPr/>
          <a:lstStyle>
            <a:lvl1pPr marL="0" indent="0" algn="ctr">
              <a:buFont typeface="Wingdings" panose="05000000000000000000" pitchFamily="2" charset="2"/>
              <a:buNone/>
              <a:defRPr sz="2000">
                <a:solidFill>
                  <a:srgbClr val="84A1E8"/>
                </a:solidFill>
              </a:defRPr>
            </a:lvl1pPr>
          </a:lstStyle>
          <a:p>
            <a:r>
              <a:rPr lang="zh-CN" altLang="en-US" noProof="1"/>
              <a:t>单击此处编辑母版副标题样式</a:t>
            </a:r>
            <a:endParaRPr lang="zh-CN" altLang="en-US" noProof="1"/>
          </a:p>
        </p:txBody>
      </p:sp>
      <p:sp>
        <p:nvSpPr>
          <p:cNvPr id="3074" name="Rectangle 2"/>
          <p:cNvSpPr>
            <a:spLocks noGrp="1" noChangeArrowheads="1"/>
          </p:cNvSpPr>
          <p:nvPr>
            <p:ph type="ctrTitle"/>
          </p:nvPr>
        </p:nvSpPr>
        <p:spPr>
          <a:xfrm>
            <a:off x="990600" y="1981200"/>
            <a:ext cx="7239000" cy="1524000"/>
          </a:xfrm>
        </p:spPr>
        <p:txBody>
          <a:bodyPr/>
          <a:lstStyle>
            <a:lvl1pPr>
              <a:defRPr sz="4000" b="0"/>
            </a:lvl1pPr>
          </a:lstStyle>
          <a:p>
            <a:r>
              <a:rPr lang="zh-CN" altLang="en-US" noProof="1"/>
              <a:t>单击此处编辑母版标题样式</a:t>
            </a:r>
            <a:endParaRPr lang="zh-CN" altLang="en-US" noProof="1"/>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1" i="0" u="none" strike="noStrike" kern="1200" cap="none" spc="0" normalizeH="0" baseline="0" noProof="0">
                <a:ln>
                  <a:noFill/>
                </a:ln>
                <a:solidFill>
                  <a:schemeClr val="tx2"/>
                </a:solidFill>
                <a:effectLst/>
                <a:uLnTx/>
                <a:uFillTx/>
                <a:latin typeface="+mj-lt"/>
                <a:ea typeface="+mj-ea"/>
                <a:cs typeface="+mn-cs"/>
              </a:rPr>
              <a:t>兰 州 大 学 </a:t>
            </a:r>
            <a:r>
              <a:rPr kumimoji="0" lang="en-US" altLang="zh-CN" sz="1400" b="1" i="0" u="none" strike="noStrike" kern="1200" cap="none" spc="0" normalizeH="0" baseline="0" noProof="0">
                <a:ln>
                  <a:noFill/>
                </a:ln>
                <a:solidFill>
                  <a:schemeClr val="tx2"/>
                </a:solidFill>
                <a:effectLst/>
                <a:uLnTx/>
                <a:uFillTx/>
                <a:latin typeface="+mn-lt"/>
                <a:ea typeface="+mj-ea"/>
                <a:cs typeface="+mn-cs"/>
              </a:rPr>
              <a:t>·</a:t>
            </a:r>
            <a:r>
              <a:rPr kumimoji="0" lang="en-US" altLang="zh-CN"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大 气 科 学 学 院 本 科 课 程</a:t>
            </a:r>
            <a:endParaRPr kumimoji="0" lang="zh-CN" altLang="en-US" sz="1400" b="1" i="0" u="none" strike="noStrike" kern="1200" cap="none" spc="0" normalizeH="0" baseline="0" noProof="0">
              <a:ln>
                <a:noFill/>
              </a:ln>
              <a:solidFill>
                <a:schemeClr val="tx2"/>
              </a:solidFill>
              <a:effectLst/>
              <a:uLnTx/>
              <a:uFillTx/>
              <a:latin typeface="+mj-lt"/>
              <a:ea typeface="+mj-ea"/>
              <a:cs typeface="+mn-cs"/>
            </a:endParaRPr>
          </a:p>
        </p:txBody>
      </p:sp>
      <p:sp>
        <p:nvSpPr>
          <p:cNvPr id="5" name="页脚占位符 4"/>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流 体 力 学 </a:t>
            </a:r>
            <a:r>
              <a:rPr kumimoji="0" lang="en-US" altLang="zh-CN" sz="1400" b="1" i="0" u="none" strike="noStrike" kern="1200" cap="none" spc="0" normalizeH="0" baseline="0" noProof="0">
                <a:ln>
                  <a:noFill/>
                </a:ln>
                <a:solidFill>
                  <a:schemeClr val="tx2"/>
                </a:solidFill>
                <a:effectLst/>
                <a:uLnTx/>
                <a:uFillTx/>
                <a:latin typeface="+mj-lt"/>
                <a:ea typeface="+mj-ea"/>
                <a:cs typeface="+mn-cs"/>
              </a:rPr>
              <a:t>》</a:t>
            </a:r>
            <a:endParaRPr kumimoji="0" lang="en-US" altLang="zh-CN" sz="1400" b="1" i="0" u="none" strike="noStrike" kern="1200" cap="none" spc="0" normalizeH="0" baseline="0" noProof="0">
              <a:ln>
                <a:noFill/>
              </a:ln>
              <a:solidFill>
                <a:schemeClr val="tx2"/>
              </a:solidFill>
              <a:effectLst/>
              <a:uLnTx/>
              <a:uFillTx/>
              <a:latin typeface="+mj-lt"/>
              <a:ea typeface="+mj-ea"/>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1" i="0" u="none" strike="noStrike" kern="1200" cap="none" spc="0" normalizeH="0" baseline="0" noProof="0">
                <a:ln>
                  <a:noFill/>
                </a:ln>
                <a:solidFill>
                  <a:schemeClr val="tx2"/>
                </a:solidFill>
                <a:effectLst/>
                <a:uLnTx/>
                <a:uFillTx/>
                <a:latin typeface="+mj-lt"/>
                <a:ea typeface="+mj-ea"/>
                <a:cs typeface="+mn-cs"/>
              </a:rPr>
              <a:t>兰 州 大 学 </a:t>
            </a:r>
            <a:r>
              <a:rPr kumimoji="0" lang="en-US" altLang="zh-CN" sz="1400" b="1" i="0" u="none" strike="noStrike" kern="1200" cap="none" spc="0" normalizeH="0" baseline="0" noProof="0">
                <a:ln>
                  <a:noFill/>
                </a:ln>
                <a:solidFill>
                  <a:schemeClr val="tx2"/>
                </a:solidFill>
                <a:effectLst/>
                <a:uLnTx/>
                <a:uFillTx/>
                <a:latin typeface="+mn-lt"/>
                <a:ea typeface="+mj-ea"/>
                <a:cs typeface="+mn-cs"/>
              </a:rPr>
              <a:t>·</a:t>
            </a:r>
            <a:r>
              <a:rPr kumimoji="0" lang="en-US" altLang="zh-CN"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大 气 科 学 学 院 本 科 课 程</a:t>
            </a:r>
            <a:endParaRPr kumimoji="0" lang="zh-CN" altLang="en-US" sz="1400" b="1" i="0" u="none" strike="noStrike" kern="1200" cap="none" spc="0" normalizeH="0" baseline="0" noProof="0">
              <a:ln>
                <a:noFill/>
              </a:ln>
              <a:solidFill>
                <a:schemeClr val="tx2"/>
              </a:solidFill>
              <a:effectLst/>
              <a:uLnTx/>
              <a:uFillTx/>
              <a:latin typeface="+mj-lt"/>
              <a:ea typeface="+mj-ea"/>
              <a:cs typeface="+mn-cs"/>
            </a:endParaRPr>
          </a:p>
        </p:txBody>
      </p:sp>
      <p:sp>
        <p:nvSpPr>
          <p:cNvPr id="5" name="页脚占位符 4"/>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流 体 力 学 </a:t>
            </a:r>
            <a:r>
              <a:rPr kumimoji="0" lang="en-US" altLang="zh-CN" sz="1400" b="1" i="0" u="none" strike="noStrike" kern="1200" cap="none" spc="0" normalizeH="0" baseline="0" noProof="0">
                <a:ln>
                  <a:noFill/>
                </a:ln>
                <a:solidFill>
                  <a:schemeClr val="tx2"/>
                </a:solidFill>
                <a:effectLst/>
                <a:uLnTx/>
                <a:uFillTx/>
                <a:latin typeface="+mj-lt"/>
                <a:ea typeface="+mj-ea"/>
                <a:cs typeface="+mn-cs"/>
              </a:rPr>
              <a:t>》</a:t>
            </a:r>
            <a:endParaRPr kumimoji="0" lang="en-US" altLang="zh-CN" sz="1400" b="1" i="0" u="none" strike="noStrike" kern="1200" cap="none" spc="0" normalizeH="0" baseline="0" noProof="0">
              <a:ln>
                <a:noFill/>
              </a:ln>
              <a:solidFill>
                <a:schemeClr val="tx2"/>
              </a:solidFill>
              <a:effectLst/>
              <a:uLnTx/>
              <a:uFillTx/>
              <a:latin typeface="+mj-lt"/>
              <a:ea typeface="+mj-ea"/>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457200" y="1412875"/>
            <a:ext cx="4038600" cy="50403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48200" y="1412875"/>
            <a:ext cx="4038600" cy="50403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日期占位符 4"/>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1" i="0" u="none" strike="noStrike" kern="1200" cap="none" spc="0" normalizeH="0" baseline="0" noProof="0">
                <a:ln>
                  <a:noFill/>
                </a:ln>
                <a:solidFill>
                  <a:schemeClr val="tx2"/>
                </a:solidFill>
                <a:effectLst/>
                <a:uLnTx/>
                <a:uFillTx/>
                <a:latin typeface="+mj-lt"/>
                <a:ea typeface="+mj-ea"/>
                <a:cs typeface="+mn-cs"/>
              </a:rPr>
              <a:t>兰 州 大 学 </a:t>
            </a:r>
            <a:r>
              <a:rPr kumimoji="0" lang="en-US" altLang="zh-CN" sz="1400" b="1" i="0" u="none" strike="noStrike" kern="1200" cap="none" spc="0" normalizeH="0" baseline="0" noProof="0">
                <a:ln>
                  <a:noFill/>
                </a:ln>
                <a:solidFill>
                  <a:schemeClr val="tx2"/>
                </a:solidFill>
                <a:effectLst/>
                <a:uLnTx/>
                <a:uFillTx/>
                <a:latin typeface="+mn-lt"/>
                <a:ea typeface="+mj-ea"/>
                <a:cs typeface="+mn-cs"/>
              </a:rPr>
              <a:t>·</a:t>
            </a:r>
            <a:r>
              <a:rPr kumimoji="0" lang="en-US" altLang="zh-CN"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大 气 科 学 学 院 本 科 课 程</a:t>
            </a:r>
            <a:endParaRPr kumimoji="0" lang="zh-CN" altLang="en-US" sz="1400" b="1" i="0" u="none" strike="noStrike" kern="1200" cap="none" spc="0" normalizeH="0" baseline="0" noProof="0">
              <a:ln>
                <a:noFill/>
              </a:ln>
              <a:solidFill>
                <a:schemeClr val="tx2"/>
              </a:solidFill>
              <a:effectLst/>
              <a:uLnTx/>
              <a:uFillTx/>
              <a:latin typeface="+mj-lt"/>
              <a:ea typeface="+mj-ea"/>
              <a:cs typeface="+mn-cs"/>
            </a:endParaRPr>
          </a:p>
        </p:txBody>
      </p:sp>
      <p:sp>
        <p:nvSpPr>
          <p:cNvPr id="6" name="页脚占位符 5"/>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流 体 力 学 </a:t>
            </a:r>
            <a:r>
              <a:rPr kumimoji="0" lang="en-US" altLang="zh-CN" sz="1400" b="1" i="0" u="none" strike="noStrike" kern="1200" cap="none" spc="0" normalizeH="0" baseline="0" noProof="0">
                <a:ln>
                  <a:noFill/>
                </a:ln>
                <a:solidFill>
                  <a:schemeClr val="tx2"/>
                </a:solidFill>
                <a:effectLst/>
                <a:uLnTx/>
                <a:uFillTx/>
                <a:latin typeface="+mj-lt"/>
                <a:ea typeface="+mj-ea"/>
                <a:cs typeface="+mn-cs"/>
              </a:rPr>
              <a:t>》</a:t>
            </a:r>
            <a:endParaRPr kumimoji="0" lang="en-US" altLang="zh-CN" sz="1400" b="1" i="0" u="none" strike="noStrike" kern="1200" cap="none" spc="0" normalizeH="0" baseline="0" noProof="0">
              <a:ln>
                <a:noFill/>
              </a:ln>
              <a:solidFill>
                <a:schemeClr val="tx2"/>
              </a:solidFill>
              <a:effectLst/>
              <a:uLnTx/>
              <a:uFillTx/>
              <a:latin typeface="+mj-lt"/>
              <a:ea typeface="+mj-ea"/>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日期占位符 6"/>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1" i="0" u="none" strike="noStrike" kern="1200" cap="none" spc="0" normalizeH="0" baseline="0" noProof="0">
                <a:ln>
                  <a:noFill/>
                </a:ln>
                <a:solidFill>
                  <a:schemeClr val="tx2"/>
                </a:solidFill>
                <a:effectLst/>
                <a:uLnTx/>
                <a:uFillTx/>
                <a:latin typeface="+mj-lt"/>
                <a:ea typeface="+mj-ea"/>
                <a:cs typeface="+mn-cs"/>
              </a:rPr>
              <a:t>兰 州 大 学 </a:t>
            </a:r>
            <a:r>
              <a:rPr kumimoji="0" lang="en-US" altLang="zh-CN" sz="1400" b="1" i="0" u="none" strike="noStrike" kern="1200" cap="none" spc="0" normalizeH="0" baseline="0" noProof="0">
                <a:ln>
                  <a:noFill/>
                </a:ln>
                <a:solidFill>
                  <a:schemeClr val="tx2"/>
                </a:solidFill>
                <a:effectLst/>
                <a:uLnTx/>
                <a:uFillTx/>
                <a:latin typeface="+mn-lt"/>
                <a:ea typeface="+mj-ea"/>
                <a:cs typeface="+mn-cs"/>
              </a:rPr>
              <a:t>·</a:t>
            </a:r>
            <a:r>
              <a:rPr kumimoji="0" lang="en-US" altLang="zh-CN"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大 气 科 学 学 院 本 科 课 程</a:t>
            </a:r>
            <a:endParaRPr kumimoji="0" lang="zh-CN" altLang="en-US" sz="1400" b="1" i="0" u="none" strike="noStrike" kern="1200" cap="none" spc="0" normalizeH="0" baseline="0" noProof="0">
              <a:ln>
                <a:noFill/>
              </a:ln>
              <a:solidFill>
                <a:schemeClr val="tx2"/>
              </a:solidFill>
              <a:effectLst/>
              <a:uLnTx/>
              <a:uFillTx/>
              <a:latin typeface="+mj-lt"/>
              <a:ea typeface="+mj-ea"/>
              <a:cs typeface="+mn-cs"/>
            </a:endParaRPr>
          </a:p>
        </p:txBody>
      </p:sp>
      <p:sp>
        <p:nvSpPr>
          <p:cNvPr id="8" name="页脚占位符 7"/>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流 体 力 学 </a:t>
            </a:r>
            <a:r>
              <a:rPr kumimoji="0" lang="en-US" altLang="zh-CN" sz="1400" b="1" i="0" u="none" strike="noStrike" kern="1200" cap="none" spc="0" normalizeH="0" baseline="0" noProof="0">
                <a:ln>
                  <a:noFill/>
                </a:ln>
                <a:solidFill>
                  <a:schemeClr val="tx2"/>
                </a:solidFill>
                <a:effectLst/>
                <a:uLnTx/>
                <a:uFillTx/>
                <a:latin typeface="+mj-lt"/>
                <a:ea typeface="+mj-ea"/>
                <a:cs typeface="+mn-cs"/>
              </a:rPr>
              <a:t>》</a:t>
            </a:r>
            <a:endParaRPr kumimoji="0" lang="en-US" altLang="zh-CN" sz="1400" b="1" i="0" u="none" strike="noStrike" kern="1200" cap="none" spc="0" normalizeH="0" baseline="0" noProof="0">
              <a:ln>
                <a:noFill/>
              </a:ln>
              <a:solidFill>
                <a:schemeClr val="tx2"/>
              </a:solidFill>
              <a:effectLst/>
              <a:uLnTx/>
              <a:uFillTx/>
              <a:latin typeface="+mj-lt"/>
              <a:ea typeface="+mj-ea"/>
              <a:cs typeface="+mn-cs"/>
            </a:endParaRPr>
          </a:p>
        </p:txBody>
      </p:sp>
      <p:sp>
        <p:nvSpPr>
          <p:cNvPr id="9" name="灯片编号占位符 8"/>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日期占位符 2"/>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1" i="0" u="none" strike="noStrike" kern="1200" cap="none" spc="0" normalizeH="0" baseline="0" noProof="0">
                <a:ln>
                  <a:noFill/>
                </a:ln>
                <a:solidFill>
                  <a:schemeClr val="tx2"/>
                </a:solidFill>
                <a:effectLst/>
                <a:uLnTx/>
                <a:uFillTx/>
                <a:latin typeface="+mj-lt"/>
                <a:ea typeface="+mj-ea"/>
                <a:cs typeface="+mn-cs"/>
              </a:rPr>
              <a:t>兰 州 大 学 </a:t>
            </a:r>
            <a:r>
              <a:rPr kumimoji="0" lang="en-US" altLang="zh-CN" sz="1400" b="1" i="0" u="none" strike="noStrike" kern="1200" cap="none" spc="0" normalizeH="0" baseline="0" noProof="0">
                <a:ln>
                  <a:noFill/>
                </a:ln>
                <a:solidFill>
                  <a:schemeClr val="tx2"/>
                </a:solidFill>
                <a:effectLst/>
                <a:uLnTx/>
                <a:uFillTx/>
                <a:latin typeface="+mn-lt"/>
                <a:ea typeface="+mj-ea"/>
                <a:cs typeface="+mn-cs"/>
              </a:rPr>
              <a:t>·</a:t>
            </a:r>
            <a:r>
              <a:rPr kumimoji="0" lang="en-US" altLang="zh-CN"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大 气 科 学 学 院 本 科 课 程</a:t>
            </a:r>
            <a:endParaRPr kumimoji="0" lang="zh-CN" altLang="en-US" sz="1400" b="1" i="0" u="none" strike="noStrike" kern="1200" cap="none" spc="0" normalizeH="0" baseline="0" noProof="0">
              <a:ln>
                <a:noFill/>
              </a:ln>
              <a:solidFill>
                <a:schemeClr val="tx2"/>
              </a:solidFill>
              <a:effectLst/>
              <a:uLnTx/>
              <a:uFillTx/>
              <a:latin typeface="+mj-lt"/>
              <a:ea typeface="+mj-ea"/>
              <a:cs typeface="+mn-cs"/>
            </a:endParaRPr>
          </a:p>
        </p:txBody>
      </p:sp>
      <p:sp>
        <p:nvSpPr>
          <p:cNvPr id="4" name="页脚占位符 3"/>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流 体 力 学 </a:t>
            </a:r>
            <a:r>
              <a:rPr kumimoji="0" lang="en-US" altLang="zh-CN" sz="1400" b="1" i="0" u="none" strike="noStrike" kern="1200" cap="none" spc="0" normalizeH="0" baseline="0" noProof="0">
                <a:ln>
                  <a:noFill/>
                </a:ln>
                <a:solidFill>
                  <a:schemeClr val="tx2"/>
                </a:solidFill>
                <a:effectLst/>
                <a:uLnTx/>
                <a:uFillTx/>
                <a:latin typeface="+mj-lt"/>
                <a:ea typeface="+mj-ea"/>
                <a:cs typeface="+mn-cs"/>
              </a:rPr>
              <a:t>》</a:t>
            </a:r>
            <a:endParaRPr kumimoji="0" lang="en-US" altLang="zh-CN" sz="1400" b="1" i="0" u="none" strike="noStrike" kern="1200" cap="none" spc="0" normalizeH="0" baseline="0" noProof="0">
              <a:ln>
                <a:noFill/>
              </a:ln>
              <a:solidFill>
                <a:schemeClr val="tx2"/>
              </a:solidFill>
              <a:effectLst/>
              <a:uLnTx/>
              <a:uFillTx/>
              <a:latin typeface="+mj-lt"/>
              <a:ea typeface="+mj-ea"/>
              <a:cs typeface="+mn-cs"/>
            </a:endParaRPr>
          </a:p>
        </p:txBody>
      </p:sp>
      <p:sp>
        <p:nvSpPr>
          <p:cNvPr id="5" name="灯片编号占位符 4"/>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1" i="0" u="none" strike="noStrike" kern="1200" cap="none" spc="0" normalizeH="0" baseline="0" noProof="0">
                <a:ln>
                  <a:noFill/>
                </a:ln>
                <a:solidFill>
                  <a:schemeClr val="tx2"/>
                </a:solidFill>
                <a:effectLst/>
                <a:uLnTx/>
                <a:uFillTx/>
                <a:latin typeface="+mj-lt"/>
                <a:ea typeface="+mj-ea"/>
                <a:cs typeface="+mn-cs"/>
              </a:rPr>
              <a:t>兰 州 大 学 </a:t>
            </a:r>
            <a:r>
              <a:rPr kumimoji="0" lang="en-US" altLang="zh-CN" sz="1400" b="1" i="0" u="none" strike="noStrike" kern="1200" cap="none" spc="0" normalizeH="0" baseline="0" noProof="0">
                <a:ln>
                  <a:noFill/>
                </a:ln>
                <a:solidFill>
                  <a:schemeClr val="tx2"/>
                </a:solidFill>
                <a:effectLst/>
                <a:uLnTx/>
                <a:uFillTx/>
                <a:latin typeface="+mn-lt"/>
                <a:ea typeface="+mj-ea"/>
                <a:cs typeface="+mn-cs"/>
              </a:rPr>
              <a:t>·</a:t>
            </a:r>
            <a:r>
              <a:rPr kumimoji="0" lang="en-US" altLang="zh-CN"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大 气 科 学 学 院 本 科 课 程</a:t>
            </a:r>
            <a:endParaRPr kumimoji="0" lang="zh-CN" altLang="en-US" sz="1400" b="1" i="0" u="none" strike="noStrike" kern="1200" cap="none" spc="0" normalizeH="0" baseline="0" noProof="0">
              <a:ln>
                <a:noFill/>
              </a:ln>
              <a:solidFill>
                <a:schemeClr val="tx2"/>
              </a:solidFill>
              <a:effectLst/>
              <a:uLnTx/>
              <a:uFillTx/>
              <a:latin typeface="+mj-lt"/>
              <a:ea typeface="+mj-ea"/>
              <a:cs typeface="+mn-cs"/>
            </a:endParaRPr>
          </a:p>
        </p:txBody>
      </p:sp>
      <p:sp>
        <p:nvSpPr>
          <p:cNvPr id="3" name="页脚占位符 2"/>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流 体 力 学 </a:t>
            </a:r>
            <a:r>
              <a:rPr kumimoji="0" lang="en-US" altLang="zh-CN" sz="1400" b="1" i="0" u="none" strike="noStrike" kern="1200" cap="none" spc="0" normalizeH="0" baseline="0" noProof="0">
                <a:ln>
                  <a:noFill/>
                </a:ln>
                <a:solidFill>
                  <a:schemeClr val="tx2"/>
                </a:solidFill>
                <a:effectLst/>
                <a:uLnTx/>
                <a:uFillTx/>
                <a:latin typeface="+mj-lt"/>
                <a:ea typeface="+mj-ea"/>
                <a:cs typeface="+mn-cs"/>
              </a:rPr>
              <a:t>》</a:t>
            </a:r>
            <a:endParaRPr kumimoji="0" lang="en-US" altLang="zh-CN" sz="1400" b="1" i="0" u="none" strike="noStrike" kern="1200" cap="none" spc="0" normalizeH="0" baseline="0" noProof="0">
              <a:ln>
                <a:noFill/>
              </a:ln>
              <a:solidFill>
                <a:schemeClr val="tx2"/>
              </a:solidFill>
              <a:effectLst/>
              <a:uLnTx/>
              <a:uFillTx/>
              <a:latin typeface="+mj-lt"/>
              <a:ea typeface="+mj-ea"/>
              <a:cs typeface="+mn-cs"/>
            </a:endParaRPr>
          </a:p>
        </p:txBody>
      </p:sp>
      <p:sp>
        <p:nvSpPr>
          <p:cNvPr id="4" name="灯片编号占位符 3"/>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日期占位符 4"/>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1" i="0" u="none" strike="noStrike" kern="1200" cap="none" spc="0" normalizeH="0" baseline="0" noProof="0">
                <a:ln>
                  <a:noFill/>
                </a:ln>
                <a:solidFill>
                  <a:schemeClr val="tx2"/>
                </a:solidFill>
                <a:effectLst/>
                <a:uLnTx/>
                <a:uFillTx/>
                <a:latin typeface="+mj-lt"/>
                <a:ea typeface="+mj-ea"/>
                <a:cs typeface="+mn-cs"/>
              </a:rPr>
              <a:t>兰 州 大 学 </a:t>
            </a:r>
            <a:r>
              <a:rPr kumimoji="0" lang="en-US" altLang="zh-CN" sz="1400" b="1" i="0" u="none" strike="noStrike" kern="1200" cap="none" spc="0" normalizeH="0" baseline="0" noProof="0">
                <a:ln>
                  <a:noFill/>
                </a:ln>
                <a:solidFill>
                  <a:schemeClr val="tx2"/>
                </a:solidFill>
                <a:effectLst/>
                <a:uLnTx/>
                <a:uFillTx/>
                <a:latin typeface="+mn-lt"/>
                <a:ea typeface="+mj-ea"/>
                <a:cs typeface="+mn-cs"/>
              </a:rPr>
              <a:t>·</a:t>
            </a:r>
            <a:r>
              <a:rPr kumimoji="0" lang="en-US" altLang="zh-CN"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大 气 科 学 学 院 本 科 课 程</a:t>
            </a:r>
            <a:endParaRPr kumimoji="0" lang="zh-CN" altLang="en-US" sz="1400" b="1" i="0" u="none" strike="noStrike" kern="1200" cap="none" spc="0" normalizeH="0" baseline="0" noProof="0">
              <a:ln>
                <a:noFill/>
              </a:ln>
              <a:solidFill>
                <a:schemeClr val="tx2"/>
              </a:solidFill>
              <a:effectLst/>
              <a:uLnTx/>
              <a:uFillTx/>
              <a:latin typeface="+mj-lt"/>
              <a:ea typeface="+mj-ea"/>
              <a:cs typeface="+mn-cs"/>
            </a:endParaRPr>
          </a:p>
        </p:txBody>
      </p:sp>
      <p:sp>
        <p:nvSpPr>
          <p:cNvPr id="6" name="页脚占位符 5"/>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流 体 力 学 </a:t>
            </a:r>
            <a:r>
              <a:rPr kumimoji="0" lang="en-US" altLang="zh-CN" sz="1400" b="1" i="0" u="none" strike="noStrike" kern="1200" cap="none" spc="0" normalizeH="0" baseline="0" noProof="0">
                <a:ln>
                  <a:noFill/>
                </a:ln>
                <a:solidFill>
                  <a:schemeClr val="tx2"/>
                </a:solidFill>
                <a:effectLst/>
                <a:uLnTx/>
                <a:uFillTx/>
                <a:latin typeface="+mj-lt"/>
                <a:ea typeface="+mj-ea"/>
                <a:cs typeface="+mn-cs"/>
              </a:rPr>
              <a:t>》</a:t>
            </a:r>
            <a:endParaRPr kumimoji="0" lang="en-US" altLang="zh-CN" sz="1400" b="1" i="0" u="none" strike="noStrike" kern="1200" cap="none" spc="0" normalizeH="0" baseline="0" noProof="0">
              <a:ln>
                <a:noFill/>
              </a:ln>
              <a:solidFill>
                <a:schemeClr val="tx2"/>
              </a:solidFill>
              <a:effectLst/>
              <a:uLnTx/>
              <a:uFillTx/>
              <a:latin typeface="+mj-lt"/>
              <a:ea typeface="+mj-ea"/>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endParaRPr kumimoji="0" lang="zh-CN" altLang="en-US" sz="3200" b="1"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日期占位符 4"/>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1" i="0" u="none" strike="noStrike" kern="1200" cap="none" spc="0" normalizeH="0" baseline="0" noProof="0">
                <a:ln>
                  <a:noFill/>
                </a:ln>
                <a:solidFill>
                  <a:schemeClr val="tx2"/>
                </a:solidFill>
                <a:effectLst/>
                <a:uLnTx/>
                <a:uFillTx/>
                <a:latin typeface="+mj-lt"/>
                <a:ea typeface="+mj-ea"/>
                <a:cs typeface="+mn-cs"/>
              </a:rPr>
              <a:t>兰 州 大 学 </a:t>
            </a:r>
            <a:r>
              <a:rPr kumimoji="0" lang="en-US" altLang="zh-CN" sz="1400" b="1" i="0" u="none" strike="noStrike" kern="1200" cap="none" spc="0" normalizeH="0" baseline="0" noProof="0">
                <a:ln>
                  <a:noFill/>
                </a:ln>
                <a:solidFill>
                  <a:schemeClr val="tx2"/>
                </a:solidFill>
                <a:effectLst/>
                <a:uLnTx/>
                <a:uFillTx/>
                <a:latin typeface="+mn-lt"/>
                <a:ea typeface="+mj-ea"/>
                <a:cs typeface="+mn-cs"/>
              </a:rPr>
              <a:t>·</a:t>
            </a:r>
            <a:r>
              <a:rPr kumimoji="0" lang="en-US" altLang="zh-CN"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大 气 科 学 学 院 本 科 课 程</a:t>
            </a:r>
            <a:endParaRPr kumimoji="0" lang="zh-CN" altLang="en-US" sz="1400" b="1" i="0" u="none" strike="noStrike" kern="1200" cap="none" spc="0" normalizeH="0" baseline="0" noProof="0">
              <a:ln>
                <a:noFill/>
              </a:ln>
              <a:solidFill>
                <a:schemeClr val="tx2"/>
              </a:solidFill>
              <a:effectLst/>
              <a:uLnTx/>
              <a:uFillTx/>
              <a:latin typeface="+mj-lt"/>
              <a:ea typeface="+mj-ea"/>
              <a:cs typeface="+mn-cs"/>
            </a:endParaRPr>
          </a:p>
        </p:txBody>
      </p:sp>
      <p:sp>
        <p:nvSpPr>
          <p:cNvPr id="6" name="页脚占位符 5"/>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流 体 力 学 </a:t>
            </a:r>
            <a:r>
              <a:rPr kumimoji="0" lang="en-US" altLang="zh-CN" sz="1400" b="1" i="0" u="none" strike="noStrike" kern="1200" cap="none" spc="0" normalizeH="0" baseline="0" noProof="0">
                <a:ln>
                  <a:noFill/>
                </a:ln>
                <a:solidFill>
                  <a:schemeClr val="tx2"/>
                </a:solidFill>
                <a:effectLst/>
                <a:uLnTx/>
                <a:uFillTx/>
                <a:latin typeface="+mj-lt"/>
                <a:ea typeface="+mj-ea"/>
                <a:cs typeface="+mn-cs"/>
              </a:rPr>
              <a:t>》</a:t>
            </a:r>
            <a:endParaRPr kumimoji="0" lang="en-US" altLang="zh-CN" sz="1400" b="1" i="0" u="none" strike="noStrike" kern="1200" cap="none" spc="0" normalizeH="0" baseline="0" noProof="0">
              <a:ln>
                <a:noFill/>
              </a:ln>
              <a:solidFill>
                <a:schemeClr val="tx2"/>
              </a:solidFill>
              <a:effectLst/>
              <a:uLnTx/>
              <a:uFillTx/>
              <a:latin typeface="+mj-lt"/>
              <a:ea typeface="+mj-ea"/>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1" i="0" u="none" strike="noStrike" kern="1200" cap="none" spc="0" normalizeH="0" baseline="0" noProof="0">
                <a:ln>
                  <a:noFill/>
                </a:ln>
                <a:solidFill>
                  <a:schemeClr val="tx2"/>
                </a:solidFill>
                <a:effectLst/>
                <a:uLnTx/>
                <a:uFillTx/>
                <a:latin typeface="+mj-lt"/>
                <a:ea typeface="+mj-ea"/>
                <a:cs typeface="+mn-cs"/>
              </a:rPr>
              <a:t>兰 州 大 学 </a:t>
            </a:r>
            <a:r>
              <a:rPr kumimoji="0" lang="en-US" altLang="zh-CN" sz="1400" b="1" i="0" u="none" strike="noStrike" kern="1200" cap="none" spc="0" normalizeH="0" baseline="0" noProof="0">
                <a:ln>
                  <a:noFill/>
                </a:ln>
                <a:solidFill>
                  <a:schemeClr val="tx2"/>
                </a:solidFill>
                <a:effectLst/>
                <a:uLnTx/>
                <a:uFillTx/>
                <a:latin typeface="+mn-lt"/>
                <a:ea typeface="+mj-ea"/>
                <a:cs typeface="+mn-cs"/>
              </a:rPr>
              <a:t>·</a:t>
            </a:r>
            <a:r>
              <a:rPr kumimoji="0" lang="en-US" altLang="zh-CN"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大 气 科 学 学 院 本 科 课 程</a:t>
            </a:r>
            <a:endParaRPr kumimoji="0" lang="zh-CN" altLang="en-US" sz="1400" b="1" i="0" u="none" strike="noStrike" kern="1200" cap="none" spc="0" normalizeH="0" baseline="0" noProof="0">
              <a:ln>
                <a:noFill/>
              </a:ln>
              <a:solidFill>
                <a:schemeClr val="tx2"/>
              </a:solidFill>
              <a:effectLst/>
              <a:uLnTx/>
              <a:uFillTx/>
              <a:latin typeface="+mj-lt"/>
              <a:ea typeface="+mj-ea"/>
              <a:cs typeface="+mn-cs"/>
            </a:endParaRPr>
          </a:p>
        </p:txBody>
      </p:sp>
      <p:sp>
        <p:nvSpPr>
          <p:cNvPr id="5" name="页脚占位符 4"/>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流 体 力 学 </a:t>
            </a:r>
            <a:r>
              <a:rPr kumimoji="0" lang="en-US" altLang="zh-CN" sz="1400" b="1" i="0" u="none" strike="noStrike" kern="1200" cap="none" spc="0" normalizeH="0" baseline="0" noProof="0">
                <a:ln>
                  <a:noFill/>
                </a:ln>
                <a:solidFill>
                  <a:schemeClr val="tx2"/>
                </a:solidFill>
                <a:effectLst/>
                <a:uLnTx/>
                <a:uFillTx/>
                <a:latin typeface="+mj-lt"/>
                <a:ea typeface="+mj-ea"/>
                <a:cs typeface="+mn-cs"/>
              </a:rPr>
              <a:t>》</a:t>
            </a:r>
            <a:endParaRPr kumimoji="0" lang="en-US" altLang="zh-CN" sz="1400" b="1" i="0" u="none" strike="noStrike" kern="1200" cap="none" spc="0" normalizeH="0" baseline="0" noProof="0">
              <a:ln>
                <a:noFill/>
              </a:ln>
              <a:solidFill>
                <a:schemeClr val="tx2"/>
              </a:solidFill>
              <a:effectLst/>
              <a:uLnTx/>
              <a:uFillTx/>
              <a:latin typeface="+mj-lt"/>
              <a:ea typeface="+mj-ea"/>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33363"/>
            <a:ext cx="2057400" cy="6219825"/>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457200" y="233363"/>
            <a:ext cx="6019800" cy="6219825"/>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1" i="0" u="none" strike="noStrike" kern="1200" cap="none" spc="0" normalizeH="0" baseline="0" noProof="0">
                <a:ln>
                  <a:noFill/>
                </a:ln>
                <a:solidFill>
                  <a:schemeClr val="tx2"/>
                </a:solidFill>
                <a:effectLst/>
                <a:uLnTx/>
                <a:uFillTx/>
                <a:latin typeface="+mj-lt"/>
                <a:ea typeface="+mj-ea"/>
                <a:cs typeface="+mn-cs"/>
              </a:rPr>
              <a:t>兰 州 大 学 </a:t>
            </a:r>
            <a:r>
              <a:rPr kumimoji="0" lang="en-US" altLang="zh-CN" sz="1400" b="1" i="0" u="none" strike="noStrike" kern="1200" cap="none" spc="0" normalizeH="0" baseline="0" noProof="0">
                <a:ln>
                  <a:noFill/>
                </a:ln>
                <a:solidFill>
                  <a:schemeClr val="tx2"/>
                </a:solidFill>
                <a:effectLst/>
                <a:uLnTx/>
                <a:uFillTx/>
                <a:latin typeface="+mn-lt"/>
                <a:ea typeface="+mj-ea"/>
                <a:cs typeface="+mn-cs"/>
              </a:rPr>
              <a:t>·</a:t>
            </a:r>
            <a:r>
              <a:rPr kumimoji="0" lang="en-US" altLang="zh-CN"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大 气 科 学 学 院 本 科 课 程</a:t>
            </a:r>
            <a:endParaRPr kumimoji="0" lang="zh-CN" altLang="en-US" sz="1400" b="1" i="0" u="none" strike="noStrike" kern="1200" cap="none" spc="0" normalizeH="0" baseline="0" noProof="0">
              <a:ln>
                <a:noFill/>
              </a:ln>
              <a:solidFill>
                <a:schemeClr val="tx2"/>
              </a:solidFill>
              <a:effectLst/>
              <a:uLnTx/>
              <a:uFillTx/>
              <a:latin typeface="+mj-lt"/>
              <a:ea typeface="+mj-ea"/>
              <a:cs typeface="+mn-cs"/>
            </a:endParaRPr>
          </a:p>
        </p:txBody>
      </p:sp>
      <p:sp>
        <p:nvSpPr>
          <p:cNvPr id="5" name="页脚占位符 4"/>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流 体 力 学 </a:t>
            </a:r>
            <a:r>
              <a:rPr kumimoji="0" lang="en-US" altLang="zh-CN" sz="1400" b="1" i="0" u="none" strike="noStrike" kern="1200" cap="none" spc="0" normalizeH="0" baseline="0" noProof="0">
                <a:ln>
                  <a:noFill/>
                </a:ln>
                <a:solidFill>
                  <a:schemeClr val="tx2"/>
                </a:solidFill>
                <a:effectLst/>
                <a:uLnTx/>
                <a:uFillTx/>
                <a:latin typeface="+mj-lt"/>
                <a:ea typeface="+mj-ea"/>
                <a:cs typeface="+mn-cs"/>
              </a:rPr>
              <a:t>》</a:t>
            </a:r>
            <a:endParaRPr kumimoji="0" lang="en-US" altLang="zh-CN" sz="1400" b="1" i="0" u="none" strike="noStrike" kern="1200" cap="none" spc="0" normalizeH="0" baseline="0" noProof="0">
              <a:ln>
                <a:noFill/>
              </a:ln>
              <a:solidFill>
                <a:schemeClr val="tx2"/>
              </a:solidFill>
              <a:effectLst/>
              <a:uLnTx/>
              <a:uFillTx/>
              <a:latin typeface="+mj-lt"/>
              <a:ea typeface="+mj-ea"/>
              <a:cs typeface="+mn-cs"/>
            </a:endParaRPr>
          </a:p>
        </p:txBody>
      </p:sp>
      <p:sp>
        <p:nvSpPr>
          <p:cNvPr id="6" name="灯片编号占位符 5"/>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747713" y="233363"/>
            <a:ext cx="7862887" cy="563562"/>
          </a:xfrm>
        </p:spPr>
        <p:txBody>
          <a:bodyPr/>
          <a:lstStyle/>
          <a:p>
            <a:r>
              <a:rPr lang="zh-CN" altLang="en-US" noProof="1"/>
              <a:t>单击此处编辑母版标题样式</a:t>
            </a:r>
            <a:endParaRPr lang="zh-CN" altLang="en-US" noProof="1"/>
          </a:p>
        </p:txBody>
      </p:sp>
      <p:sp>
        <p:nvSpPr>
          <p:cNvPr id="3" name="文本占位符 2"/>
          <p:cNvSpPr>
            <a:spLocks noGrp="1"/>
          </p:cNvSpPr>
          <p:nvPr>
            <p:ph type="body" sz="half" idx="1"/>
          </p:nvPr>
        </p:nvSpPr>
        <p:spPr>
          <a:xfrm>
            <a:off x="457200" y="1412875"/>
            <a:ext cx="4038600" cy="5040313"/>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48200" y="1412875"/>
            <a:ext cx="4038600" cy="5040313"/>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日期占位符 4"/>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1" i="0" u="none" strike="noStrike" kern="1200" cap="none" spc="0" normalizeH="0" baseline="0" noProof="0">
                <a:ln>
                  <a:noFill/>
                </a:ln>
                <a:solidFill>
                  <a:schemeClr val="tx2"/>
                </a:solidFill>
                <a:effectLst/>
                <a:uLnTx/>
                <a:uFillTx/>
                <a:latin typeface="+mj-lt"/>
                <a:ea typeface="+mj-ea"/>
                <a:cs typeface="+mn-cs"/>
              </a:rPr>
              <a:t>兰 州 大 学 </a:t>
            </a:r>
            <a:r>
              <a:rPr kumimoji="0" lang="en-US" altLang="zh-CN" sz="1400" b="1" i="0" u="none" strike="noStrike" kern="1200" cap="none" spc="0" normalizeH="0" baseline="0" noProof="0">
                <a:ln>
                  <a:noFill/>
                </a:ln>
                <a:solidFill>
                  <a:schemeClr val="tx2"/>
                </a:solidFill>
                <a:effectLst/>
                <a:uLnTx/>
                <a:uFillTx/>
                <a:latin typeface="+mn-lt"/>
                <a:ea typeface="+mj-ea"/>
                <a:cs typeface="+mn-cs"/>
              </a:rPr>
              <a:t>·</a:t>
            </a:r>
            <a:r>
              <a:rPr kumimoji="0" lang="en-US" altLang="zh-CN"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大 气 科 学 学 院 本 科 课 程</a:t>
            </a:r>
            <a:endParaRPr kumimoji="0" lang="zh-CN" altLang="en-US" sz="1400" b="1" i="0" u="none" strike="noStrike" kern="1200" cap="none" spc="0" normalizeH="0" baseline="0" noProof="0">
              <a:ln>
                <a:noFill/>
              </a:ln>
              <a:solidFill>
                <a:schemeClr val="tx2"/>
              </a:solidFill>
              <a:effectLst/>
              <a:uLnTx/>
              <a:uFillTx/>
              <a:latin typeface="+mj-lt"/>
              <a:ea typeface="+mj-ea"/>
              <a:cs typeface="+mn-cs"/>
            </a:endParaRPr>
          </a:p>
        </p:txBody>
      </p:sp>
      <p:sp>
        <p:nvSpPr>
          <p:cNvPr id="6" name="页脚占位符 5"/>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流 体 力 学 </a:t>
            </a:r>
            <a:r>
              <a:rPr kumimoji="0" lang="en-US" altLang="zh-CN" sz="1400" b="1" i="0" u="none" strike="noStrike" kern="1200" cap="none" spc="0" normalizeH="0" baseline="0" noProof="0">
                <a:ln>
                  <a:noFill/>
                </a:ln>
                <a:solidFill>
                  <a:schemeClr val="tx2"/>
                </a:solidFill>
                <a:effectLst/>
                <a:uLnTx/>
                <a:uFillTx/>
                <a:latin typeface="+mj-lt"/>
                <a:ea typeface="+mj-ea"/>
                <a:cs typeface="+mn-cs"/>
              </a:rPr>
              <a:t>》</a:t>
            </a:r>
            <a:endParaRPr kumimoji="0" lang="en-US" altLang="zh-CN" sz="1400" b="1" i="0" u="none" strike="noStrike" kern="1200" cap="none" spc="0" normalizeH="0" baseline="0" noProof="0">
              <a:ln>
                <a:noFill/>
              </a:ln>
              <a:solidFill>
                <a:schemeClr val="tx2"/>
              </a:solidFill>
              <a:effectLst/>
              <a:uLnTx/>
              <a:uFillTx/>
              <a:latin typeface="+mj-lt"/>
              <a:ea typeface="+mj-ea"/>
              <a:cs typeface="+mn-cs"/>
            </a:endParaRPr>
          </a:p>
        </p:txBody>
      </p:sp>
      <p:sp>
        <p:nvSpPr>
          <p:cNvPr id="7" name="灯片编号占位符 6"/>
          <p:cNvSpPr>
            <a:spLocks noGrp="1"/>
          </p:cNvSpPr>
          <p:nvPr>
            <p:ph type="sldNum" sz="quarter" idx="12"/>
          </p:nvPr>
        </p:nvSpPr>
        <p:spPr/>
        <p:txBody>
          <a:bodyPr/>
          <a:p>
            <a:pPr lvl="0" eaLnBrk="1" hangingPunct="1">
              <a:buNone/>
            </a:pPr>
            <a:fld id="{9A0DB2DC-4C9A-4742-B13C-FB6460FD3503}" type="slidenum">
              <a:rPr lang="zh-CN" altLang="en-US" dirty="0"/>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vmlDrawing" Target="../drawings/vmlDrawing2.vml"/><Relationship Id="rId14" Type="http://schemas.openxmlformats.org/officeDocument/2006/relationships/image" Target="../media/image2.png"/><Relationship Id="rId13" Type="http://schemas.openxmlformats.org/officeDocument/2006/relationships/oleObject" Target="../embeddings/oleObject3.bin"/><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15"/>
          <p:cNvSpPr>
            <a:spLocks noChangeArrowheads="1"/>
          </p:cNvSpPr>
          <p:nvPr/>
        </p:nvSpPr>
        <p:spPr bwMode="auto">
          <a:xfrm>
            <a:off x="0" y="981075"/>
            <a:ext cx="250825" cy="5891213"/>
          </a:xfrm>
          <a:prstGeom prst="rect">
            <a:avLst/>
          </a:prstGeom>
          <a:solidFill>
            <a:schemeClr val="hlink"/>
          </a:solidFill>
          <a:ln>
            <a:noFill/>
          </a:ln>
        </p:spPr>
        <p:txBody>
          <a:bodyPr wrap="none" anchor="ctr"/>
          <a:lstStyle>
            <a:lvl1pPr>
              <a:buFont typeface="Arial" panose="020B0604020202020204" pitchFamily="34" charset="0"/>
              <a:defRPr>
                <a:solidFill>
                  <a:schemeClr val="tx1"/>
                </a:solidFill>
                <a:latin typeface="Arial" panose="020B0604020202020204" pitchFamily="34" charset="0"/>
              </a:defRPr>
            </a:lvl1pPr>
            <a:lvl2pPr marL="742950" indent="-285750">
              <a:buFont typeface="Arial" panose="020B0604020202020204" pitchFamily="34" charset="0"/>
              <a:defRPr>
                <a:solidFill>
                  <a:schemeClr val="tx1"/>
                </a:solidFill>
                <a:latin typeface="Arial" panose="020B0604020202020204" pitchFamily="34" charset="0"/>
              </a:defRPr>
            </a:lvl2pPr>
            <a:lvl3pPr marL="1143000" indent="-228600">
              <a:buFont typeface="Arial" panose="020B0604020202020204" pitchFamily="34" charset="0"/>
              <a:defRPr>
                <a:solidFill>
                  <a:schemeClr val="tx1"/>
                </a:solidFill>
                <a:latin typeface="Arial" panose="020B0604020202020204" pitchFamily="34" charset="0"/>
              </a:defRPr>
            </a:lvl3pPr>
            <a:lvl4pPr marL="1600200" indent="-228600">
              <a:buFont typeface="Arial" panose="020B0604020202020204" pitchFamily="34" charset="0"/>
              <a:defRPr>
                <a:solidFill>
                  <a:schemeClr val="tx1"/>
                </a:solidFill>
                <a:latin typeface="Arial" panose="020B0604020202020204" pitchFamily="34" charset="0"/>
              </a:defRPr>
            </a:lvl4pPr>
            <a:lvl5pPr marL="2057400" indent="-228600">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7" name="Rectangle 16"/>
          <p:cNvSpPr>
            <a:spLocks noChangeArrowheads="1"/>
          </p:cNvSpPr>
          <p:nvPr/>
        </p:nvSpPr>
        <p:spPr bwMode="auto">
          <a:xfrm>
            <a:off x="0" y="0"/>
            <a:ext cx="1403350" cy="1247775"/>
          </a:xfrm>
          <a:prstGeom prst="rect">
            <a:avLst/>
          </a:prstGeom>
          <a:solidFill>
            <a:schemeClr val="accent1"/>
          </a:solidFill>
          <a:ln>
            <a:noFill/>
          </a:ln>
        </p:spPr>
        <p:txBody>
          <a:bodyPr wrap="none" anchor="ctr"/>
          <a:lstStyle>
            <a:lvl1pPr>
              <a:buFont typeface="Arial" panose="020B0604020202020204" pitchFamily="34" charset="0"/>
              <a:defRPr>
                <a:solidFill>
                  <a:schemeClr val="tx1"/>
                </a:solidFill>
                <a:latin typeface="Arial" panose="020B0604020202020204" pitchFamily="34" charset="0"/>
              </a:defRPr>
            </a:lvl1pPr>
            <a:lvl2pPr marL="742950" indent="-285750">
              <a:buFont typeface="Arial" panose="020B0604020202020204" pitchFamily="34" charset="0"/>
              <a:defRPr>
                <a:solidFill>
                  <a:schemeClr val="tx1"/>
                </a:solidFill>
                <a:latin typeface="Arial" panose="020B0604020202020204" pitchFamily="34" charset="0"/>
              </a:defRPr>
            </a:lvl2pPr>
            <a:lvl3pPr marL="1143000" indent="-228600">
              <a:buFont typeface="Arial" panose="020B0604020202020204" pitchFamily="34" charset="0"/>
              <a:defRPr>
                <a:solidFill>
                  <a:schemeClr val="tx1"/>
                </a:solidFill>
                <a:latin typeface="Arial" panose="020B0604020202020204" pitchFamily="34" charset="0"/>
              </a:defRPr>
            </a:lvl3pPr>
            <a:lvl4pPr marL="1600200" indent="-228600">
              <a:buFont typeface="Arial" panose="020B0604020202020204" pitchFamily="34" charset="0"/>
              <a:defRPr>
                <a:solidFill>
                  <a:schemeClr val="tx1"/>
                </a:solidFill>
                <a:latin typeface="Arial" panose="020B0604020202020204" pitchFamily="34" charset="0"/>
              </a:defRPr>
            </a:lvl4pPr>
            <a:lvl5pPr marL="2057400" indent="-228600">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8" name="Rectangle 17"/>
          <p:cNvSpPr>
            <a:spLocks noChangeArrowheads="1"/>
          </p:cNvSpPr>
          <p:nvPr/>
        </p:nvSpPr>
        <p:spPr bwMode="auto">
          <a:xfrm>
            <a:off x="1403350" y="0"/>
            <a:ext cx="7740650" cy="1052513"/>
          </a:xfrm>
          <a:prstGeom prst="rect">
            <a:avLst/>
          </a:prstGeom>
          <a:solidFill>
            <a:schemeClr val="tx2"/>
          </a:solidFill>
          <a:ln>
            <a:noFill/>
          </a:ln>
        </p:spPr>
        <p:txBody>
          <a:bodyPr wrap="none" anchor="ctr"/>
          <a:lstStyle>
            <a:lvl1pPr>
              <a:buFont typeface="Arial" panose="020B0604020202020204" pitchFamily="34" charset="0"/>
              <a:defRPr>
                <a:solidFill>
                  <a:schemeClr val="tx1"/>
                </a:solidFill>
                <a:latin typeface="Arial" panose="020B0604020202020204" pitchFamily="34" charset="0"/>
              </a:defRPr>
            </a:lvl1pPr>
            <a:lvl2pPr marL="742950" indent="-285750">
              <a:buFont typeface="Arial" panose="020B0604020202020204" pitchFamily="34" charset="0"/>
              <a:defRPr>
                <a:solidFill>
                  <a:schemeClr val="tx1"/>
                </a:solidFill>
                <a:latin typeface="Arial" panose="020B0604020202020204" pitchFamily="34" charset="0"/>
              </a:defRPr>
            </a:lvl2pPr>
            <a:lvl3pPr marL="1143000" indent="-228600">
              <a:buFont typeface="Arial" panose="020B0604020202020204" pitchFamily="34" charset="0"/>
              <a:defRPr>
                <a:solidFill>
                  <a:schemeClr val="tx1"/>
                </a:solidFill>
                <a:latin typeface="Arial" panose="020B0604020202020204" pitchFamily="34" charset="0"/>
              </a:defRPr>
            </a:lvl3pPr>
            <a:lvl4pPr marL="1600200" indent="-228600">
              <a:buFont typeface="Arial" panose="020B0604020202020204" pitchFamily="34" charset="0"/>
              <a:defRPr>
                <a:solidFill>
                  <a:schemeClr val="tx1"/>
                </a:solidFill>
                <a:latin typeface="Arial" panose="020B0604020202020204" pitchFamily="34" charset="0"/>
              </a:defRPr>
            </a:lvl4pPr>
            <a:lvl5pPr marL="2057400" indent="-228600">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9" name="Rectangle 18"/>
          <p:cNvSpPr>
            <a:spLocks noChangeArrowheads="1"/>
          </p:cNvSpPr>
          <p:nvPr/>
        </p:nvSpPr>
        <p:spPr bwMode="auto">
          <a:xfrm>
            <a:off x="8820150" y="0"/>
            <a:ext cx="73025" cy="765175"/>
          </a:xfrm>
          <a:prstGeom prst="rect">
            <a:avLst/>
          </a:prstGeom>
          <a:solidFill>
            <a:schemeClr val="accent1"/>
          </a:solidFill>
          <a:ln>
            <a:noFill/>
          </a:ln>
        </p:spPr>
        <p:txBody>
          <a:bodyPr wrap="none" anchor="ctr"/>
          <a:lstStyle>
            <a:lvl1pPr>
              <a:buFont typeface="Arial" panose="020B0604020202020204" pitchFamily="34" charset="0"/>
              <a:defRPr>
                <a:solidFill>
                  <a:schemeClr val="tx1"/>
                </a:solidFill>
                <a:latin typeface="Arial" panose="020B0604020202020204" pitchFamily="34" charset="0"/>
              </a:defRPr>
            </a:lvl1pPr>
            <a:lvl2pPr marL="742950" indent="-285750">
              <a:buFont typeface="Arial" panose="020B0604020202020204" pitchFamily="34" charset="0"/>
              <a:defRPr>
                <a:solidFill>
                  <a:schemeClr val="tx1"/>
                </a:solidFill>
                <a:latin typeface="Arial" panose="020B0604020202020204" pitchFamily="34" charset="0"/>
              </a:defRPr>
            </a:lvl2pPr>
            <a:lvl3pPr marL="1143000" indent="-228600">
              <a:buFont typeface="Arial" panose="020B0604020202020204" pitchFamily="34" charset="0"/>
              <a:defRPr>
                <a:solidFill>
                  <a:schemeClr val="tx1"/>
                </a:solidFill>
                <a:latin typeface="Arial" panose="020B0604020202020204" pitchFamily="34" charset="0"/>
              </a:defRPr>
            </a:lvl3pPr>
            <a:lvl4pPr marL="1600200" indent="-228600">
              <a:buFont typeface="Arial" panose="020B0604020202020204" pitchFamily="34" charset="0"/>
              <a:defRPr>
                <a:solidFill>
                  <a:schemeClr val="tx1"/>
                </a:solidFill>
                <a:latin typeface="Arial" panose="020B0604020202020204" pitchFamily="34" charset="0"/>
              </a:defRPr>
            </a:lvl4pPr>
            <a:lvl5pPr marL="2057400" indent="-228600">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0" name="Rectangle 19"/>
          <p:cNvSpPr>
            <a:spLocks noChangeArrowheads="1"/>
          </p:cNvSpPr>
          <p:nvPr/>
        </p:nvSpPr>
        <p:spPr bwMode="auto">
          <a:xfrm>
            <a:off x="179388" y="134938"/>
            <a:ext cx="8785225" cy="773113"/>
          </a:xfrm>
          <a:prstGeom prst="rect">
            <a:avLst/>
          </a:prstGeom>
          <a:noFill/>
          <a:ln w="0">
            <a:solidFill>
              <a:schemeClr val="accent1"/>
            </a:solidFill>
            <a:miter lim="800000"/>
          </a:ln>
        </p:spPr>
        <p:txBody>
          <a:bodyPr wrap="none" anchor="ctr"/>
          <a:lstStyle>
            <a:lvl1pPr>
              <a:buFont typeface="Arial" panose="020B0604020202020204" pitchFamily="34" charset="0"/>
              <a:defRPr>
                <a:solidFill>
                  <a:schemeClr val="tx1"/>
                </a:solidFill>
                <a:latin typeface="Arial" panose="020B0604020202020204" pitchFamily="34" charset="0"/>
              </a:defRPr>
            </a:lvl1pPr>
            <a:lvl2pPr marL="742950" indent="-285750">
              <a:buFont typeface="Arial" panose="020B0604020202020204" pitchFamily="34" charset="0"/>
              <a:defRPr>
                <a:solidFill>
                  <a:schemeClr val="tx1"/>
                </a:solidFill>
                <a:latin typeface="Arial" panose="020B0604020202020204" pitchFamily="34" charset="0"/>
              </a:defRPr>
            </a:lvl2pPr>
            <a:lvl3pPr marL="1143000" indent="-228600">
              <a:buFont typeface="Arial" panose="020B0604020202020204" pitchFamily="34" charset="0"/>
              <a:defRPr>
                <a:solidFill>
                  <a:schemeClr val="tx1"/>
                </a:solidFill>
                <a:latin typeface="Arial" panose="020B0604020202020204" pitchFamily="34" charset="0"/>
              </a:defRPr>
            </a:lvl3pPr>
            <a:lvl4pPr marL="1600200" indent="-228600">
              <a:buFont typeface="Arial" panose="020B0604020202020204" pitchFamily="34" charset="0"/>
              <a:defRPr>
                <a:solidFill>
                  <a:schemeClr val="tx1"/>
                </a:solidFill>
                <a:latin typeface="Arial" panose="020B0604020202020204" pitchFamily="34" charset="0"/>
              </a:defRPr>
            </a:lvl4pPr>
            <a:lvl5pPr marL="2057400" indent="-228600">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1" name="Line 20"/>
          <p:cNvSpPr/>
          <p:nvPr/>
        </p:nvSpPr>
        <p:spPr>
          <a:xfrm>
            <a:off x="468313" y="6481763"/>
            <a:ext cx="8424862" cy="0"/>
          </a:xfrm>
          <a:prstGeom prst="line">
            <a:avLst/>
          </a:prstGeom>
          <a:ln w="0" cap="flat" cmpd="sng">
            <a:solidFill>
              <a:schemeClr val="tx2"/>
            </a:solidFill>
            <a:prstDash val="solid"/>
            <a:headEnd type="none" w="med" len="med"/>
            <a:tailEnd type="none" w="med" len="med"/>
          </a:ln>
        </p:spPr>
      </p:sp>
      <p:sp>
        <p:nvSpPr>
          <p:cNvPr id="1032" name="Rectangle 3"/>
          <p:cNvSpPr>
            <a:spLocks noGrp="1"/>
          </p:cNvSpPr>
          <p:nvPr>
            <p:ph type="body"/>
          </p:nvPr>
        </p:nvSpPr>
        <p:spPr>
          <a:xfrm>
            <a:off x="457200" y="1412875"/>
            <a:ext cx="8229600" cy="5040313"/>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2" name="Rectangle 4"/>
          <p:cNvSpPr>
            <a:spLocks noGrp="1" noChangeArrowheads="1"/>
          </p:cNvSpPr>
          <p:nvPr>
            <p:ph type="dt" sz="half" idx="2"/>
          </p:nvPr>
        </p:nvSpPr>
        <p:spPr bwMode="auto">
          <a:xfrm>
            <a:off x="-107950" y="6505575"/>
            <a:ext cx="5127625" cy="352425"/>
          </a:xfrm>
          <a:prstGeom prst="rect">
            <a:avLst/>
          </a:prstGeom>
          <a:noFill/>
          <a:ln w="9525">
            <a:noFill/>
            <a:miter lim="800000"/>
          </a:ln>
          <a:effectLst/>
        </p:spPr>
        <p:txBody>
          <a:bodyPr vert="horz" wrap="square" lIns="91440" tIns="45720" rIns="91440" bIns="45720" numCol="1" anchor="t" anchorCtr="0" compatLnSpc="1"/>
          <a:lstStyle>
            <a:lvl1pPr algn="ctr" eaLnBrk="1" hangingPunct="1">
              <a:buFontTx/>
              <a:buNone/>
              <a:defRPr sz="1400" b="1">
                <a:solidFill>
                  <a:schemeClr val="tx2"/>
                </a:solidFill>
                <a:latin typeface="+mj-lt"/>
                <a:ea typeface="+mj-ea"/>
              </a:defRPr>
            </a:lvl1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400" b="1" i="0" u="none" strike="noStrike" kern="1200" cap="none" spc="0" normalizeH="0" baseline="0" noProof="0">
                <a:ln>
                  <a:noFill/>
                </a:ln>
                <a:solidFill>
                  <a:schemeClr val="tx2"/>
                </a:solidFill>
                <a:effectLst/>
                <a:uLnTx/>
                <a:uFillTx/>
                <a:latin typeface="+mj-lt"/>
                <a:ea typeface="+mj-ea"/>
                <a:cs typeface="+mn-cs"/>
              </a:rPr>
              <a:t>兰 州 大 学 </a:t>
            </a:r>
            <a:r>
              <a:rPr kumimoji="0" lang="en-US" altLang="zh-CN" sz="1400" b="1" i="0" u="none" strike="noStrike" kern="1200" cap="none" spc="0" normalizeH="0" baseline="0" noProof="0">
                <a:ln>
                  <a:noFill/>
                </a:ln>
                <a:solidFill>
                  <a:schemeClr val="tx2"/>
                </a:solidFill>
                <a:effectLst/>
                <a:uLnTx/>
                <a:uFillTx/>
                <a:latin typeface="+mn-lt"/>
                <a:ea typeface="+mj-ea"/>
                <a:cs typeface="+mn-cs"/>
              </a:rPr>
              <a:t>·</a:t>
            </a:r>
            <a:r>
              <a:rPr kumimoji="0" lang="en-US" altLang="zh-CN"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大 气 科 学 学 院 本 科 课 程</a:t>
            </a:r>
            <a:endParaRPr kumimoji="0" lang="zh-CN" altLang="en-US" sz="1400" b="1" i="0" u="none" strike="noStrike" kern="1200" cap="none" spc="0" normalizeH="0" baseline="0" noProof="0">
              <a:ln>
                <a:noFill/>
              </a:ln>
              <a:solidFill>
                <a:schemeClr val="tx2"/>
              </a:solidFill>
              <a:effectLst/>
              <a:uLnTx/>
              <a:uFillTx/>
              <a:latin typeface="+mj-lt"/>
              <a:ea typeface="+mj-ea"/>
              <a:cs typeface="+mn-cs"/>
            </a:endParaRPr>
          </a:p>
        </p:txBody>
      </p:sp>
      <p:sp>
        <p:nvSpPr>
          <p:cNvPr id="3" name="Rectangle 5"/>
          <p:cNvSpPr>
            <a:spLocks noGrp="1" noChangeArrowheads="1"/>
          </p:cNvSpPr>
          <p:nvPr>
            <p:ph type="ftr" sz="quarter" idx="3"/>
          </p:nvPr>
        </p:nvSpPr>
        <p:spPr bwMode="auto">
          <a:xfrm>
            <a:off x="7135813" y="6477000"/>
            <a:ext cx="1828800" cy="227013"/>
          </a:xfrm>
          <a:prstGeom prst="rect">
            <a:avLst/>
          </a:prstGeom>
          <a:noFill/>
          <a:ln w="9525">
            <a:noFill/>
            <a:miter lim="800000"/>
          </a:ln>
          <a:effectLst/>
        </p:spPr>
        <p:txBody>
          <a:bodyPr vert="horz" wrap="square" lIns="91440" tIns="45720" rIns="91440" bIns="45720" numCol="1" anchor="t" anchorCtr="0" compatLnSpc="1"/>
          <a:lstStyle>
            <a:lvl1pPr algn="r" eaLnBrk="1" hangingPunct="1">
              <a:buFontTx/>
              <a:buNone/>
              <a:defRPr sz="1400" b="1">
                <a:solidFill>
                  <a:schemeClr val="tx2"/>
                </a:solidFill>
                <a:latin typeface="+mj-lt"/>
                <a:ea typeface="+mj-ea"/>
              </a:defRPr>
            </a:lvl1pPr>
          </a:lstStyle>
          <a:p>
            <a:pPr marL="0" marR="0" lvl="0" indent="0" algn="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流 体 力 学 </a:t>
            </a:r>
            <a:r>
              <a:rPr kumimoji="0" lang="en-US" altLang="zh-CN" sz="1400" b="1" i="0" u="none" strike="noStrike" kern="1200" cap="none" spc="0" normalizeH="0" baseline="0" noProof="0">
                <a:ln>
                  <a:noFill/>
                </a:ln>
                <a:solidFill>
                  <a:schemeClr val="tx2"/>
                </a:solidFill>
                <a:effectLst/>
                <a:uLnTx/>
                <a:uFillTx/>
                <a:latin typeface="+mj-lt"/>
                <a:ea typeface="+mj-ea"/>
                <a:cs typeface="+mn-cs"/>
              </a:rPr>
              <a:t>》</a:t>
            </a:r>
            <a:endParaRPr kumimoji="0" lang="en-US" altLang="zh-CN" sz="1400" b="1" i="0" u="none" strike="noStrike" kern="1200" cap="none" spc="0" normalizeH="0" baseline="0" noProof="0">
              <a:ln>
                <a:noFill/>
              </a:ln>
              <a:solidFill>
                <a:schemeClr val="tx2"/>
              </a:solidFill>
              <a:effectLst/>
              <a:uLnTx/>
              <a:uFillTx/>
              <a:latin typeface="+mj-lt"/>
              <a:ea typeface="+mj-ea"/>
              <a:cs typeface="+mn-cs"/>
            </a:endParaRPr>
          </a:p>
        </p:txBody>
      </p:sp>
      <p:sp>
        <p:nvSpPr>
          <p:cNvPr id="4" name="Rectangle 6"/>
          <p:cNvSpPr>
            <a:spLocks noGrp="1" noChangeArrowheads="1"/>
          </p:cNvSpPr>
          <p:nvPr>
            <p:ph type="sldNum" sz="quarter" idx="4"/>
          </p:nvPr>
        </p:nvSpPr>
        <p:spPr bwMode="auto">
          <a:xfrm>
            <a:off x="3505200" y="6448425"/>
            <a:ext cx="2133600" cy="228600"/>
          </a:xfrm>
          <a:prstGeom prst="rect">
            <a:avLst/>
          </a:prstGeom>
          <a:noFill/>
          <a:ln w="9525">
            <a:noFill/>
            <a:miter lim="800000"/>
          </a:ln>
          <a:effectLst/>
        </p:spPr>
        <p:txBody>
          <a:bodyPr vert="horz" wrap="square" lIns="91440" tIns="45720" rIns="91440" bIns="45720" numCol="1" anchor="t" anchorCtr="0" compatLnSpc="1"/>
          <a:lstStyle>
            <a:lvl1pPr algn="ctr">
              <a:defRPr sz="1000" b="1">
                <a:latin typeface="Verdana" panose="020B0604030504040204" pitchFamily="34" charset="0"/>
                <a:ea typeface="宋体" panose="02010600030101010101" pitchFamily="2" charset="-122"/>
              </a:defRPr>
            </a:lvl1pPr>
          </a:lstStyle>
          <a:p>
            <a:pPr lvl="0" eaLnBrk="1" hangingPunct="1">
              <a:buNone/>
            </a:pPr>
            <a:fld id="{9A0DB2DC-4C9A-4742-B13C-FB6460FD3503}" type="slidenum">
              <a:rPr lang="zh-CN" altLang="en-US" dirty="0"/>
            </a:fld>
            <a:endParaRPr lang="zh-CN" altLang="en-US" dirty="0"/>
          </a:p>
        </p:txBody>
      </p:sp>
      <p:graphicFrame>
        <p:nvGraphicFramePr>
          <p:cNvPr id="1036" name="Object 21"/>
          <p:cNvGraphicFramePr>
            <a:graphicFrameLocks noChangeAspect="1"/>
          </p:cNvGraphicFramePr>
          <p:nvPr/>
        </p:nvGraphicFramePr>
        <p:xfrm>
          <a:off x="0" y="0"/>
          <a:ext cx="971550" cy="1042988"/>
        </p:xfrm>
        <a:graphic>
          <a:graphicData uri="http://schemas.openxmlformats.org/presentationml/2006/ole">
            <mc:AlternateContent xmlns:mc="http://schemas.openxmlformats.org/markup-compatibility/2006">
              <mc:Choice xmlns:v="urn:schemas-microsoft-com:vml" Requires="v">
                <p:oleObj spid="_x0000_s3078" name="" r:id="rId13" imgW="2540000" imgH="2540000" progId="Photoshop.Image.6">
                  <p:embed/>
                </p:oleObj>
              </mc:Choice>
              <mc:Fallback>
                <p:oleObj name="" r:id="rId13" imgW="2540000" imgH="2540000" progId="Photoshop.Image.6">
                  <p:embed/>
                  <p:pic>
                    <p:nvPicPr>
                      <p:cNvPr id="0" name="图片 3077"/>
                      <p:cNvPicPr/>
                      <p:nvPr/>
                    </p:nvPicPr>
                    <p:blipFill>
                      <a:blip r:embed="rId14"/>
                      <a:stretch>
                        <a:fillRect/>
                      </a:stretch>
                    </p:blipFill>
                    <p:spPr>
                      <a:xfrm>
                        <a:off x="0" y="0"/>
                        <a:ext cx="971550" cy="1042988"/>
                      </a:xfrm>
                      <a:prstGeom prst="rect">
                        <a:avLst/>
                      </a:prstGeom>
                      <a:noFill/>
                      <a:ln w="38100">
                        <a:noFill/>
                        <a:miter/>
                      </a:ln>
                    </p:spPr>
                  </p:pic>
                </p:oleObj>
              </mc:Fallback>
            </mc:AlternateContent>
          </a:graphicData>
        </a:graphic>
      </p:graphicFrame>
      <p:sp>
        <p:nvSpPr>
          <p:cNvPr id="1037" name="Rectangle 22"/>
          <p:cNvSpPr>
            <a:spLocks noChangeArrowheads="1"/>
          </p:cNvSpPr>
          <p:nvPr/>
        </p:nvSpPr>
        <p:spPr bwMode="auto">
          <a:xfrm>
            <a:off x="1187450" y="908050"/>
            <a:ext cx="7956550" cy="144463"/>
          </a:xfrm>
          <a:prstGeom prst="rect">
            <a:avLst/>
          </a:prstGeom>
          <a:solidFill>
            <a:schemeClr val="tx1"/>
          </a:solidFill>
          <a:ln>
            <a:noFill/>
          </a:ln>
        </p:spPr>
        <p:txBody>
          <a:bodyPr wrap="none" anchor="ctr"/>
          <a:lstStyle>
            <a:lvl1pPr>
              <a:buFont typeface="Arial" panose="020B0604020202020204" pitchFamily="34" charset="0"/>
              <a:defRPr>
                <a:solidFill>
                  <a:schemeClr val="tx1"/>
                </a:solidFill>
                <a:latin typeface="Arial" panose="020B0604020202020204" pitchFamily="34" charset="0"/>
              </a:defRPr>
            </a:lvl1pPr>
            <a:lvl2pPr marL="742950" indent="-285750">
              <a:buFont typeface="Arial" panose="020B0604020202020204" pitchFamily="34" charset="0"/>
              <a:defRPr>
                <a:solidFill>
                  <a:schemeClr val="tx1"/>
                </a:solidFill>
                <a:latin typeface="Arial" panose="020B0604020202020204" pitchFamily="34" charset="0"/>
              </a:defRPr>
            </a:lvl2pPr>
            <a:lvl3pPr marL="1143000" indent="-228600">
              <a:buFont typeface="Arial" panose="020B0604020202020204" pitchFamily="34" charset="0"/>
              <a:defRPr>
                <a:solidFill>
                  <a:schemeClr val="tx1"/>
                </a:solidFill>
                <a:latin typeface="Arial" panose="020B0604020202020204" pitchFamily="34" charset="0"/>
              </a:defRPr>
            </a:lvl3pPr>
            <a:lvl4pPr marL="1600200" indent="-228600">
              <a:buFont typeface="Arial" panose="020B0604020202020204" pitchFamily="34" charset="0"/>
              <a:defRPr>
                <a:solidFill>
                  <a:schemeClr val="tx1"/>
                </a:solidFill>
                <a:latin typeface="Arial" panose="020B0604020202020204" pitchFamily="34" charset="0"/>
              </a:defRPr>
            </a:lvl4pPr>
            <a:lvl5pPr marL="2057400" indent="-228600">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8" name="Rectangle 23"/>
          <p:cNvSpPr>
            <a:spLocks noChangeArrowheads="1"/>
          </p:cNvSpPr>
          <p:nvPr/>
        </p:nvSpPr>
        <p:spPr bwMode="auto">
          <a:xfrm>
            <a:off x="971550" y="0"/>
            <a:ext cx="431800" cy="1052513"/>
          </a:xfrm>
          <a:prstGeom prst="rect">
            <a:avLst/>
          </a:prstGeom>
          <a:solidFill>
            <a:schemeClr val="tx1"/>
          </a:solidFill>
          <a:ln>
            <a:noFill/>
          </a:ln>
        </p:spPr>
        <p:txBody>
          <a:bodyPr wrap="none" anchor="ctr"/>
          <a:lstStyle>
            <a:lvl1pPr>
              <a:buFont typeface="Arial" panose="020B0604020202020204" pitchFamily="34" charset="0"/>
              <a:defRPr>
                <a:solidFill>
                  <a:schemeClr val="tx1"/>
                </a:solidFill>
                <a:latin typeface="Arial" panose="020B0604020202020204" pitchFamily="34" charset="0"/>
              </a:defRPr>
            </a:lvl1pPr>
            <a:lvl2pPr marL="742950" indent="-285750">
              <a:buFont typeface="Arial" panose="020B0604020202020204" pitchFamily="34" charset="0"/>
              <a:defRPr>
                <a:solidFill>
                  <a:schemeClr val="tx1"/>
                </a:solidFill>
                <a:latin typeface="Arial" panose="020B0604020202020204" pitchFamily="34" charset="0"/>
              </a:defRPr>
            </a:lvl2pPr>
            <a:lvl3pPr marL="1143000" indent="-228600">
              <a:buFont typeface="Arial" panose="020B0604020202020204" pitchFamily="34" charset="0"/>
              <a:defRPr>
                <a:solidFill>
                  <a:schemeClr val="tx1"/>
                </a:solidFill>
                <a:latin typeface="Arial" panose="020B0604020202020204" pitchFamily="34" charset="0"/>
              </a:defRPr>
            </a:lvl3pPr>
            <a:lvl4pPr marL="1600200" indent="-228600">
              <a:buFont typeface="Arial" panose="020B0604020202020204" pitchFamily="34" charset="0"/>
              <a:defRPr>
                <a:solidFill>
                  <a:schemeClr val="tx1"/>
                </a:solidFill>
                <a:latin typeface="Arial" panose="020B0604020202020204" pitchFamily="34" charset="0"/>
              </a:defRPr>
            </a:lvl4pPr>
            <a:lvl5pPr marL="2057400" indent="-228600">
              <a:buFont typeface="Arial" panose="020B0604020202020204" pitchFamily="34" charse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9" name="Rectangle 2"/>
          <p:cNvSpPr>
            <a:spLocks noGrp="1"/>
          </p:cNvSpPr>
          <p:nvPr>
            <p:ph type="title"/>
          </p:nvPr>
        </p:nvSpPr>
        <p:spPr>
          <a:xfrm>
            <a:off x="747713" y="233363"/>
            <a:ext cx="7862887" cy="563562"/>
          </a:xfrm>
          <a:prstGeom prst="rect">
            <a:avLst/>
          </a:prstGeom>
          <a:noFill/>
          <a:ln w="9525">
            <a:noFill/>
          </a:ln>
        </p:spPr>
        <p:txBody>
          <a:bodyPr anchor="ctr" anchorCtr="0"/>
          <a:p>
            <a:pPr lvl="0"/>
            <a:r>
              <a:rPr lang="zh-CN" altLang="en-US" dirty="0"/>
              <a:t>单击此处编辑母版标题样式</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p:txStyles>
    <p:titleStyle>
      <a:lvl1pPr algn="l" rtl="0" eaLnBrk="0" fontAlgn="base" hangingPunct="0">
        <a:spcBef>
          <a:spcPct val="0"/>
        </a:spcBef>
        <a:spcAft>
          <a:spcPct val="0"/>
        </a:spcAft>
        <a:defRPr sz="3200" b="1">
          <a:solidFill>
            <a:srgbClr val="F3C43F"/>
          </a:solidFill>
          <a:latin typeface="+mj-lt"/>
          <a:ea typeface="+mj-ea"/>
          <a:cs typeface="+mj-cs"/>
        </a:defRPr>
      </a:lvl1pPr>
      <a:lvl2pPr algn="l" rtl="0" eaLnBrk="0" fontAlgn="base" hangingPunct="0">
        <a:spcBef>
          <a:spcPct val="0"/>
        </a:spcBef>
        <a:spcAft>
          <a:spcPct val="0"/>
        </a:spcAft>
        <a:defRPr sz="3200" b="1">
          <a:solidFill>
            <a:srgbClr val="F3C43F"/>
          </a:solidFill>
          <a:latin typeface="楷体_GB2312" pitchFamily="49" charset="-122"/>
          <a:ea typeface="楷体_GB2312" pitchFamily="49" charset="-122"/>
        </a:defRPr>
      </a:lvl2pPr>
      <a:lvl3pPr algn="l" rtl="0" eaLnBrk="0" fontAlgn="base" hangingPunct="0">
        <a:spcBef>
          <a:spcPct val="0"/>
        </a:spcBef>
        <a:spcAft>
          <a:spcPct val="0"/>
        </a:spcAft>
        <a:defRPr sz="3200" b="1">
          <a:solidFill>
            <a:srgbClr val="F3C43F"/>
          </a:solidFill>
          <a:latin typeface="楷体_GB2312" pitchFamily="49" charset="-122"/>
          <a:ea typeface="楷体_GB2312" pitchFamily="49" charset="-122"/>
        </a:defRPr>
      </a:lvl3pPr>
      <a:lvl4pPr algn="l" rtl="0" eaLnBrk="0" fontAlgn="base" hangingPunct="0">
        <a:spcBef>
          <a:spcPct val="0"/>
        </a:spcBef>
        <a:spcAft>
          <a:spcPct val="0"/>
        </a:spcAft>
        <a:defRPr sz="3200" b="1">
          <a:solidFill>
            <a:srgbClr val="F3C43F"/>
          </a:solidFill>
          <a:latin typeface="楷体_GB2312" pitchFamily="49" charset="-122"/>
          <a:ea typeface="楷体_GB2312" pitchFamily="49" charset="-122"/>
        </a:defRPr>
      </a:lvl4pPr>
      <a:lvl5pPr algn="l" rtl="0" eaLnBrk="0" fontAlgn="base" hangingPunct="0">
        <a:spcBef>
          <a:spcPct val="0"/>
        </a:spcBef>
        <a:spcAft>
          <a:spcPct val="0"/>
        </a:spcAft>
        <a:defRPr sz="3200" b="1">
          <a:solidFill>
            <a:srgbClr val="F3C43F"/>
          </a:solidFill>
          <a:latin typeface="楷体_GB2312" pitchFamily="49" charset="-122"/>
          <a:ea typeface="楷体_GB2312" pitchFamily="49" charset="-122"/>
        </a:defRPr>
      </a:lvl5pPr>
      <a:lvl6pPr marL="457200" algn="l" rtl="0" fontAlgn="base">
        <a:spcBef>
          <a:spcPct val="0"/>
        </a:spcBef>
        <a:spcAft>
          <a:spcPct val="0"/>
        </a:spcAft>
        <a:defRPr sz="3200" b="1">
          <a:solidFill>
            <a:srgbClr val="F3C43F"/>
          </a:solidFill>
          <a:latin typeface="楷体_GB2312" pitchFamily="49" charset="-122"/>
          <a:ea typeface="楷体_GB2312" pitchFamily="49" charset="-122"/>
        </a:defRPr>
      </a:lvl6pPr>
      <a:lvl7pPr marL="914400" algn="l" rtl="0" fontAlgn="base">
        <a:spcBef>
          <a:spcPct val="0"/>
        </a:spcBef>
        <a:spcAft>
          <a:spcPct val="0"/>
        </a:spcAft>
        <a:defRPr sz="3200" b="1">
          <a:solidFill>
            <a:srgbClr val="F3C43F"/>
          </a:solidFill>
          <a:latin typeface="楷体_GB2312" pitchFamily="49" charset="-122"/>
          <a:ea typeface="楷体_GB2312" pitchFamily="49" charset="-122"/>
        </a:defRPr>
      </a:lvl7pPr>
      <a:lvl8pPr marL="1371600" algn="l" rtl="0" fontAlgn="base">
        <a:spcBef>
          <a:spcPct val="0"/>
        </a:spcBef>
        <a:spcAft>
          <a:spcPct val="0"/>
        </a:spcAft>
        <a:defRPr sz="3200" b="1">
          <a:solidFill>
            <a:srgbClr val="F3C43F"/>
          </a:solidFill>
          <a:latin typeface="楷体_GB2312" pitchFamily="49" charset="-122"/>
          <a:ea typeface="楷体_GB2312" pitchFamily="49" charset="-122"/>
        </a:defRPr>
      </a:lvl8pPr>
      <a:lvl9pPr marL="1828800" algn="l" rtl="0" fontAlgn="base">
        <a:spcBef>
          <a:spcPct val="0"/>
        </a:spcBef>
        <a:spcAft>
          <a:spcPct val="0"/>
        </a:spcAft>
        <a:defRPr sz="3200" b="1">
          <a:solidFill>
            <a:srgbClr val="F3C43F"/>
          </a:solidFill>
          <a:latin typeface="楷体_GB2312" pitchFamily="49" charset="-122"/>
          <a:ea typeface="楷体_GB2312"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vl6pPr marL="2514600" indent="-228600" algn="l" rtl="0" fontAlgn="base">
        <a:spcBef>
          <a:spcPct val="20000"/>
        </a:spcBef>
        <a:spcAft>
          <a:spcPct val="0"/>
        </a:spcAft>
        <a:buChar char="»"/>
        <a:defRPr sz="2000" b="1">
          <a:solidFill>
            <a:schemeClr val="tx1"/>
          </a:solidFill>
          <a:latin typeface="Arial" panose="020B0604020202020204" pitchFamily="34" charset="0"/>
        </a:defRPr>
      </a:lvl6pPr>
      <a:lvl7pPr marL="2971800" indent="-228600" algn="l" rtl="0" fontAlgn="base">
        <a:spcBef>
          <a:spcPct val="20000"/>
        </a:spcBef>
        <a:spcAft>
          <a:spcPct val="0"/>
        </a:spcAft>
        <a:buChar char="»"/>
        <a:defRPr sz="2000" b="1">
          <a:solidFill>
            <a:schemeClr val="tx1"/>
          </a:solidFill>
          <a:latin typeface="Arial" panose="020B0604020202020204" pitchFamily="34" charset="0"/>
        </a:defRPr>
      </a:lvl7pPr>
      <a:lvl8pPr marL="3429000" indent="-228600" algn="l" rtl="0" fontAlgn="base">
        <a:spcBef>
          <a:spcPct val="20000"/>
        </a:spcBef>
        <a:spcAft>
          <a:spcPct val="0"/>
        </a:spcAft>
        <a:buChar char="»"/>
        <a:defRPr sz="2000" b="1">
          <a:solidFill>
            <a:schemeClr val="tx1"/>
          </a:solidFill>
          <a:latin typeface="Arial" panose="020B0604020202020204" pitchFamily="34" charset="0"/>
        </a:defRPr>
      </a:lvl8pPr>
      <a:lvl9pPr marL="3886200" indent="-228600" algn="l" rtl="0" fontAlgn="base">
        <a:spcBef>
          <a:spcPct val="20000"/>
        </a:spcBef>
        <a:spcAft>
          <a:spcPct val="0"/>
        </a:spcAft>
        <a:buChar char="»"/>
        <a:defRPr sz="2000" b="1">
          <a:solidFill>
            <a:schemeClr val="tx1"/>
          </a:solidFill>
          <a:latin typeface="Arial" panose="020B0604020202020204" pitchFamily="34"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image" Target="../media/image4.wmf"/></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2.xml"/><Relationship Id="rId4" Type="http://schemas.openxmlformats.org/officeDocument/2006/relationships/slideLayout" Target="../slideLayouts/slideLayout2.xml"/><Relationship Id="rId3" Type="http://schemas.openxmlformats.org/officeDocument/2006/relationships/image" Target="../media/image7.wmf"/><Relationship Id="rId2" Type="http://schemas.openxmlformats.org/officeDocument/2006/relationships/image" Target="../media/image6.wmf"/><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7.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9.wmf"/><Relationship Id="rId1" Type="http://schemas.openxmlformats.org/officeDocument/2006/relationships/oleObject" Target="../embeddings/oleObject4.bin"/></Relationships>
</file>

<file path=ppt/slides/_rels/slide8.xml.rels><?xml version="1.0" encoding="UTF-8" standalone="yes"?>
<Relationships xmlns="http://schemas.openxmlformats.org/package/2006/relationships"><Relationship Id="rId6" Type="http://schemas.openxmlformats.org/officeDocument/2006/relationships/vmlDrawing" Target="../drawings/vmlDrawing4.vml"/><Relationship Id="rId5" Type="http://schemas.openxmlformats.org/officeDocument/2006/relationships/slideLayout" Target="../slideLayouts/slideLayout2.xml"/><Relationship Id="rId4" Type="http://schemas.openxmlformats.org/officeDocument/2006/relationships/image" Target="../media/image12.wmf"/><Relationship Id="rId3" Type="http://schemas.openxmlformats.org/officeDocument/2006/relationships/oleObject" Target="../embeddings/oleObject5.bin"/><Relationship Id="rId2" Type="http://schemas.openxmlformats.org/officeDocument/2006/relationships/image" Target="../media/image11.wmf"/><Relationship Id="rId1" Type="http://schemas.openxmlformats.org/officeDocument/2006/relationships/image" Target="../media/image10.wmf"/></Relationships>
</file>

<file path=ppt/slides/_rels/slide9.xml.rels><?xml version="1.0" encoding="UTF-8" standalone="yes"?>
<Relationships xmlns="http://schemas.openxmlformats.org/package/2006/relationships"><Relationship Id="rId8" Type="http://schemas.openxmlformats.org/officeDocument/2006/relationships/vmlDrawing" Target="../drawings/vmlDrawing5.vml"/><Relationship Id="rId7" Type="http://schemas.openxmlformats.org/officeDocument/2006/relationships/slideLayout" Target="../slideLayouts/slideLayout2.xml"/><Relationship Id="rId6" Type="http://schemas.openxmlformats.org/officeDocument/2006/relationships/image" Target="../media/image15.wmf"/><Relationship Id="rId5" Type="http://schemas.openxmlformats.org/officeDocument/2006/relationships/oleObject" Target="../embeddings/oleObject8.bin"/><Relationship Id="rId4" Type="http://schemas.openxmlformats.org/officeDocument/2006/relationships/image" Target="../media/image14.wmf"/><Relationship Id="rId3" Type="http://schemas.openxmlformats.org/officeDocument/2006/relationships/oleObject" Target="../embeddings/oleObject7.bin"/><Relationship Id="rId2" Type="http://schemas.openxmlformats.org/officeDocument/2006/relationships/image" Target="../media/image13.wmf"/><Relationship Id="rId1" Type="http://schemas.openxmlformats.org/officeDocument/2006/relationships/oleObject" Target="../embeddings/oleObject6.bin"/></Relationships>
</file>

<file path=ppt/slides/_rels/slide10.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16.wmf"/><Relationship Id="rId1" Type="http://schemas.openxmlformats.org/officeDocument/2006/relationships/oleObject" Target="../embeddings/oleObject9.bin"/></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0.wmf"/><Relationship Id="rId3" Type="http://schemas.openxmlformats.org/officeDocument/2006/relationships/image" Target="../media/image19.wmf"/><Relationship Id="rId2" Type="http://schemas.openxmlformats.org/officeDocument/2006/relationships/image" Target="../media/image18.wmf"/><Relationship Id="rId1" Type="http://schemas.openxmlformats.org/officeDocument/2006/relationships/image" Target="../media/image17.wmf"/></Relationships>
</file>

<file path=ppt/slides/_rels/slide12.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24.wmf"/><Relationship Id="rId7" Type="http://schemas.openxmlformats.org/officeDocument/2006/relationships/oleObject" Target="../embeddings/oleObject13.bin"/><Relationship Id="rId6" Type="http://schemas.openxmlformats.org/officeDocument/2006/relationships/image" Target="../media/image23.wmf"/><Relationship Id="rId5" Type="http://schemas.openxmlformats.org/officeDocument/2006/relationships/oleObject" Target="../embeddings/oleObject12.bin"/><Relationship Id="rId4" Type="http://schemas.openxmlformats.org/officeDocument/2006/relationships/image" Target="../media/image22.wmf"/><Relationship Id="rId3" Type="http://schemas.openxmlformats.org/officeDocument/2006/relationships/oleObject" Target="../embeddings/oleObject11.bin"/><Relationship Id="rId2" Type="http://schemas.openxmlformats.org/officeDocument/2006/relationships/image" Target="../media/image21.wmf"/><Relationship Id="rId11" Type="http://schemas.openxmlformats.org/officeDocument/2006/relationships/notesSlide" Target="../notesSlides/notesSlide4.xml"/><Relationship Id="rId10" Type="http://schemas.openxmlformats.org/officeDocument/2006/relationships/vmlDrawing" Target="../drawings/vmlDrawing7.vml"/><Relationship Id="rId1" Type="http://schemas.openxmlformats.org/officeDocument/2006/relationships/oleObject" Target="../embeddings/oleObject10.bin"/></Relationships>
</file>

<file path=ppt/slides/_rels/slide13.xml.rels><?xml version="1.0" encoding="UTF-8" standalone="yes"?>
<Relationships xmlns="http://schemas.openxmlformats.org/package/2006/relationships"><Relationship Id="rId5" Type="http://schemas.openxmlformats.org/officeDocument/2006/relationships/vmlDrawing" Target="../drawings/vmlDrawing8.vml"/><Relationship Id="rId4" Type="http://schemas.openxmlformats.org/officeDocument/2006/relationships/slideLayout" Target="../slideLayouts/slideLayout7.xml"/><Relationship Id="rId3" Type="http://schemas.openxmlformats.org/officeDocument/2006/relationships/image" Target="../media/image26.jpeg"/><Relationship Id="rId2" Type="http://schemas.openxmlformats.org/officeDocument/2006/relationships/image" Target="../media/image25.wmf"/><Relationship Id="rId1" Type="http://schemas.openxmlformats.org/officeDocument/2006/relationships/oleObject" Target="../embeddings/oleObject14.bin"/></Relationships>
</file>

<file path=ppt/slides/_rels/slide14.xml.rels><?xml version="1.0" encoding="UTF-8" standalone="yes"?>
<Relationships xmlns="http://schemas.openxmlformats.org/package/2006/relationships"><Relationship Id="rId5" Type="http://schemas.openxmlformats.org/officeDocument/2006/relationships/vmlDrawing" Target="../drawings/vmlDrawing9.vml"/><Relationship Id="rId4" Type="http://schemas.openxmlformats.org/officeDocument/2006/relationships/slideLayout" Target="../slideLayouts/slideLayout7.xml"/><Relationship Id="rId3" Type="http://schemas.openxmlformats.org/officeDocument/2006/relationships/image" Target="../media/image26.jpeg"/><Relationship Id="rId2" Type="http://schemas.openxmlformats.org/officeDocument/2006/relationships/image" Target="../media/image27.wmf"/><Relationship Id="rId1" Type="http://schemas.openxmlformats.org/officeDocument/2006/relationships/oleObject" Target="../embeddings/oleObject15.bin"/></Relationships>
</file>

<file path=ppt/slides/_rels/slide15.xml.rels><?xml version="1.0" encoding="UTF-8" standalone="yes"?>
<Relationships xmlns="http://schemas.openxmlformats.org/package/2006/relationships"><Relationship Id="rId8" Type="http://schemas.openxmlformats.org/officeDocument/2006/relationships/vmlDrawing" Target="../drawings/vmlDrawing10.vml"/><Relationship Id="rId7" Type="http://schemas.openxmlformats.org/officeDocument/2006/relationships/slideLayout" Target="../slideLayouts/slideLayout7.xml"/><Relationship Id="rId6" Type="http://schemas.openxmlformats.org/officeDocument/2006/relationships/image" Target="../media/image30.wmf"/><Relationship Id="rId5" Type="http://schemas.openxmlformats.org/officeDocument/2006/relationships/oleObject" Target="../embeddings/oleObject18.bin"/><Relationship Id="rId4" Type="http://schemas.openxmlformats.org/officeDocument/2006/relationships/image" Target="../media/image29.wmf"/><Relationship Id="rId3" Type="http://schemas.openxmlformats.org/officeDocument/2006/relationships/oleObject" Target="../embeddings/oleObject17.bin"/><Relationship Id="rId2" Type="http://schemas.openxmlformats.org/officeDocument/2006/relationships/image" Target="../media/image28.wmf"/><Relationship Id="rId1" Type="http://schemas.openxmlformats.org/officeDocument/2006/relationships/oleObject" Target="../embeddings/oleObject16.bin"/></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17.xml.rels><?xml version="1.0" encoding="UTF-8" standalone="yes"?>
<Relationships xmlns="http://schemas.openxmlformats.org/package/2006/relationships"><Relationship Id="rId9" Type="http://schemas.openxmlformats.org/officeDocument/2006/relationships/notesSlide" Target="../notesSlides/notesSlide5.xml"/><Relationship Id="rId8" Type="http://schemas.openxmlformats.org/officeDocument/2006/relationships/vmlDrawing" Target="../drawings/vmlDrawing11.vml"/><Relationship Id="rId7" Type="http://schemas.openxmlformats.org/officeDocument/2006/relationships/slideLayout" Target="../slideLayouts/slideLayout2.xml"/><Relationship Id="rId6" Type="http://schemas.openxmlformats.org/officeDocument/2006/relationships/image" Target="../media/image36.wmf"/><Relationship Id="rId5" Type="http://schemas.openxmlformats.org/officeDocument/2006/relationships/image" Target="../media/image35.wmf"/><Relationship Id="rId4" Type="http://schemas.openxmlformats.org/officeDocument/2006/relationships/image" Target="../media/image34.wmf"/><Relationship Id="rId3" Type="http://schemas.openxmlformats.org/officeDocument/2006/relationships/image" Target="../media/image33.wmf"/><Relationship Id="rId2" Type="http://schemas.openxmlformats.org/officeDocument/2006/relationships/image" Target="../media/image32.wmf"/><Relationship Id="rId1" Type="http://schemas.openxmlformats.org/officeDocument/2006/relationships/oleObject" Target="../embeddings/oleObject19.bin"/></Relationships>
</file>

<file path=ppt/slides/_rels/slide18.xml.rels><?xml version="1.0" encoding="UTF-8" standalone="yes"?>
<Relationships xmlns="http://schemas.openxmlformats.org/package/2006/relationships"><Relationship Id="rId5" Type="http://schemas.openxmlformats.org/officeDocument/2006/relationships/vmlDrawing" Target="../drawings/vmlDrawing12.vml"/><Relationship Id="rId4" Type="http://schemas.openxmlformats.org/officeDocument/2006/relationships/slideLayout" Target="../slideLayouts/slideLayout7.xml"/><Relationship Id="rId3" Type="http://schemas.openxmlformats.org/officeDocument/2006/relationships/image" Target="../media/image38.wmf"/><Relationship Id="rId2" Type="http://schemas.openxmlformats.org/officeDocument/2006/relationships/image" Target="../media/image37.wmf"/><Relationship Id="rId1" Type="http://schemas.openxmlformats.org/officeDocument/2006/relationships/oleObject" Target="../embeddings/oleObject20.bin"/></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Rectangle 2"/>
          <p:cNvSpPr>
            <a:spLocks noGrp="1"/>
          </p:cNvSpPr>
          <p:nvPr>
            <p:ph type="ctrTitle"/>
          </p:nvPr>
        </p:nvSpPr>
        <p:spPr>
          <a:xfrm>
            <a:off x="1477963" y="928688"/>
            <a:ext cx="7237412" cy="3652837"/>
          </a:xfrm>
          <a:ln/>
        </p:spPr>
        <p:txBody>
          <a:bodyPr vert="horz" wrap="square" lIns="91440" tIns="45720" rIns="91440" bIns="45720" anchor="ctr" anchorCtr="0"/>
          <a:p>
            <a:pPr algn="ctr" eaLnBrk="1" hangingPunct="1">
              <a:lnSpc>
                <a:spcPct val="150000"/>
              </a:lnSpc>
              <a:spcAft>
                <a:spcPts val="1200"/>
              </a:spcAft>
              <a:buClrTx/>
              <a:buSzTx/>
              <a:buFontTx/>
            </a:pPr>
            <a:r>
              <a:rPr lang="zh-CN" altLang="en-US" sz="5400" dirty="0">
                <a:latin typeface="黑体" panose="02010609060101010101" pitchFamily="49" charset="-122"/>
                <a:ea typeface="黑体" panose="02010609060101010101" pitchFamily="49" charset="-122"/>
                <a:cs typeface="+mj-cs"/>
              </a:rPr>
              <a:t>第 五 章</a:t>
            </a:r>
            <a:br>
              <a:rPr lang="zh-CN" altLang="en-US" sz="5400" dirty="0">
                <a:latin typeface="黑体" panose="02010609060101010101" pitchFamily="49" charset="-122"/>
                <a:ea typeface="黑体" panose="02010609060101010101" pitchFamily="49" charset="-122"/>
                <a:cs typeface="+mj-cs"/>
              </a:rPr>
            </a:br>
            <a:r>
              <a:rPr lang="en-US" altLang="zh-CN" sz="5400" dirty="0">
                <a:latin typeface="黑体" panose="02010609060101010101" pitchFamily="49" charset="-122"/>
                <a:ea typeface="黑体" panose="02010609060101010101" pitchFamily="49" charset="-122"/>
                <a:cs typeface="+mj-cs"/>
              </a:rPr>
              <a:t>5.5 </a:t>
            </a:r>
            <a:r>
              <a:rPr lang="zh-CN" altLang="en-US" sz="5400" dirty="0">
                <a:latin typeface="黑体" panose="02010609060101010101" pitchFamily="49" charset="-122"/>
                <a:ea typeface="黑体" panose="02010609060101010101" pitchFamily="49" charset="-122"/>
                <a:cs typeface="+mj-cs"/>
              </a:rPr>
              <a:t>地球</a:t>
            </a:r>
            <a:r>
              <a:rPr lang="en-US" altLang="zh-CN" sz="5400" dirty="0">
                <a:latin typeface="黑体" panose="02010609060101010101" pitchFamily="49" charset="-122"/>
                <a:ea typeface="黑体" panose="02010609060101010101" pitchFamily="49" charset="-122"/>
                <a:cs typeface="+mj-cs"/>
              </a:rPr>
              <a:t>-</a:t>
            </a:r>
            <a:r>
              <a:rPr lang="zh-CN" altLang="en-US" sz="5400" dirty="0">
                <a:latin typeface="黑体" panose="02010609060101010101" pitchFamily="49" charset="-122"/>
                <a:ea typeface="黑体" panose="02010609060101010101" pitchFamily="49" charset="-122"/>
                <a:cs typeface="+mj-cs"/>
              </a:rPr>
              <a:t>大气系统的长波辐射</a:t>
            </a:r>
            <a:endParaRPr lang="zh-CN" altLang="en-US" sz="5400" dirty="0">
              <a:latin typeface="黑体" panose="02010609060101010101" pitchFamily="49" charset="-122"/>
              <a:ea typeface="黑体" panose="02010609060101010101" pitchFamily="49" charset="-122"/>
              <a:cs typeface="+mj-cs"/>
            </a:endParaRPr>
          </a:p>
        </p:txBody>
      </p:sp>
      <p:sp>
        <p:nvSpPr>
          <p:cNvPr id="4099" name="Rectangle 5"/>
          <p:cNvSpPr>
            <a:spLocks noGrp="1"/>
          </p:cNvSpPr>
          <p:nvPr>
            <p:ph type="subTitle" idx="1"/>
          </p:nvPr>
        </p:nvSpPr>
        <p:spPr>
          <a:xfrm>
            <a:off x="250825" y="260350"/>
            <a:ext cx="2881313" cy="381000"/>
          </a:xfrm>
          <a:ln/>
        </p:spPr>
        <p:txBody>
          <a:bodyPr vert="horz" wrap="square" lIns="91440" tIns="45720" rIns="91440" bIns="45720" anchor="t" anchorCtr="0"/>
          <a:p>
            <a:pPr eaLnBrk="1" hangingPunct="1">
              <a:buSzTx/>
            </a:pPr>
            <a:r>
              <a:rPr lang="zh-CN" altLang="en-US" sz="1800" dirty="0">
                <a:solidFill>
                  <a:srgbClr val="D27D00"/>
                </a:solidFill>
                <a:latin typeface="+mn-lt"/>
                <a:ea typeface="宋体" panose="02010600030101010101" pitchFamily="2" charset="-122"/>
                <a:cs typeface="+mn-cs"/>
              </a:rPr>
              <a:t>大气科学学院本科课程</a:t>
            </a:r>
            <a:endParaRPr lang="zh-CN" altLang="en-US" sz="1800" dirty="0">
              <a:solidFill>
                <a:srgbClr val="D27D00"/>
              </a:solidFill>
              <a:latin typeface="+mn-lt"/>
              <a:ea typeface="宋体" panose="02010600030101010101" pitchFamily="2" charset="-122"/>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Text Box 3"/>
          <p:cNvSpPr txBox="1"/>
          <p:nvPr/>
        </p:nvSpPr>
        <p:spPr>
          <a:xfrm>
            <a:off x="900113" y="1989138"/>
            <a:ext cx="7486650" cy="341630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eaLnBrk="1" hangingPunct="1">
              <a:lnSpc>
                <a:spcPct val="150000"/>
              </a:lnSpc>
              <a:spcBef>
                <a:spcPct val="0"/>
              </a:spcBef>
              <a:buClrTx/>
              <a:buFont typeface="Arial" panose="020B0604020202020204" pitchFamily="34" charset="0"/>
              <a:buNone/>
            </a:pPr>
            <a:r>
              <a:rPr lang="zh-CN" altLang="en-US" sz="2400" dirty="0">
                <a:solidFill>
                  <a:srgbClr val="0000FF"/>
                </a:solidFill>
                <a:latin typeface="华文细黑" panose="02010600040101010101" pitchFamily="2" charset="-122"/>
                <a:ea typeface="华文细黑" panose="02010600040101010101" pitchFamily="2" charset="-122"/>
              </a:rPr>
              <a:t>由地球表面、大气和云发射出的辐射，它也被称为</a:t>
            </a:r>
            <a:r>
              <a:rPr lang="zh-CN" altLang="en-US" sz="2400" dirty="0">
                <a:solidFill>
                  <a:srgbClr val="FF0000"/>
                </a:solidFill>
                <a:latin typeface="华文细黑" panose="02010600040101010101" pitchFamily="2" charset="-122"/>
                <a:ea typeface="华文细黑" panose="02010600040101010101" pitchFamily="2" charset="-122"/>
              </a:rPr>
              <a:t>热红外辐射、长波辐射或地球辐射</a:t>
            </a:r>
            <a:r>
              <a:rPr lang="zh-CN" altLang="en-US" sz="2400" dirty="0">
                <a:solidFill>
                  <a:srgbClr val="0000FF"/>
                </a:solidFill>
                <a:latin typeface="华文细黑" panose="02010600040101010101" pitchFamily="2" charset="-122"/>
                <a:ea typeface="华文细黑" panose="02010600040101010101" pitchFamily="2" charset="-122"/>
              </a:rPr>
              <a:t>。</a:t>
            </a:r>
            <a:endParaRPr lang="en-US" altLang="zh-CN" sz="2400" dirty="0">
              <a:solidFill>
                <a:srgbClr val="0000FF"/>
              </a:solidFill>
              <a:latin typeface="华文细黑" panose="02010600040101010101" pitchFamily="2" charset="-122"/>
              <a:ea typeface="华文细黑" panose="02010600040101010101" pitchFamily="2" charset="-122"/>
            </a:endParaRPr>
          </a:p>
          <a:p>
            <a:pPr marL="0" lvl="0" indent="0" eaLnBrk="1" hangingPunct="1">
              <a:lnSpc>
                <a:spcPct val="150000"/>
              </a:lnSpc>
              <a:spcBef>
                <a:spcPct val="0"/>
              </a:spcBef>
              <a:buClrTx/>
              <a:buFont typeface="Arial" panose="020B0604020202020204" pitchFamily="34" charset="0"/>
              <a:buNone/>
            </a:pPr>
            <a:r>
              <a:rPr lang="zh-CN" altLang="en-US" sz="2400" dirty="0">
                <a:solidFill>
                  <a:srgbClr val="0000FF"/>
                </a:solidFill>
                <a:latin typeface="华文细黑" panose="02010600040101010101" pitchFamily="2" charset="-122"/>
                <a:ea typeface="华文细黑" panose="02010600040101010101" pitchFamily="2" charset="-122"/>
              </a:rPr>
              <a:t>红外辐射有一个独特的波长（“光谱”）范围，它比可见光谱段的红色的波长还要长。由于太阳和地气系统的温度差异，红外辐射与太阳辐射明显不同。</a:t>
            </a:r>
            <a:endParaRPr lang="en-US" altLang="zh-CN" sz="2400" dirty="0">
              <a:solidFill>
                <a:srgbClr val="0000FF"/>
              </a:solidFill>
              <a:latin typeface="华文细黑" panose="02010600040101010101" pitchFamily="2" charset="-122"/>
              <a:ea typeface="华文细黑" panose="02010600040101010101" pitchFamily="2" charset="-122"/>
            </a:endParaRPr>
          </a:p>
          <a:p>
            <a:pPr marL="0" lvl="0" indent="0" eaLnBrk="1" hangingPunct="1">
              <a:lnSpc>
                <a:spcPct val="150000"/>
              </a:lnSpc>
              <a:spcBef>
                <a:spcPct val="0"/>
              </a:spcBef>
              <a:buClrTx/>
              <a:buFont typeface="Arial" panose="020B0604020202020204" pitchFamily="34" charset="0"/>
              <a:buNone/>
            </a:pPr>
            <a:endParaRPr lang="en-US" altLang="zh-CN" sz="2400" dirty="0">
              <a:solidFill>
                <a:srgbClr val="0000FF"/>
              </a:solidFill>
              <a:ea typeface="宋体" panose="02010600030101010101" pitchFamily="2" charset="-122"/>
            </a:endParaRPr>
          </a:p>
        </p:txBody>
      </p:sp>
      <p:sp>
        <p:nvSpPr>
          <p:cNvPr id="5123" name="Rectangle 10"/>
          <p:cNvSpPr>
            <a:spLocks noGrp="1"/>
          </p:cNvSpPr>
          <p:nvPr>
            <p:ph type="title"/>
          </p:nvPr>
        </p:nvSpPr>
        <p:spPr>
          <a:xfrm>
            <a:off x="1143000" y="166688"/>
            <a:ext cx="8001000" cy="762000"/>
          </a:xfrm>
          <a:ln/>
        </p:spPr>
        <p:txBody>
          <a:bodyPr vert="horz" wrap="square" lIns="91440" tIns="45720" rIns="91440" bIns="45720" anchor="ctr" anchorCtr="0"/>
          <a:p>
            <a:pPr algn="ctr"/>
            <a:r>
              <a:rPr lang="en-US" altLang="zh-CN" sz="4000" dirty="0">
                <a:solidFill>
                  <a:srgbClr val="FFFF00"/>
                </a:solidFill>
                <a:latin typeface="黑体" panose="02010609060101010101" pitchFamily="49" charset="-122"/>
                <a:ea typeface="黑体" panose="02010609060101010101" pitchFamily="49" charset="-122"/>
              </a:rPr>
              <a:t>5.5.1 </a:t>
            </a:r>
            <a:r>
              <a:rPr lang="zh-CN" altLang="en-US" sz="4000" dirty="0">
                <a:solidFill>
                  <a:srgbClr val="FFFF00"/>
                </a:solidFill>
                <a:latin typeface="黑体" panose="02010609060101010101" pitchFamily="49" charset="-122"/>
                <a:ea typeface="黑体" panose="02010609060101010101" pitchFamily="49" charset="-122"/>
              </a:rPr>
              <a:t>地面的长波辐射特性</a:t>
            </a:r>
            <a:endParaRPr lang="zh-CN" altLang="en-US" sz="4000" dirty="0">
              <a:solidFill>
                <a:srgbClr val="FFFF00"/>
              </a:solidFill>
              <a:latin typeface="黑体" panose="02010609060101010101" pitchFamily="49" charset="-122"/>
              <a:ea typeface="黑体" panose="02010609060101010101" pitchFamily="49"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146" name="Picture 2" descr="nasa-carnegie_talk_03_0001"/>
          <p:cNvPicPr>
            <a:picLocks noChangeAspect="1"/>
          </p:cNvPicPr>
          <p:nvPr/>
        </p:nvPicPr>
        <p:blipFill>
          <a:blip r:embed="rId1"/>
          <a:stretch>
            <a:fillRect/>
          </a:stretch>
        </p:blipFill>
        <p:spPr>
          <a:xfrm>
            <a:off x="357188" y="1357313"/>
            <a:ext cx="8643937" cy="5303837"/>
          </a:xfrm>
          <a:prstGeom prst="rect">
            <a:avLst/>
          </a:prstGeom>
          <a:noFill/>
          <a:ln w="9525">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Rectangle 3"/>
          <p:cNvSpPr>
            <a:spLocks noGrp="1"/>
          </p:cNvSpPr>
          <p:nvPr>
            <p:ph idx="1"/>
          </p:nvPr>
        </p:nvSpPr>
        <p:spPr>
          <a:xfrm>
            <a:off x="523875" y="995363"/>
            <a:ext cx="8620125" cy="3297237"/>
          </a:xfrm>
          <a:ln/>
        </p:spPr>
        <p:txBody>
          <a:bodyPr vert="horz" wrap="square" lIns="91440" tIns="45720" rIns="91440" bIns="45720" anchor="t" anchorCtr="0"/>
          <a:p>
            <a:pPr>
              <a:spcBef>
                <a:spcPct val="25000"/>
              </a:spcBef>
              <a:spcAft>
                <a:spcPct val="25000"/>
              </a:spcAft>
              <a:buFont typeface="Wingdings 2" pitchFamily="18" charset="2"/>
              <a:buNone/>
            </a:pPr>
            <a:endParaRPr lang="zh-CN" altLang="en-US" dirty="0">
              <a:solidFill>
                <a:srgbClr val="0000FF"/>
              </a:solidFill>
              <a:latin typeface="Times New Roman" panose="02020603050405020304" pitchFamily="18" charset="0"/>
              <a:ea typeface="宋体" panose="02010600030101010101" pitchFamily="2" charset="-122"/>
            </a:endParaRPr>
          </a:p>
          <a:p>
            <a:pPr>
              <a:lnSpc>
                <a:spcPct val="130000"/>
              </a:lnSpc>
              <a:spcBef>
                <a:spcPct val="25000"/>
              </a:spcBef>
              <a:spcAft>
                <a:spcPct val="25000"/>
              </a:spcAft>
              <a:buNone/>
            </a:pPr>
            <a:r>
              <a:rPr lang="zh-CN" altLang="en-US" dirty="0">
                <a:solidFill>
                  <a:srgbClr val="0000FF"/>
                </a:solidFill>
                <a:latin typeface="华文细黑" panose="02010600040101010101" pitchFamily="2" charset="-122"/>
                <a:ea typeface="华文细黑" panose="02010600040101010101" pitchFamily="2" charset="-122"/>
              </a:rPr>
              <a:t>    地面对长波辐射的吸收率接近常数，可作为灰体，吸收率在</a:t>
            </a:r>
            <a:r>
              <a:rPr lang="en-US" altLang="zh-CN" dirty="0">
                <a:solidFill>
                  <a:srgbClr val="0000FF"/>
                </a:solidFill>
                <a:latin typeface="华文细黑" panose="02010600040101010101" pitchFamily="2" charset="-122"/>
                <a:ea typeface="华文细黑" panose="02010600040101010101" pitchFamily="2" charset="-122"/>
              </a:rPr>
              <a:t>0.82-0.99</a:t>
            </a:r>
            <a:r>
              <a:rPr lang="zh-CN" altLang="en-US" dirty="0">
                <a:solidFill>
                  <a:srgbClr val="0000FF"/>
                </a:solidFill>
                <a:latin typeface="华文细黑" panose="02010600040101010101" pitchFamily="2" charset="-122"/>
                <a:ea typeface="华文细黑" panose="02010600040101010101" pitchFamily="2" charset="-122"/>
              </a:rPr>
              <a:t>之间；</a:t>
            </a:r>
            <a:endParaRPr lang="en-US" altLang="zh-CN" dirty="0">
              <a:solidFill>
                <a:srgbClr val="0000FF"/>
              </a:solidFill>
              <a:latin typeface="华文细黑" panose="02010600040101010101" pitchFamily="2" charset="-122"/>
              <a:ea typeface="华文细黑" panose="02010600040101010101" pitchFamily="2" charset="-122"/>
            </a:endParaRPr>
          </a:p>
          <a:p>
            <a:pPr>
              <a:lnSpc>
                <a:spcPct val="130000"/>
              </a:lnSpc>
              <a:spcBef>
                <a:spcPct val="25000"/>
              </a:spcBef>
              <a:spcAft>
                <a:spcPct val="25000"/>
              </a:spcAft>
              <a:buNone/>
            </a:pPr>
            <a:r>
              <a:rPr lang="zh-CN" altLang="en-US" dirty="0">
                <a:solidFill>
                  <a:srgbClr val="0000FF"/>
                </a:solidFill>
                <a:latin typeface="华文细黑" panose="02010600040101010101" pitchFamily="2" charset="-122"/>
                <a:ea typeface="华文细黑" panose="02010600040101010101" pitchFamily="2" charset="-122"/>
              </a:rPr>
              <a:t>    但对短波辐射的吸收率较低，一般在</a:t>
            </a:r>
            <a:r>
              <a:rPr lang="en-US" altLang="zh-CN" dirty="0">
                <a:solidFill>
                  <a:srgbClr val="0000FF"/>
                </a:solidFill>
                <a:latin typeface="华文细黑" panose="02010600040101010101" pitchFamily="2" charset="-122"/>
                <a:ea typeface="华文细黑" panose="02010600040101010101" pitchFamily="2" charset="-122"/>
              </a:rPr>
              <a:t>0.5</a:t>
            </a:r>
            <a:r>
              <a:rPr lang="zh-CN" altLang="en-US" dirty="0">
                <a:solidFill>
                  <a:srgbClr val="0000FF"/>
                </a:solidFill>
                <a:latin typeface="华文细黑" panose="02010600040101010101" pitchFamily="2" charset="-122"/>
                <a:ea typeface="华文细黑" panose="02010600040101010101" pitchFamily="2" charset="-122"/>
              </a:rPr>
              <a:t>以下（除冰雪表面），且随波长变化大。</a:t>
            </a:r>
            <a:endParaRPr lang="en-US" altLang="zh-CN" dirty="0">
              <a:solidFill>
                <a:srgbClr val="0000FF"/>
              </a:solidFill>
              <a:latin typeface="华文细黑" panose="02010600040101010101" pitchFamily="2" charset="-122"/>
              <a:ea typeface="华文细黑" panose="02010600040101010101" pitchFamily="2" charset="-122"/>
            </a:endParaRPr>
          </a:p>
        </p:txBody>
      </p:sp>
      <p:sp>
        <p:nvSpPr>
          <p:cNvPr id="7171" name="Rectangle 10"/>
          <p:cNvSpPr>
            <a:spLocks noGrp="1"/>
          </p:cNvSpPr>
          <p:nvPr>
            <p:ph type="title"/>
          </p:nvPr>
        </p:nvSpPr>
        <p:spPr>
          <a:xfrm>
            <a:off x="1143000" y="166688"/>
            <a:ext cx="8001000" cy="762000"/>
          </a:xfrm>
          <a:ln/>
        </p:spPr>
        <p:txBody>
          <a:bodyPr vert="horz" wrap="square" lIns="91440" tIns="45720" rIns="91440" bIns="45720" anchor="ctr" anchorCtr="0"/>
          <a:p>
            <a:pPr algn="ctr"/>
            <a:r>
              <a:rPr lang="en-US" altLang="zh-CN" sz="4000" dirty="0">
                <a:solidFill>
                  <a:srgbClr val="FFFF00"/>
                </a:solidFill>
                <a:latin typeface="黑体" panose="02010609060101010101" pitchFamily="49" charset="-122"/>
                <a:ea typeface="黑体" panose="02010609060101010101" pitchFamily="49" charset="-122"/>
              </a:rPr>
              <a:t>5.5.1 </a:t>
            </a:r>
            <a:r>
              <a:rPr lang="zh-CN" altLang="en-US" sz="4000" dirty="0">
                <a:solidFill>
                  <a:srgbClr val="FFFF00"/>
                </a:solidFill>
                <a:latin typeface="黑体" panose="02010609060101010101" pitchFamily="49" charset="-122"/>
                <a:ea typeface="黑体" panose="02010609060101010101" pitchFamily="49" charset="-122"/>
              </a:rPr>
              <a:t>地面的长波辐射特性</a:t>
            </a:r>
            <a:endParaRPr lang="zh-CN" altLang="en-US" sz="4000" dirty="0">
              <a:solidFill>
                <a:srgbClr val="FFFF00"/>
              </a:solidFill>
              <a:latin typeface="黑体" panose="02010609060101010101" pitchFamily="49" charset="-122"/>
              <a:ea typeface="黑体" panose="02010609060101010101" pitchFamily="49" charset="-122"/>
            </a:endParaRPr>
          </a:p>
        </p:txBody>
      </p:sp>
      <p:pic>
        <p:nvPicPr>
          <p:cNvPr id="7172" name="Picture 12"/>
          <p:cNvPicPr>
            <a:picLocks noChangeAspect="1"/>
          </p:cNvPicPr>
          <p:nvPr/>
        </p:nvPicPr>
        <p:blipFill>
          <a:blip r:embed="rId1"/>
          <a:srcRect t="4326" b="11958"/>
          <a:stretch>
            <a:fillRect/>
          </a:stretch>
        </p:blipFill>
        <p:spPr>
          <a:xfrm>
            <a:off x="179388" y="4437063"/>
            <a:ext cx="8789987" cy="2214562"/>
          </a:xfrm>
          <a:prstGeom prst="rect">
            <a:avLst/>
          </a:prstGeom>
          <a:solidFill>
            <a:srgbClr val="C0C0C0">
              <a:alpha val="29019"/>
            </a:srgbClr>
          </a:solidFill>
          <a:ln w="9525">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Rectangle 3"/>
          <p:cNvSpPr>
            <a:spLocks noGrp="1" noRot="1" noChangeAspect="1" noMove="1" noResize="1" noEditPoints="1" noAdjustHandles="1" noChangeArrowheads="1" noChangeShapeType="1" noTextEdit="1"/>
          </p:cNvSpPr>
          <p:nvPr>
            <p:ph idx="1"/>
          </p:nvPr>
        </p:nvSpPr>
        <p:spPr bwMode="auto">
          <a:xfrm>
            <a:off x="457200" y="1412875"/>
            <a:ext cx="8401050" cy="5040313"/>
          </a:xfrm>
          <a:blipFill>
            <a:blip r:embed="rId1"/>
            <a:stretch>
              <a:fillRect l="-1234" t="-2539" r="-1451" b="-1088"/>
            </a:stretch>
          </a:blipFill>
          <a:ln/>
          <a:effectLst/>
          <a:scene3d>
            <a:camera prst="orthographicFront"/>
            <a:lightRig rig="balanced" dir="t"/>
          </a:scene3d>
          <a:sp3d prstMaterial="plastic"/>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defRPr/>
            </a:pPr>
            <a:r>
              <a:rPr kumimoji="0" lang="zh-CN" altLang="en-US" sz="2800" b="1" i="0" u="none" strike="noStrike" kern="0" cap="none" spc="0" normalizeH="0" baseline="0" noProof="0" dirty="0">
                <a:ln>
                  <a:noFill/>
                </a:ln>
                <a:noFill/>
                <a:effectLst/>
                <a:uLnTx/>
                <a:uFillTx/>
                <a:latin typeface="+mn-lt"/>
                <a:ea typeface="+mn-ea"/>
                <a:cs typeface="+mn-cs"/>
              </a:rPr>
              <a:t> </a:t>
            </a:r>
            <a:endParaRPr kumimoji="0" lang="zh-CN" altLang="en-US" sz="2800" b="1" i="0" u="none" strike="noStrike" kern="0" cap="none" spc="0" normalizeH="0" baseline="0" noProof="0" dirty="0">
              <a:ln>
                <a:noFill/>
              </a:ln>
              <a:noFill/>
              <a:effectLst/>
              <a:uLnTx/>
              <a:uFillTx/>
              <a:latin typeface="+mn-lt"/>
              <a:ea typeface="+mn-ea"/>
              <a:cs typeface="+mn-cs"/>
            </a:endParaRPr>
          </a:p>
        </p:txBody>
      </p:sp>
      <p:pic>
        <p:nvPicPr>
          <p:cNvPr id="9219" name="Picture 4"/>
          <p:cNvPicPr>
            <a:picLocks noChangeAspect="1"/>
          </p:cNvPicPr>
          <p:nvPr/>
        </p:nvPicPr>
        <p:blipFill>
          <a:blip r:embed="rId2"/>
          <a:srcRect l="13023" r="4599"/>
          <a:stretch>
            <a:fillRect/>
          </a:stretch>
        </p:blipFill>
        <p:spPr>
          <a:xfrm>
            <a:off x="971550" y="1895475"/>
            <a:ext cx="7943850" cy="1176338"/>
          </a:xfrm>
          <a:prstGeom prst="rect">
            <a:avLst/>
          </a:prstGeom>
          <a:noFill/>
          <a:ln w="9525">
            <a:noFill/>
          </a:ln>
        </p:spPr>
      </p:pic>
      <p:pic>
        <p:nvPicPr>
          <p:cNvPr id="9220" name="Picture 5"/>
          <p:cNvPicPr>
            <a:picLocks noChangeAspect="1"/>
          </p:cNvPicPr>
          <p:nvPr/>
        </p:nvPicPr>
        <p:blipFill>
          <a:blip r:embed="rId3"/>
          <a:srcRect l="12375" r="5716"/>
          <a:stretch>
            <a:fillRect/>
          </a:stretch>
        </p:blipFill>
        <p:spPr>
          <a:xfrm>
            <a:off x="1116013" y="3933825"/>
            <a:ext cx="7799387" cy="1189038"/>
          </a:xfrm>
          <a:prstGeom prst="rect">
            <a:avLst/>
          </a:prstGeom>
          <a:noFill/>
          <a:ln w="9525">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TextBox 1"/>
          <p:cNvSpPr txBox="1"/>
          <p:nvPr/>
        </p:nvSpPr>
        <p:spPr>
          <a:xfrm>
            <a:off x="323850" y="6308725"/>
            <a:ext cx="8712200" cy="369888"/>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endParaRPr lang="zh-CN" altLang="en-US" sz="1800" b="0" dirty="0">
              <a:latin typeface="Arial" panose="020B0604020202020204" pitchFamily="34" charset="0"/>
              <a:ea typeface="宋体" panose="02010600030101010101" pitchFamily="2" charset="-122"/>
            </a:endParaRPr>
          </a:p>
        </p:txBody>
      </p:sp>
      <p:sp>
        <p:nvSpPr>
          <p:cNvPr id="11267" name="Rectangle 2"/>
          <p:cNvSpPr>
            <a:spLocks noGrp="1"/>
          </p:cNvSpPr>
          <p:nvPr>
            <p:ph idx="1"/>
          </p:nvPr>
        </p:nvSpPr>
        <p:spPr>
          <a:xfrm>
            <a:off x="430213" y="1341438"/>
            <a:ext cx="8501062" cy="5362575"/>
          </a:xfrm>
          <a:ln/>
        </p:spPr>
        <p:txBody>
          <a:bodyPr vert="horz" wrap="square" lIns="91440" tIns="45720" rIns="91440" bIns="45720" anchor="t" anchorCtr="0"/>
          <a:p>
            <a:pPr>
              <a:spcBef>
                <a:spcPct val="25000"/>
              </a:spcBef>
              <a:spcAft>
                <a:spcPct val="25000"/>
              </a:spcAft>
              <a:buFont typeface="Wingdings 2" pitchFamily="18" charset="2"/>
              <a:buNone/>
            </a:pPr>
            <a:r>
              <a:rPr lang="zh-CN" altLang="en-US" sz="2600" dirty="0">
                <a:solidFill>
                  <a:srgbClr val="FF0000"/>
                </a:solidFill>
                <a:latin typeface="华文细黑" panose="02010600040101010101" pitchFamily="2" charset="-122"/>
                <a:ea typeface="华文细黑" panose="02010600040101010101" pitchFamily="2" charset="-122"/>
              </a:rPr>
              <a:t>长波辐射在大气中传输的特点（分别与短波对比）：</a:t>
            </a:r>
            <a:endParaRPr lang="en-US" altLang="zh-CN" sz="2600" dirty="0">
              <a:solidFill>
                <a:srgbClr val="FF0000"/>
              </a:solidFill>
              <a:latin typeface="华文细黑" panose="02010600040101010101" pitchFamily="2" charset="-122"/>
              <a:ea typeface="华文细黑" panose="02010600040101010101" pitchFamily="2" charset="-122"/>
            </a:endParaRPr>
          </a:p>
          <a:p>
            <a:pPr>
              <a:lnSpc>
                <a:spcPct val="130000"/>
              </a:lnSpc>
              <a:spcBef>
                <a:spcPct val="25000"/>
              </a:spcBef>
              <a:spcAft>
                <a:spcPct val="25000"/>
              </a:spcAft>
              <a:buFont typeface="Wingdings 2" pitchFamily="18" charset="2"/>
              <a:buNone/>
            </a:pPr>
            <a:r>
              <a:rPr lang="en-US" altLang="zh-CN" sz="2600" dirty="0">
                <a:latin typeface="华文细黑" panose="02010600040101010101" pitchFamily="2" charset="-122"/>
                <a:ea typeface="华文细黑" panose="02010600040101010101" pitchFamily="2" charset="-122"/>
              </a:rPr>
              <a:t>1) </a:t>
            </a:r>
            <a:r>
              <a:rPr lang="zh-CN" altLang="en-US" sz="2600" dirty="0">
                <a:latin typeface="华文细黑" panose="02010600040101010101" pitchFamily="2" charset="-122"/>
                <a:ea typeface="华文细黑" panose="02010600040101010101" pitchFamily="2" charset="-122"/>
              </a:rPr>
              <a:t>地球与大气都是放射红外辐射的辐射源，通过大气中的任意平面射出的是漫射辐射；而太阳直接辐射是平行辐射。在红外波段，到达地面的太阳直接辐射&lt;&lt;地球与大气的红外辐射。</a:t>
            </a:r>
            <a:endParaRPr lang="zh-CN" altLang="en-US" sz="2600" dirty="0">
              <a:latin typeface="华文细黑" panose="02010600040101010101" pitchFamily="2" charset="-122"/>
              <a:ea typeface="华文细黑" panose="02010600040101010101" pitchFamily="2" charset="-122"/>
            </a:endParaRPr>
          </a:p>
          <a:p>
            <a:pPr>
              <a:lnSpc>
                <a:spcPct val="110000"/>
              </a:lnSpc>
              <a:spcBef>
                <a:spcPct val="0"/>
              </a:spcBef>
              <a:buFont typeface="Wingdings 2" pitchFamily="18" charset="2"/>
              <a:buNone/>
            </a:pPr>
            <a:r>
              <a:rPr lang="en-US" altLang="zh-CN" sz="2600" dirty="0">
                <a:latin typeface="华文细黑" panose="02010600040101010101" pitchFamily="2" charset="-122"/>
                <a:ea typeface="华文细黑" panose="02010600040101010101" pitchFamily="2" charset="-122"/>
              </a:rPr>
              <a:t>2) </a:t>
            </a:r>
            <a:r>
              <a:rPr lang="zh-CN" altLang="en-US" sz="2600" dirty="0">
                <a:latin typeface="华文细黑" panose="02010600040101010101" pitchFamily="2" charset="-122"/>
                <a:ea typeface="华文细黑" panose="02010600040101010101" pitchFamily="2" charset="-122"/>
              </a:rPr>
              <a:t>大气对长波辐射的散射削弱极小，可忽略，一般只考虑吸收作用；</a:t>
            </a:r>
            <a:endParaRPr lang="zh-CN" altLang="en-US" sz="2600" dirty="0">
              <a:latin typeface="华文细黑" panose="02010600040101010101" pitchFamily="2" charset="-122"/>
              <a:ea typeface="华文细黑" panose="02010600040101010101" pitchFamily="2" charset="-122"/>
            </a:endParaRPr>
          </a:p>
          <a:p>
            <a:pPr>
              <a:spcBef>
                <a:spcPct val="0"/>
              </a:spcBef>
              <a:buFont typeface="Wingdings 2" pitchFamily="18" charset="2"/>
              <a:buNone/>
            </a:pPr>
            <a:r>
              <a:rPr lang="en-US" altLang="zh-CN" sz="2600" dirty="0">
                <a:latin typeface="华文细黑" panose="02010600040101010101" pitchFamily="2" charset="-122"/>
                <a:ea typeface="华文细黑" panose="02010600040101010101" pitchFamily="2" charset="-122"/>
              </a:rPr>
              <a:t>3) </a:t>
            </a:r>
            <a:r>
              <a:rPr lang="zh-CN" altLang="en-US" sz="2600" dirty="0">
                <a:latin typeface="华文细黑" panose="02010600040101010101" pitchFamily="2" charset="-122"/>
                <a:ea typeface="华文细黑" panose="02010600040101010101" pitchFamily="2" charset="-122"/>
              </a:rPr>
              <a:t>大气的吸收和放射须同时考虑。</a:t>
            </a:r>
            <a:endParaRPr lang="zh-CN" altLang="en-US" sz="2600" dirty="0">
              <a:latin typeface="华文细黑" panose="02010600040101010101" pitchFamily="2" charset="-122"/>
              <a:ea typeface="华文细黑" panose="02010600040101010101" pitchFamily="2" charset="-122"/>
            </a:endParaRPr>
          </a:p>
          <a:p>
            <a:pPr>
              <a:lnSpc>
                <a:spcPct val="120000"/>
              </a:lnSpc>
              <a:spcBef>
                <a:spcPts val="1800"/>
              </a:spcBef>
              <a:spcAft>
                <a:spcPct val="25000"/>
              </a:spcAft>
              <a:buFont typeface="Wingdings 2" pitchFamily="18" charset="2"/>
              <a:buBlip>
                <a:blip r:embed="rId1"/>
              </a:buBlip>
            </a:pPr>
            <a:r>
              <a:rPr lang="zh-CN" altLang="en-US" sz="2600" dirty="0">
                <a:solidFill>
                  <a:srgbClr val="0000FF"/>
                </a:solidFill>
                <a:latin typeface="华文细黑" panose="02010600040101010101" pitchFamily="2" charset="-122"/>
                <a:ea typeface="华文细黑" panose="02010600040101010101" pitchFamily="2" charset="-122"/>
              </a:rPr>
              <a:t>大气中的长波辐射是一种</a:t>
            </a:r>
            <a:r>
              <a:rPr lang="zh-CN" altLang="en-US" sz="2600" dirty="0">
                <a:solidFill>
                  <a:srgbClr val="FF0000"/>
                </a:solidFill>
                <a:latin typeface="华文细黑" panose="02010600040101010101" pitchFamily="2" charset="-122"/>
                <a:ea typeface="华文细黑" panose="02010600040101010101" pitchFamily="2" charset="-122"/>
              </a:rPr>
              <a:t>漫射辐射</a:t>
            </a:r>
            <a:r>
              <a:rPr lang="zh-CN" altLang="en-US" sz="2600" dirty="0">
                <a:solidFill>
                  <a:srgbClr val="0000FF"/>
                </a:solidFill>
                <a:latin typeface="华文细黑" panose="02010600040101010101" pitchFamily="2" charset="-122"/>
                <a:ea typeface="华文细黑" panose="02010600040101010101" pitchFamily="2" charset="-122"/>
              </a:rPr>
              <a:t>，是在</a:t>
            </a:r>
            <a:r>
              <a:rPr lang="zh-CN" altLang="en-US" sz="2600" dirty="0">
                <a:solidFill>
                  <a:srgbClr val="FF0000"/>
                </a:solidFill>
                <a:latin typeface="华文细黑" panose="02010600040101010101" pitchFamily="2" charset="-122"/>
                <a:ea typeface="华文细黑" panose="02010600040101010101" pitchFamily="2" charset="-122"/>
              </a:rPr>
              <a:t>无散射</a:t>
            </a:r>
            <a:r>
              <a:rPr lang="zh-CN" altLang="en-US" sz="2600" dirty="0">
                <a:solidFill>
                  <a:srgbClr val="0000FF"/>
                </a:solidFill>
                <a:latin typeface="华文细黑" panose="02010600040101010101" pitchFamily="2" charset="-122"/>
                <a:ea typeface="华文细黑" panose="02010600040101010101" pitchFamily="2" charset="-122"/>
              </a:rPr>
              <a:t>但</a:t>
            </a:r>
            <a:r>
              <a:rPr lang="zh-CN" altLang="en-US" sz="2600" dirty="0">
                <a:solidFill>
                  <a:srgbClr val="FF0000"/>
                </a:solidFill>
                <a:latin typeface="华文细黑" panose="02010600040101010101" pitchFamily="2" charset="-122"/>
                <a:ea typeface="华文细黑" panose="02010600040101010101" pitchFamily="2" charset="-122"/>
              </a:rPr>
              <a:t>有吸收，</a:t>
            </a:r>
            <a:r>
              <a:rPr lang="zh-CN" altLang="en-US" sz="2600" dirty="0">
                <a:solidFill>
                  <a:srgbClr val="0000FF"/>
                </a:solidFill>
                <a:latin typeface="华文细黑" panose="02010600040101010101" pitchFamily="2" charset="-122"/>
                <a:ea typeface="华文细黑" panose="02010600040101010101" pitchFamily="2" charset="-122"/>
              </a:rPr>
              <a:t>又有</a:t>
            </a:r>
            <a:r>
              <a:rPr lang="zh-CN" altLang="en-US" sz="2600" dirty="0">
                <a:solidFill>
                  <a:srgbClr val="FF0000"/>
                </a:solidFill>
                <a:latin typeface="华文细黑" panose="02010600040101010101" pitchFamily="2" charset="-122"/>
                <a:ea typeface="华文细黑" panose="02010600040101010101" pitchFamily="2" charset="-122"/>
              </a:rPr>
              <a:t>放射</a:t>
            </a:r>
            <a:r>
              <a:rPr lang="zh-CN" altLang="en-US" sz="2600" dirty="0">
                <a:solidFill>
                  <a:srgbClr val="0000FF"/>
                </a:solidFill>
                <a:latin typeface="华文细黑" panose="02010600040101010101" pitchFamily="2" charset="-122"/>
                <a:ea typeface="华文细黑" panose="02010600040101010101" pitchFamily="2" charset="-122"/>
              </a:rPr>
              <a:t>的介质中的传输。</a:t>
            </a:r>
            <a:endParaRPr lang="en-US" altLang="zh-CN" sz="2600" dirty="0">
              <a:solidFill>
                <a:srgbClr val="0000FF"/>
              </a:solidFill>
              <a:latin typeface="华文细黑" panose="02010600040101010101" pitchFamily="2" charset="-122"/>
              <a:ea typeface="华文细黑" panose="02010600040101010101" pitchFamily="2" charset="-122"/>
            </a:endParaRPr>
          </a:p>
        </p:txBody>
      </p:sp>
      <p:sp>
        <p:nvSpPr>
          <p:cNvPr id="11268" name="Rectangle 2"/>
          <p:cNvSpPr>
            <a:spLocks noGrp="1"/>
          </p:cNvSpPr>
          <p:nvPr>
            <p:ph type="title"/>
          </p:nvPr>
        </p:nvSpPr>
        <p:spPr>
          <a:xfrm>
            <a:off x="1423988" y="233363"/>
            <a:ext cx="7505700" cy="563562"/>
          </a:xfrm>
          <a:ln/>
        </p:spPr>
        <p:txBody>
          <a:bodyPr vert="horz" wrap="square" lIns="91440" tIns="45720" rIns="91440" bIns="45720" anchor="ctr" anchorCtr="0"/>
          <a:p>
            <a:pPr algn="ctr"/>
            <a:r>
              <a:rPr lang="en-US" altLang="zh-CN" sz="4000" dirty="0">
                <a:solidFill>
                  <a:srgbClr val="FFFF00"/>
                </a:solidFill>
                <a:latin typeface="黑体" panose="02010609060101010101" pitchFamily="49" charset="-122"/>
                <a:ea typeface="黑体" panose="02010609060101010101" pitchFamily="49" charset="-122"/>
              </a:rPr>
              <a:t>5.5.2 </a:t>
            </a:r>
            <a:r>
              <a:rPr lang="zh-CN" altLang="en-US" sz="4000" dirty="0">
                <a:solidFill>
                  <a:srgbClr val="FFFF00"/>
                </a:solidFill>
                <a:latin typeface="黑体" panose="02010609060101010101" pitchFamily="49" charset="-122"/>
                <a:ea typeface="黑体" panose="02010609060101010101" pitchFamily="49" charset="-122"/>
              </a:rPr>
              <a:t>长波辐射在大气中的传输</a:t>
            </a:r>
            <a:endParaRPr lang="zh-CN" altLang="en-US" sz="4000" dirty="0">
              <a:solidFill>
                <a:srgbClr val="FFFF00"/>
              </a:solidFill>
              <a:latin typeface="黑体" panose="02010609060101010101" pitchFamily="49" charset="-122"/>
              <a:ea typeface="黑体" panose="02010609060101010101" pitchFamily="49"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Rectangle 3"/>
          <p:cNvSpPr>
            <a:spLocks noGrp="1"/>
          </p:cNvSpPr>
          <p:nvPr>
            <p:ph idx="1"/>
          </p:nvPr>
        </p:nvSpPr>
        <p:spPr>
          <a:xfrm>
            <a:off x="428625" y="1071563"/>
            <a:ext cx="8572500" cy="3725862"/>
          </a:xfrm>
          <a:ln/>
        </p:spPr>
        <p:txBody>
          <a:bodyPr vert="horz" wrap="square" lIns="91440" tIns="45720" rIns="91440" bIns="45720" anchor="t" anchorCtr="0"/>
          <a:p>
            <a:pPr>
              <a:spcBef>
                <a:spcPct val="25000"/>
              </a:spcBef>
              <a:spcAft>
                <a:spcPct val="25000"/>
              </a:spcAft>
              <a:buFont typeface="Wingdings 2" pitchFamily="18" charset="2"/>
              <a:buNone/>
            </a:pPr>
            <a:endParaRPr lang="zh-CN" altLang="en-US" sz="2400" dirty="0">
              <a:latin typeface="Times New Roman" panose="02020603050405020304" pitchFamily="18" charset="0"/>
              <a:ea typeface="宋体" panose="02010600030101010101" pitchFamily="2" charset="-122"/>
            </a:endParaRPr>
          </a:p>
          <a:p>
            <a:pPr>
              <a:spcBef>
                <a:spcPct val="25000"/>
              </a:spcBef>
              <a:spcAft>
                <a:spcPct val="25000"/>
              </a:spcAft>
              <a:buFont typeface="Wingdings 2" pitchFamily="18" charset="2"/>
              <a:buNone/>
            </a:pPr>
            <a:r>
              <a:rPr lang="zh-CN" altLang="en-US" dirty="0">
                <a:latin typeface="Times New Roman" panose="02020603050405020304" pitchFamily="18" charset="0"/>
                <a:ea typeface="宋体" panose="02010600030101010101" pitchFamily="2" charset="-122"/>
              </a:rPr>
              <a:t>  </a:t>
            </a:r>
            <a:endParaRPr lang="zh-CN" altLang="en-US" sz="2400" dirty="0">
              <a:latin typeface="Times New Roman" panose="02020603050405020304" pitchFamily="18" charset="0"/>
              <a:ea typeface="宋体" panose="02010600030101010101" pitchFamily="2" charset="-122"/>
            </a:endParaRPr>
          </a:p>
        </p:txBody>
      </p:sp>
      <p:sp>
        <p:nvSpPr>
          <p:cNvPr id="13315" name="Text Box 26"/>
          <p:cNvSpPr txBox="1"/>
          <p:nvPr/>
        </p:nvSpPr>
        <p:spPr>
          <a:xfrm>
            <a:off x="428625" y="2143125"/>
            <a:ext cx="8572500" cy="247015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eaLnBrk="1" hangingPunct="1">
              <a:lnSpc>
                <a:spcPct val="200000"/>
              </a:lnSpc>
              <a:spcBef>
                <a:spcPct val="25000"/>
              </a:spcBef>
              <a:spcAft>
                <a:spcPct val="25000"/>
              </a:spcAft>
              <a:buClrTx/>
              <a:buFont typeface="Wingdings 2" pitchFamily="18" charset="2"/>
              <a:buNone/>
            </a:pPr>
            <a:r>
              <a:rPr lang="zh-CN" altLang="en-US" sz="2400" dirty="0">
                <a:latin typeface="华文细黑" panose="02010600040101010101" pitchFamily="2" charset="-122"/>
                <a:ea typeface="华文细黑" panose="02010600040101010101" pitchFamily="2" charset="-122"/>
              </a:rPr>
              <a:t>吸收+放出             总变化 </a:t>
            </a:r>
            <a:r>
              <a:rPr lang="en-US" altLang="zh-CN" sz="2400" dirty="0">
                <a:latin typeface="华文细黑" panose="02010600040101010101" pitchFamily="2" charset="-122"/>
                <a:ea typeface="华文细黑" panose="02010600040101010101" pitchFamily="2" charset="-122"/>
              </a:rPr>
              <a:t>(</a:t>
            </a:r>
            <a:r>
              <a:rPr lang="zh-CN" altLang="en-US" sz="2400" dirty="0">
                <a:latin typeface="华文细黑" panose="02010600040101010101" pitchFamily="2" charset="-122"/>
                <a:ea typeface="华文细黑" panose="02010600040101010101" pitchFamily="2" charset="-122"/>
              </a:rPr>
              <a:t>5.5.3</a:t>
            </a:r>
            <a:r>
              <a:rPr lang="en-US" altLang="zh-CN" sz="2400" dirty="0">
                <a:latin typeface="华文细黑" panose="02010600040101010101" pitchFamily="2" charset="-122"/>
                <a:ea typeface="华文细黑" panose="02010600040101010101" pitchFamily="2" charset="-122"/>
              </a:rPr>
              <a:t>)  </a:t>
            </a:r>
            <a:r>
              <a:rPr lang="zh-CN" altLang="en-US" sz="2400" dirty="0">
                <a:latin typeface="华文细黑" panose="02010600040101010101" pitchFamily="2" charset="-122"/>
                <a:ea typeface="华文细黑" panose="02010600040101010101" pitchFamily="2" charset="-122"/>
              </a:rPr>
              <a:t>          </a:t>
            </a:r>
            <a:r>
              <a:rPr lang="en-US" altLang="zh-CN" sz="2400" dirty="0">
                <a:latin typeface="华文细黑" panose="02010600040101010101" pitchFamily="2" charset="-122"/>
                <a:ea typeface="华文细黑" panose="02010600040101010101" pitchFamily="2" charset="-122"/>
              </a:rPr>
              <a:t>Z</a:t>
            </a:r>
            <a:r>
              <a:rPr lang="zh-CN" altLang="en-US" sz="2400" dirty="0">
                <a:latin typeface="华文细黑" panose="02010600040101010101" pitchFamily="2" charset="-122"/>
                <a:ea typeface="华文细黑" panose="02010600040101010101" pitchFamily="2" charset="-122"/>
              </a:rPr>
              <a:t>坐标下方程（5.5.4）</a:t>
            </a:r>
            <a:endParaRPr lang="zh-CN" altLang="en-US" sz="2400" dirty="0">
              <a:latin typeface="华文细黑" panose="02010600040101010101" pitchFamily="2" charset="-122"/>
              <a:ea typeface="华文细黑" panose="02010600040101010101" pitchFamily="2" charset="-122"/>
            </a:endParaRPr>
          </a:p>
          <a:p>
            <a:pPr marL="0" lvl="0" indent="0" eaLnBrk="1" hangingPunct="1">
              <a:lnSpc>
                <a:spcPct val="200000"/>
              </a:lnSpc>
              <a:spcBef>
                <a:spcPct val="25000"/>
              </a:spcBef>
              <a:spcAft>
                <a:spcPct val="25000"/>
              </a:spcAft>
              <a:buClrTx/>
              <a:buFont typeface="Wingdings 2" pitchFamily="18" charset="2"/>
              <a:buNone/>
            </a:pPr>
            <a:r>
              <a:rPr lang="zh-CN" altLang="en-US" sz="2400" dirty="0">
                <a:latin typeface="华文细黑" panose="02010600040101010101" pitchFamily="2" charset="-122"/>
                <a:ea typeface="华文细黑" panose="02010600040101010101" pitchFamily="2" charset="-122"/>
              </a:rPr>
              <a:t>             光学厚度坐标    方程 </a:t>
            </a:r>
            <a:r>
              <a:rPr lang="en-US" altLang="zh-CN" sz="2400" dirty="0">
                <a:latin typeface="华文细黑" panose="02010600040101010101" pitchFamily="2" charset="-122"/>
                <a:ea typeface="华文细黑" panose="02010600040101010101" pitchFamily="2" charset="-122"/>
              </a:rPr>
              <a:t>(</a:t>
            </a:r>
            <a:r>
              <a:rPr lang="zh-CN" altLang="en-US" sz="2400" dirty="0">
                <a:latin typeface="华文细黑" panose="02010600040101010101" pitchFamily="2" charset="-122"/>
                <a:ea typeface="华文细黑" panose="02010600040101010101" pitchFamily="2" charset="-122"/>
              </a:rPr>
              <a:t>5.5.7</a:t>
            </a:r>
            <a:r>
              <a:rPr lang="en-US" altLang="zh-CN" sz="2400" dirty="0">
                <a:latin typeface="华文细黑" panose="02010600040101010101" pitchFamily="2" charset="-122"/>
                <a:ea typeface="华文细黑" panose="02010600040101010101" pitchFamily="2" charset="-122"/>
              </a:rPr>
              <a:t>)</a:t>
            </a:r>
            <a:r>
              <a:rPr lang="zh-CN" altLang="en-US" sz="2400" dirty="0">
                <a:latin typeface="华文细黑" panose="02010600040101010101" pitchFamily="2" charset="-122"/>
                <a:ea typeface="华文细黑" panose="02010600040101010101" pitchFamily="2" charset="-122"/>
              </a:rPr>
              <a:t>            解方程结果（5.5.8）</a:t>
            </a:r>
            <a:endParaRPr lang="zh-CN" altLang="en-US" sz="2400" dirty="0">
              <a:latin typeface="华文细黑" panose="02010600040101010101" pitchFamily="2" charset="-122"/>
              <a:ea typeface="华文细黑" panose="02010600040101010101" pitchFamily="2" charset="-122"/>
            </a:endParaRPr>
          </a:p>
          <a:p>
            <a:pPr marL="0" lvl="0" indent="0" eaLnBrk="1" hangingPunct="1">
              <a:lnSpc>
                <a:spcPct val="200000"/>
              </a:lnSpc>
              <a:spcBef>
                <a:spcPct val="0"/>
              </a:spcBef>
              <a:buClrTx/>
              <a:buFont typeface="Arial" panose="020B0604020202020204" pitchFamily="34" charset="0"/>
              <a:buNone/>
            </a:pPr>
            <a:endParaRPr lang="zh-CN" altLang="en-US" sz="2400" dirty="0">
              <a:solidFill>
                <a:srgbClr val="0000FF"/>
              </a:solidFill>
              <a:latin typeface="Arial" panose="020B0604020202020204" pitchFamily="34" charset="0"/>
              <a:ea typeface="宋体" panose="02010600030101010101" pitchFamily="2" charset="-122"/>
            </a:endParaRPr>
          </a:p>
        </p:txBody>
      </p:sp>
      <p:sp>
        <p:nvSpPr>
          <p:cNvPr id="13316" name="Rectangle 2"/>
          <p:cNvSpPr>
            <a:spLocks noGrp="1"/>
          </p:cNvSpPr>
          <p:nvPr>
            <p:ph type="title"/>
          </p:nvPr>
        </p:nvSpPr>
        <p:spPr>
          <a:xfrm>
            <a:off x="1281113" y="233363"/>
            <a:ext cx="7862887" cy="563562"/>
          </a:xfrm>
          <a:ln/>
        </p:spPr>
        <p:txBody>
          <a:bodyPr vert="horz" wrap="square" lIns="91440" tIns="45720" rIns="91440" bIns="45720" anchor="ctr" anchorCtr="0"/>
          <a:p>
            <a:pPr algn="ctr"/>
            <a:r>
              <a:rPr lang="en-US" altLang="zh-CN" sz="4000" dirty="0">
                <a:solidFill>
                  <a:srgbClr val="FFFF00"/>
                </a:solidFill>
                <a:latin typeface="黑体" panose="02010609060101010101" pitchFamily="49" charset="-122"/>
                <a:ea typeface="黑体" panose="02010609060101010101" pitchFamily="49" charset="-122"/>
              </a:rPr>
              <a:t>5.5.2 </a:t>
            </a:r>
            <a:r>
              <a:rPr lang="zh-CN" altLang="en-US" sz="4000" dirty="0">
                <a:solidFill>
                  <a:srgbClr val="FFFF00"/>
                </a:solidFill>
                <a:latin typeface="黑体" panose="02010609060101010101" pitchFamily="49" charset="-122"/>
                <a:ea typeface="黑体" panose="02010609060101010101" pitchFamily="49" charset="-122"/>
              </a:rPr>
              <a:t>长波辐射在大气中的传输</a:t>
            </a:r>
            <a:endParaRPr lang="zh-CN" altLang="en-US" sz="4000" dirty="0">
              <a:solidFill>
                <a:srgbClr val="FFFF00"/>
              </a:solidFill>
              <a:latin typeface="黑体" panose="02010609060101010101" pitchFamily="49" charset="-122"/>
              <a:ea typeface="黑体" panose="02010609060101010101" pitchFamily="49" charset="-122"/>
            </a:endParaRPr>
          </a:p>
        </p:txBody>
      </p:sp>
      <p:sp>
        <p:nvSpPr>
          <p:cNvPr id="13317" name="AutoShape 5"/>
          <p:cNvSpPr/>
          <p:nvPr/>
        </p:nvSpPr>
        <p:spPr>
          <a:xfrm>
            <a:off x="2024063" y="2476500"/>
            <a:ext cx="762000" cy="304800"/>
          </a:xfrm>
          <a:prstGeom prst="rightArrow">
            <a:avLst>
              <a:gd name="adj1" fmla="val 50000"/>
              <a:gd name="adj2" fmla="val 62500"/>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endParaRPr lang="zh-CN" altLang="en-US" sz="1800" b="0" dirty="0">
              <a:latin typeface="Arial" panose="020B0604020202020204" pitchFamily="34" charset="0"/>
              <a:ea typeface="宋体" panose="02010600030101010101" pitchFamily="2" charset="-122"/>
            </a:endParaRPr>
          </a:p>
        </p:txBody>
      </p:sp>
      <p:sp>
        <p:nvSpPr>
          <p:cNvPr id="13318" name="TextBox 14"/>
          <p:cNvSpPr txBox="1"/>
          <p:nvPr/>
        </p:nvSpPr>
        <p:spPr>
          <a:xfrm>
            <a:off x="285750" y="1436688"/>
            <a:ext cx="8715375" cy="49212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r>
              <a:rPr lang="zh-CN" altLang="en-US" sz="2600" dirty="0">
                <a:solidFill>
                  <a:srgbClr val="FF0000"/>
                </a:solidFill>
                <a:latin typeface="华文细黑" panose="02010600040101010101" pitchFamily="2" charset="-122"/>
                <a:ea typeface="华文细黑" panose="02010600040101010101" pitchFamily="2" charset="-122"/>
              </a:rPr>
              <a:t>长波辐射传输方程</a:t>
            </a:r>
            <a:r>
              <a:rPr lang="en-US" altLang="zh-CN" sz="2600" dirty="0">
                <a:solidFill>
                  <a:srgbClr val="FF0000"/>
                </a:solidFill>
                <a:latin typeface="华文细黑" panose="02010600040101010101" pitchFamily="2" charset="-122"/>
                <a:ea typeface="华文细黑" panose="02010600040101010101" pitchFamily="2" charset="-122"/>
              </a:rPr>
              <a:t>——</a:t>
            </a:r>
            <a:r>
              <a:rPr lang="zh-CN" altLang="en-US" sz="2600" dirty="0">
                <a:solidFill>
                  <a:srgbClr val="FF0000"/>
                </a:solidFill>
                <a:latin typeface="华文细黑" panose="02010600040101010101" pitchFamily="2" charset="-122"/>
                <a:ea typeface="华文细黑" panose="02010600040101010101" pitchFamily="2" charset="-122"/>
              </a:rPr>
              <a:t>施瓦茨恰尔德</a:t>
            </a:r>
            <a:r>
              <a:rPr lang="en-US" altLang="zh-CN" sz="2600" dirty="0">
                <a:solidFill>
                  <a:srgbClr val="FF0000"/>
                </a:solidFill>
                <a:latin typeface="华文细黑" panose="02010600040101010101" pitchFamily="2" charset="-122"/>
                <a:ea typeface="华文细黑" panose="02010600040101010101" pitchFamily="2" charset="-122"/>
              </a:rPr>
              <a:t>(Schwarzchild)</a:t>
            </a:r>
            <a:r>
              <a:rPr lang="zh-CN" altLang="en-US" sz="2600" dirty="0">
                <a:solidFill>
                  <a:srgbClr val="FF0000"/>
                </a:solidFill>
                <a:latin typeface="华文细黑" panose="02010600040101010101" pitchFamily="2" charset="-122"/>
                <a:ea typeface="华文细黑" panose="02010600040101010101" pitchFamily="2" charset="-122"/>
              </a:rPr>
              <a:t>方程：</a:t>
            </a:r>
            <a:endParaRPr lang="en-US" altLang="zh-CN" sz="2600" dirty="0">
              <a:solidFill>
                <a:srgbClr val="FF0000"/>
              </a:solidFill>
              <a:latin typeface="华文细黑" panose="02010600040101010101" pitchFamily="2" charset="-122"/>
              <a:ea typeface="华文细黑" panose="02010600040101010101" pitchFamily="2" charset="-122"/>
            </a:endParaRPr>
          </a:p>
        </p:txBody>
      </p:sp>
      <p:sp>
        <p:nvSpPr>
          <p:cNvPr id="13319" name="AutoShape 5"/>
          <p:cNvSpPr/>
          <p:nvPr/>
        </p:nvSpPr>
        <p:spPr>
          <a:xfrm>
            <a:off x="4889500" y="2476500"/>
            <a:ext cx="762000" cy="304800"/>
          </a:xfrm>
          <a:prstGeom prst="rightArrow">
            <a:avLst>
              <a:gd name="adj1" fmla="val 50000"/>
              <a:gd name="adj2" fmla="val 62500"/>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endParaRPr lang="zh-CN" altLang="en-US" sz="1800" b="0" dirty="0">
              <a:latin typeface="Arial" panose="020B0604020202020204" pitchFamily="34" charset="0"/>
              <a:ea typeface="宋体" panose="02010600030101010101" pitchFamily="2" charset="-122"/>
            </a:endParaRPr>
          </a:p>
        </p:txBody>
      </p:sp>
      <p:sp>
        <p:nvSpPr>
          <p:cNvPr id="13320" name="AutoShape 5"/>
          <p:cNvSpPr/>
          <p:nvPr/>
        </p:nvSpPr>
        <p:spPr>
          <a:xfrm>
            <a:off x="684213" y="3411538"/>
            <a:ext cx="762000" cy="304800"/>
          </a:xfrm>
          <a:prstGeom prst="rightArrow">
            <a:avLst>
              <a:gd name="adj1" fmla="val 50000"/>
              <a:gd name="adj2" fmla="val 62500"/>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endParaRPr lang="zh-CN" altLang="en-US" sz="1800" b="0" dirty="0">
              <a:latin typeface="Arial" panose="020B0604020202020204" pitchFamily="34" charset="0"/>
              <a:ea typeface="宋体" panose="02010600030101010101" pitchFamily="2" charset="-122"/>
            </a:endParaRPr>
          </a:p>
        </p:txBody>
      </p:sp>
      <p:sp>
        <p:nvSpPr>
          <p:cNvPr id="13321" name="AutoShape 5"/>
          <p:cNvSpPr/>
          <p:nvPr/>
        </p:nvSpPr>
        <p:spPr>
          <a:xfrm>
            <a:off x="5292725" y="3411538"/>
            <a:ext cx="762000" cy="304800"/>
          </a:xfrm>
          <a:prstGeom prst="rightArrow">
            <a:avLst>
              <a:gd name="adj1" fmla="val 50000"/>
              <a:gd name="adj2" fmla="val 62500"/>
            </a:avLst>
          </a:prstGeom>
          <a:no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endParaRPr lang="zh-CN" altLang="en-US" sz="1800" b="0" dirty="0">
              <a:latin typeface="Arial" panose="020B0604020202020204" pitchFamily="34" charset="0"/>
              <a:ea typeface="宋体" panose="02010600030101010101" pitchFamily="2" charset="-122"/>
            </a:endParaRPr>
          </a:p>
        </p:txBody>
      </p:sp>
      <p:graphicFrame>
        <p:nvGraphicFramePr>
          <p:cNvPr id="13322" name="Object 2"/>
          <p:cNvGraphicFramePr>
            <a:graphicFrameLocks noChangeAspect="1"/>
          </p:cNvGraphicFramePr>
          <p:nvPr/>
        </p:nvGraphicFramePr>
        <p:xfrm>
          <a:off x="3348038" y="3335338"/>
          <a:ext cx="357187" cy="454025"/>
        </p:xfrm>
        <a:graphic>
          <a:graphicData uri="http://schemas.openxmlformats.org/presentationml/2006/ole">
            <mc:AlternateContent xmlns:mc="http://schemas.openxmlformats.org/markup-compatibility/2006">
              <mc:Choice xmlns:v="urn:schemas-microsoft-com:vml" Requires="v">
                <p:oleObj spid="_x0000_s3083" name="" r:id="rId1" imgW="139700" imgH="177800" progId="Equation.DSMT4">
                  <p:embed/>
                </p:oleObj>
              </mc:Choice>
              <mc:Fallback>
                <p:oleObj name="" r:id="rId1" imgW="139700" imgH="177800" progId="Equation.DSMT4">
                  <p:embed/>
                  <p:pic>
                    <p:nvPicPr>
                      <p:cNvPr id="0" name="图片 3082"/>
                      <p:cNvPicPr/>
                      <p:nvPr/>
                    </p:nvPicPr>
                    <p:blipFill>
                      <a:blip r:embed="rId2"/>
                      <a:stretch>
                        <a:fillRect/>
                      </a:stretch>
                    </p:blipFill>
                    <p:spPr>
                      <a:xfrm>
                        <a:off x="3348038" y="3335338"/>
                        <a:ext cx="357187" cy="454025"/>
                      </a:xfrm>
                      <a:prstGeom prst="rect">
                        <a:avLst/>
                      </a:prstGeom>
                      <a:noFill/>
                      <a:ln w="38100">
                        <a:noFill/>
                        <a:miter/>
                      </a:ln>
                    </p:spPr>
                  </p:pic>
                </p:oleObj>
              </mc:Fallback>
            </mc:AlternateContent>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TextBox 2"/>
          <p:cNvSpPr txBox="1"/>
          <p:nvPr/>
        </p:nvSpPr>
        <p:spPr>
          <a:xfrm>
            <a:off x="395288" y="6237288"/>
            <a:ext cx="8748712" cy="369887"/>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endParaRPr lang="zh-CN" altLang="en-US" sz="1800" b="0" dirty="0">
              <a:latin typeface="Arial" panose="020B0604020202020204" pitchFamily="34" charset="0"/>
              <a:ea typeface="宋体" panose="02010600030101010101" pitchFamily="2" charset="-122"/>
            </a:endParaRPr>
          </a:p>
        </p:txBody>
      </p:sp>
      <p:sp>
        <p:nvSpPr>
          <p:cNvPr id="14339" name="Rectangle 3"/>
          <p:cNvSpPr>
            <a:spLocks noGrp="1"/>
          </p:cNvSpPr>
          <p:nvPr>
            <p:ph idx="1"/>
          </p:nvPr>
        </p:nvSpPr>
        <p:spPr>
          <a:xfrm>
            <a:off x="714375" y="1071563"/>
            <a:ext cx="8178800" cy="5670550"/>
          </a:xfrm>
          <a:ln/>
        </p:spPr>
        <p:txBody>
          <a:bodyPr vert="horz" wrap="square" lIns="91440" tIns="45720" rIns="91440" bIns="45720" anchor="t" anchorCtr="0"/>
          <a:p>
            <a:pPr>
              <a:spcBef>
                <a:spcPct val="25000"/>
              </a:spcBef>
              <a:spcAft>
                <a:spcPct val="25000"/>
              </a:spcAft>
              <a:buFont typeface="Wingdings 2" pitchFamily="18" charset="2"/>
              <a:buNone/>
            </a:pPr>
            <a:endParaRPr lang="zh-CN" altLang="en-US" sz="2400" dirty="0">
              <a:latin typeface="Times New Roman" panose="02020603050405020304" pitchFamily="18" charset="0"/>
              <a:ea typeface="宋体" panose="02010600030101010101" pitchFamily="2" charset="-122"/>
            </a:endParaRPr>
          </a:p>
          <a:p>
            <a:pPr>
              <a:spcBef>
                <a:spcPct val="25000"/>
              </a:spcBef>
              <a:spcAft>
                <a:spcPct val="25000"/>
              </a:spcAft>
              <a:buFont typeface="Wingdings 2" pitchFamily="18" charset="2"/>
              <a:buNone/>
            </a:pPr>
            <a:r>
              <a:rPr lang="zh-CN" altLang="en-US" dirty="0">
                <a:latin typeface="Times New Roman" panose="02020603050405020304" pitchFamily="18" charset="0"/>
                <a:ea typeface="宋体" panose="02010600030101010101" pitchFamily="2" charset="-122"/>
              </a:rPr>
              <a:t>  </a:t>
            </a:r>
            <a:endParaRPr lang="zh-CN" altLang="en-US" sz="2400" dirty="0">
              <a:latin typeface="Times New Roman" panose="02020603050405020304" pitchFamily="18" charset="0"/>
              <a:ea typeface="宋体" panose="02010600030101010101" pitchFamily="2" charset="-122"/>
            </a:endParaRPr>
          </a:p>
        </p:txBody>
      </p:sp>
      <p:pic>
        <p:nvPicPr>
          <p:cNvPr id="14340" name="Picture 12"/>
          <p:cNvPicPr>
            <a:picLocks noChangeAspect="1"/>
          </p:cNvPicPr>
          <p:nvPr/>
        </p:nvPicPr>
        <p:blipFill>
          <a:blip r:embed="rId1"/>
          <a:stretch>
            <a:fillRect/>
          </a:stretch>
        </p:blipFill>
        <p:spPr>
          <a:xfrm>
            <a:off x="3348038" y="5013325"/>
            <a:ext cx="3584575" cy="904875"/>
          </a:xfrm>
          <a:prstGeom prst="rect">
            <a:avLst/>
          </a:prstGeom>
          <a:solidFill>
            <a:srgbClr val="CCFFCC"/>
          </a:solidFill>
          <a:ln w="9525">
            <a:noFill/>
          </a:ln>
        </p:spPr>
      </p:pic>
      <p:pic>
        <p:nvPicPr>
          <p:cNvPr id="14341" name="Picture 13"/>
          <p:cNvPicPr>
            <a:picLocks noChangeAspect="1"/>
          </p:cNvPicPr>
          <p:nvPr/>
        </p:nvPicPr>
        <p:blipFill>
          <a:blip r:embed="rId2"/>
          <a:stretch>
            <a:fillRect/>
          </a:stretch>
        </p:blipFill>
        <p:spPr>
          <a:xfrm>
            <a:off x="3332163" y="6099175"/>
            <a:ext cx="3471862" cy="642938"/>
          </a:xfrm>
          <a:prstGeom prst="rect">
            <a:avLst/>
          </a:prstGeom>
          <a:solidFill>
            <a:srgbClr val="CCFFCC"/>
          </a:solidFill>
          <a:ln w="9525">
            <a:noFill/>
          </a:ln>
        </p:spPr>
      </p:pic>
      <p:sp>
        <p:nvSpPr>
          <p:cNvPr id="14342" name="AutoShape 14"/>
          <p:cNvSpPr/>
          <p:nvPr/>
        </p:nvSpPr>
        <p:spPr>
          <a:xfrm>
            <a:off x="3810000" y="4316413"/>
            <a:ext cx="762000" cy="304800"/>
          </a:xfrm>
          <a:prstGeom prst="rightArrow">
            <a:avLst>
              <a:gd name="adj1" fmla="val 50000"/>
              <a:gd name="adj2" fmla="val 62500"/>
            </a:avLst>
          </a:prstGeom>
          <a:solidFill>
            <a:srgbClr val="993366"/>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endParaRPr lang="zh-CN" altLang="en-US" sz="1800" b="0" dirty="0">
              <a:latin typeface="Arial" panose="020B0604020202020204" pitchFamily="34" charset="0"/>
              <a:ea typeface="宋体" panose="02010600030101010101" pitchFamily="2" charset="-122"/>
            </a:endParaRPr>
          </a:p>
        </p:txBody>
      </p:sp>
      <p:sp>
        <p:nvSpPr>
          <p:cNvPr id="14343" name="TextBox 14"/>
          <p:cNvSpPr txBox="1"/>
          <p:nvPr/>
        </p:nvSpPr>
        <p:spPr>
          <a:xfrm>
            <a:off x="1211263" y="260350"/>
            <a:ext cx="7840662" cy="5857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algn="ctr" eaLnBrk="1" hangingPunct="1">
              <a:spcBef>
                <a:spcPct val="0"/>
              </a:spcBef>
              <a:buClrTx/>
              <a:buFont typeface="Arial" panose="020B0604020202020204" pitchFamily="34" charset="0"/>
              <a:buNone/>
            </a:pPr>
            <a:r>
              <a:rPr lang="zh-CN" altLang="en-US" sz="3200" dirty="0">
                <a:solidFill>
                  <a:srgbClr val="FFFF00"/>
                </a:solidFill>
                <a:latin typeface="黑体" panose="02010609060101010101" pitchFamily="49" charset="-122"/>
                <a:ea typeface="黑体" panose="02010609060101010101" pitchFamily="49" charset="-122"/>
              </a:rPr>
              <a:t>长波辐射传输方程</a:t>
            </a:r>
            <a:endParaRPr lang="en-US" altLang="zh-CN" sz="3200" dirty="0">
              <a:solidFill>
                <a:srgbClr val="FFFF00"/>
              </a:solidFill>
              <a:latin typeface="黑体" panose="02010609060101010101" pitchFamily="49" charset="-122"/>
              <a:ea typeface="黑体" panose="02010609060101010101" pitchFamily="49" charset="-122"/>
            </a:endParaRPr>
          </a:p>
        </p:txBody>
      </p:sp>
      <p:grpSp>
        <p:nvGrpSpPr>
          <p:cNvPr id="14344" name="Group 21"/>
          <p:cNvGrpSpPr/>
          <p:nvPr/>
        </p:nvGrpSpPr>
        <p:grpSpPr>
          <a:xfrm>
            <a:off x="1403350" y="1244600"/>
            <a:ext cx="5402263" cy="2760663"/>
            <a:chOff x="748" y="1555"/>
            <a:chExt cx="3403" cy="1739"/>
          </a:xfrm>
        </p:grpSpPr>
        <p:sp>
          <p:nvSpPr>
            <p:cNvPr id="14348" name="Line 4"/>
            <p:cNvSpPr/>
            <p:nvPr/>
          </p:nvSpPr>
          <p:spPr>
            <a:xfrm>
              <a:off x="748" y="1706"/>
              <a:ext cx="1089" cy="0"/>
            </a:xfrm>
            <a:prstGeom prst="line">
              <a:avLst/>
            </a:prstGeom>
            <a:ln w="9525">
              <a:noFill/>
            </a:ln>
          </p:spPr>
        </p:sp>
        <p:sp>
          <p:nvSpPr>
            <p:cNvPr id="14349" name="Rectangle 7"/>
            <p:cNvSpPr/>
            <p:nvPr/>
          </p:nvSpPr>
          <p:spPr>
            <a:xfrm>
              <a:off x="2154" y="1979"/>
              <a:ext cx="998" cy="907"/>
            </a:xfrm>
            <a:prstGeom prst="rect">
              <a:avLst/>
            </a:prstGeom>
            <a:solidFill>
              <a:srgbClr val="92D050"/>
            </a:solidFill>
            <a:ln w="9525">
              <a:noFill/>
            </a:ln>
          </p:spPr>
          <p:txBody>
            <a:bodyPr wrap="none" lIns="92075" tIns="46038" rIns="92075" bIns="46038"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990600" lvl="0" indent="-533400" algn="r" eaLnBrk="1" hangingPunct="1">
                <a:spcBef>
                  <a:spcPct val="0"/>
                </a:spcBef>
                <a:buClrTx/>
                <a:buFont typeface="Arial" panose="020B0604020202020204" pitchFamily="34" charset="0"/>
                <a:buNone/>
              </a:pPr>
              <a:r>
                <a:rPr lang="zh-CN" altLang="en-US" sz="2400" dirty="0">
                  <a:solidFill>
                    <a:srgbClr val="000000"/>
                  </a:solidFill>
                  <a:latin typeface="华文细黑" panose="02010600040101010101" pitchFamily="2" charset="-122"/>
                  <a:ea typeface="华文细黑" panose="02010600040101010101" pitchFamily="2" charset="-122"/>
                </a:rPr>
                <a:t>吸收气体</a:t>
              </a:r>
              <a:endParaRPr lang="en-US" altLang="zh-CN" sz="2400" dirty="0">
                <a:solidFill>
                  <a:srgbClr val="000000"/>
                </a:solidFill>
                <a:latin typeface="华文细黑" panose="02010600040101010101" pitchFamily="2" charset="-122"/>
                <a:ea typeface="华文细黑" panose="02010600040101010101" pitchFamily="2" charset="-122"/>
              </a:endParaRPr>
            </a:p>
          </p:txBody>
        </p:sp>
        <p:sp>
          <p:nvSpPr>
            <p:cNvPr id="14350" name="AutoShape 8"/>
            <p:cNvSpPr/>
            <p:nvPr/>
          </p:nvSpPr>
          <p:spPr>
            <a:xfrm>
              <a:off x="974" y="1933"/>
              <a:ext cx="908" cy="862"/>
            </a:xfrm>
            <a:custGeom>
              <a:avLst/>
              <a:gdLst>
                <a:gd name="txL" fmla="*/ 0 w 21600"/>
                <a:gd name="txT" fmla="*/ 0 h 21600"/>
                <a:gd name="txR" fmla="*/ 21600 w 21600"/>
                <a:gd name="txB" fmla="*/ 21600 h 2160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chemeClr val="accent2">
                <a:alpha val="100000"/>
              </a:schemeClr>
            </a:solidFill>
            <a:ln w="9525" cap="flat" cmpd="sng">
              <a:solidFill>
                <a:schemeClr val="accent2">
                  <a:alpha val="100000"/>
                </a:schemeClr>
              </a:solidFill>
              <a:prstDash val="solid"/>
              <a:miter lim="800000"/>
              <a:headEnd type="none" w="med" len="med"/>
              <a:tailEnd type="none" w="med" len="med"/>
            </a:ln>
          </p:spPr>
          <p:txBody>
            <a:bodyPr/>
            <a:p>
              <a:endParaRPr lang="zh-CN" altLang="en-US"/>
            </a:p>
          </p:txBody>
        </p:sp>
        <p:sp>
          <p:nvSpPr>
            <p:cNvPr id="14351" name="Text Box 10"/>
            <p:cNvSpPr txBox="1"/>
            <p:nvPr/>
          </p:nvSpPr>
          <p:spPr>
            <a:xfrm>
              <a:off x="839" y="1706"/>
              <a:ext cx="789" cy="404"/>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990600" lvl="0" indent="-533400" eaLnBrk="1" hangingPunct="1">
                <a:spcBef>
                  <a:spcPct val="0"/>
                </a:spcBef>
                <a:buClrTx/>
                <a:buFont typeface="Arial" panose="020B0604020202020204" pitchFamily="34" charset="0"/>
                <a:buNone/>
              </a:pPr>
              <a:r>
                <a:rPr lang="en-US" altLang="zh-CN" sz="3600" dirty="0">
                  <a:solidFill>
                    <a:srgbClr val="FF0000"/>
                  </a:solidFill>
                  <a:latin typeface="Times New Roman" panose="02020603050405020304" pitchFamily="18" charset="0"/>
                  <a:ea typeface="宋体" panose="02010600030101010101" pitchFamily="2" charset="-122"/>
                </a:rPr>
                <a:t>L</a:t>
              </a:r>
              <a:r>
                <a:rPr lang="el-GR" altLang="zh-CN" sz="3600" baseline="-25000" dirty="0">
                  <a:solidFill>
                    <a:srgbClr val="FF0000"/>
                  </a:solidFill>
                  <a:latin typeface="Times New Roman" panose="02020603050405020304" pitchFamily="18" charset="0"/>
                  <a:ea typeface="宋体" panose="02010600030101010101" pitchFamily="2" charset="-122"/>
                </a:rPr>
                <a:t>λ</a:t>
              </a:r>
              <a:endParaRPr lang="el-GR" altLang="zh-CN" sz="3600" baseline="-25000" dirty="0">
                <a:solidFill>
                  <a:srgbClr val="FF0000"/>
                </a:solidFill>
                <a:latin typeface="Times New Roman" panose="02020603050405020304" pitchFamily="18" charset="0"/>
                <a:ea typeface="宋体" panose="02010600030101010101" pitchFamily="2" charset="-122"/>
              </a:endParaRPr>
            </a:p>
          </p:txBody>
        </p:sp>
        <p:sp>
          <p:nvSpPr>
            <p:cNvPr id="14352" name="Line 12"/>
            <p:cNvSpPr/>
            <p:nvPr/>
          </p:nvSpPr>
          <p:spPr>
            <a:xfrm>
              <a:off x="2154" y="1827"/>
              <a:ext cx="998" cy="0"/>
            </a:xfrm>
            <a:prstGeom prst="line">
              <a:avLst/>
            </a:prstGeom>
            <a:ln w="9525" cap="flat" cmpd="sng">
              <a:solidFill>
                <a:schemeClr val="tx1"/>
              </a:solidFill>
              <a:prstDash val="solid"/>
              <a:headEnd type="triangle" w="med" len="med"/>
              <a:tailEnd type="triangle" w="med" len="med"/>
            </a:ln>
          </p:spPr>
        </p:sp>
        <p:sp>
          <p:nvSpPr>
            <p:cNvPr id="14353" name="Line 13"/>
            <p:cNvSpPr/>
            <p:nvPr/>
          </p:nvSpPr>
          <p:spPr>
            <a:xfrm flipV="1">
              <a:off x="2154" y="1555"/>
              <a:ext cx="0" cy="409"/>
            </a:xfrm>
            <a:prstGeom prst="line">
              <a:avLst/>
            </a:prstGeom>
            <a:ln w="9525" cap="flat" cmpd="sng">
              <a:solidFill>
                <a:schemeClr val="tx1"/>
              </a:solidFill>
              <a:prstDash val="solid"/>
              <a:headEnd type="none" w="med" len="med"/>
              <a:tailEnd type="none" w="med" len="med"/>
            </a:ln>
          </p:spPr>
        </p:sp>
        <p:sp>
          <p:nvSpPr>
            <p:cNvPr id="14354" name="Line 14"/>
            <p:cNvSpPr/>
            <p:nvPr/>
          </p:nvSpPr>
          <p:spPr>
            <a:xfrm flipV="1">
              <a:off x="3158" y="1569"/>
              <a:ext cx="0" cy="409"/>
            </a:xfrm>
            <a:prstGeom prst="line">
              <a:avLst/>
            </a:prstGeom>
            <a:ln w="9525" cap="flat" cmpd="sng">
              <a:solidFill>
                <a:schemeClr val="tx1"/>
              </a:solidFill>
              <a:prstDash val="solid"/>
              <a:headEnd type="none" w="med" len="med"/>
              <a:tailEnd type="none" w="med" len="med"/>
            </a:ln>
          </p:spPr>
        </p:sp>
        <p:sp>
          <p:nvSpPr>
            <p:cNvPr id="14355" name="Text Box 15"/>
            <p:cNvSpPr txBox="1"/>
            <p:nvPr/>
          </p:nvSpPr>
          <p:spPr>
            <a:xfrm>
              <a:off x="2154" y="1555"/>
              <a:ext cx="635" cy="291"/>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990600" lvl="0" indent="-533400" eaLnBrk="1" hangingPunct="1">
                <a:spcBef>
                  <a:spcPct val="0"/>
                </a:spcBef>
                <a:buClrTx/>
                <a:buFont typeface="Arial" panose="020B0604020202020204" pitchFamily="34" charset="0"/>
                <a:buNone/>
              </a:pPr>
              <a:r>
                <a:rPr lang="en-US" altLang="zh-CN" sz="2400" dirty="0">
                  <a:latin typeface="Times New Roman" panose="02020603050405020304" pitchFamily="18" charset="0"/>
                  <a:ea typeface="宋体" panose="02010600030101010101" pitchFamily="2" charset="-122"/>
                </a:rPr>
                <a:t>dl</a:t>
              </a:r>
              <a:endParaRPr lang="en-US" altLang="zh-CN" sz="2400" dirty="0">
                <a:latin typeface="Times New Roman" panose="02020603050405020304" pitchFamily="18" charset="0"/>
                <a:ea typeface="宋体" panose="02010600030101010101" pitchFamily="2" charset="-122"/>
              </a:endParaRPr>
            </a:p>
          </p:txBody>
        </p:sp>
        <p:sp>
          <p:nvSpPr>
            <p:cNvPr id="14356" name="AutoShape 16"/>
            <p:cNvSpPr/>
            <p:nvPr/>
          </p:nvSpPr>
          <p:spPr>
            <a:xfrm>
              <a:off x="3243" y="2160"/>
              <a:ext cx="908" cy="453"/>
            </a:xfrm>
            <a:custGeom>
              <a:avLst/>
              <a:gdLst>
                <a:gd name="txL" fmla="*/ 0 w 21600"/>
                <a:gd name="txT" fmla="*/ 0 h 21600"/>
                <a:gd name="txR" fmla="*/ 21600 w 21600"/>
                <a:gd name="txB" fmla="*/ 21600 h 21600"/>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txL" t="txT" r="txR" b="txB"/>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chemeClr val="accent2">
                <a:alpha val="100000"/>
              </a:schemeClr>
            </a:solidFill>
            <a:ln w="9525" cap="flat" cmpd="sng">
              <a:solidFill>
                <a:schemeClr val="accent2">
                  <a:alpha val="100000"/>
                </a:schemeClr>
              </a:solidFill>
              <a:prstDash val="solid"/>
              <a:miter lim="800000"/>
              <a:headEnd type="none" w="med" len="med"/>
              <a:tailEnd type="none" w="med" len="med"/>
            </a:ln>
          </p:spPr>
          <p:txBody>
            <a:bodyPr/>
            <a:p>
              <a:endParaRPr lang="zh-CN" altLang="en-US"/>
            </a:p>
          </p:txBody>
        </p:sp>
        <p:sp>
          <p:nvSpPr>
            <p:cNvPr id="14357" name="Text Box 17"/>
            <p:cNvSpPr txBox="1"/>
            <p:nvPr/>
          </p:nvSpPr>
          <p:spPr>
            <a:xfrm>
              <a:off x="2971" y="1869"/>
              <a:ext cx="1060" cy="291"/>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990600" lvl="0" indent="-533400" eaLnBrk="1" hangingPunct="1">
                <a:spcBef>
                  <a:spcPct val="0"/>
                </a:spcBef>
                <a:buClrTx/>
                <a:buFont typeface="Arial" panose="020B0604020202020204" pitchFamily="34" charset="0"/>
                <a:buNone/>
              </a:pPr>
              <a:r>
                <a:rPr lang="en-US" altLang="zh-CN" sz="2400" dirty="0">
                  <a:latin typeface="Times New Roman" panose="02020603050405020304" pitchFamily="18" charset="0"/>
                  <a:ea typeface="宋体" panose="02010600030101010101" pitchFamily="2" charset="-122"/>
                </a:rPr>
                <a:t>L</a:t>
              </a:r>
              <a:r>
                <a:rPr lang="el-GR" altLang="zh-CN" sz="2400" baseline="-25000" dirty="0">
                  <a:latin typeface="Times New Roman" panose="02020603050405020304" pitchFamily="18" charset="0"/>
                  <a:ea typeface="宋体" panose="02010600030101010101" pitchFamily="2" charset="-122"/>
                </a:rPr>
                <a:t>λ</a:t>
              </a:r>
              <a:r>
                <a:rPr lang="en-US" altLang="zh-CN" sz="2400" dirty="0">
                  <a:latin typeface="Times New Roman" panose="02020603050405020304" pitchFamily="18" charset="0"/>
                  <a:ea typeface="宋体" panose="02010600030101010101" pitchFamily="2" charset="-122"/>
                </a:rPr>
                <a:t>+ dL</a:t>
              </a:r>
              <a:r>
                <a:rPr lang="el-GR" altLang="zh-CN" sz="2400" baseline="-25000" dirty="0">
                  <a:latin typeface="Times New Roman" panose="02020603050405020304" pitchFamily="18" charset="0"/>
                  <a:ea typeface="宋体" panose="02010600030101010101" pitchFamily="2" charset="-122"/>
                </a:rPr>
                <a:t>λ</a:t>
              </a:r>
              <a:endParaRPr lang="el-GR" altLang="zh-CN" sz="2400" baseline="-25000" dirty="0">
                <a:latin typeface="Times New Roman" panose="02020603050405020304" pitchFamily="18" charset="0"/>
                <a:ea typeface="宋体" panose="02010600030101010101" pitchFamily="2" charset="-122"/>
              </a:endParaRPr>
            </a:p>
          </p:txBody>
        </p:sp>
        <p:sp>
          <p:nvSpPr>
            <p:cNvPr id="14358" name="AutoShape 19"/>
            <p:cNvSpPr/>
            <p:nvPr/>
          </p:nvSpPr>
          <p:spPr>
            <a:xfrm rot="5400000">
              <a:off x="2449" y="2591"/>
              <a:ext cx="408" cy="998"/>
            </a:xfrm>
            <a:prstGeom prst="rightBrace">
              <a:avLst>
                <a:gd name="adj1" fmla="val 23135"/>
                <a:gd name="adj2" fmla="val 49116"/>
              </a:avLst>
            </a:prstGeom>
            <a:noFill/>
            <a:ln w="47625" cap="flat" cmpd="sng">
              <a:solidFill>
                <a:srgbClr val="FF0000"/>
              </a:solidFill>
              <a:prstDash val="solid"/>
              <a:headEnd type="none" w="med" len="med"/>
              <a:tailEnd type="none" w="med" len="med"/>
            </a:ln>
          </p:spPr>
          <p:txBody>
            <a:bodyPr lIns="92075" tIns="46038" rIns="92075" bIns="46038" anchor="ctr" anchorCtr="0">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endParaRPr lang="en-US" altLang="zh-CN" sz="1800" b="0" dirty="0">
                <a:latin typeface="Arial" panose="020B0604020202020204" pitchFamily="34" charset="0"/>
                <a:ea typeface="宋体" panose="02010600030101010101" pitchFamily="2" charset="-122"/>
              </a:endParaRPr>
            </a:p>
          </p:txBody>
        </p:sp>
      </p:grpSp>
      <p:graphicFrame>
        <p:nvGraphicFramePr>
          <p:cNvPr id="14345" name="Object 22"/>
          <p:cNvGraphicFramePr>
            <a:graphicFrameLocks noChangeAspect="1"/>
          </p:cNvGraphicFramePr>
          <p:nvPr/>
        </p:nvGraphicFramePr>
        <p:xfrm>
          <a:off x="2859088" y="4016375"/>
          <a:ext cx="3081337" cy="701675"/>
        </p:xfrm>
        <a:graphic>
          <a:graphicData uri="http://schemas.openxmlformats.org/presentationml/2006/ole">
            <mc:AlternateContent xmlns:mc="http://schemas.openxmlformats.org/markup-compatibility/2006">
              <mc:Choice xmlns:v="urn:schemas-microsoft-com:vml" Requires="v">
                <p:oleObj spid="_x0000_s3084" name="" r:id="rId3" imgW="1002665" imgH="228600" progId="Equation.3">
                  <p:embed/>
                </p:oleObj>
              </mc:Choice>
              <mc:Fallback>
                <p:oleObj name="" r:id="rId3" imgW="1002665" imgH="228600" progId="Equation.3">
                  <p:embed/>
                  <p:pic>
                    <p:nvPicPr>
                      <p:cNvPr id="0" name="图片 3083"/>
                      <p:cNvPicPr/>
                      <p:nvPr/>
                    </p:nvPicPr>
                    <p:blipFill>
                      <a:blip r:embed="rId4"/>
                      <a:stretch>
                        <a:fillRect/>
                      </a:stretch>
                    </p:blipFill>
                    <p:spPr>
                      <a:xfrm>
                        <a:off x="2859088" y="4016375"/>
                        <a:ext cx="3081337" cy="701675"/>
                      </a:xfrm>
                      <a:prstGeom prst="rect">
                        <a:avLst/>
                      </a:prstGeom>
                      <a:solidFill>
                        <a:srgbClr val="FF66FF"/>
                      </a:solidFill>
                      <a:ln w="38100">
                        <a:noFill/>
                        <a:miter/>
                      </a:ln>
                    </p:spPr>
                  </p:pic>
                </p:oleObj>
              </mc:Fallback>
            </mc:AlternateContent>
          </a:graphicData>
        </a:graphic>
      </p:graphicFrame>
      <p:sp>
        <p:nvSpPr>
          <p:cNvPr id="14346" name="TextBox 3"/>
          <p:cNvSpPr txBox="1"/>
          <p:nvPr/>
        </p:nvSpPr>
        <p:spPr>
          <a:xfrm>
            <a:off x="428625" y="5272088"/>
            <a:ext cx="2919413" cy="460375"/>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r>
              <a:rPr lang="zh-CN" altLang="en-US" sz="2400" dirty="0">
                <a:latin typeface="华文细黑" panose="02010600040101010101" pitchFamily="2" charset="-122"/>
                <a:ea typeface="华文细黑" panose="02010600040101010101" pitchFamily="2" charset="-122"/>
              </a:rPr>
              <a:t>薄气层的吸收率为：</a:t>
            </a:r>
            <a:endParaRPr lang="zh-CN" altLang="en-US" sz="2400" dirty="0">
              <a:latin typeface="华文细黑" panose="02010600040101010101" pitchFamily="2" charset="-122"/>
              <a:ea typeface="华文细黑" panose="02010600040101010101" pitchFamily="2" charset="-122"/>
            </a:endParaRPr>
          </a:p>
        </p:txBody>
      </p:sp>
      <p:sp>
        <p:nvSpPr>
          <p:cNvPr id="14347" name="Text Box 6"/>
          <p:cNvSpPr txBox="1"/>
          <p:nvPr/>
        </p:nvSpPr>
        <p:spPr>
          <a:xfrm>
            <a:off x="-12700" y="6135688"/>
            <a:ext cx="3360738" cy="461962"/>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990600" lvl="0" indent="-533400" eaLnBrk="1" hangingPunct="1">
              <a:spcBef>
                <a:spcPct val="0"/>
              </a:spcBef>
              <a:buClrTx/>
              <a:buFont typeface="Arial" panose="020B0604020202020204" pitchFamily="34" charset="0"/>
              <a:buNone/>
            </a:pPr>
            <a:r>
              <a:rPr lang="zh-CN" altLang="en-US" sz="2400" dirty="0">
                <a:latin typeface="华文细黑" panose="02010600040101010101" pitchFamily="2" charset="-122"/>
                <a:ea typeface="华文细黑" panose="02010600040101010101" pitchFamily="2" charset="-122"/>
              </a:rPr>
              <a:t>根据基尔霍夫定律：</a:t>
            </a:r>
            <a:endParaRPr lang="en-US" altLang="zh-CN" sz="2400" dirty="0">
              <a:latin typeface="华文细黑" panose="02010600040101010101" pitchFamily="2" charset="-122"/>
              <a:ea typeface="华文细黑" panose="0201060004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3"/>
          <p:cNvSpPr>
            <a:spLocks noGrp="1"/>
          </p:cNvSpPr>
          <p:nvPr>
            <p:ph idx="1"/>
          </p:nvPr>
        </p:nvSpPr>
        <p:spPr>
          <a:xfrm>
            <a:off x="714375" y="1071563"/>
            <a:ext cx="8250238" cy="5381625"/>
          </a:xfrm>
          <a:ln/>
        </p:spPr>
        <p:txBody>
          <a:bodyPr vert="horz" wrap="square" lIns="91440" tIns="45720" rIns="91440" bIns="45720" anchor="t" anchorCtr="0"/>
          <a:p>
            <a:pPr>
              <a:spcBef>
                <a:spcPct val="25000"/>
              </a:spcBef>
              <a:spcAft>
                <a:spcPct val="25000"/>
              </a:spcAft>
              <a:buFont typeface="Wingdings 2" pitchFamily="18" charset="2"/>
              <a:buNone/>
            </a:pPr>
            <a:endParaRPr lang="zh-CN" altLang="en-US" sz="2400" dirty="0">
              <a:latin typeface="Times New Roman" panose="02020603050405020304" pitchFamily="18" charset="0"/>
              <a:ea typeface="宋体" panose="02010600030101010101" pitchFamily="2" charset="-122"/>
            </a:endParaRPr>
          </a:p>
          <a:p>
            <a:pPr>
              <a:spcBef>
                <a:spcPct val="25000"/>
              </a:spcBef>
              <a:spcAft>
                <a:spcPct val="25000"/>
              </a:spcAft>
              <a:buFont typeface="Wingdings 2" pitchFamily="18" charset="2"/>
              <a:buNone/>
            </a:pPr>
            <a:r>
              <a:rPr lang="zh-CN" altLang="en-US" dirty="0">
                <a:latin typeface="Times New Roman" panose="02020603050405020304" pitchFamily="18" charset="0"/>
                <a:ea typeface="宋体" panose="02010600030101010101" pitchFamily="2" charset="-122"/>
              </a:rPr>
              <a:t>  </a:t>
            </a:r>
            <a:endParaRPr lang="zh-CN" altLang="en-US" sz="2400" dirty="0">
              <a:latin typeface="Times New Roman" panose="02020603050405020304" pitchFamily="18" charset="0"/>
              <a:ea typeface="宋体" panose="02010600030101010101" pitchFamily="2" charset="-122"/>
            </a:endParaRPr>
          </a:p>
        </p:txBody>
      </p:sp>
      <p:sp>
        <p:nvSpPr>
          <p:cNvPr id="15363" name="TextBox 14"/>
          <p:cNvSpPr txBox="1"/>
          <p:nvPr/>
        </p:nvSpPr>
        <p:spPr>
          <a:xfrm>
            <a:off x="1211263" y="260350"/>
            <a:ext cx="7840662" cy="5857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algn="ctr" eaLnBrk="1" hangingPunct="1">
              <a:spcBef>
                <a:spcPct val="0"/>
              </a:spcBef>
              <a:buClrTx/>
              <a:buFont typeface="Arial" panose="020B0604020202020204" pitchFamily="34" charset="0"/>
              <a:buNone/>
            </a:pPr>
            <a:r>
              <a:rPr lang="zh-CN" altLang="en-US" sz="3200" dirty="0">
                <a:solidFill>
                  <a:srgbClr val="FFFF00"/>
                </a:solidFill>
                <a:latin typeface="黑体" panose="02010609060101010101" pitchFamily="49" charset="-122"/>
                <a:ea typeface="黑体" panose="02010609060101010101" pitchFamily="49" charset="-122"/>
              </a:rPr>
              <a:t>长波辐射传输方程</a:t>
            </a:r>
            <a:endParaRPr lang="en-US" altLang="zh-CN" sz="3200" dirty="0">
              <a:solidFill>
                <a:srgbClr val="FFFF00"/>
              </a:solidFill>
              <a:latin typeface="黑体" panose="02010609060101010101" pitchFamily="49" charset="-122"/>
              <a:ea typeface="黑体" panose="02010609060101010101" pitchFamily="49" charset="-122"/>
            </a:endParaRPr>
          </a:p>
        </p:txBody>
      </p:sp>
      <p:sp>
        <p:nvSpPr>
          <p:cNvPr id="15364" name="Rectangle 2"/>
          <p:cNvSpPr>
            <a:spLocks noGrp="1"/>
          </p:cNvSpPr>
          <p:nvPr>
            <p:ph type="title"/>
          </p:nvPr>
        </p:nvSpPr>
        <p:spPr>
          <a:xfrm>
            <a:off x="760413" y="990600"/>
            <a:ext cx="7772400" cy="1143000"/>
          </a:xfrm>
          <a:ln/>
        </p:spPr>
        <p:txBody>
          <a:bodyPr vert="horz" wrap="square" lIns="91440" tIns="45720" rIns="91440" bIns="45720" anchor="ctr" anchorCtr="0"/>
          <a:p>
            <a:r>
              <a:rPr lang="zh-CN" altLang="en-US" sz="2800" dirty="0">
                <a:solidFill>
                  <a:srgbClr val="0000FF"/>
                </a:solidFill>
                <a:latin typeface="华文细黑" panose="02010600040101010101" pitchFamily="2" charset="-122"/>
                <a:ea typeface="华文细黑" panose="02010600040101010101" pitchFamily="2" charset="-122"/>
              </a:rPr>
              <a:t>考虑吸收和发射后的辐亮度变化：</a:t>
            </a:r>
            <a:endParaRPr lang="en-US" altLang="zh-CN" sz="2800" dirty="0">
              <a:solidFill>
                <a:srgbClr val="0000FF"/>
              </a:solidFill>
              <a:latin typeface="华文细黑" panose="02010600040101010101" pitchFamily="2" charset="-122"/>
              <a:ea typeface="华文细黑" panose="02010600040101010101" pitchFamily="2" charset="-122"/>
            </a:endParaRPr>
          </a:p>
        </p:txBody>
      </p:sp>
      <p:graphicFrame>
        <p:nvGraphicFramePr>
          <p:cNvPr id="15365" name="Object 4"/>
          <p:cNvGraphicFramePr>
            <a:graphicFrameLocks noChangeAspect="1"/>
          </p:cNvGraphicFramePr>
          <p:nvPr/>
        </p:nvGraphicFramePr>
        <p:xfrm>
          <a:off x="971550" y="2205038"/>
          <a:ext cx="5256213" cy="1404937"/>
        </p:xfrm>
        <a:graphic>
          <a:graphicData uri="http://schemas.openxmlformats.org/presentationml/2006/ole">
            <mc:AlternateContent xmlns:mc="http://schemas.openxmlformats.org/markup-compatibility/2006">
              <mc:Choice xmlns:v="urn:schemas-microsoft-com:vml" Requires="v">
                <p:oleObj spid="_x0000_s3081" name="" r:id="rId1" imgW="1854200" imgH="482600" progId="Equation.3">
                  <p:embed/>
                </p:oleObj>
              </mc:Choice>
              <mc:Fallback>
                <p:oleObj name="" r:id="rId1" imgW="1854200" imgH="482600" progId="Equation.3">
                  <p:embed/>
                  <p:pic>
                    <p:nvPicPr>
                      <p:cNvPr id="0" name="图片 3080"/>
                      <p:cNvPicPr/>
                      <p:nvPr/>
                    </p:nvPicPr>
                    <p:blipFill>
                      <a:blip r:embed="rId2"/>
                      <a:stretch>
                        <a:fillRect/>
                      </a:stretch>
                    </p:blipFill>
                    <p:spPr>
                      <a:xfrm>
                        <a:off x="971550" y="2205038"/>
                        <a:ext cx="5256213" cy="1404937"/>
                      </a:xfrm>
                      <a:prstGeom prst="rect">
                        <a:avLst/>
                      </a:prstGeom>
                      <a:solidFill>
                        <a:srgbClr val="FF66FF"/>
                      </a:solidFill>
                      <a:ln w="38100">
                        <a:noFill/>
                        <a:miter/>
                      </a:ln>
                    </p:spPr>
                  </p:pic>
                </p:oleObj>
              </mc:Fallback>
            </mc:AlternateContent>
          </a:graphicData>
        </a:graphic>
      </p:graphicFrame>
      <p:graphicFrame>
        <p:nvGraphicFramePr>
          <p:cNvPr id="15366" name="Object 7"/>
          <p:cNvGraphicFramePr>
            <a:graphicFrameLocks noChangeAspect="1"/>
          </p:cNvGraphicFramePr>
          <p:nvPr/>
        </p:nvGraphicFramePr>
        <p:xfrm>
          <a:off x="3563938" y="3919538"/>
          <a:ext cx="2297112" cy="661987"/>
        </p:xfrm>
        <a:graphic>
          <a:graphicData uri="http://schemas.openxmlformats.org/presentationml/2006/ole">
            <mc:AlternateContent xmlns:mc="http://schemas.openxmlformats.org/markup-compatibility/2006">
              <mc:Choice xmlns:v="urn:schemas-microsoft-com:vml" Requires="v">
                <p:oleObj spid="_x0000_s3079" name="" r:id="rId3" imgW="748665" imgH="215900" progId="Equation.3">
                  <p:embed/>
                </p:oleObj>
              </mc:Choice>
              <mc:Fallback>
                <p:oleObj name="" r:id="rId3" imgW="748665" imgH="215900" progId="Equation.3">
                  <p:embed/>
                  <p:pic>
                    <p:nvPicPr>
                      <p:cNvPr id="0" name="图片 3078"/>
                      <p:cNvPicPr/>
                      <p:nvPr/>
                    </p:nvPicPr>
                    <p:blipFill>
                      <a:blip r:embed="rId4"/>
                      <a:stretch>
                        <a:fillRect/>
                      </a:stretch>
                    </p:blipFill>
                    <p:spPr>
                      <a:xfrm>
                        <a:off x="3563938" y="3919538"/>
                        <a:ext cx="2297112" cy="661987"/>
                      </a:xfrm>
                      <a:prstGeom prst="rect">
                        <a:avLst/>
                      </a:prstGeom>
                      <a:solidFill>
                        <a:schemeClr val="accent2"/>
                      </a:solidFill>
                      <a:ln w="38100">
                        <a:noFill/>
                        <a:miter/>
                      </a:ln>
                    </p:spPr>
                  </p:pic>
                </p:oleObj>
              </mc:Fallback>
            </mc:AlternateContent>
          </a:graphicData>
        </a:graphic>
      </p:graphicFrame>
      <p:sp>
        <p:nvSpPr>
          <p:cNvPr id="15367" name="AutoShape 6"/>
          <p:cNvSpPr/>
          <p:nvPr/>
        </p:nvSpPr>
        <p:spPr>
          <a:xfrm>
            <a:off x="2844800" y="3644900"/>
            <a:ext cx="792163" cy="1403350"/>
          </a:xfrm>
          <a:prstGeom prst="downArrow">
            <a:avLst>
              <a:gd name="adj1" fmla="val 50000"/>
              <a:gd name="adj2" fmla="val 38596"/>
            </a:avLst>
          </a:prstGeom>
          <a:solidFill>
            <a:schemeClr val="accent2"/>
          </a:solidFill>
          <a:ln w="9525">
            <a:noFill/>
          </a:ln>
        </p:spPr>
        <p:txBody>
          <a:bodyPr wrap="none" lIns="92075" tIns="46038" rIns="92075" bIns="46038" anchor="ctr" anchorCtr="0">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endParaRPr lang="en-US" altLang="zh-CN" sz="1800" b="0" dirty="0">
              <a:latin typeface="Arial" panose="020B0604020202020204" pitchFamily="34" charset="0"/>
              <a:ea typeface="宋体" panose="02010600030101010101" pitchFamily="2" charset="-122"/>
            </a:endParaRPr>
          </a:p>
        </p:txBody>
      </p:sp>
      <p:graphicFrame>
        <p:nvGraphicFramePr>
          <p:cNvPr id="15368" name="Object 9"/>
          <p:cNvGraphicFramePr>
            <a:graphicFrameLocks noChangeAspect="1"/>
          </p:cNvGraphicFramePr>
          <p:nvPr/>
        </p:nvGraphicFramePr>
        <p:xfrm>
          <a:off x="1331913" y="5057775"/>
          <a:ext cx="4391025" cy="1108075"/>
        </p:xfrm>
        <a:graphic>
          <a:graphicData uri="http://schemas.openxmlformats.org/presentationml/2006/ole">
            <mc:AlternateContent xmlns:mc="http://schemas.openxmlformats.org/markup-compatibility/2006">
              <mc:Choice xmlns:v="urn:schemas-microsoft-com:vml" Requires="v">
                <p:oleObj spid="_x0000_s3080" name="" r:id="rId5" imgW="1562100" imgH="393700" progId="Equation.3">
                  <p:embed/>
                </p:oleObj>
              </mc:Choice>
              <mc:Fallback>
                <p:oleObj name="" r:id="rId5" imgW="1562100" imgH="393700" progId="Equation.3">
                  <p:embed/>
                  <p:pic>
                    <p:nvPicPr>
                      <p:cNvPr id="0" name="图片 3079"/>
                      <p:cNvPicPr/>
                      <p:nvPr/>
                    </p:nvPicPr>
                    <p:blipFill>
                      <a:blip r:embed="rId6"/>
                      <a:stretch>
                        <a:fillRect/>
                      </a:stretch>
                    </p:blipFill>
                    <p:spPr>
                      <a:xfrm>
                        <a:off x="1331913" y="5057775"/>
                        <a:ext cx="4391025" cy="1108075"/>
                      </a:xfrm>
                      <a:prstGeom prst="rect">
                        <a:avLst/>
                      </a:prstGeom>
                      <a:solidFill>
                        <a:srgbClr val="FF66FF"/>
                      </a:solidFill>
                      <a:ln w="38100">
                        <a:noFill/>
                        <a:miter/>
                      </a:ln>
                    </p:spPr>
                  </p:pic>
                </p:oleObj>
              </mc:Fallback>
            </mc:AlternateContent>
          </a:graphicData>
        </a:graphic>
      </p:graphicFrame>
      <p:sp>
        <p:nvSpPr>
          <p:cNvPr id="15369" name="TextBox 1"/>
          <p:cNvSpPr txBox="1"/>
          <p:nvPr/>
        </p:nvSpPr>
        <p:spPr>
          <a:xfrm>
            <a:off x="5637213" y="5414963"/>
            <a:ext cx="3327400" cy="46196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r>
              <a:rPr lang="en-US" altLang="zh-CN" sz="2400" dirty="0">
                <a:solidFill>
                  <a:srgbClr val="FF0000"/>
                </a:solidFill>
                <a:latin typeface="华文细黑" panose="02010600040101010101" pitchFamily="2" charset="-122"/>
                <a:ea typeface="华文细黑" panose="02010600040101010101" pitchFamily="2" charset="-122"/>
              </a:rPr>
              <a:t>——</a:t>
            </a:r>
            <a:r>
              <a:rPr lang="zh-CN" altLang="en-US" sz="2400" dirty="0">
                <a:solidFill>
                  <a:srgbClr val="FF0000"/>
                </a:solidFill>
                <a:latin typeface="华文细黑" panose="02010600040101010101" pitchFamily="2" charset="-122"/>
                <a:ea typeface="华文细黑" panose="02010600040101010101" pitchFamily="2" charset="-122"/>
              </a:rPr>
              <a:t>施瓦茨恰尔德方程</a:t>
            </a:r>
            <a:endParaRPr lang="zh-CN" altLang="en-US" sz="2400" b="0" dirty="0">
              <a:latin typeface="华文细黑" panose="02010600040101010101" pitchFamily="2" charset="-122"/>
              <a:ea typeface="华文细黑" panose="02010600040101010101" pitchFamily="2"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TextBox 4"/>
          <p:cNvSpPr txBox="1"/>
          <p:nvPr/>
        </p:nvSpPr>
        <p:spPr>
          <a:xfrm>
            <a:off x="323850" y="6381750"/>
            <a:ext cx="8820150" cy="368300"/>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endParaRPr lang="zh-CN" altLang="en-US" sz="1800" b="0" dirty="0">
              <a:latin typeface="Arial" panose="020B0604020202020204" pitchFamily="34" charset="0"/>
              <a:ea typeface="宋体" panose="02010600030101010101" pitchFamily="2" charset="-122"/>
            </a:endParaRPr>
          </a:p>
        </p:txBody>
      </p:sp>
      <p:sp>
        <p:nvSpPr>
          <p:cNvPr id="16387" name="Rectangle 3"/>
          <p:cNvSpPr>
            <a:spLocks noGrp="1"/>
          </p:cNvSpPr>
          <p:nvPr>
            <p:ph idx="1"/>
          </p:nvPr>
        </p:nvSpPr>
        <p:spPr>
          <a:xfrm>
            <a:off x="250825" y="1071563"/>
            <a:ext cx="8839200" cy="5715000"/>
          </a:xfrm>
          <a:ln/>
        </p:spPr>
        <p:txBody>
          <a:bodyPr vert="horz" wrap="square" lIns="91440" tIns="45720" rIns="91440" bIns="45720" anchor="t" anchorCtr="0"/>
          <a:p>
            <a:pPr>
              <a:spcBef>
                <a:spcPct val="25000"/>
              </a:spcBef>
              <a:spcAft>
                <a:spcPct val="25000"/>
              </a:spcAft>
              <a:buFont typeface="Wingdings 2" pitchFamily="18" charset="2"/>
              <a:buNone/>
            </a:pPr>
            <a:endParaRPr lang="zh-CN" altLang="en-US" sz="2400" dirty="0">
              <a:latin typeface="Times New Roman" panose="02020603050405020304" pitchFamily="18" charset="0"/>
              <a:ea typeface="宋体" panose="02010600030101010101" pitchFamily="2" charset="-122"/>
            </a:endParaRPr>
          </a:p>
          <a:p>
            <a:pPr>
              <a:spcBef>
                <a:spcPct val="25000"/>
              </a:spcBef>
              <a:spcAft>
                <a:spcPct val="25000"/>
              </a:spcAft>
              <a:buFont typeface="Wingdings 2" pitchFamily="18" charset="2"/>
              <a:buNone/>
            </a:pPr>
            <a:r>
              <a:rPr lang="zh-CN" altLang="en-US" dirty="0">
                <a:latin typeface="Times New Roman" panose="02020603050405020304" pitchFamily="18" charset="0"/>
                <a:ea typeface="宋体" panose="02010600030101010101" pitchFamily="2" charset="-122"/>
              </a:rPr>
              <a:t>  </a:t>
            </a:r>
            <a:endParaRPr lang="zh-CN" altLang="en-US" sz="2400" dirty="0">
              <a:latin typeface="Times New Roman" panose="02020603050405020304" pitchFamily="18" charset="0"/>
              <a:ea typeface="宋体" panose="02010600030101010101" pitchFamily="2" charset="-122"/>
            </a:endParaRPr>
          </a:p>
        </p:txBody>
      </p:sp>
      <p:sp>
        <p:nvSpPr>
          <p:cNvPr id="16388" name="AutoShape 18"/>
          <p:cNvSpPr/>
          <p:nvPr/>
        </p:nvSpPr>
        <p:spPr>
          <a:xfrm>
            <a:off x="4667250" y="5835650"/>
            <a:ext cx="762000" cy="304800"/>
          </a:xfrm>
          <a:prstGeom prst="rightArrow">
            <a:avLst>
              <a:gd name="adj1" fmla="val 50000"/>
              <a:gd name="adj2" fmla="val 62500"/>
            </a:avLst>
          </a:prstGeom>
          <a:solidFill>
            <a:srgbClr val="993366"/>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endParaRPr lang="zh-CN" altLang="en-US" sz="1800" b="0" dirty="0">
              <a:latin typeface="Arial" panose="020B0604020202020204" pitchFamily="34" charset="0"/>
              <a:ea typeface="宋体" panose="02010600030101010101" pitchFamily="2" charset="-122"/>
            </a:endParaRPr>
          </a:p>
        </p:txBody>
      </p:sp>
      <p:sp>
        <p:nvSpPr>
          <p:cNvPr id="16389" name="TextBox 14"/>
          <p:cNvSpPr txBox="1"/>
          <p:nvPr/>
        </p:nvSpPr>
        <p:spPr>
          <a:xfrm>
            <a:off x="1211263" y="260350"/>
            <a:ext cx="7840662" cy="585788"/>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algn="ctr" eaLnBrk="1" hangingPunct="1">
              <a:spcBef>
                <a:spcPct val="0"/>
              </a:spcBef>
              <a:buClrTx/>
              <a:buFont typeface="Arial" panose="020B0604020202020204" pitchFamily="34" charset="0"/>
              <a:buNone/>
            </a:pPr>
            <a:r>
              <a:rPr lang="zh-CN" altLang="en-US" sz="3200" dirty="0">
                <a:solidFill>
                  <a:srgbClr val="FFFF00"/>
                </a:solidFill>
                <a:latin typeface="黑体" panose="02010609060101010101" pitchFamily="49" charset="-122"/>
                <a:ea typeface="黑体" panose="02010609060101010101" pitchFamily="49" charset="-122"/>
              </a:rPr>
              <a:t>长波辐射传输方程</a:t>
            </a:r>
            <a:endParaRPr lang="en-US" altLang="zh-CN" sz="3200" dirty="0">
              <a:solidFill>
                <a:srgbClr val="FFFF00"/>
              </a:solidFill>
              <a:latin typeface="黑体" panose="02010609060101010101" pitchFamily="49" charset="-122"/>
              <a:ea typeface="黑体" panose="02010609060101010101" pitchFamily="49" charset="-122"/>
            </a:endParaRPr>
          </a:p>
        </p:txBody>
      </p:sp>
      <p:grpSp>
        <p:nvGrpSpPr>
          <p:cNvPr id="16390" name="Group 7"/>
          <p:cNvGrpSpPr/>
          <p:nvPr/>
        </p:nvGrpSpPr>
        <p:grpSpPr>
          <a:xfrm>
            <a:off x="828675" y="1887538"/>
            <a:ext cx="7704138" cy="3557587"/>
            <a:chOff x="204" y="1144"/>
            <a:chExt cx="4853" cy="2241"/>
          </a:xfrm>
        </p:grpSpPr>
        <p:sp>
          <p:nvSpPr>
            <p:cNvPr id="16396" name="Line 8"/>
            <p:cNvSpPr/>
            <p:nvPr/>
          </p:nvSpPr>
          <p:spPr>
            <a:xfrm>
              <a:off x="793" y="3385"/>
              <a:ext cx="3085" cy="0"/>
            </a:xfrm>
            <a:prstGeom prst="line">
              <a:avLst/>
            </a:prstGeom>
            <a:ln w="9525">
              <a:noFill/>
            </a:ln>
          </p:spPr>
        </p:sp>
        <p:sp>
          <p:nvSpPr>
            <p:cNvPr id="16397" name="Line 9"/>
            <p:cNvSpPr/>
            <p:nvPr/>
          </p:nvSpPr>
          <p:spPr>
            <a:xfrm>
              <a:off x="1020" y="3158"/>
              <a:ext cx="3311" cy="0"/>
            </a:xfrm>
            <a:prstGeom prst="line">
              <a:avLst/>
            </a:prstGeom>
            <a:ln w="9525" cap="flat" cmpd="sng">
              <a:solidFill>
                <a:schemeClr val="tx1"/>
              </a:solidFill>
              <a:prstDash val="solid"/>
              <a:headEnd type="none" w="med" len="med"/>
              <a:tailEnd type="none" w="med" len="med"/>
            </a:ln>
          </p:spPr>
        </p:sp>
        <p:sp>
          <p:nvSpPr>
            <p:cNvPr id="16398" name="Line 10"/>
            <p:cNvSpPr/>
            <p:nvPr/>
          </p:nvSpPr>
          <p:spPr>
            <a:xfrm>
              <a:off x="1066" y="2115"/>
              <a:ext cx="3311" cy="0"/>
            </a:xfrm>
            <a:prstGeom prst="line">
              <a:avLst/>
            </a:prstGeom>
            <a:ln w="9525" cap="flat" cmpd="sng">
              <a:solidFill>
                <a:schemeClr val="tx1"/>
              </a:solidFill>
              <a:prstDash val="solid"/>
              <a:headEnd type="none" w="med" len="med"/>
              <a:tailEnd type="none" w="med" len="med"/>
            </a:ln>
          </p:spPr>
        </p:sp>
        <p:sp>
          <p:nvSpPr>
            <p:cNvPr id="16399" name="Line 11"/>
            <p:cNvSpPr/>
            <p:nvPr/>
          </p:nvSpPr>
          <p:spPr>
            <a:xfrm>
              <a:off x="1066" y="2432"/>
              <a:ext cx="3311" cy="0"/>
            </a:xfrm>
            <a:prstGeom prst="line">
              <a:avLst/>
            </a:prstGeom>
            <a:ln w="9525" cap="flat" cmpd="sng">
              <a:solidFill>
                <a:schemeClr val="tx1"/>
              </a:solidFill>
              <a:prstDash val="solid"/>
              <a:headEnd type="none" w="med" len="med"/>
              <a:tailEnd type="none" w="med" len="med"/>
            </a:ln>
          </p:spPr>
        </p:sp>
        <p:sp>
          <p:nvSpPr>
            <p:cNvPr id="16400" name="Line 12"/>
            <p:cNvSpPr/>
            <p:nvPr/>
          </p:nvSpPr>
          <p:spPr>
            <a:xfrm>
              <a:off x="1066" y="1280"/>
              <a:ext cx="3311" cy="0"/>
            </a:xfrm>
            <a:prstGeom prst="line">
              <a:avLst/>
            </a:prstGeom>
            <a:ln w="9525" cap="flat" cmpd="sng">
              <a:solidFill>
                <a:schemeClr val="tx1"/>
              </a:solidFill>
              <a:prstDash val="solid"/>
              <a:headEnd type="none" w="med" len="med"/>
              <a:tailEnd type="none" w="med" len="med"/>
            </a:ln>
          </p:spPr>
        </p:sp>
        <p:sp>
          <p:nvSpPr>
            <p:cNvPr id="16401" name="Line 13"/>
            <p:cNvSpPr/>
            <p:nvPr/>
          </p:nvSpPr>
          <p:spPr>
            <a:xfrm flipV="1">
              <a:off x="1791" y="1661"/>
              <a:ext cx="1678" cy="1179"/>
            </a:xfrm>
            <a:prstGeom prst="line">
              <a:avLst/>
            </a:prstGeom>
            <a:ln w="9525" cap="flat" cmpd="sng">
              <a:solidFill>
                <a:schemeClr val="tx1"/>
              </a:solidFill>
              <a:prstDash val="solid"/>
              <a:headEnd type="none" w="med" len="med"/>
              <a:tailEnd type="triangle" w="med" len="med"/>
            </a:ln>
          </p:spPr>
        </p:sp>
        <p:sp>
          <p:nvSpPr>
            <p:cNvPr id="16402" name="Line 14"/>
            <p:cNvSpPr/>
            <p:nvPr/>
          </p:nvSpPr>
          <p:spPr>
            <a:xfrm>
              <a:off x="1791" y="1752"/>
              <a:ext cx="0" cy="1361"/>
            </a:xfrm>
            <a:prstGeom prst="line">
              <a:avLst/>
            </a:prstGeom>
            <a:ln w="9525" cap="flat" cmpd="sng">
              <a:solidFill>
                <a:schemeClr val="tx1"/>
              </a:solidFill>
              <a:prstDash val="solid"/>
              <a:headEnd type="none" w="med" len="med"/>
              <a:tailEnd type="none" w="med" len="med"/>
            </a:ln>
          </p:spPr>
        </p:sp>
        <p:sp>
          <p:nvSpPr>
            <p:cNvPr id="16403" name="Arc 15"/>
            <p:cNvSpPr/>
            <p:nvPr/>
          </p:nvSpPr>
          <p:spPr>
            <a:xfrm>
              <a:off x="1791" y="2633"/>
              <a:ext cx="182" cy="117"/>
            </a:xfrm>
            <a:custGeom>
              <a:avLst/>
              <a:gdLst>
                <a:gd name="txL" fmla="*/ 0 w 21600"/>
                <a:gd name="txT" fmla="*/ 0 h 21600"/>
                <a:gd name="txR" fmla="*/ 21600 w 21600"/>
                <a:gd name="txB" fmla="*/ 21600 h 21600"/>
              </a:gdLst>
              <a:ahLst/>
              <a:cxnLst>
                <a:cxn ang="0">
                  <a:pos x="0" y="0"/>
                </a:cxn>
                <a:cxn ang="0">
                  <a:pos x="0" y="0"/>
                </a:cxn>
                <a:cxn ang="0">
                  <a:pos x="0" y="0"/>
                </a:cxn>
                <a:cxn ang="0">
                  <a:pos x="0" y="0"/>
                </a:cxn>
                <a:cxn ang="0">
                  <a:pos x="0" y="0"/>
                </a:cxn>
                <a:cxn ang="0">
                  <a:pos x="0" y="0"/>
                </a:cxn>
              </a:cxnLst>
              <a:rect l="txL" t="txT" r="txR" b="txB"/>
              <a:pathLst>
                <a:path w="21600" h="21600" fill="none">
                  <a:moveTo>
                    <a:pt x="0" y="-1"/>
                  </a:moveTo>
                  <a:cubicBezTo>
                    <a:pt x="11929" y="-1"/>
                    <a:pt x="21600" y="9670"/>
                    <a:pt x="21600" y="21600"/>
                  </a:cubicBezTo>
                </a:path>
                <a:path w="21600" h="21600" stroke="0">
                  <a:moveTo>
                    <a:pt x="0" y="-1"/>
                  </a:moveTo>
                  <a:cubicBezTo>
                    <a:pt x="11929" y="-1"/>
                    <a:pt x="21600" y="9670"/>
                    <a:pt x="21600" y="21600"/>
                  </a:cubicBezTo>
                  <a:lnTo>
                    <a:pt x="0" y="21600"/>
                  </a:lnTo>
                  <a:lnTo>
                    <a:pt x="0" y="-1"/>
                  </a:lnTo>
                  <a:close/>
                </a:path>
              </a:pathLst>
            </a:custGeom>
            <a:noFill/>
            <a:ln w="9525" cap="flat" cmpd="sng">
              <a:solidFill>
                <a:schemeClr val="tx1">
                  <a:alpha val="100000"/>
                </a:schemeClr>
              </a:solidFill>
              <a:prstDash val="solid"/>
              <a:round/>
              <a:headEnd type="none" w="med" len="med"/>
              <a:tailEnd type="none" w="med" len="med"/>
            </a:ln>
          </p:spPr>
          <p:txBody>
            <a:bodyPr/>
            <a:p>
              <a:endParaRPr lang="zh-CN" altLang="en-US"/>
            </a:p>
          </p:txBody>
        </p:sp>
        <p:sp>
          <p:nvSpPr>
            <p:cNvPr id="16404" name="Text Box 16"/>
            <p:cNvSpPr txBox="1"/>
            <p:nvPr/>
          </p:nvSpPr>
          <p:spPr>
            <a:xfrm>
              <a:off x="1474" y="2432"/>
              <a:ext cx="602" cy="291"/>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990600" lvl="0" indent="-533400" eaLnBrk="1" hangingPunct="1">
                <a:spcBef>
                  <a:spcPct val="0"/>
                </a:spcBef>
                <a:buClrTx/>
                <a:buFont typeface="Arial" panose="020B0604020202020204" pitchFamily="34" charset="0"/>
                <a:buNone/>
              </a:pPr>
              <a:r>
                <a:rPr lang="el-GR" altLang="zh-CN" sz="2400" b="0" dirty="0">
                  <a:solidFill>
                    <a:srgbClr val="080808"/>
                  </a:solidFill>
                  <a:latin typeface="宋体" panose="02010600030101010101" pitchFamily="2" charset="-122"/>
                  <a:ea typeface="宋体" panose="02010600030101010101" pitchFamily="2" charset="-122"/>
                </a:rPr>
                <a:t>θ</a:t>
              </a:r>
              <a:endParaRPr lang="el-GR" altLang="zh-CN" sz="2400" b="0" dirty="0">
                <a:solidFill>
                  <a:srgbClr val="080808"/>
                </a:solidFill>
                <a:latin typeface="宋体" panose="02010600030101010101" pitchFamily="2" charset="-122"/>
                <a:ea typeface="宋体" panose="02010600030101010101" pitchFamily="2" charset="-122"/>
              </a:endParaRPr>
            </a:p>
          </p:txBody>
        </p:sp>
        <p:sp>
          <p:nvSpPr>
            <p:cNvPr id="16405" name="Line 17"/>
            <p:cNvSpPr/>
            <p:nvPr/>
          </p:nvSpPr>
          <p:spPr>
            <a:xfrm>
              <a:off x="2380" y="2432"/>
              <a:ext cx="363" cy="363"/>
            </a:xfrm>
            <a:prstGeom prst="line">
              <a:avLst/>
            </a:prstGeom>
            <a:ln w="9525" cap="flat" cmpd="sng">
              <a:solidFill>
                <a:schemeClr val="tx1"/>
              </a:solidFill>
              <a:prstDash val="solid"/>
              <a:headEnd type="none" w="med" len="med"/>
              <a:tailEnd type="none" w="med" len="med"/>
            </a:ln>
          </p:spPr>
        </p:sp>
        <p:sp>
          <p:nvSpPr>
            <p:cNvPr id="16406" name="Line 18"/>
            <p:cNvSpPr/>
            <p:nvPr/>
          </p:nvSpPr>
          <p:spPr>
            <a:xfrm>
              <a:off x="2789" y="2115"/>
              <a:ext cx="363" cy="363"/>
            </a:xfrm>
            <a:prstGeom prst="line">
              <a:avLst/>
            </a:prstGeom>
            <a:ln w="9525" cap="flat" cmpd="sng">
              <a:solidFill>
                <a:schemeClr val="tx1"/>
              </a:solidFill>
              <a:prstDash val="solid"/>
              <a:headEnd type="none" w="med" len="med"/>
              <a:tailEnd type="none" w="med" len="med"/>
            </a:ln>
          </p:spPr>
        </p:sp>
        <p:sp>
          <p:nvSpPr>
            <p:cNvPr id="16407" name="Line 19"/>
            <p:cNvSpPr/>
            <p:nvPr/>
          </p:nvSpPr>
          <p:spPr>
            <a:xfrm flipV="1">
              <a:off x="2570" y="2702"/>
              <a:ext cx="91" cy="90"/>
            </a:xfrm>
            <a:prstGeom prst="line">
              <a:avLst/>
            </a:prstGeom>
            <a:ln w="9525" cap="flat" cmpd="sng">
              <a:solidFill>
                <a:schemeClr val="tx1"/>
              </a:solidFill>
              <a:prstDash val="solid"/>
              <a:headEnd type="none" w="med" len="med"/>
              <a:tailEnd type="triangle" w="med" len="med"/>
            </a:ln>
          </p:spPr>
        </p:sp>
        <p:sp>
          <p:nvSpPr>
            <p:cNvPr id="16408" name="Line 20"/>
            <p:cNvSpPr/>
            <p:nvPr/>
          </p:nvSpPr>
          <p:spPr>
            <a:xfrm flipV="1">
              <a:off x="3061" y="2296"/>
              <a:ext cx="91" cy="90"/>
            </a:xfrm>
            <a:prstGeom prst="line">
              <a:avLst/>
            </a:prstGeom>
            <a:ln w="9525" cap="flat" cmpd="sng">
              <a:solidFill>
                <a:schemeClr val="tx1"/>
              </a:solidFill>
              <a:prstDash val="solid"/>
              <a:headEnd type="triangle" w="med" len="med"/>
              <a:tailEnd type="none" w="med" len="med"/>
            </a:ln>
          </p:spPr>
        </p:sp>
        <p:sp>
          <p:nvSpPr>
            <p:cNvPr id="16409" name="Text Box 21"/>
            <p:cNvSpPr txBox="1"/>
            <p:nvPr/>
          </p:nvSpPr>
          <p:spPr>
            <a:xfrm>
              <a:off x="2472" y="2432"/>
              <a:ext cx="558" cy="291"/>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990600" lvl="0" indent="-533400" eaLnBrk="1" hangingPunct="1">
                <a:spcBef>
                  <a:spcPct val="0"/>
                </a:spcBef>
                <a:buClrTx/>
                <a:buFont typeface="Arial" panose="020B0604020202020204" pitchFamily="34" charset="0"/>
                <a:buNone/>
              </a:pPr>
              <a:r>
                <a:rPr lang="en-US" altLang="zh-CN" sz="2400" b="0" dirty="0">
                  <a:solidFill>
                    <a:srgbClr val="080808"/>
                  </a:solidFill>
                  <a:latin typeface="Times New Roman" panose="02020603050405020304" pitchFamily="18" charset="0"/>
                  <a:ea typeface="宋体" panose="02010600030101010101" pitchFamily="2" charset="-122"/>
                </a:rPr>
                <a:t>dl</a:t>
              </a:r>
              <a:endParaRPr lang="en-US" altLang="zh-CN" sz="2400" b="0" dirty="0">
                <a:solidFill>
                  <a:srgbClr val="080808"/>
                </a:solidFill>
                <a:latin typeface="Times New Roman" panose="02020603050405020304" pitchFamily="18" charset="0"/>
                <a:ea typeface="宋体" panose="02010600030101010101" pitchFamily="2" charset="-122"/>
              </a:endParaRPr>
            </a:p>
          </p:txBody>
        </p:sp>
        <p:sp>
          <p:nvSpPr>
            <p:cNvPr id="16410" name="Text Box 22"/>
            <p:cNvSpPr txBox="1"/>
            <p:nvPr/>
          </p:nvSpPr>
          <p:spPr>
            <a:xfrm>
              <a:off x="3288" y="2115"/>
              <a:ext cx="741" cy="291"/>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990600" lvl="0" indent="-533400" eaLnBrk="1" hangingPunct="1">
                <a:spcBef>
                  <a:spcPct val="0"/>
                </a:spcBef>
                <a:buClrTx/>
                <a:buFont typeface="Arial" panose="020B0604020202020204" pitchFamily="34" charset="0"/>
                <a:buNone/>
              </a:pPr>
              <a:r>
                <a:rPr lang="en-US" altLang="zh-CN" sz="2400" b="0" dirty="0">
                  <a:solidFill>
                    <a:srgbClr val="080808"/>
                  </a:solidFill>
                  <a:latin typeface="Times New Roman" panose="02020603050405020304" pitchFamily="18" charset="0"/>
                  <a:ea typeface="宋体" panose="02010600030101010101" pitchFamily="2" charset="-122"/>
                </a:rPr>
                <a:t>T(z)</a:t>
              </a:r>
              <a:endParaRPr lang="en-US" altLang="zh-CN" sz="2400" b="0" dirty="0">
                <a:solidFill>
                  <a:srgbClr val="080808"/>
                </a:solidFill>
                <a:latin typeface="Times New Roman" panose="02020603050405020304" pitchFamily="18" charset="0"/>
                <a:ea typeface="宋体" panose="02010600030101010101" pitchFamily="2" charset="-122"/>
              </a:endParaRPr>
            </a:p>
          </p:txBody>
        </p:sp>
        <p:sp>
          <p:nvSpPr>
            <p:cNvPr id="16411" name="Line 23"/>
            <p:cNvSpPr/>
            <p:nvPr/>
          </p:nvSpPr>
          <p:spPr>
            <a:xfrm>
              <a:off x="975" y="1797"/>
              <a:ext cx="0" cy="1134"/>
            </a:xfrm>
            <a:prstGeom prst="line">
              <a:avLst/>
            </a:prstGeom>
            <a:ln w="9525" cap="flat" cmpd="sng">
              <a:solidFill>
                <a:schemeClr val="tx1"/>
              </a:solidFill>
              <a:prstDash val="solid"/>
              <a:headEnd type="triangle" w="med" len="med"/>
              <a:tailEnd type="none" w="med" len="med"/>
            </a:ln>
          </p:spPr>
        </p:sp>
        <p:sp>
          <p:nvSpPr>
            <p:cNvPr id="16412" name="Text Box 24"/>
            <p:cNvSpPr txBox="1"/>
            <p:nvPr/>
          </p:nvSpPr>
          <p:spPr>
            <a:xfrm>
              <a:off x="295" y="2976"/>
              <a:ext cx="700" cy="291"/>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990600" lvl="0" indent="-533400" eaLnBrk="1" hangingPunct="1">
                <a:spcBef>
                  <a:spcPct val="0"/>
                </a:spcBef>
                <a:buClrTx/>
                <a:buFont typeface="Arial" panose="020B0604020202020204" pitchFamily="34" charset="0"/>
                <a:buNone/>
              </a:pPr>
              <a:r>
                <a:rPr lang="en-US" altLang="zh-CN" sz="2400" dirty="0">
                  <a:solidFill>
                    <a:srgbClr val="080808"/>
                  </a:solidFill>
                  <a:latin typeface="Times New Roman" panose="02020603050405020304" pitchFamily="18" charset="0"/>
                  <a:ea typeface="宋体" panose="02010600030101010101" pitchFamily="2" charset="-122"/>
                </a:rPr>
                <a:t>z=0</a:t>
              </a:r>
              <a:endParaRPr lang="en-US" altLang="zh-CN" sz="2400" dirty="0">
                <a:solidFill>
                  <a:srgbClr val="080808"/>
                </a:solidFill>
                <a:latin typeface="Times New Roman" panose="02020603050405020304" pitchFamily="18" charset="0"/>
                <a:ea typeface="宋体" panose="02010600030101010101" pitchFamily="2" charset="-122"/>
              </a:endParaRPr>
            </a:p>
          </p:txBody>
        </p:sp>
        <p:sp>
          <p:nvSpPr>
            <p:cNvPr id="16413" name="Rectangle 25"/>
            <p:cNvSpPr/>
            <p:nvPr/>
          </p:nvSpPr>
          <p:spPr>
            <a:xfrm>
              <a:off x="295" y="2251"/>
              <a:ext cx="505" cy="291"/>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990600" lvl="0" indent="-533400" eaLnBrk="1" hangingPunct="1">
                <a:spcBef>
                  <a:spcPct val="0"/>
                </a:spcBef>
                <a:buClrTx/>
                <a:buFont typeface="Arial" panose="020B0604020202020204" pitchFamily="34" charset="0"/>
                <a:buNone/>
              </a:pPr>
              <a:r>
                <a:rPr lang="en-US" altLang="zh-CN" sz="2400" b="0" dirty="0">
                  <a:solidFill>
                    <a:srgbClr val="080808"/>
                  </a:solidFill>
                  <a:latin typeface="Arial" panose="020B0604020202020204" pitchFamily="34" charset="0"/>
                  <a:ea typeface="宋体" panose="02010600030101010101" pitchFamily="2" charset="-122"/>
                </a:rPr>
                <a:t>z</a:t>
              </a:r>
              <a:endParaRPr lang="en-US" altLang="zh-CN" sz="2400" b="0" dirty="0">
                <a:solidFill>
                  <a:srgbClr val="080808"/>
                </a:solidFill>
                <a:latin typeface="Arial" panose="020B0604020202020204" pitchFamily="34" charset="0"/>
                <a:ea typeface="宋体" panose="02010600030101010101" pitchFamily="2" charset="-122"/>
              </a:endParaRPr>
            </a:p>
          </p:txBody>
        </p:sp>
        <p:sp>
          <p:nvSpPr>
            <p:cNvPr id="16414" name="Rectangle 26"/>
            <p:cNvSpPr/>
            <p:nvPr/>
          </p:nvSpPr>
          <p:spPr>
            <a:xfrm>
              <a:off x="204" y="1979"/>
              <a:ext cx="823" cy="291"/>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990600" lvl="0" indent="-533400" eaLnBrk="1" hangingPunct="1">
                <a:spcBef>
                  <a:spcPct val="0"/>
                </a:spcBef>
                <a:buClrTx/>
                <a:buFont typeface="Arial" panose="020B0604020202020204" pitchFamily="34" charset="0"/>
                <a:buNone/>
              </a:pPr>
              <a:r>
                <a:rPr lang="en-US" altLang="zh-CN" sz="2400" b="0" dirty="0">
                  <a:solidFill>
                    <a:srgbClr val="080808"/>
                  </a:solidFill>
                  <a:latin typeface="Arial" panose="020B0604020202020204" pitchFamily="34" charset="0"/>
                  <a:ea typeface="宋体" panose="02010600030101010101" pitchFamily="2" charset="-122"/>
                </a:rPr>
                <a:t>z+dz</a:t>
              </a:r>
              <a:endParaRPr lang="en-US" altLang="zh-CN" sz="2400" b="0" dirty="0">
                <a:solidFill>
                  <a:srgbClr val="080808"/>
                </a:solidFill>
                <a:latin typeface="Arial" panose="020B0604020202020204" pitchFamily="34" charset="0"/>
                <a:ea typeface="宋体" panose="02010600030101010101" pitchFamily="2" charset="-122"/>
              </a:endParaRPr>
            </a:p>
          </p:txBody>
        </p:sp>
        <p:sp>
          <p:nvSpPr>
            <p:cNvPr id="16415" name="Text Box 27"/>
            <p:cNvSpPr txBox="1"/>
            <p:nvPr/>
          </p:nvSpPr>
          <p:spPr>
            <a:xfrm>
              <a:off x="295" y="1144"/>
              <a:ext cx="741" cy="291"/>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990600" lvl="0" indent="-533400" eaLnBrk="1" hangingPunct="1">
                <a:spcBef>
                  <a:spcPct val="0"/>
                </a:spcBef>
                <a:buClrTx/>
                <a:buFont typeface="Arial" panose="020B0604020202020204" pitchFamily="34" charset="0"/>
                <a:buNone/>
              </a:pPr>
              <a:r>
                <a:rPr lang="en-US" altLang="zh-CN" sz="2400" dirty="0">
                  <a:solidFill>
                    <a:srgbClr val="080808"/>
                  </a:solidFill>
                  <a:latin typeface="Times New Roman" panose="02020603050405020304" pitchFamily="18" charset="0"/>
                  <a:ea typeface="宋体" panose="02010600030101010101" pitchFamily="2" charset="-122"/>
                </a:rPr>
                <a:t>z=∞</a:t>
              </a:r>
              <a:endParaRPr lang="en-US" altLang="zh-CN" sz="2400" dirty="0">
                <a:solidFill>
                  <a:srgbClr val="080808"/>
                </a:solidFill>
                <a:latin typeface="Times New Roman" panose="02020603050405020304" pitchFamily="18" charset="0"/>
                <a:ea typeface="宋体" panose="02010600030101010101" pitchFamily="2" charset="-122"/>
              </a:endParaRPr>
            </a:p>
          </p:txBody>
        </p:sp>
        <p:sp>
          <p:nvSpPr>
            <p:cNvPr id="16416" name="Line 28"/>
            <p:cNvSpPr/>
            <p:nvPr/>
          </p:nvSpPr>
          <p:spPr>
            <a:xfrm>
              <a:off x="5057" y="1797"/>
              <a:ext cx="0" cy="1134"/>
            </a:xfrm>
            <a:prstGeom prst="line">
              <a:avLst/>
            </a:prstGeom>
            <a:ln w="9525" cap="flat" cmpd="sng">
              <a:solidFill>
                <a:schemeClr val="tx1"/>
              </a:solidFill>
              <a:prstDash val="solid"/>
              <a:headEnd type="none" w="med" len="med"/>
              <a:tailEnd type="triangle" w="med" len="med"/>
            </a:ln>
          </p:spPr>
        </p:sp>
        <p:sp>
          <p:nvSpPr>
            <p:cNvPr id="16417" name="Text Box 29"/>
            <p:cNvSpPr txBox="1"/>
            <p:nvPr/>
          </p:nvSpPr>
          <p:spPr>
            <a:xfrm>
              <a:off x="4059" y="2976"/>
              <a:ext cx="882" cy="291"/>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990600" lvl="0" indent="-533400" eaLnBrk="1" hangingPunct="1">
                <a:spcBef>
                  <a:spcPct val="0"/>
                </a:spcBef>
                <a:buClrTx/>
                <a:buFont typeface="Arial" panose="020B0604020202020204" pitchFamily="34" charset="0"/>
                <a:buNone/>
              </a:pPr>
              <a:r>
                <a:rPr lang="el-GR" altLang="zh-CN" sz="2400" dirty="0">
                  <a:solidFill>
                    <a:srgbClr val="080808"/>
                  </a:solidFill>
                  <a:latin typeface="Times New Roman" panose="02020603050405020304" pitchFamily="18" charset="0"/>
                  <a:ea typeface="宋体" panose="02010600030101010101" pitchFamily="2" charset="-122"/>
                </a:rPr>
                <a:t>δ</a:t>
              </a:r>
              <a:r>
                <a:rPr lang="en-US" altLang="zh-CN" sz="2400" dirty="0">
                  <a:solidFill>
                    <a:srgbClr val="080808"/>
                  </a:solidFill>
                  <a:latin typeface="Times New Roman" panose="02020603050405020304" pitchFamily="18" charset="0"/>
                  <a:ea typeface="宋体" panose="02010600030101010101" pitchFamily="2" charset="-122"/>
                </a:rPr>
                <a:t> = </a:t>
              </a:r>
              <a:r>
                <a:rPr lang="el-GR" altLang="zh-CN" sz="2400" dirty="0">
                  <a:solidFill>
                    <a:srgbClr val="080808"/>
                  </a:solidFill>
                  <a:latin typeface="Times New Roman" panose="02020603050405020304" pitchFamily="18" charset="0"/>
                  <a:ea typeface="宋体" panose="02010600030101010101" pitchFamily="2" charset="-122"/>
                </a:rPr>
                <a:t>δ</a:t>
              </a:r>
              <a:r>
                <a:rPr lang="en-US" altLang="zh-CN" sz="2400" baseline="-25000" dirty="0">
                  <a:solidFill>
                    <a:srgbClr val="080808"/>
                  </a:solidFill>
                  <a:latin typeface="Times New Roman" panose="02020603050405020304" pitchFamily="18" charset="0"/>
                  <a:ea typeface="宋体" panose="02010600030101010101" pitchFamily="2" charset="-122"/>
                </a:rPr>
                <a:t>0</a:t>
              </a:r>
              <a:endParaRPr lang="en-US" altLang="zh-CN" sz="2400" baseline="-25000" dirty="0">
                <a:solidFill>
                  <a:srgbClr val="080808"/>
                </a:solidFill>
                <a:latin typeface="Times New Roman" panose="02020603050405020304" pitchFamily="18" charset="0"/>
                <a:ea typeface="宋体" panose="02010600030101010101" pitchFamily="2" charset="-122"/>
              </a:endParaRPr>
            </a:p>
          </p:txBody>
        </p:sp>
        <p:sp>
          <p:nvSpPr>
            <p:cNvPr id="16418" name="Text Box 32"/>
            <p:cNvSpPr txBox="1"/>
            <p:nvPr/>
          </p:nvSpPr>
          <p:spPr>
            <a:xfrm>
              <a:off x="4150" y="1189"/>
              <a:ext cx="808" cy="291"/>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990600" lvl="0" indent="-533400" eaLnBrk="1" hangingPunct="1">
                <a:spcBef>
                  <a:spcPct val="0"/>
                </a:spcBef>
                <a:buClrTx/>
                <a:buFont typeface="Arial" panose="020B0604020202020204" pitchFamily="34" charset="0"/>
                <a:buNone/>
              </a:pPr>
              <a:r>
                <a:rPr lang="el-GR" altLang="zh-CN" sz="2400" dirty="0">
                  <a:solidFill>
                    <a:srgbClr val="080808"/>
                  </a:solidFill>
                  <a:latin typeface="宋体" panose="02010600030101010101" pitchFamily="2" charset="-122"/>
                  <a:ea typeface="宋体" panose="02010600030101010101" pitchFamily="2" charset="-122"/>
                </a:rPr>
                <a:t>δ</a:t>
              </a:r>
              <a:r>
                <a:rPr lang="en-US" altLang="zh-CN" sz="2400" dirty="0">
                  <a:solidFill>
                    <a:srgbClr val="080808"/>
                  </a:solidFill>
                  <a:latin typeface="Times New Roman" panose="02020603050405020304" pitchFamily="18" charset="0"/>
                  <a:ea typeface="宋体" panose="02010600030101010101" pitchFamily="2" charset="-122"/>
                </a:rPr>
                <a:t>=0</a:t>
              </a:r>
              <a:endParaRPr lang="en-US" altLang="zh-CN" sz="2400" dirty="0">
                <a:solidFill>
                  <a:srgbClr val="080808"/>
                </a:solidFill>
                <a:latin typeface="Times New Roman" panose="02020603050405020304" pitchFamily="18" charset="0"/>
                <a:ea typeface="宋体" panose="02010600030101010101" pitchFamily="2" charset="-122"/>
              </a:endParaRPr>
            </a:p>
          </p:txBody>
        </p:sp>
      </p:grpSp>
      <p:sp>
        <p:nvSpPr>
          <p:cNvPr id="16391" name="Text Box 32"/>
          <p:cNvSpPr txBox="1"/>
          <p:nvPr/>
        </p:nvSpPr>
        <p:spPr>
          <a:xfrm>
            <a:off x="7092950" y="3716338"/>
            <a:ext cx="954088" cy="463550"/>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990600" lvl="0" indent="-533400" eaLnBrk="1" hangingPunct="1">
              <a:spcBef>
                <a:spcPct val="0"/>
              </a:spcBef>
              <a:buClrTx/>
              <a:buFont typeface="Arial" panose="020B0604020202020204" pitchFamily="34" charset="0"/>
              <a:buNone/>
            </a:pPr>
            <a:r>
              <a:rPr lang="el-GR" altLang="zh-CN" sz="2400" dirty="0">
                <a:solidFill>
                  <a:srgbClr val="080808"/>
                </a:solidFill>
                <a:latin typeface="宋体" panose="02010600030101010101" pitchFamily="2" charset="-122"/>
                <a:ea typeface="宋体" panose="02010600030101010101" pitchFamily="2" charset="-122"/>
              </a:rPr>
              <a:t>δ</a:t>
            </a:r>
            <a:endParaRPr lang="en-US" altLang="zh-CN" sz="2400" dirty="0">
              <a:solidFill>
                <a:srgbClr val="080808"/>
              </a:solidFill>
              <a:latin typeface="Times New Roman" panose="02020603050405020304" pitchFamily="18" charset="0"/>
              <a:ea typeface="宋体" panose="02010600030101010101" pitchFamily="2" charset="-122"/>
            </a:endParaRPr>
          </a:p>
        </p:txBody>
      </p:sp>
      <p:sp>
        <p:nvSpPr>
          <p:cNvPr id="16392" name="Text Box 32"/>
          <p:cNvSpPr txBox="1"/>
          <p:nvPr/>
        </p:nvSpPr>
        <p:spPr>
          <a:xfrm>
            <a:off x="6961188" y="3254375"/>
            <a:ext cx="1571625" cy="46196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990600" lvl="0" indent="-533400" eaLnBrk="1" hangingPunct="1">
              <a:spcBef>
                <a:spcPct val="0"/>
              </a:spcBef>
              <a:buClrTx/>
              <a:buFont typeface="Arial" panose="020B0604020202020204" pitchFamily="34" charset="0"/>
              <a:buNone/>
            </a:pPr>
            <a:r>
              <a:rPr lang="el-GR" altLang="zh-CN" sz="2400" dirty="0">
                <a:solidFill>
                  <a:srgbClr val="080808"/>
                </a:solidFill>
                <a:latin typeface="宋体" panose="02010600030101010101" pitchFamily="2" charset="-122"/>
                <a:ea typeface="宋体" panose="02010600030101010101" pitchFamily="2" charset="-122"/>
              </a:rPr>
              <a:t>δ</a:t>
            </a:r>
            <a:r>
              <a:rPr lang="en-US" altLang="zh-CN" sz="2400" dirty="0">
                <a:solidFill>
                  <a:srgbClr val="080808"/>
                </a:solidFill>
                <a:latin typeface="宋体" panose="02010600030101010101" pitchFamily="2" charset="-122"/>
                <a:ea typeface="宋体" panose="02010600030101010101" pitchFamily="2" charset="-122"/>
              </a:rPr>
              <a:t>-d</a:t>
            </a:r>
            <a:r>
              <a:rPr lang="el-GR" altLang="zh-CN" sz="2400" dirty="0">
                <a:solidFill>
                  <a:srgbClr val="080808"/>
                </a:solidFill>
                <a:latin typeface="宋体" panose="02010600030101010101" pitchFamily="2" charset="-122"/>
                <a:ea typeface="宋体" panose="02010600030101010101" pitchFamily="2" charset="-122"/>
              </a:rPr>
              <a:t>δ</a:t>
            </a:r>
            <a:endParaRPr lang="en-US" altLang="zh-CN" sz="2400" dirty="0">
              <a:solidFill>
                <a:srgbClr val="080808"/>
              </a:solidFill>
              <a:latin typeface="Times New Roman" panose="02020603050405020304" pitchFamily="18" charset="0"/>
              <a:ea typeface="宋体" panose="02010600030101010101" pitchFamily="2" charset="-122"/>
            </a:endParaRPr>
          </a:p>
        </p:txBody>
      </p:sp>
      <p:sp>
        <p:nvSpPr>
          <p:cNvPr id="16393" name="TextBox 2"/>
          <p:cNvSpPr txBox="1"/>
          <p:nvPr/>
        </p:nvSpPr>
        <p:spPr>
          <a:xfrm>
            <a:off x="2903538" y="1268413"/>
            <a:ext cx="3756025" cy="46196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r>
              <a:rPr lang="zh-CN" altLang="en-US" sz="2400" dirty="0">
                <a:solidFill>
                  <a:srgbClr val="0000FF"/>
                </a:solidFill>
                <a:latin typeface="华文细黑" panose="02010600040101010101" pitchFamily="2" charset="-122"/>
                <a:ea typeface="华文细黑" panose="02010600040101010101" pitchFamily="2" charset="-122"/>
              </a:rPr>
              <a:t>引进光学厚度坐标</a:t>
            </a:r>
            <a:r>
              <a:rPr lang="el-GR" altLang="zh-CN" sz="2400" dirty="0">
                <a:solidFill>
                  <a:srgbClr val="0000FF"/>
                </a:solidFill>
                <a:latin typeface="华文细黑" panose="02010600040101010101" pitchFamily="2" charset="-122"/>
                <a:ea typeface="华文细黑" panose="02010600040101010101" pitchFamily="2" charset="-122"/>
              </a:rPr>
              <a:t>δ</a:t>
            </a:r>
            <a:endParaRPr lang="zh-CN" altLang="en-US" sz="2400" dirty="0">
              <a:solidFill>
                <a:srgbClr val="0000FF"/>
              </a:solidFill>
              <a:latin typeface="华文细黑" panose="02010600040101010101" pitchFamily="2" charset="-122"/>
              <a:ea typeface="华文细黑" panose="02010600040101010101" pitchFamily="2" charset="-122"/>
            </a:endParaRPr>
          </a:p>
        </p:txBody>
      </p:sp>
      <p:graphicFrame>
        <p:nvGraphicFramePr>
          <p:cNvPr id="16394" name="对象 3"/>
          <p:cNvGraphicFramePr>
            <a:graphicFrameLocks noChangeAspect="1"/>
          </p:cNvGraphicFramePr>
          <p:nvPr/>
        </p:nvGraphicFramePr>
        <p:xfrm>
          <a:off x="2484438" y="5373688"/>
          <a:ext cx="3154362" cy="1085850"/>
        </p:xfrm>
        <a:graphic>
          <a:graphicData uri="http://schemas.openxmlformats.org/presentationml/2006/ole">
            <mc:AlternateContent xmlns:mc="http://schemas.openxmlformats.org/markup-compatibility/2006">
              <mc:Choice xmlns:v="urn:schemas-microsoft-com:vml" Requires="v">
                <p:oleObj spid="_x0000_s3082" name="" r:id="rId1" imgW="1143000" imgH="393700" progId="Equation.3">
                  <p:embed/>
                </p:oleObj>
              </mc:Choice>
              <mc:Fallback>
                <p:oleObj name="" r:id="rId1" imgW="1143000" imgH="393700" progId="Equation.3">
                  <p:embed/>
                  <p:pic>
                    <p:nvPicPr>
                      <p:cNvPr id="0" name="图片 3081"/>
                      <p:cNvPicPr/>
                      <p:nvPr/>
                    </p:nvPicPr>
                    <p:blipFill>
                      <a:blip r:embed="rId2"/>
                      <a:stretch>
                        <a:fillRect/>
                      </a:stretch>
                    </p:blipFill>
                    <p:spPr>
                      <a:xfrm>
                        <a:off x="2484438" y="5373688"/>
                        <a:ext cx="3154362" cy="1085850"/>
                      </a:xfrm>
                      <a:prstGeom prst="rect">
                        <a:avLst/>
                      </a:prstGeom>
                      <a:solidFill>
                        <a:srgbClr val="FF66FF"/>
                      </a:solidFill>
                      <a:ln w="38100">
                        <a:noFill/>
                        <a:miter/>
                      </a:ln>
                    </p:spPr>
                  </p:pic>
                </p:oleObj>
              </mc:Fallback>
            </mc:AlternateContent>
          </a:graphicData>
        </a:graphic>
      </p:graphicFrame>
      <p:sp>
        <p:nvSpPr>
          <p:cNvPr id="16395" name="TextBox 33"/>
          <p:cNvSpPr txBox="1"/>
          <p:nvPr/>
        </p:nvSpPr>
        <p:spPr>
          <a:xfrm>
            <a:off x="5580063" y="5703888"/>
            <a:ext cx="3327400" cy="46196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r>
              <a:rPr lang="en-US" altLang="zh-CN" sz="2400" dirty="0">
                <a:solidFill>
                  <a:srgbClr val="FF0000"/>
                </a:solidFill>
                <a:latin typeface="华文细黑" panose="02010600040101010101" pitchFamily="2" charset="-122"/>
                <a:ea typeface="华文细黑" panose="02010600040101010101" pitchFamily="2" charset="-122"/>
              </a:rPr>
              <a:t>——</a:t>
            </a:r>
            <a:r>
              <a:rPr lang="zh-CN" altLang="en-US" sz="2400" dirty="0">
                <a:solidFill>
                  <a:srgbClr val="FF0000"/>
                </a:solidFill>
                <a:latin typeface="华文细黑" panose="02010600040101010101" pitchFamily="2" charset="-122"/>
                <a:ea typeface="华文细黑" panose="02010600040101010101" pitchFamily="2" charset="-122"/>
              </a:rPr>
              <a:t>施瓦茨恰尔德方程</a:t>
            </a:r>
            <a:endParaRPr lang="zh-CN" altLang="en-US" sz="2400" b="0" dirty="0">
              <a:latin typeface="华文细黑" panose="02010600040101010101" pitchFamily="2" charset="-122"/>
              <a:ea typeface="华文细黑" panose="02010600040101010101" pitchFamily="2"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2"/>
          <p:cNvSpPr>
            <a:spLocks noGrp="1"/>
          </p:cNvSpPr>
          <p:nvPr>
            <p:ph type="title"/>
          </p:nvPr>
        </p:nvSpPr>
        <p:spPr>
          <a:xfrm>
            <a:off x="1422400" y="166688"/>
            <a:ext cx="7507288" cy="762000"/>
          </a:xfrm>
          <a:ln/>
        </p:spPr>
        <p:txBody>
          <a:bodyPr vert="horz" wrap="square" lIns="91440" tIns="45720" rIns="91440" bIns="45720" anchor="ctr" anchorCtr="0"/>
          <a:p>
            <a:pPr algn="ctr"/>
            <a:r>
              <a:rPr lang="en-US" altLang="zh-CN" dirty="0">
                <a:solidFill>
                  <a:srgbClr val="FFFF00"/>
                </a:solidFill>
              </a:rPr>
              <a:t>Schwarzchild</a:t>
            </a:r>
            <a:r>
              <a:rPr lang="zh-CN" altLang="en-US" dirty="0">
                <a:solidFill>
                  <a:srgbClr val="FFFF00"/>
                </a:solidFill>
                <a:latin typeface="黑体" panose="02010609060101010101" pitchFamily="49" charset="-122"/>
                <a:ea typeface="黑体" panose="02010609060101010101" pitchFamily="49" charset="-122"/>
              </a:rPr>
              <a:t>方程的解</a:t>
            </a:r>
            <a:endParaRPr lang="zh-CN" altLang="en-US" dirty="0">
              <a:solidFill>
                <a:srgbClr val="FFFF00"/>
              </a:solidFill>
              <a:latin typeface="黑体" panose="02010609060101010101" pitchFamily="49" charset="-122"/>
              <a:ea typeface="黑体" panose="02010609060101010101" pitchFamily="49" charset="-122"/>
            </a:endParaRPr>
          </a:p>
        </p:txBody>
      </p:sp>
      <p:sp>
        <p:nvSpPr>
          <p:cNvPr id="17411" name="Rectangle 3"/>
          <p:cNvSpPr>
            <a:spLocks noGrp="1"/>
          </p:cNvSpPr>
          <p:nvPr>
            <p:ph idx="1"/>
          </p:nvPr>
        </p:nvSpPr>
        <p:spPr>
          <a:xfrm>
            <a:off x="457200" y="1317625"/>
            <a:ext cx="7972425" cy="5040313"/>
          </a:xfrm>
          <a:ln/>
        </p:spPr>
        <p:txBody>
          <a:bodyPr vert="horz" wrap="square" lIns="91440" tIns="45720" rIns="91440" bIns="45720" anchor="t" anchorCtr="0"/>
          <a:p>
            <a:pPr>
              <a:buFont typeface="Wingdings 2" pitchFamily="18" charset="2"/>
              <a:buNone/>
            </a:pPr>
            <a:r>
              <a:rPr lang="zh-CN" altLang="en-US" sz="2400" dirty="0">
                <a:solidFill>
                  <a:srgbClr val="0000FF"/>
                </a:solidFill>
                <a:latin typeface="华文细黑" panose="02010600040101010101" pitchFamily="2" charset="-122"/>
                <a:ea typeface="华文细黑" panose="02010600040101010101" pitchFamily="2" charset="-122"/>
              </a:rPr>
              <a:t>方程的解的形式为</a:t>
            </a:r>
            <a:r>
              <a:rPr lang="zh-CN" altLang="en-US" sz="2400" dirty="0">
                <a:solidFill>
                  <a:srgbClr val="0000FF"/>
                </a:solidFill>
                <a:latin typeface="华文细黑" panose="02010600040101010101" pitchFamily="2" charset="-122"/>
                <a:ea typeface="华文细黑" panose="02010600040101010101" pitchFamily="2" charset="-122"/>
                <a:sym typeface="Wingdings" panose="05000000000000000000" pitchFamily="2" charset="2"/>
              </a:rPr>
              <a:t>:</a:t>
            </a:r>
            <a:endParaRPr lang="en-US" altLang="zh-CN" sz="2400" dirty="0">
              <a:solidFill>
                <a:srgbClr val="0000FF"/>
              </a:solidFill>
              <a:latin typeface="华文细黑" panose="02010600040101010101" pitchFamily="2" charset="-122"/>
              <a:ea typeface="华文细黑" panose="02010600040101010101" pitchFamily="2" charset="-122"/>
            </a:endParaRPr>
          </a:p>
          <a:p>
            <a:pPr>
              <a:buFont typeface="Wingdings 2" pitchFamily="18" charset="2"/>
              <a:buNone/>
            </a:pPr>
            <a:r>
              <a:rPr lang="zh-CN" altLang="en-US" dirty="0">
                <a:latin typeface="华文细黑" panose="02010600040101010101" pitchFamily="2" charset="-122"/>
                <a:ea typeface="华文细黑" panose="02010600040101010101" pitchFamily="2" charset="-122"/>
              </a:rPr>
              <a:t> </a:t>
            </a:r>
            <a:endParaRPr lang="zh-CN" altLang="en-US" dirty="0">
              <a:latin typeface="华文细黑" panose="02010600040101010101" pitchFamily="2" charset="-122"/>
              <a:ea typeface="华文细黑" panose="02010600040101010101" pitchFamily="2" charset="-122"/>
            </a:endParaRPr>
          </a:p>
          <a:p>
            <a:pPr>
              <a:buFont typeface="Wingdings 2" pitchFamily="18" charset="2"/>
              <a:buNone/>
            </a:pPr>
            <a:endParaRPr lang="zh-CN" altLang="en-US" dirty="0">
              <a:latin typeface="华文细黑" panose="02010600040101010101" pitchFamily="2" charset="-122"/>
              <a:ea typeface="华文细黑" panose="02010600040101010101" pitchFamily="2" charset="-122"/>
            </a:endParaRPr>
          </a:p>
          <a:p>
            <a:pPr>
              <a:buFont typeface="Wingdings 2" pitchFamily="18" charset="2"/>
              <a:buNone/>
            </a:pPr>
            <a:endParaRPr lang="zh-CN" altLang="en-US" dirty="0">
              <a:latin typeface="华文细黑" panose="02010600040101010101" pitchFamily="2" charset="-122"/>
              <a:ea typeface="华文细黑" panose="02010600040101010101" pitchFamily="2" charset="-122"/>
            </a:endParaRPr>
          </a:p>
          <a:p>
            <a:pPr>
              <a:buFont typeface="Wingdings 2" pitchFamily="18" charset="2"/>
              <a:buNone/>
            </a:pPr>
            <a:endParaRPr lang="zh-CN" altLang="en-US" dirty="0">
              <a:latin typeface="华文细黑" panose="02010600040101010101" pitchFamily="2" charset="-122"/>
              <a:ea typeface="华文细黑" panose="02010600040101010101" pitchFamily="2" charset="-122"/>
            </a:endParaRPr>
          </a:p>
          <a:p>
            <a:pPr>
              <a:buFont typeface="Wingdings 2" pitchFamily="18" charset="2"/>
              <a:buNone/>
            </a:pPr>
            <a:endParaRPr lang="zh-CN" altLang="en-US" dirty="0">
              <a:latin typeface="华文细黑" panose="02010600040101010101" pitchFamily="2" charset="-122"/>
              <a:ea typeface="华文细黑" panose="02010600040101010101" pitchFamily="2" charset="-122"/>
            </a:endParaRPr>
          </a:p>
          <a:p>
            <a:pPr>
              <a:buFont typeface="Wingdings 2" pitchFamily="18" charset="2"/>
              <a:buNone/>
            </a:pPr>
            <a:endParaRPr lang="zh-CN" altLang="en-US" dirty="0">
              <a:latin typeface="华文细黑" panose="02010600040101010101" pitchFamily="2" charset="-122"/>
              <a:ea typeface="华文细黑" panose="02010600040101010101" pitchFamily="2" charset="-122"/>
            </a:endParaRPr>
          </a:p>
          <a:p>
            <a:pPr>
              <a:lnSpc>
                <a:spcPct val="130000"/>
              </a:lnSpc>
              <a:spcBef>
                <a:spcPts val="3000"/>
              </a:spcBef>
              <a:buFont typeface="Wingdings 2" pitchFamily="18" charset="2"/>
              <a:buNone/>
            </a:pPr>
            <a:r>
              <a:rPr lang="zh-CN" altLang="en-US" dirty="0">
                <a:latin typeface="华文细黑" panose="02010600040101010101" pitchFamily="2" charset="-122"/>
                <a:ea typeface="华文细黑" panose="02010600040101010101" pitchFamily="2" charset="-122"/>
              </a:rPr>
              <a:t>  </a:t>
            </a:r>
            <a:r>
              <a:rPr lang="zh-CN" altLang="en-US" sz="2400" dirty="0">
                <a:solidFill>
                  <a:srgbClr val="0000FF"/>
                </a:solidFill>
                <a:latin typeface="华文细黑" panose="02010600040101010101" pitchFamily="2" charset="-122"/>
                <a:ea typeface="华文细黑" panose="02010600040101010101" pitchFamily="2" charset="-122"/>
              </a:rPr>
              <a:t>在已知吸收物质的</a:t>
            </a:r>
            <a:r>
              <a:rPr lang="zh-CN" altLang="en-US" sz="2400" dirty="0">
                <a:solidFill>
                  <a:srgbClr val="008000"/>
                </a:solidFill>
                <a:latin typeface="华文细黑" panose="02010600040101010101" pitchFamily="2" charset="-122"/>
                <a:ea typeface="华文细黑" panose="02010600040101010101" pitchFamily="2" charset="-122"/>
              </a:rPr>
              <a:t>吸收系数</a:t>
            </a:r>
            <a:r>
              <a:rPr lang="zh-CN" altLang="en-US" sz="2400" dirty="0">
                <a:solidFill>
                  <a:srgbClr val="0000FF"/>
                </a:solidFill>
                <a:latin typeface="华文细黑" panose="02010600040101010101" pitchFamily="2" charset="-122"/>
                <a:ea typeface="华文细黑" panose="02010600040101010101" pitchFamily="2" charset="-122"/>
              </a:rPr>
              <a:t>和</a:t>
            </a:r>
            <a:r>
              <a:rPr lang="zh-CN" altLang="en-US" sz="2400" dirty="0">
                <a:solidFill>
                  <a:srgbClr val="008000"/>
                </a:solidFill>
                <a:latin typeface="华文细黑" panose="02010600040101010101" pitchFamily="2" charset="-122"/>
                <a:ea typeface="华文细黑" panose="02010600040101010101" pitchFamily="2" charset="-122"/>
              </a:rPr>
              <a:t>光学厚度</a:t>
            </a:r>
            <a:r>
              <a:rPr lang="zh-CN" altLang="en-US" sz="2400" dirty="0">
                <a:solidFill>
                  <a:srgbClr val="0000FF"/>
                </a:solidFill>
                <a:latin typeface="华文细黑" panose="02010600040101010101" pitchFamily="2" charset="-122"/>
                <a:ea typeface="华文细黑" panose="02010600040101010101" pitchFamily="2" charset="-122"/>
              </a:rPr>
              <a:t>以及介质的</a:t>
            </a:r>
            <a:r>
              <a:rPr lang="zh-CN" altLang="en-US" sz="2400" dirty="0">
                <a:solidFill>
                  <a:srgbClr val="008000"/>
                </a:solidFill>
                <a:latin typeface="华文细黑" panose="02010600040101010101" pitchFamily="2" charset="-122"/>
                <a:ea typeface="华文细黑" panose="02010600040101010101" pitchFamily="2" charset="-122"/>
              </a:rPr>
              <a:t>温度分布</a:t>
            </a:r>
            <a:r>
              <a:rPr lang="zh-CN" altLang="en-US" sz="2400" dirty="0">
                <a:solidFill>
                  <a:srgbClr val="0000FF"/>
                </a:solidFill>
                <a:latin typeface="华文细黑" panose="02010600040101010101" pitchFamily="2" charset="-122"/>
                <a:ea typeface="华文细黑" panose="02010600040101010101" pitchFamily="2" charset="-122"/>
              </a:rPr>
              <a:t>以后，可以从理论上计算大气中辐射场的分布。 </a:t>
            </a:r>
            <a:endParaRPr lang="zh-CN" altLang="en-US" sz="2400" dirty="0">
              <a:solidFill>
                <a:srgbClr val="0000FF"/>
              </a:solidFill>
              <a:latin typeface="华文细黑" panose="02010600040101010101" pitchFamily="2" charset="-122"/>
              <a:ea typeface="华文细黑" panose="02010600040101010101" pitchFamily="2" charset="-122"/>
            </a:endParaRPr>
          </a:p>
        </p:txBody>
      </p:sp>
      <p:pic>
        <p:nvPicPr>
          <p:cNvPr id="17412" name="Picture 5"/>
          <p:cNvPicPr>
            <a:picLocks noChangeAspect="1"/>
          </p:cNvPicPr>
          <p:nvPr/>
        </p:nvPicPr>
        <p:blipFill>
          <a:blip r:embed="rId1"/>
          <a:stretch>
            <a:fillRect/>
          </a:stretch>
        </p:blipFill>
        <p:spPr>
          <a:xfrm>
            <a:off x="1123950" y="1925638"/>
            <a:ext cx="6516688" cy="719137"/>
          </a:xfrm>
          <a:prstGeom prst="rect">
            <a:avLst/>
          </a:prstGeom>
          <a:noFill/>
          <a:ln w="9525">
            <a:noFill/>
          </a:ln>
        </p:spPr>
      </p:pic>
      <p:pic>
        <p:nvPicPr>
          <p:cNvPr id="17413" name="Picture 8"/>
          <p:cNvPicPr>
            <a:picLocks noChangeAspect="1"/>
          </p:cNvPicPr>
          <p:nvPr/>
        </p:nvPicPr>
        <p:blipFill>
          <a:blip r:embed="rId2"/>
          <a:stretch>
            <a:fillRect/>
          </a:stretch>
        </p:blipFill>
        <p:spPr>
          <a:xfrm>
            <a:off x="2117725" y="2778125"/>
            <a:ext cx="5597525" cy="719138"/>
          </a:xfrm>
          <a:prstGeom prst="rect">
            <a:avLst/>
          </a:prstGeom>
          <a:noFill/>
          <a:ln w="9525">
            <a:noFill/>
          </a:ln>
        </p:spPr>
      </p:pic>
      <p:pic>
        <p:nvPicPr>
          <p:cNvPr id="17414" name="Picture 12"/>
          <p:cNvPicPr>
            <a:picLocks noChangeAspect="1"/>
          </p:cNvPicPr>
          <p:nvPr/>
        </p:nvPicPr>
        <p:blipFill>
          <a:blip r:embed="rId3"/>
          <a:stretch>
            <a:fillRect/>
          </a:stretch>
        </p:blipFill>
        <p:spPr>
          <a:xfrm>
            <a:off x="1123950" y="3508375"/>
            <a:ext cx="6600825" cy="792163"/>
          </a:xfrm>
          <a:prstGeom prst="rect">
            <a:avLst/>
          </a:prstGeom>
          <a:noFill/>
          <a:ln w="9525">
            <a:noFill/>
          </a:ln>
        </p:spPr>
      </p:pic>
      <p:pic>
        <p:nvPicPr>
          <p:cNvPr id="17415" name="Picture 13"/>
          <p:cNvPicPr>
            <a:picLocks noChangeAspect="1"/>
          </p:cNvPicPr>
          <p:nvPr/>
        </p:nvPicPr>
        <p:blipFill>
          <a:blip r:embed="rId4"/>
          <a:stretch>
            <a:fillRect/>
          </a:stretch>
        </p:blipFill>
        <p:spPr>
          <a:xfrm>
            <a:off x="2316163" y="4387850"/>
            <a:ext cx="5399087" cy="755650"/>
          </a:xfrm>
          <a:prstGeom prst="rect">
            <a:avLst/>
          </a:prstGeom>
          <a:noFill/>
          <a:ln w="9525">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TextBox 12"/>
          <p:cNvSpPr txBox="1"/>
          <p:nvPr/>
        </p:nvSpPr>
        <p:spPr>
          <a:xfrm>
            <a:off x="357188" y="6286500"/>
            <a:ext cx="8643937" cy="369888"/>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endParaRPr lang="zh-CN" altLang="en-US" sz="1800" b="0" dirty="0">
              <a:latin typeface="Arial" panose="020B0604020202020204" pitchFamily="34" charset="0"/>
              <a:ea typeface="宋体" panose="02010600030101010101" pitchFamily="2" charset="-122"/>
            </a:endParaRPr>
          </a:p>
        </p:txBody>
      </p:sp>
      <p:sp>
        <p:nvSpPr>
          <p:cNvPr id="18435" name="Rectangle 2"/>
          <p:cNvSpPr>
            <a:spLocks noGrp="1"/>
          </p:cNvSpPr>
          <p:nvPr>
            <p:ph idx="1"/>
          </p:nvPr>
        </p:nvSpPr>
        <p:spPr>
          <a:xfrm>
            <a:off x="500063" y="785813"/>
            <a:ext cx="7286625" cy="5867400"/>
          </a:xfrm>
          <a:ln/>
        </p:spPr>
        <p:txBody>
          <a:bodyPr vert="horz" wrap="square" lIns="91440" tIns="45720" rIns="91440" bIns="45720" anchor="t" anchorCtr="0"/>
          <a:p>
            <a:pPr>
              <a:spcBef>
                <a:spcPct val="25000"/>
              </a:spcBef>
              <a:spcAft>
                <a:spcPct val="25000"/>
              </a:spcAft>
              <a:buFont typeface="Wingdings 2" pitchFamily="18" charset="2"/>
              <a:buNone/>
            </a:pPr>
            <a:endParaRPr lang="zh-CN" altLang="en-US" dirty="0">
              <a:latin typeface="Times New Roman" panose="02020603050405020304" pitchFamily="18" charset="0"/>
              <a:ea typeface="宋体" panose="02010600030101010101" pitchFamily="2" charset="-122"/>
            </a:endParaRPr>
          </a:p>
          <a:p>
            <a:pPr>
              <a:spcBef>
                <a:spcPct val="25000"/>
              </a:spcBef>
              <a:spcAft>
                <a:spcPct val="25000"/>
              </a:spcAft>
              <a:buNone/>
            </a:pPr>
            <a:r>
              <a:rPr lang="zh-CN" altLang="en-US" sz="2400" dirty="0">
                <a:latin typeface="华文细黑" panose="02010600040101010101" pitchFamily="2" charset="-122"/>
                <a:ea typeface="华文细黑" panose="02010600040101010101" pitchFamily="2" charset="-122"/>
              </a:rPr>
              <a:t>    只考虑气层的</a:t>
            </a:r>
            <a:r>
              <a:rPr lang="zh-CN" altLang="en-US" sz="2400" dirty="0">
                <a:solidFill>
                  <a:srgbClr val="FF0000"/>
                </a:solidFill>
                <a:latin typeface="华文细黑" panose="02010600040101010101" pitchFamily="2" charset="-122"/>
                <a:ea typeface="华文细黑" panose="02010600040101010101" pitchFamily="2" charset="-122"/>
              </a:rPr>
              <a:t>吸收削弱</a:t>
            </a:r>
            <a:endParaRPr lang="zh-CN" altLang="en-US" sz="2400" dirty="0">
              <a:solidFill>
                <a:srgbClr val="FF0000"/>
              </a:solidFill>
              <a:latin typeface="华文细黑" panose="02010600040101010101" pitchFamily="2" charset="-122"/>
              <a:ea typeface="华文细黑" panose="02010600040101010101" pitchFamily="2" charset="-122"/>
            </a:endParaRPr>
          </a:p>
          <a:p>
            <a:pPr>
              <a:spcBef>
                <a:spcPct val="25000"/>
              </a:spcBef>
              <a:spcAft>
                <a:spcPct val="25000"/>
              </a:spcAft>
              <a:buFont typeface="Wingdings 2" pitchFamily="18" charset="2"/>
              <a:buNone/>
            </a:pPr>
            <a:r>
              <a:rPr lang="zh-CN" altLang="en-US" dirty="0">
                <a:latin typeface="Times New Roman" panose="02020603050405020304" pitchFamily="18" charset="0"/>
                <a:ea typeface="宋体" panose="02010600030101010101" pitchFamily="2" charset="-122"/>
              </a:rPr>
              <a:t>                              </a:t>
            </a:r>
            <a:endParaRPr lang="zh-CN" altLang="en-US" dirty="0">
              <a:latin typeface="Times New Roman" panose="02020603050405020304" pitchFamily="18" charset="0"/>
              <a:ea typeface="宋体" panose="02010600030101010101" pitchFamily="2" charset="-122"/>
            </a:endParaRPr>
          </a:p>
          <a:p>
            <a:pPr>
              <a:spcBef>
                <a:spcPct val="25000"/>
              </a:spcBef>
              <a:spcAft>
                <a:spcPct val="25000"/>
              </a:spcAft>
              <a:buFont typeface="Wingdings 2" pitchFamily="18" charset="2"/>
              <a:buNone/>
            </a:pPr>
            <a:endParaRPr lang="zh-CN" altLang="en-US" sz="2400" dirty="0">
              <a:latin typeface="Times New Roman" panose="02020603050405020304" pitchFamily="18" charset="0"/>
              <a:ea typeface="宋体" panose="02010600030101010101" pitchFamily="2" charset="-122"/>
            </a:endParaRPr>
          </a:p>
          <a:p>
            <a:pPr>
              <a:spcBef>
                <a:spcPts val="3600"/>
              </a:spcBef>
              <a:spcAft>
                <a:spcPct val="25000"/>
              </a:spcAft>
              <a:buFont typeface="Wingdings 2" pitchFamily="18" charset="2"/>
              <a:buNone/>
            </a:pPr>
            <a:endParaRPr lang="en-US" altLang="zh-CN" sz="2400" dirty="0">
              <a:latin typeface="Times New Roman" panose="02020603050405020304" pitchFamily="18" charset="0"/>
              <a:ea typeface="宋体" panose="02010600030101010101" pitchFamily="2" charset="-122"/>
            </a:endParaRPr>
          </a:p>
          <a:p>
            <a:pPr>
              <a:spcBef>
                <a:spcPts val="3600"/>
              </a:spcBef>
              <a:spcAft>
                <a:spcPct val="25000"/>
              </a:spcAft>
              <a:buFont typeface="Wingdings 2" pitchFamily="18" charset="2"/>
              <a:buNone/>
            </a:pPr>
            <a:r>
              <a:rPr lang="zh-CN" altLang="en-US" sz="2400" dirty="0">
                <a:latin typeface="华文细黑" panose="02010600040101010101" pitchFamily="2" charset="-122"/>
                <a:ea typeface="华文细黑" panose="02010600040101010101" pitchFamily="2" charset="-122"/>
              </a:rPr>
              <a:t>由地面到</a:t>
            </a:r>
            <a:r>
              <a:rPr lang="en-US" altLang="zh-CN" sz="2400" dirty="0">
                <a:latin typeface="华文细黑" panose="02010600040101010101" pitchFamily="2" charset="-122"/>
                <a:ea typeface="华文细黑" panose="02010600040101010101" pitchFamily="2" charset="-122"/>
              </a:rPr>
              <a:t>Z</a:t>
            </a:r>
            <a:r>
              <a:rPr lang="zh-CN" altLang="en-US" sz="2400" dirty="0">
                <a:latin typeface="华文细黑" panose="02010600040101010101" pitchFamily="2" charset="-122"/>
                <a:ea typeface="华文细黑" panose="02010600040101010101" pitchFamily="2" charset="-122"/>
              </a:rPr>
              <a:t>处</a:t>
            </a:r>
            <a:r>
              <a:rPr lang="en-US" altLang="zh-CN" sz="2400" dirty="0">
                <a:latin typeface="华文细黑" panose="02010600040101010101" pitchFamily="2" charset="-122"/>
                <a:ea typeface="华文细黑" panose="02010600040101010101" pitchFamily="2" charset="-122"/>
              </a:rPr>
              <a:t>: </a:t>
            </a:r>
            <a:endParaRPr lang="en-US" altLang="zh-CN" sz="2400" dirty="0">
              <a:latin typeface="华文细黑" panose="02010600040101010101" pitchFamily="2" charset="-122"/>
              <a:ea typeface="华文细黑" panose="02010600040101010101" pitchFamily="2" charset="-122"/>
            </a:endParaRPr>
          </a:p>
          <a:p>
            <a:pPr>
              <a:spcBef>
                <a:spcPct val="25000"/>
              </a:spcBef>
              <a:spcAft>
                <a:spcPct val="25000"/>
              </a:spcAft>
              <a:buFont typeface="Wingdings 2" pitchFamily="18" charset="2"/>
              <a:buNone/>
            </a:pPr>
            <a:endParaRPr lang="zh-CN" altLang="en-US" dirty="0">
              <a:solidFill>
                <a:schemeClr val="hlink"/>
              </a:solidFill>
              <a:latin typeface="Times New Roman" panose="02020603050405020304" pitchFamily="18" charset="0"/>
              <a:ea typeface="宋体" panose="02010600030101010101" pitchFamily="2" charset="-122"/>
            </a:endParaRPr>
          </a:p>
        </p:txBody>
      </p:sp>
      <p:sp>
        <p:nvSpPr>
          <p:cNvPr id="18436" name="Rectangle 3"/>
          <p:cNvSpPr>
            <a:spLocks noGrp="1"/>
          </p:cNvSpPr>
          <p:nvPr>
            <p:ph type="title"/>
          </p:nvPr>
        </p:nvSpPr>
        <p:spPr>
          <a:xfrm>
            <a:off x="1439863" y="188913"/>
            <a:ext cx="7561262" cy="762000"/>
          </a:xfrm>
          <a:ln/>
        </p:spPr>
        <p:txBody>
          <a:bodyPr vert="horz" wrap="square" lIns="91440" tIns="45720" rIns="91440" bIns="45720" anchor="ctr" anchorCtr="0"/>
          <a:p>
            <a:pPr algn="ctr"/>
            <a:r>
              <a:rPr lang="en-US" altLang="zh-CN" sz="4000" dirty="0">
                <a:solidFill>
                  <a:srgbClr val="FFFF00"/>
                </a:solidFill>
                <a:latin typeface="黑体" panose="02010609060101010101" pitchFamily="49" charset="-122"/>
                <a:ea typeface="黑体" panose="02010609060101010101" pitchFamily="49" charset="-122"/>
              </a:rPr>
              <a:t>2.</a:t>
            </a:r>
            <a:r>
              <a:rPr lang="zh-CN" altLang="en-US" sz="4000" dirty="0">
                <a:solidFill>
                  <a:srgbClr val="FFFF00"/>
                </a:solidFill>
                <a:latin typeface="黑体" panose="02010609060101010101" pitchFamily="49" charset="-122"/>
                <a:ea typeface="黑体" panose="02010609060101010101" pitchFamily="49" charset="-122"/>
              </a:rPr>
              <a:t>漫射辐射透过率</a:t>
            </a:r>
            <a:endParaRPr lang="zh-CN" altLang="en-US" sz="4000" dirty="0">
              <a:solidFill>
                <a:srgbClr val="FFFF00"/>
              </a:solidFill>
              <a:latin typeface="黑体" panose="02010609060101010101" pitchFamily="49" charset="-122"/>
              <a:ea typeface="黑体" panose="02010609060101010101" pitchFamily="49" charset="-122"/>
            </a:endParaRPr>
          </a:p>
        </p:txBody>
      </p:sp>
      <p:graphicFrame>
        <p:nvGraphicFramePr>
          <p:cNvPr id="18437" name="Object 2"/>
          <p:cNvGraphicFramePr>
            <a:graphicFrameLocks noChangeAspect="1"/>
          </p:cNvGraphicFramePr>
          <p:nvPr/>
        </p:nvGraphicFramePr>
        <p:xfrm>
          <a:off x="504825" y="2143125"/>
          <a:ext cx="3209925" cy="642938"/>
        </p:xfrm>
        <a:graphic>
          <a:graphicData uri="http://schemas.openxmlformats.org/presentationml/2006/ole">
            <mc:AlternateContent xmlns:mc="http://schemas.openxmlformats.org/markup-compatibility/2006">
              <mc:Choice xmlns:v="urn:schemas-microsoft-com:vml" Requires="v">
                <p:oleObj spid="_x0000_s3076" name="" r:id="rId1" imgW="1371600" imgH="241300" progId="Equation.DSMT4">
                  <p:embed/>
                </p:oleObj>
              </mc:Choice>
              <mc:Fallback>
                <p:oleObj name="" r:id="rId1" imgW="1371600" imgH="241300" progId="Equation.DSMT4">
                  <p:embed/>
                  <p:pic>
                    <p:nvPicPr>
                      <p:cNvPr id="0" name="图片 3075"/>
                      <p:cNvPicPr/>
                      <p:nvPr/>
                    </p:nvPicPr>
                    <p:blipFill>
                      <a:blip r:embed="rId2"/>
                      <a:stretch>
                        <a:fillRect/>
                      </a:stretch>
                    </p:blipFill>
                    <p:spPr>
                      <a:xfrm>
                        <a:off x="504825" y="2143125"/>
                        <a:ext cx="3209925" cy="642938"/>
                      </a:xfrm>
                      <a:prstGeom prst="rect">
                        <a:avLst/>
                      </a:prstGeom>
                      <a:solidFill>
                        <a:srgbClr val="CCFFCC"/>
                      </a:solidFill>
                      <a:ln w="38100">
                        <a:noFill/>
                        <a:miter/>
                      </a:ln>
                    </p:spPr>
                  </p:pic>
                </p:oleObj>
              </mc:Fallback>
            </mc:AlternateContent>
          </a:graphicData>
        </a:graphic>
      </p:graphicFrame>
      <p:graphicFrame>
        <p:nvGraphicFramePr>
          <p:cNvPr id="18438" name="Object 3"/>
          <p:cNvGraphicFramePr>
            <a:graphicFrameLocks noChangeAspect="1"/>
          </p:cNvGraphicFramePr>
          <p:nvPr/>
        </p:nvGraphicFramePr>
        <p:xfrm>
          <a:off x="1076325" y="3101975"/>
          <a:ext cx="2066925" cy="541338"/>
        </p:xfrm>
        <a:graphic>
          <a:graphicData uri="http://schemas.openxmlformats.org/presentationml/2006/ole">
            <mc:AlternateContent xmlns:mc="http://schemas.openxmlformats.org/markup-compatibility/2006">
              <mc:Choice xmlns:v="urn:schemas-microsoft-com:vml" Requires="v">
                <p:oleObj spid="_x0000_s3081" name="" r:id="rId3" imgW="862965" imgH="241300" progId="Equation.DSMT4">
                  <p:embed/>
                </p:oleObj>
              </mc:Choice>
              <mc:Fallback>
                <p:oleObj name="" r:id="rId3" imgW="862965" imgH="241300" progId="Equation.DSMT4">
                  <p:embed/>
                  <p:pic>
                    <p:nvPicPr>
                      <p:cNvPr id="0" name="图片 3080"/>
                      <p:cNvPicPr/>
                      <p:nvPr/>
                    </p:nvPicPr>
                    <p:blipFill>
                      <a:blip r:embed="rId4"/>
                      <a:stretch>
                        <a:fillRect/>
                      </a:stretch>
                    </p:blipFill>
                    <p:spPr>
                      <a:xfrm>
                        <a:off x="1076325" y="3101975"/>
                        <a:ext cx="2066925" cy="541338"/>
                      </a:xfrm>
                      <a:prstGeom prst="rect">
                        <a:avLst/>
                      </a:prstGeom>
                      <a:solidFill>
                        <a:srgbClr val="CCFFCC"/>
                      </a:solidFill>
                      <a:ln w="38100">
                        <a:noFill/>
                        <a:miter/>
                      </a:ln>
                    </p:spPr>
                  </p:pic>
                </p:oleObj>
              </mc:Fallback>
            </mc:AlternateContent>
          </a:graphicData>
        </a:graphic>
      </p:graphicFrame>
      <p:sp>
        <p:nvSpPr>
          <p:cNvPr id="18439" name="AutoShape 7"/>
          <p:cNvSpPr/>
          <p:nvPr/>
        </p:nvSpPr>
        <p:spPr>
          <a:xfrm>
            <a:off x="3714750" y="2239963"/>
            <a:ext cx="142875" cy="1331912"/>
          </a:xfrm>
          <a:prstGeom prst="rightBrace">
            <a:avLst>
              <a:gd name="adj1" fmla="val 49934"/>
              <a:gd name="adj2" fmla="val 50000"/>
            </a:avLst>
          </a:prstGeom>
          <a:noFill/>
          <a:ln w="9525" cap="flat" cmpd="sng">
            <a:solidFill>
              <a:schemeClr val="tx1"/>
            </a:solidFill>
            <a:prstDash val="solid"/>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endParaRPr lang="zh-CN" altLang="en-US" sz="1800" dirty="0">
              <a:latin typeface="Arial" panose="020B0604020202020204" pitchFamily="34" charset="0"/>
              <a:ea typeface="宋体" panose="02010600030101010101" pitchFamily="2" charset="-122"/>
            </a:endParaRPr>
          </a:p>
        </p:txBody>
      </p:sp>
      <p:graphicFrame>
        <p:nvGraphicFramePr>
          <p:cNvPr id="18440" name="Object 4"/>
          <p:cNvGraphicFramePr>
            <a:graphicFrameLocks noChangeAspect="1"/>
          </p:cNvGraphicFramePr>
          <p:nvPr/>
        </p:nvGraphicFramePr>
        <p:xfrm>
          <a:off x="3952875" y="2600325"/>
          <a:ext cx="2476500" cy="593725"/>
        </p:xfrm>
        <a:graphic>
          <a:graphicData uri="http://schemas.openxmlformats.org/presentationml/2006/ole">
            <mc:AlternateContent xmlns:mc="http://schemas.openxmlformats.org/markup-compatibility/2006">
              <mc:Choice xmlns:v="urn:schemas-microsoft-com:vml" Requires="v">
                <p:oleObj spid="_x0000_s3078" name="" r:id="rId5" imgW="951865" imgH="228600" progId="Equation.DSMT4">
                  <p:embed/>
                </p:oleObj>
              </mc:Choice>
              <mc:Fallback>
                <p:oleObj name="" r:id="rId5" imgW="951865" imgH="228600" progId="Equation.DSMT4">
                  <p:embed/>
                  <p:pic>
                    <p:nvPicPr>
                      <p:cNvPr id="0" name="图片 3077"/>
                      <p:cNvPicPr/>
                      <p:nvPr/>
                    </p:nvPicPr>
                    <p:blipFill>
                      <a:blip r:embed="rId6"/>
                      <a:stretch>
                        <a:fillRect/>
                      </a:stretch>
                    </p:blipFill>
                    <p:spPr>
                      <a:xfrm>
                        <a:off x="3952875" y="2600325"/>
                        <a:ext cx="2476500" cy="593725"/>
                      </a:xfrm>
                      <a:prstGeom prst="rect">
                        <a:avLst/>
                      </a:prstGeom>
                      <a:solidFill>
                        <a:srgbClr val="CCFFCC"/>
                      </a:solidFill>
                      <a:ln w="38100">
                        <a:noFill/>
                        <a:miter/>
                      </a:ln>
                    </p:spPr>
                  </p:pic>
                </p:oleObj>
              </mc:Fallback>
            </mc:AlternateContent>
          </a:graphicData>
        </a:graphic>
      </p:graphicFrame>
      <p:graphicFrame>
        <p:nvGraphicFramePr>
          <p:cNvPr id="18441" name="Object 5"/>
          <p:cNvGraphicFramePr>
            <a:graphicFrameLocks noChangeAspect="1"/>
          </p:cNvGraphicFramePr>
          <p:nvPr/>
        </p:nvGraphicFramePr>
        <p:xfrm>
          <a:off x="2786063" y="4429125"/>
          <a:ext cx="3913187" cy="500063"/>
        </p:xfrm>
        <a:graphic>
          <a:graphicData uri="http://schemas.openxmlformats.org/presentationml/2006/ole">
            <mc:AlternateContent xmlns:mc="http://schemas.openxmlformats.org/markup-compatibility/2006">
              <mc:Choice xmlns:v="urn:schemas-microsoft-com:vml" Requires="v">
                <p:oleObj spid="_x0000_s3077" name="" r:id="rId7" imgW="1625600" imgH="241300" progId="Equation.DSMT4">
                  <p:embed/>
                </p:oleObj>
              </mc:Choice>
              <mc:Fallback>
                <p:oleObj name="" r:id="rId7" imgW="1625600" imgH="241300" progId="Equation.DSMT4">
                  <p:embed/>
                  <p:pic>
                    <p:nvPicPr>
                      <p:cNvPr id="0" name="图片 3076"/>
                      <p:cNvPicPr/>
                      <p:nvPr/>
                    </p:nvPicPr>
                    <p:blipFill>
                      <a:blip r:embed="rId8"/>
                      <a:stretch>
                        <a:fillRect/>
                      </a:stretch>
                    </p:blipFill>
                    <p:spPr>
                      <a:xfrm>
                        <a:off x="2786063" y="4429125"/>
                        <a:ext cx="3913187" cy="500063"/>
                      </a:xfrm>
                      <a:prstGeom prst="rect">
                        <a:avLst/>
                      </a:prstGeom>
                      <a:solidFill>
                        <a:srgbClr val="CCFFCC"/>
                      </a:solidFill>
                      <a:ln w="38100">
                        <a:noFill/>
                        <a:miter/>
                      </a:ln>
                    </p:spPr>
                  </p:pic>
                </p:oleObj>
              </mc:Fallback>
            </mc:AlternateContent>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0482" name="Object 4" descr="新闻纸"/>
          <p:cNvGraphicFramePr>
            <a:graphicFrameLocks noChangeAspect="1"/>
          </p:cNvGraphicFramePr>
          <p:nvPr/>
        </p:nvGraphicFramePr>
        <p:xfrm>
          <a:off x="428625" y="1785938"/>
          <a:ext cx="8501063" cy="4914900"/>
        </p:xfrm>
        <a:graphic>
          <a:graphicData uri="http://schemas.openxmlformats.org/presentationml/2006/ole">
            <mc:AlternateContent xmlns:mc="http://schemas.openxmlformats.org/markup-compatibility/2006">
              <mc:Choice xmlns:v="urn:schemas-microsoft-com:vml" Requires="v">
                <p:oleObj spid="_x0000_s3079" name="" r:id="rId1" imgW="2857500" imgH="2006600" progId="Equation.3">
                  <p:embed/>
                </p:oleObj>
              </mc:Choice>
              <mc:Fallback>
                <p:oleObj name="" r:id="rId1" imgW="2857500" imgH="2006600" progId="Equation.3">
                  <p:embed/>
                  <p:pic>
                    <p:nvPicPr>
                      <p:cNvPr id="0" name="图片 3078"/>
                      <p:cNvPicPr/>
                      <p:nvPr/>
                    </p:nvPicPr>
                    <p:blipFill>
                      <a:blip r:embed="rId2"/>
                      <a:stretch>
                        <a:fillRect/>
                      </a:stretch>
                    </p:blipFill>
                    <p:spPr>
                      <a:xfrm>
                        <a:off x="428625" y="1785938"/>
                        <a:ext cx="8501063" cy="4914900"/>
                      </a:xfrm>
                      <a:prstGeom prst="rect">
                        <a:avLst/>
                      </a:prstGeom>
                      <a:blipFill rotWithShape="0">
                        <a:blip r:embed="rId3"/>
                      </a:blipFill>
                      <a:ln w="38100">
                        <a:noFill/>
                        <a:miter/>
                      </a:ln>
                    </p:spPr>
                  </p:pic>
                </p:oleObj>
              </mc:Fallback>
            </mc:AlternateContent>
          </a:graphicData>
        </a:graphic>
      </p:graphicFrame>
      <p:sp>
        <p:nvSpPr>
          <p:cNvPr id="20483" name="Rectangle 5"/>
          <p:cNvSpPr/>
          <p:nvPr/>
        </p:nvSpPr>
        <p:spPr>
          <a:xfrm>
            <a:off x="2055813" y="5816600"/>
            <a:ext cx="4679950" cy="792163"/>
          </a:xfrm>
          <a:prstGeom prst="rect">
            <a:avLst/>
          </a:prstGeom>
          <a:noFill/>
          <a:ln w="38100" cap="flat" cmpd="sng">
            <a:solidFill>
              <a:srgbClr val="FF0000"/>
            </a:solidFill>
            <a:prstDash val="sysDot"/>
            <a:miter/>
            <a:headEnd type="none" w="med" len="med"/>
            <a:tailEnd type="none" w="med" len="med"/>
          </a:ln>
        </p:spPr>
        <p:txBody>
          <a:bodyPr wrap="none" lIns="92075" tIns="46038" rIns="92075" bIns="46038" anchor="ctr" anchorCtr="0">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endParaRPr lang="en-US" altLang="zh-CN" sz="1800" b="0" dirty="0">
              <a:latin typeface="Arial" panose="020B0604020202020204" pitchFamily="34" charset="0"/>
              <a:ea typeface="宋体" panose="02010600030101010101" pitchFamily="2" charset="-122"/>
            </a:endParaRPr>
          </a:p>
        </p:txBody>
      </p:sp>
      <p:sp>
        <p:nvSpPr>
          <p:cNvPr id="20484" name="TextBox 3"/>
          <p:cNvSpPr txBox="1"/>
          <p:nvPr/>
        </p:nvSpPr>
        <p:spPr>
          <a:xfrm>
            <a:off x="1285875" y="1252538"/>
            <a:ext cx="6643688" cy="461962"/>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r>
              <a:rPr lang="zh-CN" altLang="en-US" sz="2400" dirty="0">
                <a:solidFill>
                  <a:srgbClr val="0000FF"/>
                </a:solidFill>
                <a:latin typeface="华文细黑" panose="02010600040101010101" pitchFamily="2" charset="-122"/>
                <a:ea typeface="华文细黑" panose="02010600040101010101" pitchFamily="2" charset="-122"/>
              </a:rPr>
              <a:t>设地面为朗伯面，在</a:t>
            </a:r>
            <a:r>
              <a:rPr lang="en-US" altLang="zh-CN" sz="2400" dirty="0">
                <a:solidFill>
                  <a:srgbClr val="0000FF"/>
                </a:solidFill>
                <a:latin typeface="华文细黑" panose="02010600040101010101" pitchFamily="2" charset="-122"/>
                <a:ea typeface="华文细黑" panose="02010600040101010101" pitchFamily="2" charset="-122"/>
              </a:rPr>
              <a:t>Z</a:t>
            </a:r>
            <a:r>
              <a:rPr lang="zh-CN" altLang="en-US" sz="2400" dirty="0">
                <a:solidFill>
                  <a:srgbClr val="0000FF"/>
                </a:solidFill>
                <a:latin typeface="华文细黑" panose="02010600040101010101" pitchFamily="2" charset="-122"/>
                <a:ea typeface="华文细黑" panose="02010600040101010101" pitchFamily="2" charset="-122"/>
              </a:rPr>
              <a:t>高度上的辐照度</a:t>
            </a:r>
            <a:r>
              <a:rPr lang="en-US" altLang="zh-CN" sz="2400" i="1" dirty="0">
                <a:solidFill>
                  <a:srgbClr val="0000FF"/>
                </a:solidFill>
                <a:latin typeface="华文细黑" panose="02010600040101010101" pitchFamily="2" charset="-122"/>
                <a:ea typeface="华文细黑" panose="02010600040101010101" pitchFamily="2" charset="-122"/>
              </a:rPr>
              <a:t>E</a:t>
            </a:r>
            <a:r>
              <a:rPr lang="en-US" altLang="zh-CN" sz="2400" i="1" baseline="-30000" dirty="0">
                <a:solidFill>
                  <a:srgbClr val="0000FF"/>
                </a:solidFill>
                <a:latin typeface="华文细黑" panose="02010600040101010101" pitchFamily="2" charset="-122"/>
                <a:ea typeface="华文细黑" panose="02010600040101010101" pitchFamily="2" charset="-122"/>
              </a:rPr>
              <a:t>λ</a:t>
            </a:r>
            <a:r>
              <a:rPr lang="en-US" altLang="zh-CN" sz="2400" baseline="30000" dirty="0">
                <a:solidFill>
                  <a:srgbClr val="0000FF"/>
                </a:solidFill>
                <a:latin typeface="华文细黑" panose="02010600040101010101" pitchFamily="2" charset="-122"/>
                <a:ea typeface="华文细黑" panose="02010600040101010101" pitchFamily="2" charset="-122"/>
                <a:sym typeface="Symbol" panose="05050102010706020507" pitchFamily="18" charset="2"/>
              </a:rPr>
              <a:t></a:t>
            </a:r>
            <a:r>
              <a:rPr lang="en-US" altLang="zh-CN" sz="2400" dirty="0">
                <a:solidFill>
                  <a:srgbClr val="0000FF"/>
                </a:solidFill>
                <a:latin typeface="华文细黑" panose="02010600040101010101" pitchFamily="2" charset="-122"/>
                <a:ea typeface="华文细黑" panose="02010600040101010101" pitchFamily="2" charset="-122"/>
              </a:rPr>
              <a:t>(</a:t>
            </a:r>
            <a:r>
              <a:rPr lang="en-US" altLang="zh-CN" sz="2400" i="1" dirty="0">
                <a:solidFill>
                  <a:srgbClr val="0000FF"/>
                </a:solidFill>
                <a:latin typeface="华文细黑" panose="02010600040101010101" pitchFamily="2" charset="-122"/>
                <a:ea typeface="华文细黑" panose="02010600040101010101" pitchFamily="2" charset="-122"/>
                <a:sym typeface="Symbol" panose="05050102010706020507" pitchFamily="18" charset="2"/>
              </a:rPr>
              <a:t></a:t>
            </a:r>
            <a:r>
              <a:rPr lang="en-US" altLang="zh-CN" sz="2400" dirty="0">
                <a:solidFill>
                  <a:srgbClr val="0000FF"/>
                </a:solidFill>
                <a:latin typeface="华文细黑" panose="02010600040101010101" pitchFamily="2" charset="-122"/>
                <a:ea typeface="华文细黑" panose="02010600040101010101" pitchFamily="2" charset="-122"/>
              </a:rPr>
              <a:t>)</a:t>
            </a:r>
            <a:r>
              <a:rPr lang="zh-CN" altLang="en-US" sz="2400" dirty="0">
                <a:solidFill>
                  <a:srgbClr val="0000FF"/>
                </a:solidFill>
                <a:latin typeface="华文细黑" panose="02010600040101010101" pitchFamily="2" charset="-122"/>
                <a:ea typeface="华文细黑" panose="02010600040101010101" pitchFamily="2" charset="-122"/>
              </a:rPr>
              <a:t>为：</a:t>
            </a:r>
            <a:r>
              <a:rPr lang="en-US" altLang="zh-CN" sz="2400" dirty="0">
                <a:solidFill>
                  <a:srgbClr val="0000FF"/>
                </a:solidFill>
                <a:latin typeface="华文细黑" panose="02010600040101010101" pitchFamily="2" charset="-122"/>
                <a:ea typeface="华文细黑" panose="02010600040101010101" pitchFamily="2" charset="-122"/>
              </a:rPr>
              <a:t> </a:t>
            </a:r>
            <a:endParaRPr lang="en-US" altLang="zh-CN" sz="2400" dirty="0">
              <a:solidFill>
                <a:srgbClr val="0000FF"/>
              </a:solidFill>
              <a:latin typeface="华文细黑" panose="02010600040101010101" pitchFamily="2" charset="-122"/>
              <a:ea typeface="华文细黑" panose="02010600040101010101" pitchFamily="2"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1506" name="Object 4" descr="新闻纸"/>
          <p:cNvGraphicFramePr>
            <a:graphicFrameLocks noChangeAspect="1"/>
          </p:cNvGraphicFramePr>
          <p:nvPr/>
        </p:nvGraphicFramePr>
        <p:xfrm>
          <a:off x="800100" y="2201863"/>
          <a:ext cx="7200900" cy="3584575"/>
        </p:xfrm>
        <a:graphic>
          <a:graphicData uri="http://schemas.openxmlformats.org/presentationml/2006/ole">
            <mc:AlternateContent xmlns:mc="http://schemas.openxmlformats.org/markup-compatibility/2006">
              <mc:Choice xmlns:v="urn:schemas-microsoft-com:vml" Requires="v">
                <p:oleObj spid="_x0000_s3080" name="" r:id="rId1" imgW="2705100" imgH="1346200" progId="Equation.3">
                  <p:embed/>
                </p:oleObj>
              </mc:Choice>
              <mc:Fallback>
                <p:oleObj name="" r:id="rId1" imgW="2705100" imgH="1346200" progId="Equation.3">
                  <p:embed/>
                  <p:pic>
                    <p:nvPicPr>
                      <p:cNvPr id="0" name="图片 3079"/>
                      <p:cNvPicPr/>
                      <p:nvPr/>
                    </p:nvPicPr>
                    <p:blipFill>
                      <a:blip r:embed="rId2"/>
                      <a:stretch>
                        <a:fillRect/>
                      </a:stretch>
                    </p:blipFill>
                    <p:spPr>
                      <a:xfrm>
                        <a:off x="800100" y="2201863"/>
                        <a:ext cx="7200900" cy="3584575"/>
                      </a:xfrm>
                      <a:prstGeom prst="rect">
                        <a:avLst/>
                      </a:prstGeom>
                      <a:blipFill rotWithShape="0">
                        <a:blip r:embed="rId3"/>
                      </a:blipFill>
                      <a:ln w="9525" cap="flat" cmpd="sng">
                        <a:solidFill>
                          <a:schemeClr val="tx1"/>
                        </a:solidFill>
                        <a:prstDash val="solid"/>
                        <a:miter/>
                        <a:headEnd type="none" w="med" len="med"/>
                        <a:tailEnd type="none" w="med" len="med"/>
                      </a:ln>
                    </p:spPr>
                  </p:pic>
                </p:oleObj>
              </mc:Fallback>
            </mc:AlternateContent>
          </a:graphicData>
        </a:graphic>
      </p:graphicFrame>
      <p:sp>
        <p:nvSpPr>
          <p:cNvPr id="21507" name="Text Box 5"/>
          <p:cNvSpPr txBox="1"/>
          <p:nvPr/>
        </p:nvSpPr>
        <p:spPr>
          <a:xfrm>
            <a:off x="654050" y="1428750"/>
            <a:ext cx="6061075" cy="46196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990600" lvl="0" indent="-533400" eaLnBrk="1" hangingPunct="1">
              <a:spcBef>
                <a:spcPct val="0"/>
              </a:spcBef>
              <a:buClrTx/>
              <a:buFont typeface="Arial" panose="020B0604020202020204" pitchFamily="34" charset="0"/>
              <a:buNone/>
            </a:pPr>
            <a:r>
              <a:rPr lang="zh-CN" altLang="en-US" sz="2400" dirty="0">
                <a:solidFill>
                  <a:srgbClr val="0000FF"/>
                </a:solidFill>
                <a:latin typeface="华文细黑" panose="02010600040101010101" pitchFamily="2" charset="-122"/>
                <a:ea typeface="华文细黑" panose="02010600040101010101" pitchFamily="2" charset="-122"/>
              </a:rPr>
              <a:t>由地面至</a:t>
            </a:r>
            <a:r>
              <a:rPr lang="en-US" altLang="zh-CN" sz="2400" dirty="0">
                <a:solidFill>
                  <a:srgbClr val="0000FF"/>
                </a:solidFill>
                <a:latin typeface="华文细黑" panose="02010600040101010101" pitchFamily="2" charset="-122"/>
                <a:ea typeface="华文细黑" panose="02010600040101010101" pitchFamily="2" charset="-122"/>
              </a:rPr>
              <a:t>z</a:t>
            </a:r>
            <a:r>
              <a:rPr lang="zh-CN" altLang="en-US" sz="2400" dirty="0">
                <a:solidFill>
                  <a:srgbClr val="0000FF"/>
                </a:solidFill>
                <a:latin typeface="华文细黑" panose="02010600040101010101" pitchFamily="2" charset="-122"/>
                <a:ea typeface="华文细黑" panose="02010600040101010101" pitchFamily="2" charset="-122"/>
              </a:rPr>
              <a:t>高度处气层的漫射透过率为：</a:t>
            </a:r>
            <a:endParaRPr lang="en-US" altLang="zh-CN" sz="2400" dirty="0">
              <a:solidFill>
                <a:srgbClr val="0000FF"/>
              </a:solidFill>
              <a:latin typeface="华文细黑" panose="02010600040101010101" pitchFamily="2" charset="-122"/>
              <a:ea typeface="华文细黑" panose="02010600040101010101"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2530" name="Object 4"/>
          <p:cNvGraphicFramePr>
            <a:graphicFrameLocks noChangeAspect="1"/>
          </p:cNvGraphicFramePr>
          <p:nvPr/>
        </p:nvGraphicFramePr>
        <p:xfrm>
          <a:off x="1755775" y="1866900"/>
          <a:ext cx="4705350" cy="698500"/>
        </p:xfrm>
        <a:graphic>
          <a:graphicData uri="http://schemas.openxmlformats.org/presentationml/2006/ole">
            <mc:AlternateContent xmlns:mc="http://schemas.openxmlformats.org/markup-compatibility/2006">
              <mc:Choice xmlns:v="urn:schemas-microsoft-com:vml" Requires="v">
                <p:oleObj spid="_x0000_s3086" name="" r:id="rId1" imgW="1625600" imgH="241300" progId="Equation.3">
                  <p:embed/>
                </p:oleObj>
              </mc:Choice>
              <mc:Fallback>
                <p:oleObj name="" r:id="rId1" imgW="1625600" imgH="241300" progId="Equation.3">
                  <p:embed/>
                  <p:pic>
                    <p:nvPicPr>
                      <p:cNvPr id="0" name="图片 3085"/>
                      <p:cNvPicPr/>
                      <p:nvPr/>
                    </p:nvPicPr>
                    <p:blipFill>
                      <a:blip r:embed="rId2"/>
                      <a:stretch>
                        <a:fillRect/>
                      </a:stretch>
                    </p:blipFill>
                    <p:spPr>
                      <a:xfrm>
                        <a:off x="1755775" y="1866900"/>
                        <a:ext cx="4705350" cy="698500"/>
                      </a:xfrm>
                      <a:prstGeom prst="rect">
                        <a:avLst/>
                      </a:prstGeom>
                      <a:solidFill>
                        <a:srgbClr val="FF66FF"/>
                      </a:solidFill>
                      <a:ln w="38100">
                        <a:noFill/>
                        <a:miter/>
                      </a:ln>
                    </p:spPr>
                  </p:pic>
                </p:oleObj>
              </mc:Fallback>
            </mc:AlternateContent>
          </a:graphicData>
        </a:graphic>
      </p:graphicFrame>
      <p:sp>
        <p:nvSpPr>
          <p:cNvPr id="22531" name="Text Box 5"/>
          <p:cNvSpPr txBox="1"/>
          <p:nvPr/>
        </p:nvSpPr>
        <p:spPr>
          <a:xfrm>
            <a:off x="539750" y="1311275"/>
            <a:ext cx="3340100" cy="461963"/>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990600" lvl="0" indent="-533400" eaLnBrk="1" hangingPunct="1">
              <a:spcBef>
                <a:spcPct val="0"/>
              </a:spcBef>
              <a:buClrTx/>
              <a:buFont typeface="Arial" panose="020B0604020202020204" pitchFamily="34" charset="0"/>
              <a:buAutoNum type="circleNumDbPlain"/>
            </a:pPr>
            <a:r>
              <a:rPr lang="zh-CN" altLang="en-US" sz="2400" dirty="0">
                <a:solidFill>
                  <a:srgbClr val="0000FF"/>
                </a:solidFill>
                <a:latin typeface="华文细黑" panose="02010600040101010101" pitchFamily="2" charset="-122"/>
                <a:ea typeface="华文细黑" panose="02010600040101010101" pitchFamily="2" charset="-122"/>
              </a:rPr>
              <a:t>漫射辐射透过率</a:t>
            </a:r>
            <a:endParaRPr lang="en-US" altLang="zh-CN" sz="2400" dirty="0">
              <a:solidFill>
                <a:srgbClr val="0000FF"/>
              </a:solidFill>
              <a:latin typeface="华文细黑" panose="02010600040101010101" pitchFamily="2" charset="-122"/>
              <a:ea typeface="华文细黑" panose="02010600040101010101" pitchFamily="2" charset="-122"/>
            </a:endParaRPr>
          </a:p>
        </p:txBody>
      </p:sp>
      <p:sp>
        <p:nvSpPr>
          <p:cNvPr id="22532" name="Text Box 6"/>
          <p:cNvSpPr txBox="1"/>
          <p:nvPr/>
        </p:nvSpPr>
        <p:spPr>
          <a:xfrm>
            <a:off x="539750" y="2852738"/>
            <a:ext cx="3340100" cy="461962"/>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990600" lvl="0" indent="-533400" eaLnBrk="1" hangingPunct="1">
              <a:spcBef>
                <a:spcPct val="0"/>
              </a:spcBef>
              <a:buClrTx/>
              <a:buFont typeface="Arial" panose="020B0604020202020204" pitchFamily="34" charset="0"/>
              <a:buAutoNum type="circleNumDbPlain" startAt="2"/>
            </a:pPr>
            <a:r>
              <a:rPr lang="zh-CN" altLang="en-US" sz="2400" dirty="0">
                <a:solidFill>
                  <a:srgbClr val="0000FF"/>
                </a:solidFill>
                <a:latin typeface="华文细黑" panose="02010600040101010101" pitchFamily="2" charset="-122"/>
                <a:ea typeface="华文细黑" panose="02010600040101010101" pitchFamily="2" charset="-122"/>
              </a:rPr>
              <a:t>平行辐射透过率</a:t>
            </a:r>
            <a:endParaRPr lang="en-US" altLang="zh-CN" sz="2400" dirty="0">
              <a:solidFill>
                <a:srgbClr val="0000FF"/>
              </a:solidFill>
              <a:latin typeface="华文细黑" panose="02010600040101010101" pitchFamily="2" charset="-122"/>
              <a:ea typeface="华文细黑" panose="02010600040101010101" pitchFamily="2" charset="-122"/>
            </a:endParaRPr>
          </a:p>
        </p:txBody>
      </p:sp>
      <p:graphicFrame>
        <p:nvGraphicFramePr>
          <p:cNvPr id="22533" name="Object 7"/>
          <p:cNvGraphicFramePr>
            <a:graphicFrameLocks noChangeAspect="1"/>
          </p:cNvGraphicFramePr>
          <p:nvPr/>
        </p:nvGraphicFramePr>
        <p:xfrm>
          <a:off x="1835150" y="3411538"/>
          <a:ext cx="2736850" cy="895350"/>
        </p:xfrm>
        <a:graphic>
          <a:graphicData uri="http://schemas.openxmlformats.org/presentationml/2006/ole">
            <mc:AlternateContent xmlns:mc="http://schemas.openxmlformats.org/markup-compatibility/2006">
              <mc:Choice xmlns:v="urn:schemas-microsoft-com:vml" Requires="v">
                <p:oleObj spid="_x0000_s3083" name="" r:id="rId3" imgW="736600" imgH="241300" progId="Equation.3">
                  <p:embed/>
                </p:oleObj>
              </mc:Choice>
              <mc:Fallback>
                <p:oleObj name="" r:id="rId3" imgW="736600" imgH="241300" progId="Equation.3">
                  <p:embed/>
                  <p:pic>
                    <p:nvPicPr>
                      <p:cNvPr id="0" name="图片 3082"/>
                      <p:cNvPicPr/>
                      <p:nvPr/>
                    </p:nvPicPr>
                    <p:blipFill>
                      <a:blip r:embed="rId4"/>
                      <a:stretch>
                        <a:fillRect/>
                      </a:stretch>
                    </p:blipFill>
                    <p:spPr>
                      <a:xfrm>
                        <a:off x="1835150" y="3411538"/>
                        <a:ext cx="2736850" cy="895350"/>
                      </a:xfrm>
                      <a:prstGeom prst="rect">
                        <a:avLst/>
                      </a:prstGeom>
                      <a:solidFill>
                        <a:schemeClr val="accent2"/>
                      </a:solidFill>
                      <a:ln w="38100">
                        <a:noFill/>
                        <a:miter/>
                      </a:ln>
                    </p:spPr>
                  </p:pic>
                </p:oleObj>
              </mc:Fallback>
            </mc:AlternateContent>
          </a:graphicData>
        </a:graphic>
      </p:graphicFrame>
      <p:sp>
        <p:nvSpPr>
          <p:cNvPr id="22534" name="AutoShape 8"/>
          <p:cNvSpPr/>
          <p:nvPr/>
        </p:nvSpPr>
        <p:spPr>
          <a:xfrm>
            <a:off x="6750050" y="1557338"/>
            <a:ext cx="358775" cy="2879725"/>
          </a:xfrm>
          <a:prstGeom prst="rightBrace">
            <a:avLst>
              <a:gd name="adj1" fmla="val 66813"/>
              <a:gd name="adj2" fmla="val 50000"/>
            </a:avLst>
          </a:prstGeom>
          <a:noFill/>
          <a:ln w="38100" cap="flat" cmpd="sng">
            <a:solidFill>
              <a:srgbClr val="FF0000"/>
            </a:solidFill>
            <a:prstDash val="solid"/>
            <a:headEnd type="none" w="med" len="med"/>
            <a:tailEnd type="none" w="med" len="med"/>
          </a:ln>
        </p:spPr>
        <p:txBody>
          <a:bodyPr wrap="none" lIns="92075" tIns="46038" rIns="92075" bIns="46038" anchor="ctr" anchorCtr="0">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endParaRPr lang="en-US" altLang="zh-CN" sz="1800" b="0" dirty="0">
              <a:latin typeface="Arial" panose="020B0604020202020204" pitchFamily="34" charset="0"/>
              <a:ea typeface="宋体" panose="02010600030101010101" pitchFamily="2" charset="-122"/>
            </a:endParaRPr>
          </a:p>
        </p:txBody>
      </p:sp>
      <p:sp>
        <p:nvSpPr>
          <p:cNvPr id="22535" name="Text Box 9"/>
          <p:cNvSpPr txBox="1"/>
          <p:nvPr/>
        </p:nvSpPr>
        <p:spPr>
          <a:xfrm>
            <a:off x="557213" y="4581525"/>
            <a:ext cx="6751637" cy="939800"/>
          </a:xfrm>
          <a:prstGeom prst="rect">
            <a:avLst/>
          </a:prstGeom>
          <a:noFill/>
          <a:ln w="9525">
            <a:noFill/>
          </a:ln>
        </p:spPr>
        <p:txBody>
          <a:bodyPr lIns="92075" tIns="46038" rIns="92075" bIns="46038">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990600" lvl="0" indent="-533400" eaLnBrk="1" hangingPunct="1">
              <a:lnSpc>
                <a:spcPct val="120000"/>
              </a:lnSpc>
              <a:spcBef>
                <a:spcPct val="0"/>
              </a:spcBef>
              <a:buClrTx/>
              <a:buFont typeface="Arial" panose="020B0604020202020204" pitchFamily="34" charset="0"/>
              <a:buAutoNum type="circleNumDbPlain" startAt="3"/>
            </a:pPr>
            <a:r>
              <a:rPr lang="zh-CN" altLang="en-US" sz="2400" dirty="0">
                <a:solidFill>
                  <a:srgbClr val="0000FF"/>
                </a:solidFill>
                <a:latin typeface="华文细黑" panose="02010600040101010101" pitchFamily="2" charset="-122"/>
                <a:ea typeface="华文细黑" panose="02010600040101010101" pitchFamily="2" charset="-122"/>
              </a:rPr>
              <a:t>将漫射辐射透过率加上修正因子表示成</a:t>
            </a:r>
            <a:endParaRPr lang="en-US" altLang="zh-CN" sz="2400" dirty="0">
              <a:solidFill>
                <a:srgbClr val="0000FF"/>
              </a:solidFill>
              <a:latin typeface="华文细黑" panose="02010600040101010101" pitchFamily="2" charset="-122"/>
              <a:ea typeface="华文细黑" panose="02010600040101010101" pitchFamily="2" charset="-122"/>
            </a:endParaRPr>
          </a:p>
          <a:p>
            <a:pPr marL="990600" lvl="0" indent="-533400" eaLnBrk="1" hangingPunct="1">
              <a:lnSpc>
                <a:spcPct val="120000"/>
              </a:lnSpc>
              <a:spcBef>
                <a:spcPct val="0"/>
              </a:spcBef>
              <a:buClrTx/>
              <a:buFont typeface="Arial" panose="020B0604020202020204" pitchFamily="34" charset="0"/>
              <a:buNone/>
            </a:pPr>
            <a:r>
              <a:rPr lang="zh-CN" altLang="en-US" sz="2400" dirty="0">
                <a:solidFill>
                  <a:srgbClr val="0000FF"/>
                </a:solidFill>
                <a:latin typeface="华文细黑" panose="02010600040101010101" pitchFamily="2" charset="-122"/>
                <a:ea typeface="华文细黑" panose="02010600040101010101" pitchFamily="2" charset="-122"/>
              </a:rPr>
              <a:t>平行辐射透过率表达式的形式</a:t>
            </a:r>
            <a:endParaRPr lang="en-US" altLang="zh-CN" sz="2400" dirty="0">
              <a:solidFill>
                <a:srgbClr val="0000FF"/>
              </a:solidFill>
              <a:latin typeface="华文细黑" panose="02010600040101010101" pitchFamily="2" charset="-122"/>
              <a:ea typeface="华文细黑" panose="02010600040101010101" pitchFamily="2" charset="-122"/>
            </a:endParaRPr>
          </a:p>
        </p:txBody>
      </p:sp>
      <p:graphicFrame>
        <p:nvGraphicFramePr>
          <p:cNvPr id="22536" name="Object 10"/>
          <p:cNvGraphicFramePr>
            <a:graphicFrameLocks noChangeAspect="1"/>
          </p:cNvGraphicFramePr>
          <p:nvPr/>
        </p:nvGraphicFramePr>
        <p:xfrm>
          <a:off x="1500188" y="5710238"/>
          <a:ext cx="3586162" cy="941387"/>
        </p:xfrm>
        <a:graphic>
          <a:graphicData uri="http://schemas.openxmlformats.org/presentationml/2006/ole">
            <mc:AlternateContent xmlns:mc="http://schemas.openxmlformats.org/markup-compatibility/2006">
              <mc:Choice xmlns:v="urn:schemas-microsoft-com:vml" Requires="v">
                <p:oleObj spid="_x0000_s3084" name="" r:id="rId5" imgW="965200" imgH="254000" progId="Equation.3">
                  <p:embed/>
                </p:oleObj>
              </mc:Choice>
              <mc:Fallback>
                <p:oleObj name="" r:id="rId5" imgW="965200" imgH="254000" progId="Equation.3">
                  <p:embed/>
                  <p:pic>
                    <p:nvPicPr>
                      <p:cNvPr id="0" name="图片 3083"/>
                      <p:cNvPicPr/>
                      <p:nvPr/>
                    </p:nvPicPr>
                    <p:blipFill>
                      <a:blip r:embed="rId6"/>
                      <a:stretch>
                        <a:fillRect/>
                      </a:stretch>
                    </p:blipFill>
                    <p:spPr>
                      <a:xfrm>
                        <a:off x="1500188" y="5710238"/>
                        <a:ext cx="3586162" cy="941387"/>
                      </a:xfrm>
                      <a:prstGeom prst="rect">
                        <a:avLst/>
                      </a:prstGeom>
                      <a:solidFill>
                        <a:schemeClr val="accent2"/>
                      </a:solidFill>
                      <a:ln w="38100">
                        <a:noFill/>
                        <a:miter/>
                      </a:ln>
                    </p:spPr>
                  </p:pic>
                </p:oleObj>
              </mc:Fallback>
            </mc:AlternateContent>
          </a:graphicData>
        </a:graphic>
      </p:graphicFrame>
      <p:sp>
        <p:nvSpPr>
          <p:cNvPr id="22537" name="Oval 11"/>
          <p:cNvSpPr/>
          <p:nvPr/>
        </p:nvSpPr>
        <p:spPr>
          <a:xfrm>
            <a:off x="3365500" y="5715000"/>
            <a:ext cx="649288" cy="431800"/>
          </a:xfrm>
          <a:prstGeom prst="ellipse">
            <a:avLst/>
          </a:prstGeom>
          <a:noFill/>
          <a:ln w="31750" cap="flat" cmpd="sng">
            <a:solidFill>
              <a:srgbClr val="FF0000"/>
            </a:solidFill>
            <a:prstDash val="sysDot"/>
            <a:headEnd type="none" w="med" len="med"/>
            <a:tailEnd type="none" w="med" len="med"/>
          </a:ln>
        </p:spPr>
        <p:txBody>
          <a:bodyPr wrap="none" lIns="92075" tIns="46038" rIns="92075" bIns="46038" anchor="ctr" anchorCtr="0">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endParaRPr lang="en-US" altLang="zh-CN" sz="1800" b="0" dirty="0">
              <a:latin typeface="Arial" panose="020B0604020202020204" pitchFamily="34" charset="0"/>
              <a:ea typeface="宋体" panose="02010600030101010101" pitchFamily="2" charset="-122"/>
            </a:endParaRPr>
          </a:p>
        </p:txBody>
      </p:sp>
      <p:grpSp>
        <p:nvGrpSpPr>
          <p:cNvPr id="22538" name="Group 14"/>
          <p:cNvGrpSpPr/>
          <p:nvPr/>
        </p:nvGrpSpPr>
        <p:grpSpPr>
          <a:xfrm>
            <a:off x="3868738" y="5229225"/>
            <a:ext cx="3684587" cy="503238"/>
            <a:chOff x="2789" y="3249"/>
            <a:chExt cx="2321" cy="317"/>
          </a:xfrm>
        </p:grpSpPr>
        <p:sp>
          <p:nvSpPr>
            <p:cNvPr id="22539" name="Line 12"/>
            <p:cNvSpPr/>
            <p:nvPr/>
          </p:nvSpPr>
          <p:spPr>
            <a:xfrm flipV="1">
              <a:off x="2789" y="3385"/>
              <a:ext cx="1452" cy="181"/>
            </a:xfrm>
            <a:prstGeom prst="line">
              <a:avLst/>
            </a:prstGeom>
            <a:ln w="9525" cap="flat" cmpd="sng">
              <a:solidFill>
                <a:srgbClr val="FF0000"/>
              </a:solidFill>
              <a:prstDash val="solid"/>
              <a:headEnd type="none" w="med" len="med"/>
              <a:tailEnd type="triangle" w="med" len="med"/>
            </a:ln>
          </p:spPr>
        </p:sp>
        <p:sp>
          <p:nvSpPr>
            <p:cNvPr id="22540" name="Text Box 13"/>
            <p:cNvSpPr txBox="1"/>
            <p:nvPr/>
          </p:nvSpPr>
          <p:spPr>
            <a:xfrm>
              <a:off x="3923" y="3249"/>
              <a:ext cx="1187" cy="291"/>
            </a:xfrm>
            <a:prstGeom prst="rect">
              <a:avLst/>
            </a:prstGeom>
            <a:noFill/>
            <a:ln w="9525">
              <a:noFill/>
            </a:ln>
          </p:spPr>
          <p:txBody>
            <a:bodyPr wrap="none" lIns="92075" tIns="46038" rIns="92075" bIns="46038">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990600" lvl="0" indent="-533400" eaLnBrk="1" hangingPunct="1">
                <a:spcBef>
                  <a:spcPct val="0"/>
                </a:spcBef>
                <a:buClrTx/>
                <a:buFont typeface="Arial" panose="020B0604020202020204" pitchFamily="34" charset="0"/>
                <a:buNone/>
              </a:pPr>
              <a:r>
                <a:rPr lang="zh-CN" altLang="en-US" sz="2400" dirty="0">
                  <a:solidFill>
                    <a:srgbClr val="FF0000"/>
                  </a:solidFill>
                  <a:latin typeface="华文细黑" panose="02010600040101010101" pitchFamily="2" charset="-122"/>
                  <a:ea typeface="华文细黑" panose="02010600040101010101" pitchFamily="2" charset="-122"/>
                </a:rPr>
                <a:t>漫射因子</a:t>
              </a:r>
              <a:endParaRPr lang="en-US" altLang="zh-CN" sz="2400" dirty="0">
                <a:solidFill>
                  <a:srgbClr val="FF0000"/>
                </a:solidFill>
                <a:latin typeface="华文细黑" panose="02010600040101010101" pitchFamily="2" charset="-122"/>
                <a:ea typeface="华文细黑" panose="02010600040101010101" pitchFamily="2" charset="-122"/>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Rectangle 2"/>
          <p:cNvSpPr>
            <a:spLocks noGrp="1"/>
          </p:cNvSpPr>
          <p:nvPr>
            <p:ph type="title"/>
          </p:nvPr>
        </p:nvSpPr>
        <p:spPr>
          <a:xfrm>
            <a:off x="1428750" y="214313"/>
            <a:ext cx="7577138" cy="563562"/>
          </a:xfrm>
          <a:ln/>
        </p:spPr>
        <p:txBody>
          <a:bodyPr vert="horz" wrap="square" lIns="91440" tIns="45720" rIns="91440" bIns="45720" anchor="ctr" anchorCtr="0"/>
          <a:p>
            <a:pPr algn="ctr"/>
            <a:r>
              <a:rPr lang="zh-CN" altLang="en-US" sz="4000" dirty="0">
                <a:solidFill>
                  <a:srgbClr val="FFFF00"/>
                </a:solidFill>
                <a:latin typeface="黑体" panose="02010609060101010101" pitchFamily="49" charset="-122"/>
                <a:ea typeface="黑体" panose="02010609060101010101" pitchFamily="49" charset="-122"/>
              </a:rPr>
              <a:t>漫射因子</a:t>
            </a:r>
            <a:endParaRPr lang="zh-CN" altLang="en-US" sz="4000" dirty="0">
              <a:solidFill>
                <a:srgbClr val="FFFF00"/>
              </a:solidFill>
              <a:latin typeface="黑体" panose="02010609060101010101" pitchFamily="49" charset="-122"/>
              <a:ea typeface="黑体" panose="02010609060101010101" pitchFamily="49" charset="-122"/>
            </a:endParaRPr>
          </a:p>
        </p:txBody>
      </p:sp>
      <p:sp>
        <p:nvSpPr>
          <p:cNvPr id="23555" name="Rectangle 3"/>
          <p:cNvSpPr>
            <a:spLocks noGrp="1"/>
          </p:cNvSpPr>
          <p:nvPr>
            <p:ph idx="1"/>
          </p:nvPr>
        </p:nvSpPr>
        <p:spPr>
          <a:xfrm>
            <a:off x="152400" y="1419225"/>
            <a:ext cx="4848225" cy="4938713"/>
          </a:xfrm>
          <a:ln/>
        </p:spPr>
        <p:txBody>
          <a:bodyPr vert="horz" wrap="square" lIns="91440" tIns="45720" rIns="91440" bIns="45720" anchor="t" anchorCtr="0"/>
          <a:p>
            <a:pPr>
              <a:lnSpc>
                <a:spcPct val="120000"/>
              </a:lnSpc>
            </a:pPr>
            <a:r>
              <a:rPr lang="zh-CN" altLang="en-US" sz="2400" dirty="0">
                <a:solidFill>
                  <a:srgbClr val="0000FF"/>
                </a:solidFill>
                <a:latin typeface="华文细黑" panose="02010600040101010101" pitchFamily="2" charset="-122"/>
                <a:ea typeface="华文细黑" panose="02010600040101010101" pitchFamily="2" charset="-122"/>
              </a:rPr>
              <a:t>对比</a:t>
            </a:r>
            <a:r>
              <a:rPr lang="zh-CN" altLang="en-US" sz="2400" dirty="0">
                <a:solidFill>
                  <a:srgbClr val="008000"/>
                </a:solidFill>
                <a:latin typeface="华文细黑" panose="02010600040101010101" pitchFamily="2" charset="-122"/>
                <a:ea typeface="华文细黑" panose="02010600040101010101" pitchFamily="2" charset="-122"/>
              </a:rPr>
              <a:t>平行辐射透过率和漫射透过率表达示形式，</a:t>
            </a:r>
            <a:r>
              <a:rPr lang="zh-CN" altLang="en-US" sz="2400" dirty="0">
                <a:solidFill>
                  <a:srgbClr val="0000FF"/>
                </a:solidFill>
                <a:latin typeface="华文细黑" panose="02010600040101010101" pitchFamily="2" charset="-122"/>
                <a:ea typeface="华文细黑" panose="02010600040101010101" pitchFamily="2" charset="-122"/>
              </a:rPr>
              <a:t>若要把漫射辐射当作平行辐射处理，应当将其光学厚度加大</a:t>
            </a:r>
            <a:r>
              <a:rPr lang="zh-CN" altLang="en-US" sz="2400" dirty="0">
                <a:solidFill>
                  <a:srgbClr val="008000"/>
                </a:solidFill>
                <a:latin typeface="华文细黑" panose="02010600040101010101" pitchFamily="2" charset="-122"/>
                <a:ea typeface="华文细黑" panose="02010600040101010101" pitchFamily="2" charset="-122"/>
              </a:rPr>
              <a:t>1.66 </a:t>
            </a:r>
            <a:r>
              <a:rPr lang="zh-CN" altLang="en-US" sz="2400" dirty="0">
                <a:solidFill>
                  <a:srgbClr val="0000FF"/>
                </a:solidFill>
                <a:latin typeface="华文细黑" panose="02010600040101010101" pitchFamily="2" charset="-122"/>
                <a:ea typeface="华文细黑" panose="02010600040101010101" pitchFamily="2" charset="-122"/>
              </a:rPr>
              <a:t>倍。其原理是清楚的，因为(</a:t>
            </a:r>
            <a:r>
              <a:rPr lang="zh-CN" altLang="en-US" sz="2400" i="1" dirty="0">
                <a:solidFill>
                  <a:srgbClr val="0000FF"/>
                </a:solidFill>
                <a:latin typeface="华文细黑" panose="02010600040101010101" pitchFamily="2" charset="-122"/>
                <a:ea typeface="华文细黑" panose="02010600040101010101" pitchFamily="2" charset="-122"/>
                <a:sym typeface="Symbol" panose="05050102010706020507" pitchFamily="18" charset="2"/>
              </a:rPr>
              <a:t></a:t>
            </a:r>
            <a:r>
              <a:rPr lang="zh-CN" altLang="en-US" sz="2400" baseline="-30000" dirty="0">
                <a:solidFill>
                  <a:srgbClr val="0000FF"/>
                </a:solidFill>
                <a:latin typeface="华文细黑" panose="02010600040101010101" pitchFamily="2" charset="-122"/>
                <a:ea typeface="华文细黑" panose="02010600040101010101" pitchFamily="2" charset="-122"/>
              </a:rPr>
              <a:t>0</a:t>
            </a:r>
            <a:r>
              <a:rPr lang="zh-CN" altLang="en-US" sz="2400" dirty="0">
                <a:solidFill>
                  <a:srgbClr val="0000FF"/>
                </a:solidFill>
                <a:latin typeface="华文细黑" panose="02010600040101010101" pitchFamily="2" charset="-122"/>
                <a:ea typeface="华文细黑" panose="02010600040101010101" pitchFamily="2" charset="-122"/>
                <a:sym typeface="Symbol" panose="05050102010706020507" pitchFamily="18" charset="2"/>
              </a:rPr>
              <a:t></a:t>
            </a:r>
            <a:r>
              <a:rPr lang="zh-CN" altLang="en-US" sz="2400" i="1" dirty="0">
                <a:solidFill>
                  <a:srgbClr val="0000FF"/>
                </a:solidFill>
                <a:latin typeface="华文细黑" panose="02010600040101010101" pitchFamily="2" charset="-122"/>
                <a:ea typeface="华文细黑" panose="02010600040101010101" pitchFamily="2" charset="-122"/>
                <a:sym typeface="Symbol" panose="05050102010706020507" pitchFamily="18" charset="2"/>
              </a:rPr>
              <a:t></a:t>
            </a:r>
            <a:r>
              <a:rPr lang="zh-CN" altLang="en-US" sz="2400" dirty="0">
                <a:solidFill>
                  <a:srgbClr val="0000FF"/>
                </a:solidFill>
                <a:latin typeface="华文细黑" panose="02010600040101010101" pitchFamily="2" charset="-122"/>
                <a:ea typeface="华文细黑" panose="02010600040101010101" pitchFamily="2" charset="-122"/>
              </a:rPr>
              <a:t>) 是这一层大气的垂直光学厚度，垂直方向辐射的光学路径最短，而其它方向的路径都要加长，其吸收当然也增加了。作为对各个方向的积分，其最终效果是加大 1.66 倍，因此也有人把</a:t>
            </a:r>
            <a:r>
              <a:rPr lang="en-US" altLang="zh-CN" sz="2400" i="1" dirty="0">
                <a:solidFill>
                  <a:srgbClr val="0000FF"/>
                </a:solidFill>
                <a:latin typeface="华文细黑" panose="02010600040101010101" pitchFamily="2" charset="-122"/>
                <a:ea typeface="华文细黑" panose="02010600040101010101" pitchFamily="2" charset="-122"/>
              </a:rPr>
              <a:t>β</a:t>
            </a:r>
            <a:r>
              <a:rPr lang="en-US" altLang="zh-CN" sz="2400" dirty="0">
                <a:solidFill>
                  <a:srgbClr val="0000FF"/>
                </a:solidFill>
                <a:latin typeface="华文细黑" panose="02010600040101010101" pitchFamily="2" charset="-122"/>
                <a:ea typeface="华文细黑" panose="02010600040101010101" pitchFamily="2" charset="-122"/>
              </a:rPr>
              <a:t> </a:t>
            </a:r>
            <a:r>
              <a:rPr lang="zh-CN" altLang="en-US" sz="2400" dirty="0">
                <a:solidFill>
                  <a:srgbClr val="0000FF"/>
                </a:solidFill>
                <a:latin typeface="华文细黑" panose="02010600040101010101" pitchFamily="2" charset="-122"/>
                <a:ea typeface="华文细黑" panose="02010600040101010101" pitchFamily="2" charset="-122"/>
              </a:rPr>
              <a:t>称为</a:t>
            </a:r>
            <a:r>
              <a:rPr lang="zh-CN" altLang="en-US" sz="2400" dirty="0">
                <a:solidFill>
                  <a:srgbClr val="008000"/>
                </a:solidFill>
                <a:latin typeface="华文细黑" panose="02010600040101010101" pitchFamily="2" charset="-122"/>
                <a:ea typeface="华文细黑" panose="02010600040101010101" pitchFamily="2" charset="-122"/>
              </a:rPr>
              <a:t>漫射因子 。</a:t>
            </a:r>
            <a:endParaRPr lang="zh-CN" altLang="en-US" sz="2400" dirty="0">
              <a:solidFill>
                <a:srgbClr val="008000"/>
              </a:solidFill>
              <a:latin typeface="华文细黑" panose="02010600040101010101" pitchFamily="2" charset="-122"/>
              <a:ea typeface="华文细黑" panose="02010600040101010101" pitchFamily="2" charset="-122"/>
            </a:endParaRPr>
          </a:p>
        </p:txBody>
      </p:sp>
      <p:pic>
        <p:nvPicPr>
          <p:cNvPr id="23556" name="Picture 6"/>
          <p:cNvPicPr>
            <a:picLocks noChangeAspect="1"/>
          </p:cNvPicPr>
          <p:nvPr/>
        </p:nvPicPr>
        <p:blipFill>
          <a:blip r:embed="rId1"/>
          <a:srcRect r="3288"/>
          <a:stretch>
            <a:fillRect/>
          </a:stretch>
        </p:blipFill>
        <p:spPr>
          <a:xfrm>
            <a:off x="5000625" y="2174875"/>
            <a:ext cx="4071938" cy="3570288"/>
          </a:xfrm>
          <a:prstGeom prst="rect">
            <a:avLst/>
          </a:prstGeom>
          <a:noFill/>
          <a:ln w="9525">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TextBox 9"/>
          <p:cNvSpPr txBox="1"/>
          <p:nvPr/>
        </p:nvSpPr>
        <p:spPr>
          <a:xfrm>
            <a:off x="285750" y="6286500"/>
            <a:ext cx="8715375" cy="369888"/>
          </a:xfrm>
          <a:prstGeom prst="rect">
            <a:avLst/>
          </a:prstGeom>
          <a:solidFill>
            <a:schemeClr val="bg1"/>
          </a:solidFill>
          <a:ln w="9525">
            <a:noFill/>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endParaRPr lang="zh-CN" altLang="en-US" sz="1800" b="0" dirty="0">
              <a:latin typeface="Arial" panose="020B0604020202020204" pitchFamily="34" charset="0"/>
              <a:ea typeface="宋体" panose="02010600030101010101" pitchFamily="2" charset="-122"/>
            </a:endParaRPr>
          </a:p>
        </p:txBody>
      </p:sp>
      <p:sp>
        <p:nvSpPr>
          <p:cNvPr id="24579" name="Rectangle 2"/>
          <p:cNvSpPr>
            <a:spLocks noGrp="1"/>
          </p:cNvSpPr>
          <p:nvPr>
            <p:ph idx="1"/>
          </p:nvPr>
        </p:nvSpPr>
        <p:spPr>
          <a:xfrm>
            <a:off x="500063" y="1125538"/>
            <a:ext cx="8501062" cy="5715000"/>
          </a:xfrm>
          <a:ln/>
        </p:spPr>
        <p:txBody>
          <a:bodyPr vert="horz" wrap="square" lIns="91440" tIns="45720" rIns="91440" bIns="45720" anchor="t" anchorCtr="0"/>
          <a:p>
            <a:pPr marL="0" indent="0">
              <a:spcBef>
                <a:spcPct val="25000"/>
              </a:spcBef>
              <a:spcAft>
                <a:spcPct val="25000"/>
              </a:spcAft>
              <a:buFont typeface="Wingdings 2" pitchFamily="18" charset="2"/>
              <a:buNone/>
            </a:pPr>
            <a:r>
              <a:rPr lang="en-US" altLang="zh-CN" sz="3600" dirty="0">
                <a:latin typeface="Times New Roman" panose="02020603050405020304" pitchFamily="18" charset="0"/>
                <a:ea typeface="宋体" panose="02010600030101010101" pitchFamily="2" charset="-122"/>
              </a:rPr>
              <a:t>    </a:t>
            </a:r>
            <a:r>
              <a:rPr lang="en-US" altLang="zh-CN" dirty="0">
                <a:solidFill>
                  <a:srgbClr val="FF0000"/>
                </a:solidFill>
                <a:latin typeface="Times New Roman" panose="02020603050405020304" pitchFamily="18" charset="0"/>
                <a:ea typeface="宋体" panose="02010600030101010101" pitchFamily="2" charset="-122"/>
              </a:rPr>
              <a:t>OLR (Outgoing Longwave Radiation </a:t>
            </a:r>
            <a:r>
              <a:rPr lang="zh-CN" altLang="en-US" dirty="0">
                <a:solidFill>
                  <a:srgbClr val="FF0000"/>
                </a:solidFill>
                <a:latin typeface="Times New Roman" panose="02020603050405020304" pitchFamily="18" charset="0"/>
                <a:ea typeface="宋体" panose="02010600030101010101" pitchFamily="2" charset="-122"/>
              </a:rPr>
              <a:t>）</a:t>
            </a:r>
            <a:endParaRPr lang="zh-CN" altLang="en-US" dirty="0">
              <a:solidFill>
                <a:srgbClr val="FF0000"/>
              </a:solidFill>
              <a:latin typeface="Times New Roman" panose="02020603050405020304" pitchFamily="18" charset="0"/>
              <a:ea typeface="宋体" panose="02010600030101010101" pitchFamily="2" charset="-122"/>
            </a:endParaRPr>
          </a:p>
          <a:p>
            <a:pPr marL="0" indent="0">
              <a:spcBef>
                <a:spcPct val="25000"/>
              </a:spcBef>
              <a:spcAft>
                <a:spcPct val="25000"/>
              </a:spcAft>
              <a:buFont typeface="Wingdings 2" pitchFamily="18" charset="2"/>
              <a:buNone/>
            </a:pPr>
            <a:r>
              <a:rPr lang="zh-CN" altLang="en-US" sz="2200" dirty="0">
                <a:latin typeface="华文细黑" panose="02010600040101010101" pitchFamily="2" charset="-122"/>
                <a:ea typeface="华文细黑" panose="02010600040101010101" pitchFamily="2" charset="-122"/>
              </a:rPr>
              <a:t>假定地面为黑体，温度为</a:t>
            </a:r>
            <a:r>
              <a:rPr lang="en-US" altLang="zh-CN" sz="2200" i="1" dirty="0">
                <a:latin typeface="华文细黑" panose="02010600040101010101" pitchFamily="2" charset="-122"/>
                <a:ea typeface="华文细黑" panose="02010600040101010101" pitchFamily="2" charset="-122"/>
              </a:rPr>
              <a:t>T</a:t>
            </a:r>
            <a:r>
              <a:rPr lang="en-US" altLang="zh-CN" sz="2200" baseline="-30000" dirty="0">
                <a:latin typeface="华文细黑" panose="02010600040101010101" pitchFamily="2" charset="-122"/>
                <a:ea typeface="华文细黑" panose="02010600040101010101" pitchFamily="2" charset="-122"/>
              </a:rPr>
              <a:t>g</a:t>
            </a:r>
            <a:r>
              <a:rPr lang="en-US" altLang="zh-CN" sz="2200" dirty="0">
                <a:latin typeface="华文细黑" panose="02010600040101010101" pitchFamily="2" charset="-122"/>
                <a:ea typeface="华文细黑" panose="02010600040101010101" pitchFamily="2" charset="-122"/>
              </a:rPr>
              <a:t>，</a:t>
            </a:r>
            <a:r>
              <a:rPr lang="zh-CN" altLang="en-US" sz="2200" dirty="0">
                <a:latin typeface="华文细黑" panose="02010600040101010101" pitchFamily="2" charset="-122"/>
                <a:ea typeface="华文细黑" panose="02010600040101010101" pitchFamily="2" charset="-122"/>
              </a:rPr>
              <a:t>则有边界条件：</a:t>
            </a:r>
            <a:endParaRPr lang="zh-CN" altLang="en-US" sz="2200" dirty="0">
              <a:latin typeface="华文细黑" panose="02010600040101010101" pitchFamily="2" charset="-122"/>
              <a:ea typeface="华文细黑" panose="02010600040101010101" pitchFamily="2" charset="-122"/>
            </a:endParaRPr>
          </a:p>
          <a:p>
            <a:pPr marL="0" indent="0">
              <a:spcBef>
                <a:spcPct val="25000"/>
              </a:spcBef>
              <a:spcAft>
                <a:spcPct val="25000"/>
              </a:spcAft>
              <a:buFont typeface="Wingdings 2" pitchFamily="18" charset="2"/>
              <a:buNone/>
            </a:pPr>
            <a:r>
              <a:rPr lang="zh-CN" altLang="en-US" sz="2200" i="1" dirty="0">
                <a:solidFill>
                  <a:srgbClr val="080808"/>
                </a:solidFill>
                <a:latin typeface="Times New Roman" panose="02020603050405020304" pitchFamily="18" charset="0"/>
                <a:ea typeface="宋体" panose="02010600030101010101" pitchFamily="2" charset="-122"/>
                <a:sym typeface="Symbol" panose="05050102010706020507" pitchFamily="18" charset="2"/>
              </a:rPr>
              <a:t>           </a:t>
            </a:r>
            <a:r>
              <a:rPr lang="zh-CN" altLang="en-US" sz="2200" b="0" i="1" dirty="0">
                <a:solidFill>
                  <a:srgbClr val="080808"/>
                </a:solidFill>
                <a:latin typeface="Times New Roman" panose="02020603050405020304" pitchFamily="18" charset="0"/>
                <a:ea typeface="宋体" panose="02010600030101010101" pitchFamily="2" charset="-122"/>
                <a:sym typeface="Symbol" panose="05050102010706020507" pitchFamily="18" charset="2"/>
              </a:rPr>
              <a:t></a:t>
            </a:r>
            <a:r>
              <a:rPr lang="zh-CN" altLang="en-US" sz="2200" b="0" baseline="-30000" dirty="0">
                <a:solidFill>
                  <a:srgbClr val="080808"/>
                </a:solidFill>
                <a:latin typeface="Times New Roman" panose="02020603050405020304" pitchFamily="18" charset="0"/>
                <a:ea typeface="宋体" panose="02010600030101010101" pitchFamily="2" charset="-122"/>
              </a:rPr>
              <a:t> </a:t>
            </a:r>
            <a:r>
              <a:rPr lang="zh-CN" altLang="en-US" sz="2200" b="0" dirty="0">
                <a:solidFill>
                  <a:srgbClr val="080808"/>
                </a:solidFill>
                <a:latin typeface="Times New Roman" panose="02020603050405020304" pitchFamily="18" charset="0"/>
                <a:ea typeface="宋体" panose="02010600030101010101" pitchFamily="2" charset="-122"/>
              </a:rPr>
              <a:t>=</a:t>
            </a:r>
            <a:r>
              <a:rPr lang="zh-CN" altLang="en-US" sz="2200" b="0" i="1" dirty="0">
                <a:solidFill>
                  <a:srgbClr val="080808"/>
                </a:solidFill>
                <a:latin typeface="Times New Roman" panose="02020603050405020304" pitchFamily="18" charset="0"/>
                <a:ea typeface="宋体" panose="02010600030101010101" pitchFamily="2" charset="-122"/>
                <a:sym typeface="Symbol" panose="05050102010706020507" pitchFamily="18" charset="2"/>
              </a:rPr>
              <a:t></a:t>
            </a:r>
            <a:r>
              <a:rPr lang="zh-CN" altLang="en-US" sz="2200" b="0" baseline="-30000" dirty="0">
                <a:solidFill>
                  <a:srgbClr val="080808"/>
                </a:solidFill>
                <a:latin typeface="Times New Roman" panose="02020603050405020304" pitchFamily="18" charset="0"/>
                <a:ea typeface="宋体" panose="02010600030101010101" pitchFamily="2" charset="-122"/>
              </a:rPr>
              <a:t> 0</a:t>
            </a:r>
            <a:r>
              <a:rPr lang="zh-CN" altLang="en-US" sz="2200" b="0" dirty="0">
                <a:solidFill>
                  <a:srgbClr val="080808"/>
                </a:solidFill>
                <a:latin typeface="Times New Roman" panose="02020603050405020304" pitchFamily="18" charset="0"/>
                <a:ea typeface="宋体" panose="02010600030101010101" pitchFamily="2" charset="-122"/>
              </a:rPr>
              <a:t>处，</a:t>
            </a:r>
            <a:r>
              <a:rPr lang="en-US" altLang="zh-CN" sz="2200" b="0" i="1" dirty="0">
                <a:solidFill>
                  <a:srgbClr val="080808"/>
                </a:solidFill>
                <a:latin typeface="Times New Roman" panose="02020603050405020304" pitchFamily="18" charset="0"/>
                <a:ea typeface="宋体" panose="02010600030101010101" pitchFamily="2" charset="-122"/>
              </a:rPr>
              <a:t>L</a:t>
            </a:r>
            <a:r>
              <a:rPr lang="en-US" altLang="zh-CN" sz="2200" b="0" i="1" baseline="-30000" dirty="0">
                <a:solidFill>
                  <a:srgbClr val="080808"/>
                </a:solidFill>
                <a:latin typeface="Times New Roman" panose="02020603050405020304" pitchFamily="18" charset="0"/>
                <a:ea typeface="宋体" panose="02010600030101010101" pitchFamily="2" charset="-122"/>
                <a:sym typeface="Symbol" panose="05050102010706020507" pitchFamily="18" charset="2"/>
              </a:rPr>
              <a:t></a:t>
            </a:r>
            <a:r>
              <a:rPr lang="en-US" altLang="zh-CN" sz="2200" b="0" dirty="0">
                <a:solidFill>
                  <a:srgbClr val="080808"/>
                </a:solidFill>
                <a:latin typeface="Times New Roman" panose="02020603050405020304" pitchFamily="18" charset="0"/>
                <a:ea typeface="宋体" panose="02010600030101010101" pitchFamily="2" charset="-122"/>
              </a:rPr>
              <a:t> (</a:t>
            </a:r>
            <a:r>
              <a:rPr lang="en-US" altLang="zh-CN" sz="2200" b="0" i="1" dirty="0">
                <a:solidFill>
                  <a:srgbClr val="080808"/>
                </a:solidFill>
                <a:latin typeface="Times New Roman" panose="02020603050405020304" pitchFamily="18" charset="0"/>
                <a:ea typeface="宋体" panose="02010600030101010101" pitchFamily="2" charset="-122"/>
                <a:sym typeface="Symbol" panose="05050102010706020507" pitchFamily="18" charset="2"/>
              </a:rPr>
              <a:t></a:t>
            </a:r>
            <a:r>
              <a:rPr lang="en-US" altLang="zh-CN" sz="2200" b="0" baseline="-30000" dirty="0">
                <a:solidFill>
                  <a:srgbClr val="080808"/>
                </a:solidFill>
                <a:latin typeface="Times New Roman" panose="02020603050405020304" pitchFamily="18" charset="0"/>
                <a:ea typeface="宋体" panose="02010600030101010101" pitchFamily="2" charset="-122"/>
              </a:rPr>
              <a:t> 0</a:t>
            </a:r>
            <a:r>
              <a:rPr lang="en-US" altLang="zh-CN" sz="2200" b="0" dirty="0">
                <a:solidFill>
                  <a:srgbClr val="080808"/>
                </a:solidFill>
                <a:latin typeface="Times New Roman" panose="02020603050405020304" pitchFamily="18" charset="0"/>
                <a:ea typeface="宋体" panose="02010600030101010101" pitchFamily="2" charset="-122"/>
              </a:rPr>
              <a:t>)=</a:t>
            </a:r>
            <a:r>
              <a:rPr lang="en-US" altLang="zh-CN" sz="2200" b="0" i="1" dirty="0">
                <a:solidFill>
                  <a:srgbClr val="080808"/>
                </a:solidFill>
                <a:latin typeface="Times New Roman" panose="02020603050405020304" pitchFamily="18" charset="0"/>
                <a:ea typeface="宋体" panose="02010600030101010101" pitchFamily="2" charset="-122"/>
              </a:rPr>
              <a:t>B</a:t>
            </a:r>
            <a:r>
              <a:rPr lang="en-US" altLang="zh-CN" sz="2200" b="0" i="1" baseline="-30000" dirty="0">
                <a:solidFill>
                  <a:srgbClr val="080808"/>
                </a:solidFill>
                <a:latin typeface="Times New Roman" panose="02020603050405020304" pitchFamily="18" charset="0"/>
                <a:ea typeface="宋体" panose="02010600030101010101" pitchFamily="2" charset="-122"/>
                <a:sym typeface="Symbol" panose="05050102010706020507" pitchFamily="18" charset="2"/>
              </a:rPr>
              <a:t></a:t>
            </a:r>
            <a:r>
              <a:rPr lang="en-US" altLang="zh-CN" sz="2200" b="0" dirty="0">
                <a:solidFill>
                  <a:srgbClr val="080808"/>
                </a:solidFill>
                <a:latin typeface="Times New Roman" panose="02020603050405020304" pitchFamily="18" charset="0"/>
                <a:ea typeface="宋体" panose="02010600030101010101" pitchFamily="2" charset="-122"/>
              </a:rPr>
              <a:t>(</a:t>
            </a:r>
            <a:r>
              <a:rPr lang="en-US" altLang="zh-CN" sz="2200" b="0" i="1" dirty="0">
                <a:solidFill>
                  <a:srgbClr val="080808"/>
                </a:solidFill>
                <a:latin typeface="Times New Roman" panose="02020603050405020304" pitchFamily="18" charset="0"/>
                <a:ea typeface="宋体" panose="02010600030101010101" pitchFamily="2" charset="-122"/>
              </a:rPr>
              <a:t>T</a:t>
            </a:r>
            <a:r>
              <a:rPr lang="en-US" altLang="zh-CN" sz="2200" b="0" baseline="-30000" dirty="0">
                <a:solidFill>
                  <a:srgbClr val="080808"/>
                </a:solidFill>
                <a:latin typeface="Times New Roman" panose="02020603050405020304" pitchFamily="18" charset="0"/>
                <a:ea typeface="宋体" panose="02010600030101010101" pitchFamily="2" charset="-122"/>
              </a:rPr>
              <a:t>g</a:t>
            </a:r>
            <a:r>
              <a:rPr lang="en-US" altLang="zh-CN" sz="2200" b="0" dirty="0">
                <a:solidFill>
                  <a:srgbClr val="080808"/>
                </a:solidFill>
                <a:latin typeface="Times New Roman" panose="02020603050405020304" pitchFamily="18" charset="0"/>
                <a:ea typeface="宋体" panose="02010600030101010101" pitchFamily="2" charset="-122"/>
              </a:rPr>
              <a:t>)</a:t>
            </a:r>
            <a:endParaRPr lang="en-US" altLang="zh-CN" sz="2200" b="0" dirty="0">
              <a:latin typeface="Times New Roman" panose="02020603050405020304" pitchFamily="18" charset="0"/>
              <a:ea typeface="宋体" panose="02010600030101010101" pitchFamily="2" charset="-122"/>
            </a:endParaRPr>
          </a:p>
          <a:p>
            <a:pPr marL="0" indent="0">
              <a:spcBef>
                <a:spcPct val="25000"/>
              </a:spcBef>
              <a:spcAft>
                <a:spcPct val="25000"/>
              </a:spcAft>
              <a:buFont typeface="Wingdings 2" pitchFamily="18" charset="2"/>
              <a:buNone/>
            </a:pPr>
            <a:r>
              <a:rPr lang="zh-CN" altLang="en-US" sz="2200" dirty="0">
                <a:latin typeface="华文细黑" panose="02010600040101010101" pitchFamily="2" charset="-122"/>
                <a:ea typeface="华文细黑" panose="02010600040101010101" pitchFamily="2" charset="-122"/>
              </a:rPr>
              <a:t>根据长波辐射传输方程的解，大气顶         处向外单色幅亮度为</a:t>
            </a:r>
            <a:endParaRPr lang="zh-CN" altLang="en-US" sz="2200" dirty="0">
              <a:latin typeface="华文细黑" panose="02010600040101010101" pitchFamily="2" charset="-122"/>
              <a:ea typeface="华文细黑" panose="02010600040101010101" pitchFamily="2" charset="-122"/>
            </a:endParaRPr>
          </a:p>
          <a:p>
            <a:pPr marL="0" indent="0">
              <a:spcBef>
                <a:spcPct val="25000"/>
              </a:spcBef>
              <a:spcAft>
                <a:spcPct val="25000"/>
              </a:spcAft>
              <a:buFont typeface="Wingdings 2" pitchFamily="18" charset="2"/>
              <a:buNone/>
            </a:pPr>
            <a:endParaRPr lang="zh-CN" altLang="en-US" sz="2200" dirty="0">
              <a:latin typeface="Times New Roman" panose="02020603050405020304" pitchFamily="18" charset="0"/>
              <a:ea typeface="宋体" panose="02010600030101010101" pitchFamily="2" charset="-122"/>
            </a:endParaRPr>
          </a:p>
          <a:p>
            <a:pPr marL="0" indent="0">
              <a:spcBef>
                <a:spcPct val="25000"/>
              </a:spcBef>
              <a:spcAft>
                <a:spcPct val="25000"/>
              </a:spcAft>
              <a:buFont typeface="Wingdings 2" pitchFamily="18" charset="2"/>
              <a:buNone/>
            </a:pPr>
            <a:endParaRPr lang="zh-CN" altLang="en-US" sz="2200" dirty="0">
              <a:latin typeface="Times New Roman" panose="02020603050405020304" pitchFamily="18" charset="0"/>
              <a:ea typeface="宋体" panose="02010600030101010101" pitchFamily="2" charset="-122"/>
            </a:endParaRPr>
          </a:p>
          <a:p>
            <a:pPr marL="0" indent="0">
              <a:lnSpc>
                <a:spcPct val="120000"/>
              </a:lnSpc>
              <a:spcBef>
                <a:spcPts val="1800"/>
              </a:spcBef>
              <a:spcAft>
                <a:spcPct val="25000"/>
              </a:spcAft>
              <a:buFont typeface="Wingdings 2" pitchFamily="18" charset="2"/>
              <a:buNone/>
            </a:pPr>
            <a:r>
              <a:rPr lang="zh-CN" altLang="en-US" sz="2200" dirty="0">
                <a:latin typeface="华文细黑" panose="02010600040101010101" pitchFamily="2" charset="-122"/>
                <a:ea typeface="华文细黑" panose="02010600040101010101" pitchFamily="2" charset="-122"/>
              </a:rPr>
              <a:t>假设大气放射是</a:t>
            </a:r>
            <a:r>
              <a:rPr lang="zh-CN" altLang="en-US" sz="2200" dirty="0">
                <a:solidFill>
                  <a:srgbClr val="008000"/>
                </a:solidFill>
                <a:latin typeface="华文细黑" panose="02010600040101010101" pitchFamily="2" charset="-122"/>
                <a:ea typeface="华文细黑" panose="02010600040101010101" pitchFamily="2" charset="-122"/>
              </a:rPr>
              <a:t>各向同性</a:t>
            </a:r>
            <a:r>
              <a:rPr lang="zh-CN" altLang="en-US" sz="2200" dirty="0">
                <a:latin typeface="华文细黑" panose="02010600040101010101" pitchFamily="2" charset="-122"/>
                <a:ea typeface="华文细黑" panose="02010600040101010101" pitchFamily="2" charset="-122"/>
              </a:rPr>
              <a:t>的，对</a:t>
            </a:r>
            <a:r>
              <a:rPr lang="zh-CN" altLang="en-US" sz="2200" dirty="0">
                <a:solidFill>
                  <a:srgbClr val="008000"/>
                </a:solidFill>
                <a:latin typeface="华文细黑" panose="02010600040101010101" pitchFamily="2" charset="-122"/>
                <a:ea typeface="华文细黑" panose="02010600040101010101" pitchFamily="2" charset="-122"/>
              </a:rPr>
              <a:t>半球空间积分</a:t>
            </a:r>
            <a:r>
              <a:rPr lang="zh-CN" altLang="en-US" sz="2200" dirty="0">
                <a:latin typeface="华文细黑" panose="02010600040101010101" pitchFamily="2" charset="-122"/>
                <a:ea typeface="华文细黑" panose="02010600040101010101" pitchFamily="2" charset="-122"/>
              </a:rPr>
              <a:t>以后，可得到大气上界的单色辐射通量密度（5.5.18）</a:t>
            </a:r>
            <a:endParaRPr lang="zh-CN" altLang="en-US" sz="2200" dirty="0">
              <a:latin typeface="华文细黑" panose="02010600040101010101" pitchFamily="2" charset="-122"/>
              <a:ea typeface="华文细黑" panose="02010600040101010101" pitchFamily="2" charset="-122"/>
            </a:endParaRPr>
          </a:p>
        </p:txBody>
      </p:sp>
      <p:sp>
        <p:nvSpPr>
          <p:cNvPr id="24580" name="Rectangle 3"/>
          <p:cNvSpPr>
            <a:spLocks noGrp="1"/>
          </p:cNvSpPr>
          <p:nvPr>
            <p:ph type="title"/>
          </p:nvPr>
        </p:nvSpPr>
        <p:spPr>
          <a:xfrm>
            <a:off x="1409700" y="166688"/>
            <a:ext cx="7591425" cy="762000"/>
          </a:xfrm>
          <a:ln/>
        </p:spPr>
        <p:txBody>
          <a:bodyPr vert="horz" wrap="square" lIns="91440" tIns="45720" rIns="91440" bIns="45720" anchor="ctr" anchorCtr="0"/>
          <a:p>
            <a:pPr algn="ctr"/>
            <a:r>
              <a:rPr lang="en-US" altLang="zh-CN" sz="4000" dirty="0">
                <a:solidFill>
                  <a:srgbClr val="FFFF00"/>
                </a:solidFill>
                <a:latin typeface="黑体" panose="02010609060101010101" pitchFamily="49" charset="-122"/>
                <a:ea typeface="黑体" panose="02010609060101010101" pitchFamily="49" charset="-122"/>
              </a:rPr>
              <a:t>5.5.3 </a:t>
            </a:r>
            <a:r>
              <a:rPr lang="zh-CN" altLang="en-US" sz="4000" dirty="0">
                <a:solidFill>
                  <a:srgbClr val="FFFF00"/>
                </a:solidFill>
                <a:latin typeface="黑体" panose="02010609060101010101" pitchFamily="49" charset="-122"/>
                <a:ea typeface="黑体" panose="02010609060101010101" pitchFamily="49" charset="-122"/>
              </a:rPr>
              <a:t>大气顶部射出的长波辐射</a:t>
            </a:r>
            <a:endParaRPr lang="zh-CN" altLang="en-US" sz="4000" dirty="0">
              <a:solidFill>
                <a:srgbClr val="FFFF00"/>
              </a:solidFill>
              <a:latin typeface="黑体" panose="02010609060101010101" pitchFamily="49" charset="-122"/>
              <a:ea typeface="黑体" panose="02010609060101010101" pitchFamily="49" charset="-122"/>
            </a:endParaRPr>
          </a:p>
        </p:txBody>
      </p:sp>
      <p:graphicFrame>
        <p:nvGraphicFramePr>
          <p:cNvPr id="24581" name="Object 2"/>
          <p:cNvGraphicFramePr>
            <a:graphicFrameLocks noChangeAspect="1"/>
          </p:cNvGraphicFramePr>
          <p:nvPr/>
        </p:nvGraphicFramePr>
        <p:xfrm>
          <a:off x="5038725" y="2997200"/>
          <a:ext cx="685800" cy="360363"/>
        </p:xfrm>
        <a:graphic>
          <a:graphicData uri="http://schemas.openxmlformats.org/presentationml/2006/ole">
            <mc:AlternateContent xmlns:mc="http://schemas.openxmlformats.org/markup-compatibility/2006">
              <mc:Choice xmlns:v="urn:schemas-microsoft-com:vml" Requires="v">
                <p:oleObj spid="_x0000_s3085" name="" r:id="rId1" imgW="368300" imgH="177800" progId="Equation.DSMT4">
                  <p:embed/>
                </p:oleObj>
              </mc:Choice>
              <mc:Fallback>
                <p:oleObj name="" r:id="rId1" imgW="368300" imgH="177800" progId="Equation.DSMT4">
                  <p:embed/>
                  <p:pic>
                    <p:nvPicPr>
                      <p:cNvPr id="0" name="图片 3084"/>
                      <p:cNvPicPr/>
                      <p:nvPr/>
                    </p:nvPicPr>
                    <p:blipFill>
                      <a:blip r:embed="rId2"/>
                      <a:stretch>
                        <a:fillRect/>
                      </a:stretch>
                    </p:blipFill>
                    <p:spPr>
                      <a:xfrm>
                        <a:off x="5038725" y="2997200"/>
                        <a:ext cx="685800" cy="360363"/>
                      </a:xfrm>
                      <a:prstGeom prst="rect">
                        <a:avLst/>
                      </a:prstGeom>
                      <a:noFill/>
                      <a:ln w="38100">
                        <a:noFill/>
                        <a:miter/>
                      </a:ln>
                    </p:spPr>
                  </p:pic>
                </p:oleObj>
              </mc:Fallback>
            </mc:AlternateContent>
          </a:graphicData>
        </a:graphic>
      </p:graphicFrame>
      <p:sp>
        <p:nvSpPr>
          <p:cNvPr id="24582" name="AutoShape 9"/>
          <p:cNvSpPr/>
          <p:nvPr/>
        </p:nvSpPr>
        <p:spPr>
          <a:xfrm>
            <a:off x="7288213" y="6215063"/>
            <a:ext cx="596900" cy="304800"/>
          </a:xfrm>
          <a:prstGeom prst="rightArrow">
            <a:avLst>
              <a:gd name="adj1" fmla="val 50000"/>
              <a:gd name="adj2" fmla="val 80083"/>
            </a:avLst>
          </a:prstGeom>
          <a:solidFill>
            <a:srgbClr val="CC99FF"/>
          </a:solidFill>
          <a:ln w="9525" cap="flat" cmpd="sng">
            <a:solidFill>
              <a:schemeClr val="tx1"/>
            </a:solidFill>
            <a:prstDash val="solid"/>
            <a:miter/>
            <a:headEnd type="none" w="med" len="med"/>
            <a:tailEnd type="none" w="med" len="med"/>
          </a:ln>
        </p:spPr>
        <p:txBody>
          <a:bodyPr wrap="none" anchor="ctr" anchorCtr="0"/>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endParaRPr lang="zh-CN" altLang="en-US" sz="1800" b="0" dirty="0">
              <a:latin typeface="Arial" panose="020B0604020202020204" pitchFamily="34" charset="0"/>
              <a:ea typeface="宋体" panose="02010600030101010101" pitchFamily="2" charset="-122"/>
            </a:endParaRPr>
          </a:p>
        </p:txBody>
      </p:sp>
      <p:pic>
        <p:nvPicPr>
          <p:cNvPr id="24583" name="Picture 10"/>
          <p:cNvPicPr>
            <a:picLocks noChangeAspect="1"/>
          </p:cNvPicPr>
          <p:nvPr/>
        </p:nvPicPr>
        <p:blipFill>
          <a:blip r:embed="rId3"/>
          <a:stretch>
            <a:fillRect/>
          </a:stretch>
        </p:blipFill>
        <p:spPr>
          <a:xfrm>
            <a:off x="971550" y="3392488"/>
            <a:ext cx="6096000" cy="773112"/>
          </a:xfrm>
          <a:prstGeom prst="rect">
            <a:avLst/>
          </a:prstGeom>
          <a:noFill/>
          <a:ln w="9525">
            <a:noFill/>
          </a:ln>
        </p:spPr>
      </p:pic>
      <p:pic>
        <p:nvPicPr>
          <p:cNvPr id="24584" name="Picture 11"/>
          <p:cNvPicPr>
            <a:picLocks noChangeAspect="1"/>
          </p:cNvPicPr>
          <p:nvPr/>
        </p:nvPicPr>
        <p:blipFill>
          <a:blip r:embed="rId4"/>
          <a:stretch>
            <a:fillRect/>
          </a:stretch>
        </p:blipFill>
        <p:spPr>
          <a:xfrm>
            <a:off x="1957388" y="4005263"/>
            <a:ext cx="4343400" cy="706437"/>
          </a:xfrm>
          <a:prstGeom prst="rect">
            <a:avLst/>
          </a:prstGeom>
          <a:noFill/>
          <a:ln w="9525">
            <a:noFill/>
          </a:ln>
        </p:spPr>
      </p:pic>
      <p:pic>
        <p:nvPicPr>
          <p:cNvPr id="24585" name="Picture 14"/>
          <p:cNvPicPr>
            <a:picLocks noChangeAspect="1"/>
          </p:cNvPicPr>
          <p:nvPr/>
        </p:nvPicPr>
        <p:blipFill>
          <a:blip r:embed="rId5"/>
          <a:stretch>
            <a:fillRect/>
          </a:stretch>
        </p:blipFill>
        <p:spPr>
          <a:xfrm>
            <a:off x="1141413" y="5500688"/>
            <a:ext cx="3962400" cy="554037"/>
          </a:xfrm>
          <a:prstGeom prst="rect">
            <a:avLst/>
          </a:prstGeom>
          <a:noFill/>
          <a:ln w="9525">
            <a:noFill/>
          </a:ln>
        </p:spPr>
      </p:pic>
      <p:pic>
        <p:nvPicPr>
          <p:cNvPr id="24586" name="Picture 15"/>
          <p:cNvPicPr>
            <a:picLocks noChangeAspect="1"/>
          </p:cNvPicPr>
          <p:nvPr/>
        </p:nvPicPr>
        <p:blipFill>
          <a:blip r:embed="rId6"/>
          <a:stretch>
            <a:fillRect/>
          </a:stretch>
        </p:blipFill>
        <p:spPr>
          <a:xfrm>
            <a:off x="1763713" y="6076950"/>
            <a:ext cx="5105400" cy="608013"/>
          </a:xfrm>
          <a:prstGeom prst="rect">
            <a:avLst/>
          </a:prstGeom>
          <a:noFill/>
          <a:ln w="9525">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6626" name="Object 8"/>
          <p:cNvGraphicFramePr>
            <a:graphicFrameLocks noChangeAspect="1"/>
          </p:cNvGraphicFramePr>
          <p:nvPr/>
        </p:nvGraphicFramePr>
        <p:xfrm>
          <a:off x="755650" y="1700213"/>
          <a:ext cx="6985000" cy="1657350"/>
        </p:xfrm>
        <a:graphic>
          <a:graphicData uri="http://schemas.openxmlformats.org/presentationml/2006/ole">
            <mc:AlternateContent xmlns:mc="http://schemas.openxmlformats.org/markup-compatibility/2006">
              <mc:Choice xmlns:v="urn:schemas-microsoft-com:vml" Requires="v">
                <p:oleObj spid="_x0000_s3082" name="" r:id="rId1" imgW="3314700" imgH="787400" progId="Equation.3">
                  <p:embed/>
                </p:oleObj>
              </mc:Choice>
              <mc:Fallback>
                <p:oleObj name="" r:id="rId1" imgW="3314700" imgH="787400" progId="Equation.3">
                  <p:embed/>
                  <p:pic>
                    <p:nvPicPr>
                      <p:cNvPr id="0" name="图片 3081"/>
                      <p:cNvPicPr/>
                      <p:nvPr/>
                    </p:nvPicPr>
                    <p:blipFill>
                      <a:blip r:embed="rId2"/>
                      <a:stretch>
                        <a:fillRect/>
                      </a:stretch>
                    </p:blipFill>
                    <p:spPr>
                      <a:xfrm>
                        <a:off x="755650" y="1700213"/>
                        <a:ext cx="6985000" cy="1657350"/>
                      </a:xfrm>
                      <a:prstGeom prst="rect">
                        <a:avLst/>
                      </a:prstGeom>
                      <a:solidFill>
                        <a:srgbClr val="CED9F6"/>
                      </a:solidFill>
                      <a:ln w="38100">
                        <a:noFill/>
                        <a:miter/>
                      </a:ln>
                    </p:spPr>
                  </p:pic>
                </p:oleObj>
              </mc:Fallback>
            </mc:AlternateContent>
          </a:graphicData>
        </a:graphic>
      </p:graphicFrame>
      <p:sp>
        <p:nvSpPr>
          <p:cNvPr id="26627" name="Oval 9"/>
          <p:cNvSpPr/>
          <p:nvPr/>
        </p:nvSpPr>
        <p:spPr>
          <a:xfrm>
            <a:off x="1979613" y="2565400"/>
            <a:ext cx="1944687" cy="719138"/>
          </a:xfrm>
          <a:prstGeom prst="ellipse">
            <a:avLst/>
          </a:prstGeom>
          <a:noFill/>
          <a:ln w="47625" cap="rnd" cmpd="sng">
            <a:solidFill>
              <a:srgbClr val="FF0000"/>
            </a:solidFill>
            <a:prstDash val="sysDot"/>
            <a:headEnd type="none" w="med" len="med"/>
            <a:tailEnd type="none" w="med" len="med"/>
          </a:ln>
        </p:spPr>
        <p:txBody>
          <a:bodyPr wrap="none" lIns="92075" tIns="46038" rIns="92075" bIns="46038" anchor="ctr" anchorCtr="0">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endParaRPr lang="en-US" altLang="zh-CN" sz="1800" b="0" dirty="0">
              <a:latin typeface="Arial" panose="020B0604020202020204" pitchFamily="34" charset="0"/>
              <a:ea typeface="宋体" panose="02010600030101010101" pitchFamily="2" charset="-122"/>
            </a:endParaRPr>
          </a:p>
        </p:txBody>
      </p:sp>
      <p:sp>
        <p:nvSpPr>
          <p:cNvPr id="26628" name="AutoShape 10"/>
          <p:cNvSpPr/>
          <p:nvPr/>
        </p:nvSpPr>
        <p:spPr>
          <a:xfrm rot="10800000">
            <a:off x="827088" y="3789363"/>
            <a:ext cx="1993900" cy="576262"/>
          </a:xfrm>
          <a:prstGeom prst="accentBorderCallout2">
            <a:avLst>
              <a:gd name="adj1" fmla="val 80162"/>
              <a:gd name="adj2" fmla="val -3824"/>
              <a:gd name="adj3" fmla="val 80162"/>
              <a:gd name="adj4" fmla="val -6847"/>
              <a:gd name="adj5" fmla="val 188426"/>
              <a:gd name="adj6" fmla="val -17838"/>
            </a:avLst>
          </a:prstGeom>
          <a:noFill/>
          <a:ln w="9525" cap="flat" cmpd="sng">
            <a:solidFill>
              <a:srgbClr val="FF0000"/>
            </a:solidFill>
            <a:prstDash val="solid"/>
            <a:miter/>
            <a:headEnd type="none" w="med" len="med"/>
            <a:tailEnd type="none" w="med" len="med"/>
          </a:ln>
        </p:spPr>
        <p:txBody>
          <a:bodyPr rot="10800000" lIns="92075" tIns="46038" rIns="92075" bIns="46038"/>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990600" lvl="0" indent="-533400" eaLnBrk="1" hangingPunct="1">
              <a:spcBef>
                <a:spcPct val="0"/>
              </a:spcBef>
              <a:buClrTx/>
              <a:buFont typeface="Arial" panose="020B0604020202020204" pitchFamily="34" charset="0"/>
              <a:buNone/>
            </a:pPr>
            <a:r>
              <a:rPr lang="zh-CN" altLang="en-US" sz="2400" dirty="0">
                <a:solidFill>
                  <a:srgbClr val="0000FF"/>
                </a:solidFill>
                <a:latin typeface="华文细黑" panose="02010600040101010101" pitchFamily="2" charset="-122"/>
                <a:ea typeface="华文细黑" panose="02010600040101010101" pitchFamily="2" charset="-122"/>
              </a:rPr>
              <a:t>地表辐射</a:t>
            </a:r>
            <a:endParaRPr lang="en-US" altLang="zh-CN" sz="2400" dirty="0">
              <a:solidFill>
                <a:srgbClr val="0000FF"/>
              </a:solidFill>
              <a:latin typeface="华文细黑" panose="02010600040101010101" pitchFamily="2" charset="-122"/>
              <a:ea typeface="华文细黑" panose="02010600040101010101" pitchFamily="2" charset="-122"/>
            </a:endParaRPr>
          </a:p>
        </p:txBody>
      </p:sp>
      <p:sp>
        <p:nvSpPr>
          <p:cNvPr id="26629" name="Oval 11"/>
          <p:cNvSpPr/>
          <p:nvPr/>
        </p:nvSpPr>
        <p:spPr>
          <a:xfrm>
            <a:off x="4283075" y="2565400"/>
            <a:ext cx="3168650" cy="719138"/>
          </a:xfrm>
          <a:prstGeom prst="ellipse">
            <a:avLst/>
          </a:prstGeom>
          <a:noFill/>
          <a:ln w="47625" cap="rnd" cmpd="sng">
            <a:solidFill>
              <a:srgbClr val="0000FF"/>
            </a:solidFill>
            <a:prstDash val="sysDot"/>
            <a:headEnd type="none" w="med" len="med"/>
            <a:tailEnd type="none" w="med" len="med"/>
          </a:ln>
        </p:spPr>
        <p:txBody>
          <a:bodyPr lIns="92075" tIns="46038" rIns="92075" bIns="46038" anchor="ctr" anchorCtr="0">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endParaRPr lang="en-US" altLang="zh-CN" sz="1800" b="0" dirty="0">
              <a:latin typeface="Arial" panose="020B0604020202020204" pitchFamily="34" charset="0"/>
              <a:ea typeface="宋体" panose="02010600030101010101" pitchFamily="2" charset="-122"/>
            </a:endParaRPr>
          </a:p>
        </p:txBody>
      </p:sp>
      <p:sp>
        <p:nvSpPr>
          <p:cNvPr id="26630" name="AutoShape 13"/>
          <p:cNvSpPr/>
          <p:nvPr/>
        </p:nvSpPr>
        <p:spPr>
          <a:xfrm rot="10800000">
            <a:off x="4449763" y="3717925"/>
            <a:ext cx="2425700" cy="576263"/>
          </a:xfrm>
          <a:prstGeom prst="accentBorderCallout2">
            <a:avLst>
              <a:gd name="adj1" fmla="val 80162"/>
              <a:gd name="adj2" fmla="val -3144"/>
              <a:gd name="adj3" fmla="val 80162"/>
              <a:gd name="adj4" fmla="val -3796"/>
              <a:gd name="adj5" fmla="val 193662"/>
              <a:gd name="adj6" fmla="val -6153"/>
            </a:avLst>
          </a:prstGeom>
          <a:noFill/>
          <a:ln w="25400" cap="flat" cmpd="sng">
            <a:solidFill>
              <a:srgbClr val="0000FF"/>
            </a:solidFill>
            <a:prstDash val="solid"/>
            <a:miter/>
            <a:headEnd type="none" w="med" len="med"/>
            <a:tailEnd type="none" w="med" len="med"/>
          </a:ln>
        </p:spPr>
        <p:txBody>
          <a:bodyPr rot="10800000" wrap="none" lIns="93600" tIns="46800" rIns="93600" bIns="46800"/>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990600" lvl="0" indent="-533400" eaLnBrk="1" hangingPunct="1">
              <a:spcBef>
                <a:spcPct val="0"/>
              </a:spcBef>
              <a:buClrTx/>
              <a:buFont typeface="Arial" panose="020B0604020202020204" pitchFamily="34" charset="0"/>
              <a:buNone/>
            </a:pPr>
            <a:endParaRPr lang="en-US" altLang="zh-CN" sz="2400" dirty="0">
              <a:solidFill>
                <a:srgbClr val="0000FF"/>
              </a:solidFill>
              <a:latin typeface="Arial" panose="020B0604020202020204" pitchFamily="34" charset="0"/>
              <a:ea typeface="宋体" panose="02010600030101010101" pitchFamily="2" charset="-122"/>
            </a:endParaRPr>
          </a:p>
        </p:txBody>
      </p:sp>
      <p:pic>
        <p:nvPicPr>
          <p:cNvPr id="26631" name="Picture 5"/>
          <p:cNvPicPr>
            <a:picLocks noChangeAspect="1"/>
          </p:cNvPicPr>
          <p:nvPr/>
        </p:nvPicPr>
        <p:blipFill>
          <a:blip r:embed="rId3"/>
          <a:stretch>
            <a:fillRect/>
          </a:stretch>
        </p:blipFill>
        <p:spPr>
          <a:xfrm>
            <a:off x="533400" y="4989513"/>
            <a:ext cx="8610600" cy="1247775"/>
          </a:xfrm>
          <a:prstGeom prst="rect">
            <a:avLst/>
          </a:prstGeom>
          <a:noFill/>
          <a:ln w="9525">
            <a:noFill/>
          </a:ln>
        </p:spPr>
      </p:pic>
      <p:sp>
        <p:nvSpPr>
          <p:cNvPr id="26632" name="Rectangle 2"/>
          <p:cNvSpPr txBox="1"/>
          <p:nvPr/>
        </p:nvSpPr>
        <p:spPr>
          <a:xfrm>
            <a:off x="1357313" y="95250"/>
            <a:ext cx="7572375" cy="762000"/>
          </a:xfrm>
          <a:prstGeom prst="rect">
            <a:avLst/>
          </a:prstGeom>
          <a:noFill/>
          <a:ln w="9525">
            <a:noFill/>
          </a:ln>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algn="ctr">
              <a:spcBef>
                <a:spcPct val="0"/>
              </a:spcBef>
              <a:buClrTx/>
              <a:buFont typeface="Arial" panose="020B0604020202020204" pitchFamily="34" charset="0"/>
              <a:buNone/>
            </a:pPr>
            <a:r>
              <a:rPr lang="en-US" altLang="zh-CN" sz="4400" dirty="0">
                <a:solidFill>
                  <a:srgbClr val="FFFF00"/>
                </a:solidFill>
                <a:latin typeface="楷体_GB2312" pitchFamily="49" charset="-122"/>
                <a:ea typeface="楷体_GB2312" pitchFamily="49" charset="-122"/>
              </a:rPr>
              <a:t>OLR</a:t>
            </a:r>
            <a:endParaRPr lang="en-US" altLang="zh-CN" sz="4400" dirty="0">
              <a:solidFill>
                <a:srgbClr val="FFFF00"/>
              </a:solidFill>
              <a:latin typeface="楷体_GB2312" pitchFamily="49" charset="-122"/>
              <a:ea typeface="楷体_GB2312" pitchFamily="49" charset="-122"/>
            </a:endParaRPr>
          </a:p>
        </p:txBody>
      </p:sp>
      <p:sp>
        <p:nvSpPr>
          <p:cNvPr id="26633" name="TextBox 1"/>
          <p:cNvSpPr txBox="1"/>
          <p:nvPr/>
        </p:nvSpPr>
        <p:spPr>
          <a:xfrm>
            <a:off x="4427538" y="3790950"/>
            <a:ext cx="3313112" cy="430213"/>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b="1">
                <a:solidFill>
                  <a:schemeClr val="tx1"/>
                </a:solidFill>
                <a:latin typeface="Arial" panose="020B0604020202020204" pitchFamily="34" charset="0"/>
              </a:defRPr>
            </a:lvl5pPr>
          </a:lstStyle>
          <a:p>
            <a:pPr marL="0" lvl="0" indent="0" eaLnBrk="1" hangingPunct="1">
              <a:spcBef>
                <a:spcPct val="0"/>
              </a:spcBef>
              <a:buClrTx/>
              <a:buFont typeface="Arial" panose="020B0604020202020204" pitchFamily="34" charset="0"/>
              <a:buNone/>
            </a:pPr>
            <a:r>
              <a:rPr lang="zh-CN" altLang="en-US" sz="2200" dirty="0">
                <a:solidFill>
                  <a:srgbClr val="0000FF"/>
                </a:solidFill>
                <a:latin typeface="华文细黑" panose="02010600040101010101" pitchFamily="2" charset="-122"/>
                <a:ea typeface="华文细黑" panose="02010600040101010101" pitchFamily="2" charset="-122"/>
              </a:rPr>
              <a:t>大气的辐射和吸收</a:t>
            </a:r>
            <a:endParaRPr lang="en-US" altLang="zh-CN" sz="2200" dirty="0">
              <a:solidFill>
                <a:srgbClr val="0000FF"/>
              </a:solidFill>
              <a:latin typeface="华文细黑" panose="02010600040101010101" pitchFamily="2" charset="-122"/>
              <a:ea typeface="华文细黑" panose="02010600040101010101" pitchFamily="2"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Rectangle 2"/>
          <p:cNvSpPr>
            <a:spLocks noGrp="1"/>
          </p:cNvSpPr>
          <p:nvPr>
            <p:ph type="title"/>
          </p:nvPr>
        </p:nvSpPr>
        <p:spPr>
          <a:xfrm>
            <a:off x="1357313" y="233363"/>
            <a:ext cx="7572375" cy="563562"/>
          </a:xfrm>
          <a:ln/>
        </p:spPr>
        <p:txBody>
          <a:bodyPr vert="horz" wrap="square" lIns="91440" tIns="45720" rIns="91440" bIns="45720" anchor="ctr" anchorCtr="0"/>
          <a:p>
            <a:pPr algn="ctr"/>
            <a:r>
              <a:rPr lang="zh-CN" altLang="en-US" sz="4400" dirty="0">
                <a:solidFill>
                  <a:srgbClr val="FFFF00"/>
                </a:solidFill>
                <a:latin typeface="黑体" panose="02010609060101010101" pitchFamily="49" charset="-122"/>
                <a:ea typeface="黑体" panose="02010609060101010101" pitchFamily="49" charset="-122"/>
              </a:rPr>
              <a:t>大气顶射出的长波辐射</a:t>
            </a:r>
            <a:endParaRPr lang="zh-CN" altLang="en-US" sz="4400" dirty="0">
              <a:solidFill>
                <a:srgbClr val="FFFF00"/>
              </a:solidFill>
              <a:latin typeface="黑体" panose="02010609060101010101" pitchFamily="49" charset="-122"/>
              <a:ea typeface="黑体" panose="02010609060101010101" pitchFamily="49" charset="-122"/>
            </a:endParaRPr>
          </a:p>
        </p:txBody>
      </p:sp>
      <p:sp>
        <p:nvSpPr>
          <p:cNvPr id="27651" name="Rectangle 3"/>
          <p:cNvSpPr>
            <a:spLocks noGrp="1"/>
          </p:cNvSpPr>
          <p:nvPr>
            <p:ph idx="1"/>
          </p:nvPr>
        </p:nvSpPr>
        <p:spPr>
          <a:xfrm>
            <a:off x="457200" y="1531938"/>
            <a:ext cx="8229600" cy="5040312"/>
          </a:xfrm>
          <a:ln/>
        </p:spPr>
        <p:txBody>
          <a:bodyPr vert="horz" wrap="square" lIns="91440" tIns="45720" rIns="91440" bIns="45720" anchor="t" anchorCtr="0"/>
          <a:p>
            <a:pPr>
              <a:lnSpc>
                <a:spcPct val="130000"/>
              </a:lnSpc>
              <a:spcAft>
                <a:spcPts val="1200"/>
              </a:spcAft>
            </a:pPr>
            <a:r>
              <a:rPr lang="zh-CN" altLang="en-US" sz="2600" dirty="0">
                <a:solidFill>
                  <a:srgbClr val="0000FF"/>
                </a:solidFill>
                <a:latin typeface="华文细黑" panose="02010600040101010101" pitchFamily="2" charset="-122"/>
                <a:ea typeface="华文细黑" panose="02010600040101010101" pitchFamily="2" charset="-122"/>
              </a:rPr>
              <a:t>在推导前面的公式时请特别注意其物理意义:</a:t>
            </a:r>
            <a:endParaRPr lang="zh-CN" altLang="en-US" sz="2600" dirty="0">
              <a:solidFill>
                <a:srgbClr val="0000FF"/>
              </a:solidFill>
              <a:latin typeface="华文细黑" panose="02010600040101010101" pitchFamily="2" charset="-122"/>
              <a:ea typeface="华文细黑" panose="02010600040101010101" pitchFamily="2" charset="-122"/>
            </a:endParaRPr>
          </a:p>
          <a:p>
            <a:pPr>
              <a:lnSpc>
                <a:spcPct val="130000"/>
              </a:lnSpc>
              <a:buFont typeface="Wingdings 2" pitchFamily="18" charset="2"/>
              <a:buNone/>
            </a:pPr>
            <a:r>
              <a:rPr lang="zh-CN" altLang="en-US" sz="2600" dirty="0">
                <a:solidFill>
                  <a:srgbClr val="0000FF"/>
                </a:solidFill>
                <a:latin typeface="华文细黑" panose="02010600040101010101" pitchFamily="2" charset="-122"/>
                <a:ea typeface="华文细黑" panose="02010600040101010101" pitchFamily="2" charset="-122"/>
              </a:rPr>
              <a:t>① 各高度上发射的长波辐射量为该点温度所对应的黑体辐射量乘以其比辐射率（吸收率）。</a:t>
            </a:r>
            <a:endParaRPr lang="zh-CN" altLang="en-US" sz="2600" dirty="0">
              <a:solidFill>
                <a:srgbClr val="0000FF"/>
              </a:solidFill>
              <a:latin typeface="华文细黑" panose="02010600040101010101" pitchFamily="2" charset="-122"/>
              <a:ea typeface="华文细黑" panose="02010600040101010101" pitchFamily="2" charset="-122"/>
            </a:endParaRPr>
          </a:p>
          <a:p>
            <a:pPr>
              <a:lnSpc>
                <a:spcPct val="130000"/>
              </a:lnSpc>
              <a:buFont typeface="Wingdings 2" pitchFamily="18" charset="2"/>
              <a:buNone/>
            </a:pPr>
            <a:r>
              <a:rPr lang="zh-CN" altLang="en-US" sz="2600" dirty="0">
                <a:solidFill>
                  <a:srgbClr val="0000FF"/>
                </a:solidFill>
                <a:latin typeface="华文细黑" panose="02010600040101010101" pitchFamily="2" charset="-122"/>
                <a:ea typeface="华文细黑" panose="02010600040101010101" pitchFamily="2" charset="-122"/>
              </a:rPr>
              <a:t>② 这一辐射在传输到大气上界时要受到它上部各层大气的吸收衰减。</a:t>
            </a:r>
            <a:endParaRPr lang="zh-CN" altLang="en-US" sz="2600" dirty="0">
              <a:solidFill>
                <a:srgbClr val="0000FF"/>
              </a:solidFill>
              <a:latin typeface="华文细黑" panose="02010600040101010101" pitchFamily="2" charset="-122"/>
              <a:ea typeface="华文细黑" panose="02010600040101010101" pitchFamily="2" charset="-122"/>
            </a:endParaRPr>
          </a:p>
          <a:p>
            <a:pPr>
              <a:lnSpc>
                <a:spcPct val="130000"/>
              </a:lnSpc>
              <a:buFont typeface="Wingdings 2" pitchFamily="18" charset="2"/>
              <a:buNone/>
            </a:pPr>
            <a:r>
              <a:rPr lang="zh-CN" altLang="en-US" sz="2600" dirty="0">
                <a:solidFill>
                  <a:srgbClr val="0000FF"/>
                </a:solidFill>
                <a:latin typeface="华文细黑" panose="02010600040101010101" pitchFamily="2" charset="-122"/>
                <a:ea typeface="华文细黑" panose="02010600040101010101" pitchFamily="2" charset="-122"/>
              </a:rPr>
              <a:t>③ 大气层顶部的出射辐射是地面和各层大气辐射之和。</a:t>
            </a:r>
            <a:endParaRPr lang="zh-CN" altLang="en-US" sz="2600" dirty="0">
              <a:solidFill>
                <a:srgbClr val="0000FF"/>
              </a:solidFill>
              <a:latin typeface="华文细黑" panose="02010600040101010101" pitchFamily="2" charset="-122"/>
              <a:ea typeface="华文细黑" panose="02010600040101010101" pitchFamily="2" charset="-122"/>
            </a:endParaRPr>
          </a:p>
          <a:p>
            <a:pPr>
              <a:lnSpc>
                <a:spcPct val="130000"/>
              </a:lnSpc>
              <a:buFont typeface="Wingdings 2" pitchFamily="18" charset="2"/>
              <a:buNone/>
            </a:pPr>
            <a:r>
              <a:rPr lang="zh-CN" altLang="en-US" sz="2600" dirty="0">
                <a:solidFill>
                  <a:srgbClr val="0000FF"/>
                </a:solidFill>
                <a:latin typeface="华文细黑" panose="02010600040101010101" pitchFamily="2" charset="-122"/>
                <a:ea typeface="华文细黑" panose="02010600040101010101" pitchFamily="2" charset="-122"/>
              </a:rPr>
              <a:t>④ 地球大气顶部总的长波出射辐射（</a:t>
            </a:r>
            <a:r>
              <a:rPr lang="en-US" altLang="zh-CN" sz="2600" dirty="0">
                <a:solidFill>
                  <a:srgbClr val="0000FF"/>
                </a:solidFill>
                <a:latin typeface="华文细黑" panose="02010600040101010101" pitchFamily="2" charset="-122"/>
                <a:ea typeface="华文细黑" panose="02010600040101010101" pitchFamily="2" charset="-122"/>
              </a:rPr>
              <a:t>OLR）</a:t>
            </a:r>
            <a:r>
              <a:rPr lang="zh-CN" altLang="en-US" sz="2600" dirty="0">
                <a:solidFill>
                  <a:srgbClr val="0000FF"/>
                </a:solidFill>
                <a:latin typeface="华文细黑" panose="02010600040101010101" pitchFamily="2" charset="-122"/>
                <a:ea typeface="华文细黑" panose="02010600040101010101" pitchFamily="2" charset="-122"/>
              </a:rPr>
              <a:t>为各波长出射辐射之和。</a:t>
            </a:r>
            <a:endParaRPr lang="zh-CN" altLang="en-US" sz="2600" dirty="0">
              <a:solidFill>
                <a:srgbClr val="0000FF"/>
              </a:solidFill>
              <a:latin typeface="华文细黑" panose="02010600040101010101" pitchFamily="2" charset="-122"/>
              <a:ea typeface="华文细黑" panose="02010600040101010101" pitchFamily="2"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WordArt 3"/>
          <p:cNvSpPr>
            <a:spLocks noTextEdit="1"/>
          </p:cNvSpPr>
          <p:nvPr/>
        </p:nvSpPr>
        <p:spPr>
          <a:xfrm>
            <a:off x="3995738" y="1989138"/>
            <a:ext cx="1173162" cy="1008062"/>
          </a:xfrm>
          <a:prstGeom prst="rect">
            <a:avLst/>
          </a:prstGeom>
        </p:spPr>
        <p:txBody>
          <a:bodyPr wrap="none" fromWordArt="1">
            <a:prstTxWarp prst="textDeflate">
              <a:avLst>
                <a:gd name="adj" fmla="val 0"/>
              </a:avLst>
            </a:prstTxWarp>
            <a:normAutofit/>
          </a:bodyPr>
          <a:p>
            <a:pPr algn="ctr"/>
            <a:r>
              <a:rPr lang="zh-CN" altLang="en-US" sz="3600" b="1">
                <a:ln w="28575" cap="flat" cmpd="sng">
                  <a:solidFill>
                    <a:schemeClr val="bg1"/>
                  </a:solidFill>
                  <a:prstDash val="solid"/>
                  <a:headEnd type="none" w="med" len="med"/>
                  <a:tailEnd type="none" w="med" len="med"/>
                </a:ln>
                <a:solidFill>
                  <a:schemeClr val="folHlink">
                    <a:alpha val="76862"/>
                  </a:schemeClr>
                </a:solidFill>
                <a:effectLst>
                  <a:outerShdw dist="89803" dir="2699999" algn="ctr" rotWithShape="0">
                    <a:schemeClr val="tx2">
                      <a:alpha val="50000"/>
                    </a:schemeClr>
                  </a:outerShdw>
                </a:effectLst>
                <a:latin typeface="+mn-ea" charset="0"/>
                <a:ea typeface="+mn-ea" charset="0"/>
              </a:rPr>
              <a:t>完</a:t>
            </a:r>
            <a:endParaRPr lang="zh-CN" altLang="en-US" sz="3600" b="1">
              <a:ln w="28575" cap="flat" cmpd="sng">
                <a:solidFill>
                  <a:schemeClr val="bg1"/>
                </a:solidFill>
                <a:prstDash val="solid"/>
                <a:headEnd type="none" w="med" len="med"/>
                <a:tailEnd type="none" w="med" len="med"/>
              </a:ln>
              <a:solidFill>
                <a:schemeClr val="folHlink">
                  <a:alpha val="76862"/>
                </a:schemeClr>
              </a:solidFill>
              <a:effectLst>
                <a:outerShdw dist="89803" dir="2699999" algn="ctr" rotWithShape="0">
                  <a:schemeClr val="tx2">
                    <a:alpha val="50000"/>
                  </a:schemeClr>
                </a:outerShdw>
              </a:effectLst>
              <a:latin typeface="+mn-ea" charset="0"/>
              <a:ea typeface="+mn-ea"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8674"/>
                                        </p:tgtEl>
                                        <p:attrNameLst>
                                          <p:attrName>style.visibility</p:attrName>
                                        </p:attrNameLst>
                                      </p:cBhvr>
                                      <p:to>
                                        <p:strVal val="visible"/>
                                      </p:to>
                                    </p:set>
                                    <p:anim calcmode="lin" valueType="num">
                                      <p:cBhvr>
                                        <p:cTn id="7" dur="500" fill="hold"/>
                                        <p:tgtEl>
                                          <p:spTgt spid="28674"/>
                                        </p:tgtEl>
                                        <p:attrNameLst>
                                          <p:attrName>ppt_w</p:attrName>
                                        </p:attrNameLst>
                                      </p:cBhvr>
                                      <p:tavLst>
                                        <p:tav tm="0">
                                          <p:val>
                                            <p:fltVal val="0.000000"/>
                                          </p:val>
                                        </p:tav>
                                        <p:tav tm="100000">
                                          <p:val>
                                            <p:strVal val="#ppt_w"/>
                                          </p:val>
                                        </p:tav>
                                      </p:tavLst>
                                    </p:anim>
                                    <p:anim calcmode="lin" valueType="num">
                                      <p:cBhvr>
                                        <p:cTn id="8" dur="500" fill="hold"/>
                                        <p:tgtEl>
                                          <p:spTgt spid="28674"/>
                                        </p:tgtEl>
                                        <p:attrNameLst>
                                          <p:attrName>ppt_h</p:attrName>
                                        </p:attrNameLst>
                                      </p:cBhvr>
                                      <p:tavLst>
                                        <p:tav tm="0">
                                          <p:val>
                                            <p:fltVal val="0.000000"/>
                                          </p:val>
                                        </p:tav>
                                        <p:tav tm="100000">
                                          <p:val>
                                            <p:strVal val="#ppt_h"/>
                                          </p:val>
                                        </p:tav>
                                      </p:tavLst>
                                    </p:anim>
                                    <p:animEffect transition="in" filter="fade">
                                      <p:cBhvr>
                                        <p:cTn id="9" dur="500"/>
                                        <p:tgtEl>
                                          <p:spTgt spid="286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db2004132l">
  <a:themeElements>
    <a:clrScheme name="cdb2004132l 3">
      <a:dk1>
        <a:srgbClr val="1A1A70"/>
      </a:dk1>
      <a:lt1>
        <a:srgbClr val="FFFFFF"/>
      </a:lt1>
      <a:dk2>
        <a:srgbClr val="243D8C"/>
      </a:dk2>
      <a:lt2>
        <a:srgbClr val="DDDDDD"/>
      </a:lt2>
      <a:accent1>
        <a:srgbClr val="3E78C6"/>
      </a:accent1>
      <a:accent2>
        <a:srgbClr val="84A1E8"/>
      </a:accent2>
      <a:accent3>
        <a:srgbClr val="FFFFFF"/>
      </a:accent3>
      <a:accent4>
        <a:srgbClr val="14145F"/>
      </a:accent4>
      <a:accent5>
        <a:srgbClr val="AFBEDF"/>
      </a:accent5>
      <a:accent6>
        <a:srgbClr val="7791D2"/>
      </a:accent6>
      <a:hlink>
        <a:srgbClr val="90B54D"/>
      </a:hlink>
      <a:folHlink>
        <a:srgbClr val="F3C43F"/>
      </a:folHlink>
    </a:clrScheme>
    <a:fontScheme name="cdb2004132l">
      <a:majorFont>
        <a:latin typeface="楷体_GB2312"/>
        <a:ea typeface="楷体_GB2312"/>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cdb2004132l 1">
        <a:dk1>
          <a:srgbClr val="1D4940"/>
        </a:dk1>
        <a:lt1>
          <a:srgbClr val="FFFFFF"/>
        </a:lt1>
        <a:dk2>
          <a:srgbClr val="3F716F"/>
        </a:dk2>
        <a:lt2>
          <a:srgbClr val="DDDDDD"/>
        </a:lt2>
        <a:accent1>
          <a:srgbClr val="669E86"/>
        </a:accent1>
        <a:accent2>
          <a:srgbClr val="A2CAB4"/>
        </a:accent2>
        <a:accent3>
          <a:srgbClr val="FFFFFF"/>
        </a:accent3>
        <a:accent4>
          <a:srgbClr val="173D35"/>
        </a:accent4>
        <a:accent5>
          <a:srgbClr val="B8CCC3"/>
        </a:accent5>
        <a:accent6>
          <a:srgbClr val="92B7A3"/>
        </a:accent6>
        <a:hlink>
          <a:srgbClr val="8CA35F"/>
        </a:hlink>
        <a:folHlink>
          <a:srgbClr val="C1B05D"/>
        </a:folHlink>
      </a:clrScheme>
      <a:clrMap bg1="lt1" tx1="dk1" bg2="lt2" tx2="dk2" accent1="accent1" accent2="accent2" accent3="accent3" accent4="accent4" accent5="accent5" accent6="accent6" hlink="hlink" folHlink="folHlink"/>
    </a:extraClrScheme>
    <a:extraClrScheme>
      <a:clrScheme name="cdb2004132l 2">
        <a:dk1>
          <a:srgbClr val="2D4473"/>
        </a:dk1>
        <a:lt1>
          <a:srgbClr val="FFFFFF"/>
        </a:lt1>
        <a:dk2>
          <a:srgbClr val="2B6185"/>
        </a:dk2>
        <a:lt2>
          <a:srgbClr val="D3D9DD"/>
        </a:lt2>
        <a:accent1>
          <a:srgbClr val="638AA1"/>
        </a:accent1>
        <a:accent2>
          <a:srgbClr val="8CA8B5"/>
        </a:accent2>
        <a:accent3>
          <a:srgbClr val="FFFFFF"/>
        </a:accent3>
        <a:accent4>
          <a:srgbClr val="253961"/>
        </a:accent4>
        <a:accent5>
          <a:srgbClr val="B7C4CD"/>
        </a:accent5>
        <a:accent6>
          <a:srgbClr val="7E98A4"/>
        </a:accent6>
        <a:hlink>
          <a:srgbClr val="6FA2E7"/>
        </a:hlink>
        <a:folHlink>
          <a:srgbClr val="99C25C"/>
        </a:folHlink>
      </a:clrScheme>
      <a:clrMap bg1="lt1" tx1="dk1" bg2="lt2" tx2="dk2" accent1="accent1" accent2="accent2" accent3="accent3" accent4="accent4" accent5="accent5" accent6="accent6" hlink="hlink" folHlink="folHlink"/>
    </a:extraClrScheme>
    <a:extraClrScheme>
      <a:clrScheme name="cdb2004132l 3">
        <a:dk1>
          <a:srgbClr val="1A1A70"/>
        </a:dk1>
        <a:lt1>
          <a:srgbClr val="FFFFFF"/>
        </a:lt1>
        <a:dk2>
          <a:srgbClr val="243D8C"/>
        </a:dk2>
        <a:lt2>
          <a:srgbClr val="DDDDDD"/>
        </a:lt2>
        <a:accent1>
          <a:srgbClr val="3E78C6"/>
        </a:accent1>
        <a:accent2>
          <a:srgbClr val="84A1E8"/>
        </a:accent2>
        <a:accent3>
          <a:srgbClr val="FFFFFF"/>
        </a:accent3>
        <a:accent4>
          <a:srgbClr val="14145F"/>
        </a:accent4>
        <a:accent5>
          <a:srgbClr val="AFBEDF"/>
        </a:accent5>
        <a:accent6>
          <a:srgbClr val="7791D2"/>
        </a:accent6>
        <a:hlink>
          <a:srgbClr val="90B54D"/>
        </a:hlink>
        <a:folHlink>
          <a:srgbClr val="F3C43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cdb2004132l</Template>
  <TotalTime>0</TotalTime>
  <Words>1533</Words>
  <Application>WPS 演示</Application>
  <PresentationFormat>全屏显示(4:3)</PresentationFormat>
  <Paragraphs>152</Paragraphs>
  <Slides>20</Slides>
  <Notes>5</Notes>
  <HiddenSlides>0</HiddenSlides>
  <MMClips>0</MMClips>
  <ScaleCrop>false</ScaleCrop>
  <HeadingPairs>
    <vt:vector size="8" baseType="variant">
      <vt:variant>
        <vt:lpstr>已用的字体</vt:lpstr>
      </vt:variant>
      <vt:variant>
        <vt:i4>17</vt:i4>
      </vt:variant>
      <vt:variant>
        <vt:lpstr>主题</vt:lpstr>
      </vt:variant>
      <vt:variant>
        <vt:i4>1</vt:i4>
      </vt:variant>
      <vt:variant>
        <vt:lpstr>嵌入 OLE 服务器</vt:lpstr>
      </vt:variant>
      <vt:variant>
        <vt:i4>20</vt:i4>
      </vt:variant>
      <vt:variant>
        <vt:lpstr>幻灯片标题</vt:lpstr>
      </vt:variant>
      <vt:variant>
        <vt:i4>20</vt:i4>
      </vt:variant>
    </vt:vector>
  </HeadingPairs>
  <TitlesOfParts>
    <vt:vector size="58" baseType="lpstr">
      <vt:lpstr>Arial</vt:lpstr>
      <vt:lpstr>宋体</vt:lpstr>
      <vt:lpstr>Wingdings</vt:lpstr>
      <vt:lpstr>楷体_GB2312</vt:lpstr>
      <vt:lpstr>新宋体</vt:lpstr>
      <vt:lpstr>Verdana</vt:lpstr>
      <vt:lpstr>Calibri</vt:lpstr>
      <vt:lpstr>黑体</vt:lpstr>
      <vt:lpstr>华文细黑</vt:lpstr>
      <vt:lpstr>Times New Roman</vt:lpstr>
      <vt:lpstr>Wingdings 2</vt:lpstr>
      <vt:lpstr>Wingdings</vt:lpstr>
      <vt:lpstr>Symbol</vt:lpstr>
      <vt:lpstr>微软雅黑</vt:lpstr>
      <vt:lpstr>+mn-ea</vt:lpstr>
      <vt:lpstr>Arial Unicode MS</vt:lpstr>
      <vt:lpstr>Segoe Print</vt:lpstr>
      <vt:lpstr>cdb2004132l</vt:lpstr>
      <vt:lpstr>Photoshop.Image.6</vt:lpstr>
      <vt:lpstr>Equation.DSMT4</vt:lpstr>
      <vt:lpstr>Equation.DSMT4</vt:lpstr>
      <vt:lpstr>Equation.DSMT4</vt:lpstr>
      <vt:lpstr>Equation.DSMT4</vt:lpstr>
      <vt:lpstr>Equation.3</vt:lpstr>
      <vt:lpstr>Equation.3</vt:lpstr>
      <vt:lpstr>Equation.3</vt:lpstr>
      <vt:lpstr>Equation.3</vt:lpstr>
      <vt:lpstr>Equation.3</vt:lpstr>
      <vt:lpstr>Equation.DSMT4</vt:lpstr>
      <vt:lpstr>Photoshop.Image.6</vt:lpstr>
      <vt:lpstr>Equation.3</vt:lpstr>
      <vt:lpstr>Photoshop.Image.6</vt:lpstr>
      <vt:lpstr>Equation.DSMT4</vt:lpstr>
      <vt:lpstr>Equation.3</vt:lpstr>
      <vt:lpstr>Equation.3</vt:lpstr>
      <vt:lpstr>Equation.3</vt:lpstr>
      <vt:lpstr>Equation.3</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气象统计分析与预报方法 复习概要</dc:title>
  <dc:creator>User</dc:creator>
  <cp:lastModifiedBy>赵元丞</cp:lastModifiedBy>
  <cp:revision>481</cp:revision>
  <dcterms:created xsi:type="dcterms:W3CDTF">2008-12-05T07:55:53Z</dcterms:created>
  <dcterms:modified xsi:type="dcterms:W3CDTF">2026-10-10T00:50:57Z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2052-12.1.0.28802</vt:lpwstr>
  </property>
  <property fmtid="{D5CDD505-2E9C-101B-9397-08002B2CF9AE}" pid="3" name="ICV">
    <vt:lpwstr>F402EAD63B9249A3BFA6CE428EAB2D03_13</vt:lpwstr>
  </property>
</Properties>
</file>