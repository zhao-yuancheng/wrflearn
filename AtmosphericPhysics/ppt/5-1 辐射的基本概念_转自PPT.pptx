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369" r:id="rId6"/>
    <p:sldId id="370" r:id="rId7"/>
    <p:sldId id="371" r:id="rId8"/>
    <p:sldId id="372" r:id="rId9"/>
    <p:sldId id="373" r:id="rId10"/>
    <p:sldId id="374" r:id="rId11"/>
    <p:sldId id="376" r:id="rId12"/>
    <p:sldId id="377" r:id="rId13"/>
    <p:sldId id="378" r:id="rId14"/>
    <p:sldId id="421" r:id="rId15"/>
    <p:sldId id="406" r:id="rId16"/>
    <p:sldId id="379" r:id="rId17"/>
    <p:sldId id="380" r:id="rId18"/>
    <p:sldId id="381" r:id="rId19"/>
    <p:sldId id="416" r:id="rId20"/>
    <p:sldId id="382" r:id="rId21"/>
    <p:sldId id="417" r:id="rId22"/>
    <p:sldId id="383" r:id="rId23"/>
    <p:sldId id="384" r:id="rId24"/>
    <p:sldId id="418" r:id="rId25"/>
    <p:sldId id="419" r:id="rId26"/>
    <p:sldId id="420" r:id="rId27"/>
    <p:sldId id="385" r:id="rId28"/>
    <p:sldId id="386" r:id="rId29"/>
    <p:sldId id="323" r:id="rId3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CC"/>
    <a:srgbClr val="080808"/>
    <a:srgbClr val="FF66FF"/>
    <a:srgbClr val="008000"/>
    <a:srgbClr val="FF3300"/>
    <a:srgbClr val="FF00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400"/>
  </p:normalViewPr>
  <p:slideViewPr>
    <p:cSldViewPr showGuides="1">
      <p:cViewPr varScale="1">
        <p:scale>
          <a:sx n="87" d="100"/>
          <a:sy n="87" d="100"/>
        </p:scale>
        <p:origin x="-248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CF5D49-93DF-4A17-8D81-E7830DF737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4" name="幻灯片图像占位符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简要回顾前四章内容，及特点。介绍第二篇部分。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考察辐亮度的物理意义的理解程度。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 w="9525"/>
        </p:spPr>
        <p:txBody>
          <a:bodyPr wrap="square" lIns="91440" tIns="45720" rIns="91440" bIns="45720" anchor="ctr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辐射通量密度与净辐射通量密度有何关系？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5"/>
          <p:cNvSpPr/>
          <p:nvPr/>
        </p:nvSpPr>
        <p:spPr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16"/>
          <p:cNvSpPr/>
          <p:nvPr/>
        </p:nvSpPr>
        <p:spPr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6" name="Rectangle 17"/>
          <p:cNvSpPr/>
          <p:nvPr/>
        </p:nvSpPr>
        <p:spPr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7" name="Rectangle 18"/>
          <p:cNvSpPr/>
          <p:nvPr/>
        </p:nvSpPr>
        <p:spPr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8" name="Rectangle 19"/>
          <p:cNvSpPr/>
          <p:nvPr/>
        </p:nvSpPr>
        <p:spPr>
          <a:xfrm>
            <a:off x="179388" y="134938"/>
            <a:ext cx="8785225" cy="773112"/>
          </a:xfrm>
          <a:prstGeom prst="rect">
            <a:avLst/>
          </a:prstGeom>
          <a:noFill/>
          <a:ln w="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9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080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2540000" imgH="2540000" progId="Photoshop.Image.6">
                  <p:embed/>
                </p:oleObj>
              </mc:Choice>
              <mc:Fallback>
                <p:oleObj name="" r:id="rId2" imgW="2540000" imgH="2540000" progId="Photoshop.Image.6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22"/>
          <p:cNvSpPr/>
          <p:nvPr/>
        </p:nvSpPr>
        <p:spPr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2" name="Rectangle 23"/>
          <p:cNvSpPr/>
          <p:nvPr/>
        </p:nvSpPr>
        <p:spPr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6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7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/>
            <a:fld id="{9A0DB2DC-4C9A-4742-B13C-FB6460FD3503}" type="slidenum">
              <a:rPr lang="zh-CN" altLang="en-CA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CA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2.vml"/><Relationship Id="rId14" Type="http://schemas.openxmlformats.org/officeDocument/2006/relationships/image" Target="../media/image1.png"/><Relationship Id="rId13" Type="http://schemas.openxmlformats.org/officeDocument/2006/relationships/oleObject" Target="../embeddings/oleObject2.bin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vmlDrawing" Target="../drawings/vmlDrawing3.vml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4.bin"/><Relationship Id="rId13" Type="http://schemas.openxmlformats.org/officeDocument/2006/relationships/image" Target="../media/image2.png"/><Relationship Id="rId12" Type="http://schemas.openxmlformats.org/officeDocument/2006/relationships/oleObject" Target="../embeddings/oleObject3.bin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/>
          <p:nvPr/>
        </p:nvSpPr>
        <p:spPr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16"/>
          <p:cNvSpPr/>
          <p:nvPr/>
        </p:nvSpPr>
        <p:spPr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17"/>
          <p:cNvSpPr/>
          <p:nvPr/>
        </p:nvSpPr>
        <p:spPr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18"/>
          <p:cNvSpPr/>
          <p:nvPr/>
        </p:nvSpPr>
        <p:spPr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19"/>
          <p:cNvSpPr/>
          <p:nvPr/>
        </p:nvSpPr>
        <p:spPr>
          <a:xfrm>
            <a:off x="179388" y="134938"/>
            <a:ext cx="8785225" cy="773112"/>
          </a:xfrm>
          <a:prstGeom prst="rect">
            <a:avLst/>
          </a:prstGeom>
          <a:noFill/>
          <a:ln w="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06362" y="6505575"/>
            <a:ext cx="5126038" cy="352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35813" y="6477000"/>
            <a:ext cx="1828800" cy="227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03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48425"/>
            <a:ext cx="21336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graphicFrame>
        <p:nvGraphicFramePr>
          <p:cNvPr id="1036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3" imgW="2540000" imgH="2540000" progId="Photoshop.Image.6">
                  <p:embed/>
                </p:oleObj>
              </mc:Choice>
              <mc:Fallback>
                <p:oleObj name="" r:id="rId13" imgW="2540000" imgH="25400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22"/>
          <p:cNvSpPr/>
          <p:nvPr/>
        </p:nvSpPr>
        <p:spPr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8" name="Rectangle 23"/>
          <p:cNvSpPr/>
          <p:nvPr/>
        </p:nvSpPr>
        <p:spPr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9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7"/>
          <p:cNvSpPr/>
          <p:nvPr/>
        </p:nvSpPr>
        <p:spPr>
          <a:xfrm>
            <a:off x="0" y="5157788"/>
            <a:ext cx="9144000" cy="170815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Rectangle 18"/>
          <p:cNvSpPr/>
          <p:nvPr/>
        </p:nvSpPr>
        <p:spPr>
          <a:xfrm>
            <a:off x="0" y="0"/>
            <a:ext cx="9144000" cy="493553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19"/>
          <p:cNvSpPr/>
          <p:nvPr/>
        </p:nvSpPr>
        <p:spPr>
          <a:xfrm>
            <a:off x="1270000" y="4933950"/>
            <a:ext cx="7874000" cy="2238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Text Box 14"/>
          <p:cNvSpPr txBox="1">
            <a:spLocks noChangeArrowheads="1"/>
          </p:cNvSpPr>
          <p:nvPr/>
        </p:nvSpPr>
        <p:spPr bwMode="auto">
          <a:xfrm>
            <a:off x="2268538" y="5949950"/>
            <a:ext cx="4608513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College of Atmospheric Sciences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0"/>
          <p:cNvSpPr/>
          <p:nvPr/>
        </p:nvSpPr>
        <p:spPr>
          <a:xfrm>
            <a:off x="-7937" y="4935538"/>
            <a:ext cx="1281112" cy="2222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55" name="Object 21"/>
          <p:cNvGraphicFramePr>
            <a:graphicFrameLocks noChangeAspect="1"/>
          </p:cNvGraphicFramePr>
          <p:nvPr/>
        </p:nvGraphicFramePr>
        <p:xfrm>
          <a:off x="1279525" y="5054600"/>
          <a:ext cx="2351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2" imgW="2540000" imgH="609600" progId="Photoshop.Image.6">
                  <p:embed/>
                </p:oleObj>
              </mc:Choice>
              <mc:Fallback>
                <p:oleObj name="" r:id="rId12" imgW="2540000" imgH="609600" progId="Photoshop.Image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79525" y="5054600"/>
                        <a:ext cx="23510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22"/>
          <p:cNvGraphicFramePr>
            <a:graphicFrameLocks noChangeAspect="1"/>
          </p:cNvGraphicFramePr>
          <p:nvPr/>
        </p:nvGraphicFramePr>
        <p:xfrm>
          <a:off x="0" y="3500438"/>
          <a:ext cx="12668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4" imgW="2540000" imgH="2540000" progId="Photoshop.Image.6">
                  <p:embed/>
                </p:oleObj>
              </mc:Choice>
              <mc:Fallback>
                <p:oleObj name="" r:id="rId14" imgW="2540000" imgH="2540000" progId="Photoshop.Image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3500438"/>
                        <a:ext cx="1266825" cy="1430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23"/>
          <p:cNvSpPr/>
          <p:nvPr/>
        </p:nvSpPr>
        <p:spPr>
          <a:xfrm>
            <a:off x="1266825" y="1125538"/>
            <a:ext cx="2368550" cy="4535487"/>
          </a:xfrm>
          <a:prstGeom prst="rect">
            <a:avLst/>
          </a:prstGeom>
          <a:noFill/>
          <a:ln w="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Rectangle 24"/>
          <p:cNvSpPr/>
          <p:nvPr/>
        </p:nvSpPr>
        <p:spPr>
          <a:xfrm flipH="1">
            <a:off x="8221663" y="0"/>
            <a:ext cx="95250" cy="20605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9" name="Rectangle 25"/>
          <p:cNvSpPr/>
          <p:nvPr/>
        </p:nvSpPr>
        <p:spPr>
          <a:xfrm>
            <a:off x="250825" y="260350"/>
            <a:ext cx="8569325" cy="4392613"/>
          </a:xfrm>
          <a:prstGeom prst="rect">
            <a:avLst/>
          </a:prstGeom>
          <a:noFill/>
          <a:ln w="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0" name="Rectangle 26"/>
          <p:cNvSpPr/>
          <p:nvPr/>
        </p:nvSpPr>
        <p:spPr>
          <a:xfrm>
            <a:off x="7775575" y="908050"/>
            <a:ext cx="1368425" cy="1439863"/>
          </a:xfrm>
          <a:prstGeom prst="rect">
            <a:avLst/>
          </a:prstGeom>
          <a:noFill/>
          <a:ln w="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1" name="Rectangle 27"/>
          <p:cNvSpPr/>
          <p:nvPr/>
        </p:nvSpPr>
        <p:spPr>
          <a:xfrm>
            <a:off x="611188" y="1916113"/>
            <a:ext cx="7921625" cy="1584325"/>
          </a:xfrm>
          <a:prstGeom prst="rect">
            <a:avLst/>
          </a:prstGeom>
          <a:noFill/>
          <a:ln w="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3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jpeg"/><Relationship Id="rId2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935038" y="1193800"/>
            <a:ext cx="7237413" cy="27352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 五 章</a:t>
            </a:r>
            <a:b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地面和大气中的辐射过程</a:t>
            </a:r>
            <a:endParaRPr kumimoji="0" lang="zh-CN" altLang="en-US" sz="6000" b="1" i="0" u="none" strike="noStrike" kern="0" cap="none" spc="0" normalizeH="0" baseline="0" noProof="0" dirty="0">
              <a:ln>
                <a:noFill/>
              </a:ln>
              <a:solidFill>
                <a:srgbClr val="F3C43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5"/>
          <p:cNvSpPr>
            <a:spLocks noGrp="1"/>
          </p:cNvSpPr>
          <p:nvPr>
            <p:ph type="subTitle" idx="4294967295"/>
          </p:nvPr>
        </p:nvSpPr>
        <p:spPr>
          <a:xfrm>
            <a:off x="250825" y="260350"/>
            <a:ext cx="2881313" cy="381000"/>
          </a:xfrm>
          <a:ln/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lvl3pPr>
            <a:lvl4pPr marL="1371600" lvl="3" indent="0" algn="ctr">
              <a:buClrTx/>
              <a:buSzTx/>
              <a:buFont typeface="Wingdings" panose="05000000000000000000" pitchFamily="2" charset="2"/>
              <a:buNone/>
              <a:defRPr/>
            </a:lvl4pPr>
            <a:lvl5pPr marL="1828800" lvl="4" indent="0" algn="ctr">
              <a:buClrTx/>
              <a:buSzTx/>
              <a:buFont typeface="Wingdings" panose="05000000000000000000" pitchFamily="2" charset="2"/>
              <a:buNone/>
              <a:defRPr/>
            </a:lvl5pPr>
          </a:lstStyle>
          <a:p>
            <a:pPr lvl="0" eaLnBrk="1" hangingPunct="1"/>
            <a:r>
              <a:rPr lang="zh-CN" altLang="en-US" sz="1800" dirty="0">
                <a:solidFill>
                  <a:srgbClr val="D27D00"/>
                </a:solidFill>
                <a:ea typeface="宋体" panose="02010600030101010101" pitchFamily="2" charset="-122"/>
              </a:rPr>
              <a:t>大气科学学院本科课程</a:t>
            </a:r>
            <a:endParaRPr lang="zh-CN" altLang="en-US" sz="1800" dirty="0">
              <a:solidFill>
                <a:srgbClr val="D27D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85750" y="1071563"/>
            <a:ext cx="8858250" cy="11430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600" dirty="0">
                <a:solidFill>
                  <a:srgbClr val="0000FF"/>
                </a:solidFill>
              </a:rPr>
              <a:t>大气辐射学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539750" y="2286000"/>
            <a:ext cx="8107363" cy="38068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 研究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辐射能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地球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大气系统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内传输和转换的规律，属大气物理学的一个重要分支。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 是天气学、气候学、动力气象学、应用气象学、大气化学和大气遥感等学科的理论基础之一。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4" name="TextBox 3"/>
          <p:cNvSpPr txBox="1"/>
          <p:nvPr/>
        </p:nvSpPr>
        <p:spPr>
          <a:xfrm>
            <a:off x="1571625" y="142875"/>
            <a:ext cx="70723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第五章  地面和大气中的辐射过程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85750" y="1428750"/>
            <a:ext cx="8858250" cy="563563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dirty="0">
                <a:solidFill>
                  <a:srgbClr val="FF0000"/>
                </a:solidFill>
              </a:rPr>
              <a:t>本章的重要性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1014413" y="2428875"/>
            <a:ext cx="7772400" cy="400526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辐射能是地球大气的</a:t>
            </a:r>
            <a:r>
              <a:rPr lang="zh-CN" altLang="en-US" dirty="0">
                <a:solidFill>
                  <a:srgbClr val="CC00CC"/>
                </a:solidFill>
                <a:latin typeface="宋体" panose="02010600030101010101" pitchFamily="2" charset="-122"/>
                <a:ea typeface="楷体_GB2312" pitchFamily="49" charset="-122"/>
              </a:rPr>
              <a:t>基本能量来源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辐射传输规律是</a:t>
            </a:r>
            <a:r>
              <a:rPr lang="zh-CN" altLang="en-US" dirty="0">
                <a:solidFill>
                  <a:srgbClr val="CC00CC"/>
                </a:solidFill>
                <a:latin typeface="宋体" panose="02010600030101010101" pitchFamily="2" charset="-122"/>
                <a:ea typeface="楷体_GB2312" pitchFamily="49" charset="-122"/>
              </a:rPr>
              <a:t>大气遥感的理论基础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dirty="0">
                <a:solidFill>
                  <a:srgbClr val="CC00CC"/>
                </a:solidFill>
                <a:latin typeface="宋体" panose="02010600030101010101" pitchFamily="2" charset="-122"/>
                <a:ea typeface="楷体_GB2312" pitchFamily="49" charset="-122"/>
              </a:rPr>
              <a:t>数值天气预报模式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中需定量化大气辐射过程。</a:t>
            </a:r>
            <a:endParaRPr lang="zh-CN" altLang="en-US" dirty="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</a:pP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气候问题</a:t>
            </a:r>
            <a:r>
              <a:rPr lang="en-US" altLang="zh-CN" dirty="0">
                <a:latin typeface="宋体" panose="02010600030101010101" pitchFamily="2" charset="-122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rgbClr val="CC00CC"/>
                </a:solidFill>
                <a:latin typeface="宋体" panose="02010600030101010101" pitchFamily="2" charset="-122"/>
                <a:ea typeface="楷体_GB2312" pitchFamily="49" charset="-122"/>
              </a:rPr>
              <a:t>辐射强迫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6148" name="TextBox 3"/>
          <p:cNvSpPr txBox="1"/>
          <p:nvPr/>
        </p:nvSpPr>
        <p:spPr>
          <a:xfrm>
            <a:off x="1571625" y="142875"/>
            <a:ext cx="70723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第五章  地面和大气中的辐射过程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285750" y="1363663"/>
            <a:ext cx="885825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本章的重点</a:t>
            </a:r>
            <a:endParaRPr lang="zh-CN" altLang="en-US" sz="4000" b="1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Text Box 7"/>
          <p:cNvSpPr txBox="1">
            <a:spLocks noChangeArrowheads="1"/>
          </p:cNvSpPr>
          <p:nvPr/>
        </p:nvSpPr>
        <p:spPr bwMode="auto">
          <a:xfrm>
            <a:off x="785813" y="2428875"/>
            <a:ext cx="7632700" cy="3046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描述辐射场的物理量及辐射的基本规律；</a:t>
            </a:r>
            <a:endParaRPr kumimoji="0" lang="zh-CN" altLang="en-US" sz="32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太阳辐射和地球辐射的特征及差异；</a:t>
            </a:r>
            <a:endParaRPr kumimoji="0" lang="zh-CN" altLang="en-US" sz="32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地球和太阳辐射在大气中的传输；</a:t>
            </a:r>
            <a:endParaRPr kumimoji="0" lang="zh-CN" altLang="en-US" sz="32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地</a:t>
            </a:r>
            <a:r>
              <a:rPr kumimoji="0" lang="en-US" altLang="zh-CN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-</a:t>
            </a:r>
            <a:r>
              <a:rPr kumimoji="0" lang="zh-CN" altLang="en-US" sz="32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气系统的辐射平衡。</a:t>
            </a:r>
            <a:endParaRPr kumimoji="0" lang="zh-CN" altLang="en-US" sz="32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7172" name="TextBox 3"/>
          <p:cNvSpPr txBox="1"/>
          <p:nvPr/>
        </p:nvSpPr>
        <p:spPr>
          <a:xfrm>
            <a:off x="1571625" y="142875"/>
            <a:ext cx="70723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第五章  地面和大气中的辐射过程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Picture 2"/>
          <p:cNvPicPr>
            <a:picLocks noChangeAspect="1"/>
          </p:cNvPicPr>
          <p:nvPr/>
        </p:nvPicPr>
        <p:blipFill>
          <a:blip r:embed="rId1"/>
          <a:srcRect t="8708"/>
          <a:stretch>
            <a:fillRect/>
          </a:stretch>
        </p:blipFill>
        <p:spPr>
          <a:xfrm>
            <a:off x="642938" y="4154488"/>
            <a:ext cx="8215312" cy="2703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Rectangle 3"/>
          <p:cNvSpPr>
            <a:spLocks noGrp="1"/>
          </p:cNvSpPr>
          <p:nvPr>
            <p:ph type="title"/>
          </p:nvPr>
        </p:nvSpPr>
        <p:spPr>
          <a:xfrm>
            <a:off x="1000125" y="0"/>
            <a:ext cx="8143875" cy="11430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3600" dirty="0">
                <a:solidFill>
                  <a:srgbClr val="FFFF00"/>
                </a:solidFill>
                <a:latin typeface="Times New Roman" panose="02020603050405020304" pitchFamily="18" charset="0"/>
              </a:rPr>
              <a:t>5.1  </a:t>
            </a:r>
            <a:r>
              <a:rPr lang="zh-CN" altLang="en-US" sz="3600" dirty="0">
                <a:solidFill>
                  <a:srgbClr val="FFFF00"/>
                </a:solidFill>
                <a:latin typeface="Times New Roman" panose="02020603050405020304" pitchFamily="18" charset="0"/>
              </a:rPr>
              <a:t>辐射的基本概念</a:t>
            </a:r>
            <a:endParaRPr lang="zh-CN" altLang="en-US" sz="36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Rectangle 4"/>
          <p:cNvSpPr>
            <a:spLocks noGrp="1"/>
          </p:cNvSpPr>
          <p:nvPr>
            <p:ph idx="1"/>
          </p:nvPr>
        </p:nvSpPr>
        <p:spPr>
          <a:xfrm>
            <a:off x="539750" y="1360488"/>
            <a:ext cx="8250238" cy="2500312"/>
          </a:xfrm>
          <a:ln/>
        </p:spPr>
        <p:txBody>
          <a:bodyPr vert="horz" wrap="square" lIns="91440" tIns="45720" rIns="91440" bIns="45720" anchor="t" anchorCtr="0"/>
          <a:p>
            <a:pPr lvl="1">
              <a:lnSpc>
                <a:spcPct val="13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自然界的一切物体都时刻不停地以</a:t>
            </a:r>
            <a:r>
              <a:rPr lang="zh-CN" alt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电磁波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的形式向四周放射能量，同时也接收来自周围的电磁波，这种</a:t>
            </a:r>
            <a:r>
              <a:rPr lang="zh-CN" alt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能量传递的方式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辐射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以这种方式传递的能量，称为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辐射能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以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横波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形式在空间传播，速度即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光速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c= 3.0×10</a:t>
            </a:r>
            <a:r>
              <a:rPr lang="en-US" altLang="zh-CN" sz="26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m/s</a:t>
            </a:r>
            <a:r>
              <a:rPr lang="zh-CN" altLang="en-US" sz="2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b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endParaRPr lang="zh-CN" altLang="en-US" sz="26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39750" y="4941888"/>
            <a:ext cx="8064500" cy="1439862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电磁波谱：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不同波长或频率的电磁波有不同的物理特性，因此可以用波长和频率来区分电磁辐射，并给以不同的名称，称为电磁波谱。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219" name="Picture 3" descr="FG03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341438"/>
            <a:ext cx="6262688" cy="342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TextBox 4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一、电磁辐射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7126288" y="2663825"/>
          <a:ext cx="1909762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1002665" imgH="609600" progId="Equation.3">
                  <p:embed/>
                </p:oleObj>
              </mc:Choice>
              <mc:Fallback>
                <p:oleObj name="" r:id="rId2" imgW="1002665" imgH="609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26288" y="2663825"/>
                        <a:ext cx="1909762" cy="1270000"/>
                      </a:xfrm>
                      <a:prstGeom prst="rect">
                        <a:avLst/>
                      </a:prstGeom>
                      <a:solidFill>
                        <a:srgbClr val="FF66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Picture 3"/>
          <p:cNvPicPr>
            <a:picLocks noChangeAspect="1"/>
          </p:cNvPicPr>
          <p:nvPr/>
        </p:nvPicPr>
        <p:blipFill>
          <a:blip r:embed="rId1">
            <a:lum bright="-35999" contrast="58000"/>
          </a:blip>
          <a:srcRect t="10341" b="27936"/>
          <a:stretch>
            <a:fillRect/>
          </a:stretch>
        </p:blipFill>
        <p:spPr>
          <a:xfrm>
            <a:off x="395288" y="2774950"/>
            <a:ext cx="8001000" cy="279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Text Box 4"/>
          <p:cNvSpPr txBox="1"/>
          <p:nvPr/>
        </p:nvSpPr>
        <p:spPr>
          <a:xfrm>
            <a:off x="571500" y="1571625"/>
            <a:ext cx="34305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描述电磁波谱的单位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TextBox 4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一、电磁辐射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341313" y="1285875"/>
            <a:ext cx="8802687" cy="5207000"/>
          </a:xfrm>
          <a:ln/>
        </p:spPr>
        <p:txBody>
          <a:bodyPr vert="horz" wrap="square" lIns="91440" tIns="45720" rIns="91440" bIns="45720" anchor="t" anchorCtr="0"/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紫外线：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2">
              <a:spcAft>
                <a:spcPct val="20000"/>
              </a:spcAft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uv-A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：	       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0.315-0.400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2">
              <a:spcAft>
                <a:spcPct val="20000"/>
              </a:spcAft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uv-B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：		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0.280-0.315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2">
              <a:spcAft>
                <a:spcPct val="20000"/>
              </a:spcAft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uv-C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：		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0.150-0.280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可见光： 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0.40-0.76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红外线：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2">
              <a:spcAft>
                <a:spcPct val="20000"/>
              </a:spcAft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近红外：		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0.7-2.5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2">
              <a:spcAft>
                <a:spcPct val="20000"/>
              </a:spcAft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远红外：		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2.5-1000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微米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微波：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毫米到</a:t>
            </a:r>
            <a:r>
              <a:rPr lang="en-US" altLang="zh-CN" sz="2400" dirty="0">
                <a:ea typeface="宋体" panose="02010600030101010101" pitchFamily="2" charset="-122"/>
              </a:rPr>
              <a:t>0.3 </a:t>
            </a:r>
            <a:r>
              <a:rPr lang="zh-CN" altLang="en-US" sz="2400" dirty="0">
                <a:ea typeface="宋体" panose="02010600030101010101" pitchFamily="2" charset="-122"/>
              </a:rPr>
              <a:t>米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无线电波：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0.3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米以上可达几千米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67" name="TextBox 3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一、电磁辐射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Box 5"/>
          <p:cNvSpPr txBox="1"/>
          <p:nvPr/>
        </p:nvSpPr>
        <p:spPr>
          <a:xfrm>
            <a:off x="357188" y="6429375"/>
            <a:ext cx="8643937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291" name="Picture 2" descr="FG03_04"/>
          <p:cNvPicPr>
            <a:picLocks noChangeAspect="1"/>
          </p:cNvPicPr>
          <p:nvPr/>
        </p:nvPicPr>
        <p:blipFill>
          <a:blip r:embed="rId1"/>
          <a:srcRect b="45833"/>
          <a:stretch>
            <a:fillRect/>
          </a:stretch>
        </p:blipFill>
        <p:spPr>
          <a:xfrm>
            <a:off x="1571625" y="4292600"/>
            <a:ext cx="5886450" cy="256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Text Box 3"/>
          <p:cNvSpPr txBox="1"/>
          <p:nvPr/>
        </p:nvSpPr>
        <p:spPr>
          <a:xfrm>
            <a:off x="428625" y="1428750"/>
            <a:ext cx="6000750" cy="584200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辐射通量</a:t>
            </a:r>
            <a:r>
              <a:rPr lang="el-GR" altLang="zh-CN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zh-CN" altLang="en-US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Radiant Flux</a:t>
            </a:r>
            <a:r>
              <a:rPr lang="zh-CN" altLang="en-US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200" b="1" dirty="0">
              <a:solidFill>
                <a:srgbClr val="08080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Text Box 4"/>
          <p:cNvSpPr txBox="1"/>
          <p:nvPr/>
        </p:nvSpPr>
        <p:spPr>
          <a:xfrm>
            <a:off x="428625" y="2284413"/>
            <a:ext cx="8805863" cy="973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定义：单位时间通过某一平面的辐射能，也称辐射功率，单位为</a:t>
            </a:r>
            <a:r>
              <a:rPr lang="en-US" altLang="zh-CN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J/s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也可指单位时间内某个表面发射或接收的辐射能。</a:t>
            </a:r>
            <a:endParaRPr lang="zh-CN" altLang="en-US" sz="2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TextBox 4"/>
          <p:cNvSpPr txBox="1"/>
          <p:nvPr/>
        </p:nvSpPr>
        <p:spPr>
          <a:xfrm>
            <a:off x="1357313" y="214313"/>
            <a:ext cx="764381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二、描述辐射场的物理量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95" name="Object 5"/>
          <p:cNvGraphicFramePr>
            <a:graphicFrameLocks noChangeAspect="1"/>
          </p:cNvGraphicFramePr>
          <p:nvPr/>
        </p:nvGraphicFramePr>
        <p:xfrm>
          <a:off x="2857500" y="3500438"/>
          <a:ext cx="1857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495300" imgH="393700" progId="Equation.DSMT4">
                  <p:embed/>
                </p:oleObj>
              </mc:Choice>
              <mc:Fallback>
                <p:oleObj name="" r:id="rId3" imgW="495300" imgH="3937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0" y="3500438"/>
                        <a:ext cx="185737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Box 8"/>
          <p:cNvSpPr txBox="1"/>
          <p:nvPr/>
        </p:nvSpPr>
        <p:spPr>
          <a:xfrm>
            <a:off x="4932363" y="3830638"/>
            <a:ext cx="292893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：辐射能）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矩形 1"/>
          <p:cNvSpPr/>
          <p:nvPr/>
        </p:nvSpPr>
        <p:spPr>
          <a:xfrm>
            <a:off x="428625" y="6308725"/>
            <a:ext cx="8715375" cy="360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ext Box 7"/>
          <p:cNvSpPr txBox="1"/>
          <p:nvPr/>
        </p:nvSpPr>
        <p:spPr>
          <a:xfrm>
            <a:off x="500063" y="2170113"/>
            <a:ext cx="8358187" cy="1042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定义：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辐射传输方向上的单位球面角内，通过垂直于该方向单位面积，单位波长间隔的辐射通量为 </a:t>
            </a:r>
            <a:r>
              <a:rPr lang="en-US" altLang="zh-CN" sz="2200" b="1" i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l-GR" altLang="zh-CN" sz="22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ϴ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l-GR" altLang="zh-CN" sz="22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Φ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l-GR" altLang="zh-CN" sz="22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λ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）。</a:t>
            </a:r>
            <a:endParaRPr lang="el-GR" altLang="zh-CN" sz="2200" b="1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3316" name="TextBox 6"/>
          <p:cNvSpPr txBox="1"/>
          <p:nvPr/>
        </p:nvSpPr>
        <p:spPr>
          <a:xfrm>
            <a:off x="1357313" y="214313"/>
            <a:ext cx="764381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二、描述辐射场的物理量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Text Box 3"/>
          <p:cNvSpPr txBox="1"/>
          <p:nvPr/>
        </p:nvSpPr>
        <p:spPr>
          <a:xfrm>
            <a:off x="428625" y="1404938"/>
            <a:ext cx="4572000" cy="584200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辐亮度 </a:t>
            </a:r>
            <a:r>
              <a:rPr lang="en-US" altLang="zh-CN" sz="3200" i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Radiance</a:t>
            </a:r>
            <a:r>
              <a:rPr lang="zh-CN" altLang="en-US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200" b="1" dirty="0">
              <a:solidFill>
                <a:srgbClr val="08080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/>
        </p:nvGraphicFramePr>
        <p:xfrm>
          <a:off x="2214563" y="3584575"/>
          <a:ext cx="48577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2070100" imgH="393700" progId="Equation.3">
                  <p:embed/>
                </p:oleObj>
              </mc:Choice>
              <mc:Fallback>
                <p:oleObj name="" r:id="rId2" imgW="2070100" imgH="393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14563" y="3584575"/>
                        <a:ext cx="485775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Box 10"/>
          <p:cNvSpPr txBox="1"/>
          <p:nvPr/>
        </p:nvSpPr>
        <p:spPr>
          <a:xfrm>
            <a:off x="684213" y="4779963"/>
            <a:ext cx="8135937" cy="138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辐亮度表示辐射场内任一点在任一方向上、任一波长处辐射的强弱程度。</a:t>
            </a:r>
            <a:endParaRPr lang="zh-CN" altLang="en-US" sz="2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矩形 1"/>
          <p:cNvSpPr/>
          <p:nvPr/>
        </p:nvSpPr>
        <p:spPr>
          <a:xfrm>
            <a:off x="428625" y="6308725"/>
            <a:ext cx="8715375" cy="360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1116013" y="2060575"/>
            <a:ext cx="7643812" cy="1004888"/>
          </a:xfrm>
          <a:ln/>
        </p:spPr>
        <p:txBody>
          <a:bodyPr vert="horz" wrap="square" lIns="91440" tIns="45720" rIns="91440" bIns="45720" anchor="t" anchorCtr="0"/>
          <a:p>
            <a:pPr marL="0" indent="-179705">
              <a:lnSpc>
                <a:spcPct val="150000"/>
              </a:lnSpc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立体角：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锥体所拦截的球面积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σ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与半径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的平方之比，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-179705">
              <a:lnSpc>
                <a:spcPct val="150000"/>
              </a:lnSpc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单位为球面度（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sr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Steradian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12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163" y="3789363"/>
            <a:ext cx="3124200" cy="1931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4005263"/>
            <a:ext cx="1598613" cy="1257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2" name="TextBox 6"/>
          <p:cNvSpPr txBox="1"/>
          <p:nvPr/>
        </p:nvSpPr>
        <p:spPr>
          <a:xfrm>
            <a:off x="1357313" y="214313"/>
            <a:ext cx="764381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二、描述辐射场的物理量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charRg st="2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Box 8"/>
          <p:cNvSpPr txBox="1"/>
          <p:nvPr/>
        </p:nvSpPr>
        <p:spPr>
          <a:xfrm>
            <a:off x="357188" y="6429375"/>
            <a:ext cx="8643937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214313" y="1319213"/>
            <a:ext cx="8643937" cy="2038350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Aft>
                <a:spcPct val="20000"/>
              </a:spcAft>
            </a:pP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全自动太阳分光光度计 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CE-318</a:t>
            </a:r>
            <a:r>
              <a:rPr lang="zh-CN" altLang="en-US" sz="22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高精度野外太阳和天空辐射测量仪器，具有易携带安装，自动瞄准，太阳能供电，可自动传输数据等特点。主要用于测量太阳和天空在可见光和近红外的不同波段、不同方向、不同时间的辐射亮度，来推算大气气溶胶，水汽，臭氧 等成分的特性。 </a:t>
            </a:r>
            <a:endParaRPr lang="zh-CN" altLang="en-US" sz="2200" dirty="0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>
              <a:lnSpc>
                <a:spcPct val="120000"/>
              </a:lnSpc>
              <a:spcAft>
                <a:spcPct val="20000"/>
              </a:spcAft>
              <a:buFontTx/>
              <a:buNone/>
            </a:pPr>
            <a:endParaRPr lang="en-US" altLang="zh-CN" sz="2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5364" name="Group 7"/>
          <p:cNvGrpSpPr/>
          <p:nvPr/>
        </p:nvGrpSpPr>
        <p:grpSpPr>
          <a:xfrm>
            <a:off x="1158875" y="3652838"/>
            <a:ext cx="6913563" cy="3062287"/>
            <a:chOff x="317" y="2110"/>
            <a:chExt cx="4355" cy="1929"/>
          </a:xfrm>
        </p:grpSpPr>
        <p:pic>
          <p:nvPicPr>
            <p:cNvPr id="15366" name="Picture 4" descr="Fig5-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31" y="2110"/>
              <a:ext cx="2041" cy="192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367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" y="2115"/>
              <a:ext cx="2268" cy="1901"/>
            </a:xfrm>
            <a:prstGeom prst="rect">
              <a:avLst/>
            </a:prstGeom>
            <a:noFill/>
            <a:ln w="12700">
              <a:noFill/>
            </a:ln>
          </p:spPr>
        </p:pic>
      </p:grpSp>
      <p:sp>
        <p:nvSpPr>
          <p:cNvPr id="15365" name="Rectangle 6"/>
          <p:cNvSpPr/>
          <p:nvPr/>
        </p:nvSpPr>
        <p:spPr>
          <a:xfrm>
            <a:off x="0" y="1989138"/>
            <a:ext cx="8220075" cy="1181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har char="•"/>
            </a:pPr>
            <a:endParaRPr lang="zh-CN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idx="1"/>
          </p:nvPr>
        </p:nvSpPr>
        <p:spPr>
          <a:xfrm>
            <a:off x="285750" y="1736725"/>
            <a:ext cx="8858250" cy="4213225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各向同性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辐亮度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与观测方向（</a:t>
            </a:r>
            <a:r>
              <a:rPr lang="el-GR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φ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 无关（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是观测方向的函数－各向异性）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ts val="1200"/>
              </a:spcBef>
              <a:spcAft>
                <a:spcPct val="20000"/>
              </a:spcAft>
              <a:buFont typeface="Wingdings" panose="05000000000000000000" pitchFamily="2" charset="2"/>
              <a:buChar char="v"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均匀辐射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与观测位置（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 无关（</a:t>
            </a:r>
            <a:r>
              <a:rPr lang="zh-CN" altLang="en-US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是观测位置的函数－非均匀辐射）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ts val="1200"/>
              </a:spcBef>
              <a:spcAft>
                <a:spcPct val="20000"/>
              </a:spcAft>
              <a:buFont typeface="Wingdings" panose="05000000000000000000" pitchFamily="2" charset="2"/>
              <a:buChar char="v"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定常辐射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与时间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无关（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时间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的函数－非定常辐射）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type="body" sz="half" idx="1"/>
          </p:nvPr>
        </p:nvSpPr>
        <p:spPr>
          <a:xfrm>
            <a:off x="179388" y="2381250"/>
            <a:ext cx="8640762" cy="3905250"/>
          </a:xfrm>
          <a:ln/>
        </p:spPr>
        <p:txBody>
          <a:bodyPr vert="horz" wrap="square" lIns="91440" tIns="45720" rIns="91440" bIns="45720" anchor="t" anchorCtr="0"/>
          <a:p>
            <a:pPr lvl="1">
              <a:lnSpc>
                <a:spcPct val="80000"/>
              </a:lnSpc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定义：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辐射场内任一点处通过单位面积的辐射功率，单位为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80000"/>
              </a:lnSpc>
              <a:spcAft>
                <a:spcPct val="20000"/>
              </a:spcAft>
              <a:buClr>
                <a:schemeClr val="accent1"/>
              </a:buClr>
              <a:buFontTx/>
              <a:buChar char="•"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80000"/>
              </a:lnSpc>
              <a:spcAft>
                <a:spcPct val="2000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80000"/>
              </a:lnSpc>
              <a:spcAft>
                <a:spcPct val="20000"/>
              </a:spcAft>
              <a:buClr>
                <a:schemeClr val="accent1"/>
              </a:buClr>
              <a:buFontTx/>
              <a:buChar char="•"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80000"/>
              </a:lnSpc>
              <a:spcAft>
                <a:spcPct val="20000"/>
              </a:spcAft>
              <a:buClr>
                <a:schemeClr val="accent1"/>
              </a:buClr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表示面元接受的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时，又称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辐照度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irradiance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Bef>
                <a:spcPts val="2400"/>
              </a:spcBef>
              <a:spcAft>
                <a:spcPct val="20000"/>
              </a:spcAft>
              <a:buClr>
                <a:schemeClr val="accent1"/>
              </a:buClr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表示从物体表面发射出的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，又称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辐出度、辐射度、辐射能力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emittance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）。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071813" y="3071813"/>
          <a:ext cx="224948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65200" imgH="393700" progId="Equation.DSMT4">
                  <p:embed/>
                </p:oleObj>
              </mc:Choice>
              <mc:Fallback>
                <p:oleObj name="" r:id="rId1" imgW="9652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071813" y="3071813"/>
                        <a:ext cx="2249487" cy="8826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3"/>
          <p:cNvSpPr txBox="1"/>
          <p:nvPr/>
        </p:nvSpPr>
        <p:spPr>
          <a:xfrm>
            <a:off x="571500" y="1428750"/>
            <a:ext cx="8286750" cy="584200"/>
          </a:xfrm>
          <a:prstGeom prst="rect">
            <a:avLst/>
          </a:prstGeom>
          <a:blipFill rotWithShape="1">
            <a:blip r:embed="rId3"/>
          </a:blip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辐射通量密度</a:t>
            </a:r>
            <a:r>
              <a:rPr lang="en-US" altLang="zh-CN" sz="3200" i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en-US" altLang="zh-CN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en-US" altLang="zh-CN" sz="3200" i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radiant flux density</a:t>
            </a:r>
            <a:r>
              <a:rPr lang="en-US" altLang="zh-CN" sz="32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3200" b="1" dirty="0">
              <a:solidFill>
                <a:srgbClr val="08080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3" name="TextBox 4"/>
          <p:cNvSpPr txBox="1"/>
          <p:nvPr/>
        </p:nvSpPr>
        <p:spPr>
          <a:xfrm>
            <a:off x="1357313" y="214313"/>
            <a:ext cx="764381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二、描述辐射场的物理量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idx="1"/>
          </p:nvPr>
        </p:nvSpPr>
        <p:spPr>
          <a:xfrm>
            <a:off x="395288" y="2173288"/>
            <a:ext cx="8569325" cy="40640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Aft>
                <a:spcPct val="20000"/>
              </a:spcAft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设通过某一空间平面的某一波段的辐射通量密度为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l-GR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，则其可认为是从各个方向射来的辐亮度在法线方向分量的累加，即：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ts val="2100"/>
              </a:lnSpc>
              <a:spcAft>
                <a:spcPct val="20000"/>
              </a:spcAft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ts val="2100"/>
              </a:lnSpc>
              <a:spcAft>
                <a:spcPct val="20000"/>
              </a:spcAft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ts val="2100"/>
              </a:lnSpc>
              <a:spcAft>
                <a:spcPct val="20000"/>
              </a:spcAft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ts val="2100"/>
              </a:lnSpc>
              <a:spcAft>
                <a:spcPct val="20000"/>
              </a:spcAft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ts val="2100"/>
              </a:lnSpc>
              <a:spcAft>
                <a:spcPct val="20000"/>
              </a:spcAft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l-GR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ϴ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：辐亮度方向与平面法线之间的交角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2411413" y="4090988"/>
          <a:ext cx="39608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206500" imgH="279400" progId="Equation.DSMT4">
                  <p:embed/>
                </p:oleObj>
              </mc:Choice>
              <mc:Fallback>
                <p:oleObj name="" r:id="rId1" imgW="1206500" imgH="2794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413" y="4090988"/>
                        <a:ext cx="3960812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Box 7"/>
          <p:cNvSpPr txBox="1"/>
          <p:nvPr/>
        </p:nvSpPr>
        <p:spPr>
          <a:xfrm>
            <a:off x="1714500" y="1403350"/>
            <a:ext cx="5953125" cy="585788"/>
          </a:xfrm>
          <a:prstGeom prst="rect">
            <a:avLst/>
          </a:prstGeom>
          <a:blipFill rotWithShape="1">
            <a:blip r:embed="rId3"/>
          </a:blip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2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辐射通量密度</a:t>
            </a:r>
            <a:r>
              <a:rPr lang="en-US" altLang="zh-CN" sz="32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32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与辐亮度</a:t>
            </a:r>
            <a:r>
              <a:rPr lang="en-US" altLang="zh-CN" sz="32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32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idx="1"/>
          </p:nvPr>
        </p:nvSpPr>
        <p:spPr>
          <a:xfrm>
            <a:off x="684213" y="2997200"/>
            <a:ext cx="8893175" cy="50006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Aft>
                <a:spcPct val="20000"/>
              </a:spcAft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9459" name="Picture 8" descr="img021"/>
          <p:cNvPicPr>
            <a:picLocks noChangeAspect="1"/>
          </p:cNvPicPr>
          <p:nvPr/>
        </p:nvPicPr>
        <p:blipFill>
          <a:blip r:embed="rId1"/>
          <a:srcRect l="5351" t="32399" r="42520" b="18898"/>
          <a:stretch>
            <a:fillRect/>
          </a:stretch>
        </p:blipFill>
        <p:spPr>
          <a:xfrm>
            <a:off x="571500" y="1844675"/>
            <a:ext cx="2705100" cy="1895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4500563"/>
            <a:ext cx="3605212" cy="642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3" y="5430838"/>
            <a:ext cx="3605212" cy="998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2" name="Picture 2"/>
          <p:cNvPicPr>
            <a:picLocks noChangeAspect="1"/>
          </p:cNvPicPr>
          <p:nvPr/>
        </p:nvPicPr>
        <p:blipFill>
          <a:blip r:embed="rId4"/>
          <a:srcRect l="5424" t="2103" b="3197"/>
          <a:stretch>
            <a:fillRect/>
          </a:stretch>
        </p:blipFill>
        <p:spPr>
          <a:xfrm>
            <a:off x="4087813" y="1547813"/>
            <a:ext cx="5021262" cy="4833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Box 2"/>
          <p:cNvSpPr txBox="1"/>
          <p:nvPr/>
        </p:nvSpPr>
        <p:spPr>
          <a:xfrm>
            <a:off x="323850" y="6288088"/>
            <a:ext cx="8640763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1"/>
          </p:nvPr>
        </p:nvSpPr>
        <p:spPr>
          <a:xfrm>
            <a:off x="285750" y="1931988"/>
            <a:ext cx="8391525" cy="5068887"/>
          </a:xfrm>
          <a:ln/>
        </p:spPr>
        <p:txBody>
          <a:bodyPr vert="horz" wrap="square" lIns="91440" tIns="45720" rIns="91440" bIns="45720" anchor="t" anchorCtr="0"/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计算水平面上的辐射通量密度，分别对从上半球和下半球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入射辐射的垂直分量进行积分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4" name="TextBox 7"/>
          <p:cNvSpPr txBox="1"/>
          <p:nvPr/>
        </p:nvSpPr>
        <p:spPr>
          <a:xfrm>
            <a:off x="1785938" y="1143000"/>
            <a:ext cx="5214937" cy="523875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净辐射通量密度或净辐照度</a:t>
            </a:r>
            <a:endParaRPr lang="zh-CN" altLang="en-US" sz="2800" b="1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485" name="Group 58"/>
          <p:cNvGrpSpPr/>
          <p:nvPr/>
        </p:nvGrpSpPr>
        <p:grpSpPr>
          <a:xfrm>
            <a:off x="900113" y="3141663"/>
            <a:ext cx="7419975" cy="3563937"/>
            <a:chOff x="612" y="300"/>
            <a:chExt cx="4674" cy="2722"/>
          </a:xfrm>
        </p:grpSpPr>
        <p:grpSp>
          <p:nvGrpSpPr>
            <p:cNvPr id="20486" name="Group 47"/>
            <p:cNvGrpSpPr/>
            <p:nvPr/>
          </p:nvGrpSpPr>
          <p:grpSpPr>
            <a:xfrm>
              <a:off x="612" y="1616"/>
              <a:ext cx="4674" cy="780"/>
              <a:chOff x="612" y="2740"/>
              <a:chExt cx="4674" cy="780"/>
            </a:xfrm>
          </p:grpSpPr>
          <p:sp>
            <p:nvSpPr>
              <p:cNvPr id="20513" name="Line 6"/>
              <p:cNvSpPr/>
              <p:nvPr/>
            </p:nvSpPr>
            <p:spPr>
              <a:xfrm>
                <a:off x="1066" y="3203"/>
                <a:ext cx="371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14" name="Text Box 24"/>
              <p:cNvSpPr txBox="1"/>
              <p:nvPr/>
            </p:nvSpPr>
            <p:spPr>
              <a:xfrm>
                <a:off x="4785" y="3022"/>
                <a:ext cx="501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l-GR" altLang="ja-JP" b="1" dirty="0">
                    <a:latin typeface="Verdana" panose="020B0604030504040204" pitchFamily="34" charset="0"/>
                  </a:rPr>
                  <a:t>τ</a:t>
                </a:r>
                <a:r>
                  <a:rPr lang="en-US" altLang="zh-CN" b="1" dirty="0">
                    <a:latin typeface="Verdana" panose="020B0604030504040204" pitchFamily="34" charset="0"/>
                    <a:ea typeface="宋体" panose="02010600030101010101" pitchFamily="2" charset="-122"/>
                  </a:rPr>
                  <a:t>=</a:t>
                </a:r>
                <a:r>
                  <a:rPr lang="el-GR" altLang="zh-CN" b="1" dirty="0">
                    <a:latin typeface="Verdana" panose="020B0604030504040204" pitchFamily="34" charset="0"/>
                  </a:rPr>
                  <a:t>τ</a:t>
                </a:r>
                <a:r>
                  <a:rPr lang="en-US" altLang="zh-CN" b="1" dirty="0">
                    <a:latin typeface="Verdana" panose="020B0604030504040204" pitchFamily="34" charset="0"/>
                    <a:ea typeface="宋体" panose="02010600030101010101" pitchFamily="2" charset="-122"/>
                  </a:rPr>
                  <a:t>1</a:t>
                </a:r>
                <a:endParaRPr lang="el-GR" altLang="ja-JP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20515" name="Oval 30"/>
              <p:cNvSpPr/>
              <p:nvPr/>
            </p:nvSpPr>
            <p:spPr>
              <a:xfrm>
                <a:off x="2426" y="2795"/>
                <a:ext cx="726" cy="72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6" name="Rectangle 31"/>
              <p:cNvSpPr/>
              <p:nvPr/>
            </p:nvSpPr>
            <p:spPr>
              <a:xfrm>
                <a:off x="2816" y="2741"/>
                <a:ext cx="545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7" name="Rectangle 32"/>
              <p:cNvSpPr/>
              <p:nvPr/>
            </p:nvSpPr>
            <p:spPr>
              <a:xfrm>
                <a:off x="2227" y="2740"/>
                <a:ext cx="545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8" name="Text Box 41"/>
              <p:cNvSpPr txBox="1"/>
              <p:nvPr/>
            </p:nvSpPr>
            <p:spPr>
              <a:xfrm>
                <a:off x="612" y="3067"/>
                <a:ext cx="409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b="1" dirty="0">
                    <a:latin typeface="Verdana" panose="020B0604030504040204" pitchFamily="34" charset="0"/>
                    <a:ea typeface="宋体" panose="02010600030101010101" pitchFamily="2" charset="-122"/>
                  </a:rPr>
                  <a:t>下端</a:t>
                </a:r>
                <a:endParaRPr lang="zh-CN" altLang="en-US" b="1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487" name="Line 7"/>
            <p:cNvSpPr/>
            <p:nvPr/>
          </p:nvSpPr>
          <p:spPr>
            <a:xfrm flipH="1" flipV="1">
              <a:off x="2472" y="1026"/>
              <a:ext cx="318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88" name="Line 8"/>
            <p:cNvSpPr/>
            <p:nvPr/>
          </p:nvSpPr>
          <p:spPr>
            <a:xfrm flipH="1" flipV="1">
              <a:off x="2562" y="890"/>
              <a:ext cx="228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89" name="Line 9"/>
            <p:cNvSpPr/>
            <p:nvPr/>
          </p:nvSpPr>
          <p:spPr>
            <a:xfrm flipH="1" flipV="1">
              <a:off x="2789" y="799"/>
              <a:ext cx="1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0" name="Line 10"/>
            <p:cNvSpPr/>
            <p:nvPr/>
          </p:nvSpPr>
          <p:spPr>
            <a:xfrm flipV="1">
              <a:off x="2790" y="845"/>
              <a:ext cx="181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1" name="Line 11"/>
            <p:cNvSpPr/>
            <p:nvPr/>
          </p:nvSpPr>
          <p:spPr>
            <a:xfrm flipV="1">
              <a:off x="2790" y="1026"/>
              <a:ext cx="362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2" name="Oval 12"/>
            <p:cNvSpPr/>
            <p:nvPr/>
          </p:nvSpPr>
          <p:spPr>
            <a:xfrm>
              <a:off x="2472" y="799"/>
              <a:ext cx="726" cy="725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3" name="Rectangle 13"/>
            <p:cNvSpPr/>
            <p:nvPr/>
          </p:nvSpPr>
          <p:spPr>
            <a:xfrm>
              <a:off x="2336" y="1207"/>
              <a:ext cx="998" cy="40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4" name="Line 14"/>
            <p:cNvSpPr/>
            <p:nvPr/>
          </p:nvSpPr>
          <p:spPr>
            <a:xfrm>
              <a:off x="1066" y="1207"/>
              <a:ext cx="36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Line 15"/>
            <p:cNvSpPr/>
            <p:nvPr/>
          </p:nvSpPr>
          <p:spPr>
            <a:xfrm flipH="1">
              <a:off x="3107" y="618"/>
              <a:ext cx="317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6" name="Line 16"/>
            <p:cNvSpPr/>
            <p:nvPr/>
          </p:nvSpPr>
          <p:spPr>
            <a:xfrm flipH="1">
              <a:off x="2789" y="890"/>
              <a:ext cx="318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17"/>
            <p:cNvSpPr/>
            <p:nvPr/>
          </p:nvSpPr>
          <p:spPr>
            <a:xfrm>
              <a:off x="2789" y="48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0498" name="Line 19"/>
            <p:cNvSpPr/>
            <p:nvPr/>
          </p:nvSpPr>
          <p:spPr>
            <a:xfrm>
              <a:off x="3288" y="618"/>
              <a:ext cx="136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Text Box 22"/>
            <p:cNvSpPr txBox="1"/>
            <p:nvPr/>
          </p:nvSpPr>
          <p:spPr>
            <a:xfrm>
              <a:off x="4736" y="1035"/>
              <a:ext cx="423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l-GR" altLang="ja-JP" b="1" dirty="0">
                  <a:latin typeface="Verdana" panose="020B0604030504040204" pitchFamily="34" charset="0"/>
                </a:rPr>
                <a:t>τ</a:t>
              </a:r>
              <a:r>
                <a:rPr lang="en-US" altLang="zh-CN" b="1" dirty="0">
                  <a:latin typeface="Verdana" panose="020B0604030504040204" pitchFamily="34" charset="0"/>
                  <a:ea typeface="宋体" panose="02010600030101010101" pitchFamily="2" charset="-122"/>
                </a:rPr>
                <a:t>=0</a:t>
              </a:r>
              <a:endParaRPr lang="el-GR" altLang="ja-JP" b="1" dirty="0">
                <a:latin typeface="Verdana" panose="020B0604030504040204" pitchFamily="34" charset="0"/>
              </a:endParaRPr>
            </a:p>
          </p:txBody>
        </p:sp>
        <p:sp>
          <p:nvSpPr>
            <p:cNvPr id="20500" name="Line 25"/>
            <p:cNvSpPr/>
            <p:nvPr/>
          </p:nvSpPr>
          <p:spPr>
            <a:xfrm>
              <a:off x="2789" y="890"/>
              <a:ext cx="0" cy="21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Text Box 40"/>
            <p:cNvSpPr txBox="1"/>
            <p:nvPr/>
          </p:nvSpPr>
          <p:spPr>
            <a:xfrm>
              <a:off x="612" y="1026"/>
              <a:ext cx="40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latin typeface="Verdana" panose="020B0604030504040204" pitchFamily="34" charset="0"/>
                  <a:ea typeface="宋体" panose="02010600030101010101" pitchFamily="2" charset="-122"/>
                </a:rPr>
                <a:t>上端</a:t>
              </a:r>
              <a:endParaRPr lang="zh-CN" altLang="en-US" b="1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02" name="Text Box 42"/>
            <p:cNvSpPr txBox="1"/>
            <p:nvPr/>
          </p:nvSpPr>
          <p:spPr>
            <a:xfrm>
              <a:off x="2913" y="53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l-GR" altLang="ja-JP" dirty="0">
                  <a:latin typeface="Verdana" panose="020B0604030504040204" pitchFamily="34" charset="0"/>
                </a:rPr>
                <a:t>θ</a:t>
              </a:r>
              <a:endParaRPr lang="el-GR" altLang="ja-JP" dirty="0">
                <a:latin typeface="Verdana" panose="020B0604030504040204" pitchFamily="34" charset="0"/>
              </a:endParaRPr>
            </a:p>
          </p:txBody>
        </p:sp>
        <p:sp>
          <p:nvSpPr>
            <p:cNvPr id="20503" name="Freeform 43"/>
            <p:cNvSpPr/>
            <p:nvPr/>
          </p:nvSpPr>
          <p:spPr>
            <a:xfrm>
              <a:off x="2791" y="528"/>
              <a:ext cx="186" cy="54"/>
            </a:xfrm>
            <a:custGeom>
              <a:avLst/>
              <a:gdLst>
                <a:gd name="txL" fmla="*/ 0 w 186"/>
                <a:gd name="txT" fmla="*/ 0 h 54"/>
                <a:gd name="txR" fmla="*/ 186 w 186"/>
                <a:gd name="txB" fmla="*/ 54 h 54"/>
              </a:gdLst>
              <a:ahLst/>
              <a:cxnLst>
                <a:cxn ang="0">
                  <a:pos x="0" y="19"/>
                </a:cxn>
                <a:cxn ang="0">
                  <a:pos x="186" y="54"/>
                </a:cxn>
              </a:cxnLst>
              <a:rect l="txL" t="txT" r="txR" b="txB"/>
              <a:pathLst>
                <a:path w="186" h="54">
                  <a:moveTo>
                    <a:pt x="0" y="19"/>
                  </a:moveTo>
                  <a:cubicBezTo>
                    <a:pt x="57" y="0"/>
                    <a:pt x="143" y="5"/>
                    <a:pt x="186" y="5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4" name="Freeform 44"/>
            <p:cNvSpPr/>
            <p:nvPr/>
          </p:nvSpPr>
          <p:spPr>
            <a:xfrm>
              <a:off x="3102" y="680"/>
              <a:ext cx="88" cy="115"/>
            </a:xfrm>
            <a:custGeom>
              <a:avLst/>
              <a:gdLst>
                <a:gd name="txL" fmla="*/ 0 w 88"/>
                <a:gd name="txT" fmla="*/ 0 h 115"/>
                <a:gd name="txR" fmla="*/ 88 w 88"/>
                <a:gd name="txB" fmla="*/ 115 h 115"/>
              </a:gdLst>
              <a:ahLst/>
              <a:cxnLst>
                <a:cxn ang="0">
                  <a:pos x="0" y="0"/>
                </a:cxn>
                <a:cxn ang="0">
                  <a:pos x="62" y="62"/>
                </a:cxn>
                <a:cxn ang="0">
                  <a:pos x="79" y="88"/>
                </a:cxn>
                <a:cxn ang="0">
                  <a:pos x="88" y="115"/>
                </a:cxn>
              </a:cxnLst>
              <a:rect l="txL" t="txT" r="txR" b="txB"/>
              <a:pathLst>
                <a:path w="88" h="115">
                  <a:moveTo>
                    <a:pt x="0" y="0"/>
                  </a:moveTo>
                  <a:cubicBezTo>
                    <a:pt x="39" y="12"/>
                    <a:pt x="45" y="28"/>
                    <a:pt x="62" y="62"/>
                  </a:cubicBezTo>
                  <a:cubicBezTo>
                    <a:pt x="67" y="71"/>
                    <a:pt x="74" y="79"/>
                    <a:pt x="79" y="88"/>
                  </a:cubicBezTo>
                  <a:cubicBezTo>
                    <a:pt x="83" y="97"/>
                    <a:pt x="88" y="115"/>
                    <a:pt x="88" y="115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5" name="Line 45"/>
            <p:cNvSpPr/>
            <p:nvPr/>
          </p:nvSpPr>
          <p:spPr>
            <a:xfrm flipH="1">
              <a:off x="2789" y="527"/>
              <a:ext cx="46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6" name="Line 46"/>
            <p:cNvSpPr/>
            <p:nvPr/>
          </p:nvSpPr>
          <p:spPr>
            <a:xfrm>
              <a:off x="3152" y="754"/>
              <a:ext cx="46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7" name="Arc 48"/>
            <p:cNvSpPr/>
            <p:nvPr/>
          </p:nvSpPr>
          <p:spPr>
            <a:xfrm>
              <a:off x="3198" y="300"/>
              <a:ext cx="589" cy="771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8" name="Line 49"/>
            <p:cNvSpPr/>
            <p:nvPr/>
          </p:nvSpPr>
          <p:spPr>
            <a:xfrm>
              <a:off x="3779" y="935"/>
              <a:ext cx="0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0509" name="Text Box 50"/>
            <p:cNvSpPr txBox="1"/>
            <p:nvPr/>
          </p:nvSpPr>
          <p:spPr>
            <a:xfrm>
              <a:off x="3638" y="313"/>
              <a:ext cx="559" cy="28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0 - </a:t>
              </a:r>
              <a:r>
                <a:rPr lang="el-GR" altLang="zh-CN" b="1" dirty="0">
                  <a:latin typeface="Arial" panose="020B0604020202020204" pitchFamily="34" charset="0"/>
                </a:rPr>
                <a:t>π</a:t>
              </a: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/2</a:t>
              </a:r>
              <a:endParaRPr lang="el-GR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20510" name="Arc 53"/>
            <p:cNvSpPr/>
            <p:nvPr/>
          </p:nvSpPr>
          <p:spPr>
            <a:xfrm rot="-10800000" flipH="1">
              <a:off x="2971" y="2160"/>
              <a:ext cx="680" cy="635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1" name="Line 54"/>
            <p:cNvSpPr/>
            <p:nvPr/>
          </p:nvSpPr>
          <p:spPr>
            <a:xfrm flipH="1">
              <a:off x="2909" y="2795"/>
              <a:ext cx="1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20512" name="Text Box 55"/>
            <p:cNvSpPr txBox="1"/>
            <p:nvPr/>
          </p:nvSpPr>
          <p:spPr>
            <a:xfrm>
              <a:off x="3651" y="2477"/>
              <a:ext cx="549" cy="28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l-GR" altLang="zh-CN" b="1" dirty="0">
                  <a:latin typeface="Arial" panose="020B0604020202020204" pitchFamily="34" charset="0"/>
                </a:rPr>
                <a:t>π</a:t>
              </a: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/2- </a:t>
              </a:r>
              <a:r>
                <a:rPr lang="el-GR" altLang="zh-CN" b="1" dirty="0">
                  <a:latin typeface="Arial" panose="020B0604020202020204" pitchFamily="34" charset="0"/>
                </a:rPr>
                <a:t>π</a:t>
              </a:r>
              <a:endParaRPr lang="el-GR" altLang="zh-CN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3"/>
          <p:cNvSpPr>
            <a:spLocks noGrp="1"/>
          </p:cNvSpPr>
          <p:nvPr>
            <p:ph type="body" sz="half" idx="1"/>
          </p:nvPr>
        </p:nvSpPr>
        <p:spPr>
          <a:xfrm>
            <a:off x="285750" y="1931988"/>
            <a:ext cx="8391525" cy="5068887"/>
          </a:xfrm>
          <a:ln/>
        </p:spPr>
        <p:txBody>
          <a:bodyPr vert="horz" wrap="square" lIns="91440" tIns="45720" rIns="91440" bIns="45720" anchor="t" anchorCtr="0"/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Bef>
                <a:spcPts val="2400"/>
              </a:spcBef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净辐照度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1979613" y="2165350"/>
          <a:ext cx="5065712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019300" imgH="762000" progId="Equation.DSMT4">
                  <p:embed/>
                </p:oleObj>
              </mc:Choice>
              <mc:Fallback>
                <p:oleObj name="" r:id="rId1" imgW="2019300" imgH="762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79613" y="2165350"/>
                        <a:ext cx="5065712" cy="18399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6"/>
          <p:cNvGraphicFramePr>
            <a:graphicFrameLocks noChangeAspect="1"/>
          </p:cNvGraphicFramePr>
          <p:nvPr/>
        </p:nvGraphicFramePr>
        <p:xfrm>
          <a:off x="3286125" y="4724400"/>
          <a:ext cx="25161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850265" imgH="203200" progId="Equation.3">
                  <p:embed/>
                </p:oleObj>
              </mc:Choice>
              <mc:Fallback>
                <p:oleObj name="" r:id="rId3" imgW="850265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6125" y="4724400"/>
                        <a:ext cx="2516188" cy="703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Box 7"/>
          <p:cNvSpPr txBox="1"/>
          <p:nvPr/>
        </p:nvSpPr>
        <p:spPr>
          <a:xfrm>
            <a:off x="1785938" y="1143000"/>
            <a:ext cx="5214937" cy="523875"/>
          </a:xfrm>
          <a:prstGeom prst="rect">
            <a:avLst/>
          </a:prstGeom>
          <a:blipFill rotWithShape="1">
            <a:blip r:embed="rId5"/>
          </a:blip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净辐射通量密度或净辐照度</a:t>
            </a:r>
            <a:endParaRPr lang="zh-CN" altLang="en-US" sz="2800" b="1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idx="1"/>
          </p:nvPr>
        </p:nvSpPr>
        <p:spPr>
          <a:xfrm>
            <a:off x="431800" y="1782763"/>
            <a:ext cx="8604250" cy="998537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净辐射通量密度或净辐照度辐射能收支为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正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：气层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温度升高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Aft>
                <a:spcPct val="2000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反之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降温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2816225"/>
            <a:ext cx="8532813" cy="4013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Box 7"/>
          <p:cNvSpPr txBox="1"/>
          <p:nvPr/>
        </p:nvSpPr>
        <p:spPr>
          <a:xfrm>
            <a:off x="1785938" y="1143000"/>
            <a:ext cx="5214937" cy="523875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净辐射通量密度或净辐照度</a:t>
            </a:r>
            <a:endParaRPr lang="zh-CN" altLang="en-US" sz="2800" b="1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2133600"/>
            <a:ext cx="8748713" cy="4425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点辐射源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（即其几何尺度可被忽略）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5397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　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假设点源向四周发射是均匀的，发射辐射的功率为      ，以点源为中心画一个半径为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的球面，则通过球表面的辐照度为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点源的辐照度（或辐射通量密度）将随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减小。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    通过此球面的辐射通量如何？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title"/>
          </p:nvPr>
        </p:nvSpPr>
        <p:spPr>
          <a:xfrm>
            <a:off x="1403350" y="115888"/>
            <a:ext cx="7561263" cy="814387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en-US" altLang="zh-CN" sz="3600" dirty="0">
                <a:solidFill>
                  <a:srgbClr val="FFFF00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3600" dirty="0">
                <a:solidFill>
                  <a:srgbClr val="FFFF00"/>
                </a:solidFill>
                <a:latin typeface="Times New Roman" panose="02020603050405020304" pitchFamily="18" charset="0"/>
              </a:rPr>
              <a:t>辐射源</a:t>
            </a:r>
            <a:endParaRPr lang="zh-CN" altLang="en-US" sz="36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3371850" y="4076700"/>
          <a:ext cx="20574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73100" imgH="393700" progId="Equation.DSMT4">
                  <p:embed/>
                </p:oleObj>
              </mc:Choice>
              <mc:Fallback>
                <p:oleObj name="" r:id="rId1" imgW="673100" imgH="3937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1850" y="4076700"/>
                        <a:ext cx="2057400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28688" y="1428750"/>
            <a:ext cx="7572375" cy="785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辐射源：</a:t>
            </a:r>
            <a:r>
              <a:rPr kumimoji="0" lang="zh-CN" altLang="en-US" sz="2800" b="1" kern="0" cap="none" spc="0" normalizeH="0" baseline="0" noProof="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往外发射辐射的物体。</a:t>
            </a:r>
            <a:endParaRPr kumimoji="0" lang="zh-CN" altLang="en-US" sz="2800" b="1" kern="0" cap="none" spc="0" normalizeH="0" baseline="0" noProof="0" dirty="0">
              <a:solidFill>
                <a:srgbClr val="CC00CC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5397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　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23558" name="Object 7"/>
          <p:cNvGraphicFramePr>
            <a:graphicFrameLocks noChangeAspect="1"/>
          </p:cNvGraphicFramePr>
          <p:nvPr/>
        </p:nvGraphicFramePr>
        <p:xfrm>
          <a:off x="8172450" y="2924175"/>
          <a:ext cx="4714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65100" imgH="228600" progId="Equation.3">
                  <p:embed/>
                </p:oleObj>
              </mc:Choice>
              <mc:Fallback>
                <p:oleObj name="" r:id="rId3" imgW="1651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2450" y="2924175"/>
                        <a:ext cx="471488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idx="1"/>
          </p:nvPr>
        </p:nvSpPr>
        <p:spPr>
          <a:xfrm>
            <a:off x="0" y="1404938"/>
            <a:ext cx="8858250" cy="4667250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FontTx/>
              <a:buNone/>
            </a:pPr>
            <a:endParaRPr lang="zh-CN" altLang="en-US" sz="36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当光源的距离足够远时，所有来自该光源的辐射传输方向可以认为是相互平行的，这种辐射常被称为</a:t>
            </a:r>
            <a:r>
              <a:rPr lang="zh-CN" alt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平行辐射</a:t>
            </a:r>
            <a:r>
              <a:rPr lang="en-US" altLang="zh-CN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或平行光</a:t>
            </a:r>
            <a:r>
              <a:rPr lang="en-US" altLang="zh-CN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平行辐射的特点：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在不考虑吸收和散射等因素时，平行光的辐射通量密度应当是常数，即在任何位置上设置一个和辐射传输方向相垂直的平面，通过这平面的辐射通量密度都应当是一个常数。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title"/>
          </p:nvPr>
        </p:nvSpPr>
        <p:spPr>
          <a:xfrm>
            <a:off x="684213" y="1143000"/>
            <a:ext cx="7772400" cy="850900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平行光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idx="1"/>
          </p:nvPr>
        </p:nvSpPr>
        <p:spPr>
          <a:xfrm>
            <a:off x="323850" y="1555750"/>
            <a:ext cx="8424863" cy="4730750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FontTx/>
              <a:buNone/>
            </a:pP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大气辐射中，常把来自太阳的直接辐射看作平行光。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因为地球离太阳的距离为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1.5×10</a:t>
            </a:r>
            <a:r>
              <a:rPr lang="en-US" altLang="zh-CN" sz="24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km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，而大气辐射学中讨论的最大尺度是地球半径的尺度，即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6371  km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在这样一个范围中，太阳辐射的强度仅变化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[(1.5×10</a:t>
            </a:r>
            <a:r>
              <a:rPr lang="en-US" altLang="zh-CN" sz="24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+6371)/ 1.5×10</a:t>
            </a:r>
            <a:r>
              <a:rPr lang="en-US" altLang="zh-CN" sz="24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en-US" altLang="zh-CN" sz="24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= 1.000084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。因此把太阳辐射当作平行光，其辐照度不随距离变化是合理的。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type="title"/>
          </p:nvPr>
        </p:nvSpPr>
        <p:spPr>
          <a:xfrm>
            <a:off x="642938" y="1143000"/>
            <a:ext cx="7772400" cy="777875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太阳光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idx="1"/>
          </p:nvPr>
        </p:nvSpPr>
        <p:spPr>
          <a:xfrm>
            <a:off x="0" y="1352550"/>
            <a:ext cx="8820150" cy="5791200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FontTx/>
              <a:buNone/>
            </a:pPr>
            <a:endParaRPr lang="zh-CN" altLang="en-US" sz="36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对平行辐射，由于辐射能是在同一个方向传播，射线所张的立体角为零，此时辐亮度的概念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不再适用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2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这种情况下，只需要知道平行辐射的方向和辐射通量密度即可。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lnSpc>
                <a:spcPct val="150000"/>
              </a:lnSpc>
              <a:spcAft>
                <a:spcPct val="20000"/>
              </a:spcAft>
              <a:buFontTx/>
              <a:buChar char="•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例如，地面接收的太阳辐射通量密度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title"/>
          </p:nvPr>
        </p:nvSpPr>
        <p:spPr>
          <a:xfrm>
            <a:off x="642938" y="1116013"/>
            <a:ext cx="7772400" cy="741362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</a:rPr>
              <a:t>到达地面的太阳辐射</a:t>
            </a:r>
            <a:endParaRPr lang="zh-CN" altLang="en-US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6628" name="Object 2"/>
          <p:cNvGraphicFramePr>
            <a:graphicFrameLocks noChangeAspect="1"/>
          </p:cNvGraphicFramePr>
          <p:nvPr/>
        </p:nvGraphicFramePr>
        <p:xfrm>
          <a:off x="2119313" y="5143500"/>
          <a:ext cx="23098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748665" imgH="177800" progId="Equation.DSMT4">
                  <p:embed/>
                </p:oleObj>
              </mc:Choice>
              <mc:Fallback>
                <p:oleObj name="" r:id="rId1" imgW="748665" imgH="177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19313" y="5143500"/>
                        <a:ext cx="2309812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29" name="Picture 5" descr="Fig5-14"/>
          <p:cNvPicPr>
            <a:picLocks noChangeAspect="1"/>
          </p:cNvPicPr>
          <p:nvPr/>
        </p:nvPicPr>
        <p:blipFill>
          <a:blip r:embed="rId3"/>
          <a:srcRect l="42004" t="4651" r="16783" b="62791"/>
          <a:stretch>
            <a:fillRect/>
          </a:stretch>
        </p:blipFill>
        <p:spPr>
          <a:xfrm>
            <a:off x="5943600" y="4149725"/>
            <a:ext cx="3200400" cy="2622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0" name="Text Box 6"/>
          <p:cNvSpPr txBox="1"/>
          <p:nvPr/>
        </p:nvSpPr>
        <p:spPr>
          <a:xfrm>
            <a:off x="714375" y="5886450"/>
            <a:ext cx="52181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0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为与日光垂直平面上的太阳积分辐照度）</a:t>
            </a:r>
            <a:endParaRPr lang="zh-CN" altLang="en-US" sz="2000" b="1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57188" y="1285875"/>
            <a:ext cx="8215313" cy="4354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3200" b="1" kern="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面辐射源</a:t>
            </a:r>
            <a:endParaRPr kumimoji="0" lang="en-US" altLang="zh-CN" sz="3200" b="1" kern="0" cap="none" spc="0" normalizeH="0" baseline="0" noProof="0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特点：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它可以向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π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立体角中发射辐射能。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对平面平行大气：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水平方向的辐射分量都是相同的，它们对局地能量平衡不起作用。因此只关心垂直方向的辐射通量密度。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辐出度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：通过单位面积在面源的法线方向射出的能量，以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表示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600" b="1" kern="0" cap="none" spc="0" normalizeH="0" baseline="0" noProof="0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5397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　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2484438" y="5286375"/>
          <a:ext cx="20716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23900" imgH="279400" progId="Equation.3">
                  <p:embed/>
                </p:oleObj>
              </mc:Choice>
              <mc:Fallback>
                <p:oleObj name="" r:id="rId1" imgW="723900" imgH="279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438" y="5286375"/>
                        <a:ext cx="2071687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/>
        </p:nvGraphicFramePr>
        <p:xfrm>
          <a:off x="4859338" y="5500688"/>
          <a:ext cx="304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90500" imgH="228600" progId="Equation.3">
                  <p:embed/>
                </p:oleObj>
              </mc:Choice>
              <mc:Fallback>
                <p:oleObj name="" r:id="rId3" imgW="190500" imgH="228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9338" y="5500688"/>
                        <a:ext cx="3048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Box 8"/>
          <p:cNvSpPr txBox="1"/>
          <p:nvPr/>
        </p:nvSpPr>
        <p:spPr>
          <a:xfrm>
            <a:off x="5076825" y="5500688"/>
            <a:ext cx="35718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为谱（或单色、分光）辐出度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矩形 5"/>
          <p:cNvSpPr/>
          <p:nvPr/>
        </p:nvSpPr>
        <p:spPr>
          <a:xfrm>
            <a:off x="428625" y="6286500"/>
            <a:ext cx="8572500" cy="2857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矩形 6"/>
          <p:cNvSpPr/>
          <p:nvPr/>
        </p:nvSpPr>
        <p:spPr>
          <a:xfrm>
            <a:off x="3643313" y="5857875"/>
            <a:ext cx="1928812" cy="857250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468313" y="1268413"/>
            <a:ext cx="7772400" cy="700087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朗伯体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7" name="Rectangle 2"/>
          <p:cNvSpPr>
            <a:spLocks noGrp="1"/>
          </p:cNvSpPr>
          <p:nvPr>
            <p:ph type="body" sz="half" idx="1"/>
          </p:nvPr>
        </p:nvSpPr>
        <p:spPr>
          <a:xfrm>
            <a:off x="714375" y="2000250"/>
            <a:ext cx="8174038" cy="4114800"/>
          </a:xfrm>
          <a:ln/>
        </p:spPr>
        <p:txBody>
          <a:bodyPr vert="horz" wrap="square" lIns="91440" tIns="45720" rIns="91440" bIns="45720" anchor="t" anchorCtr="0"/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定义：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辐射强度不随方向变化的面辐射源。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如：黑体、太阳、陆地表面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… 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lvl="1">
              <a:spcAft>
                <a:spcPct val="20000"/>
              </a:spcAft>
              <a:buClr>
                <a:schemeClr val="accent1"/>
              </a:buClr>
              <a:buFontTx/>
              <a:buNone/>
            </a:pPr>
            <a:r>
              <a:rPr lang="zh-CN" altLang="en-US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5.1   </a:t>
            </a:r>
            <a:r>
              <a:rPr lang="zh-CN" altLang="en-US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朗伯定律</a:t>
            </a:r>
            <a:endParaRPr lang="zh-CN" altLang="el-GR" dirty="0">
              <a:solidFill>
                <a:srgbClr val="CC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867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2244725" y="3786188"/>
          <a:ext cx="5184775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" imgW="2019300" imgH="762000" progId="Equation.DSMT4">
                  <p:embed/>
                </p:oleObj>
              </mc:Choice>
              <mc:Fallback>
                <p:oleObj name="" r:id="rId2" imgW="2019300" imgH="762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244725" y="3786188"/>
                        <a:ext cx="5184775" cy="1955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5"/>
          <p:cNvGraphicFramePr>
            <a:graphicFrameLocks noChangeAspect="1"/>
          </p:cNvGraphicFramePr>
          <p:nvPr/>
        </p:nvGraphicFramePr>
        <p:xfrm>
          <a:off x="3857625" y="6000750"/>
          <a:ext cx="14874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4" imgW="469900" imgH="177800" progId="Equation.3">
                  <p:embed/>
                </p:oleObj>
              </mc:Choice>
              <mc:Fallback>
                <p:oleObj name="" r:id="rId4" imgW="469900" imgH="177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7625" y="6000750"/>
                        <a:ext cx="1487488" cy="60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WordArt 3"/>
          <p:cNvSpPr>
            <a:spLocks noTextEdit="1"/>
          </p:cNvSpPr>
          <p:nvPr/>
        </p:nvSpPr>
        <p:spPr>
          <a:xfrm>
            <a:off x="3995738" y="1989138"/>
            <a:ext cx="1173162" cy="100806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p>
            <a:pPr algn="ctr"/>
            <a:r>
              <a:rPr lang="zh-CN" altLang="en-US" sz="3600" b="1"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folHlink">
                    <a:alpha val="76862"/>
                  </a:schemeClr>
                </a:solidFill>
                <a:effectLst>
                  <a:outerShdw dist="89803" dir="2699999" algn="ctr" rotWithShape="0">
                    <a:schemeClr val="tx2">
                      <a:alpha val="50000"/>
                    </a:schemeClr>
                  </a:outerShdw>
                </a:effectLst>
                <a:latin typeface="+mn-ea" charset="0"/>
                <a:ea typeface="+mn-ea" charset="0"/>
              </a:rPr>
              <a:t>完</a:t>
            </a:r>
            <a:endParaRPr lang="zh-CN" altLang="en-US" sz="3600" b="1"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  <a:solidFill>
                <a:schemeClr val="folHlink">
                  <a:alpha val="76862"/>
                </a:schemeClr>
              </a:solidFill>
              <a:effectLst>
                <a:outerShdw dist="89803" dir="2699999" algn="ctr" rotWithShape="0">
                  <a:schemeClr val="tx2">
                    <a:alpha val="50000"/>
                  </a:schemeClr>
                </a:outerShdw>
              </a:effectLst>
              <a:latin typeface="+mn-ea" charset="0"/>
              <a:ea typeface="+mn-e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db2004132l">
  <a:themeElements>
    <a:clrScheme name="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db2004132l">
  <a:themeElements>
    <a:clrScheme name="1_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1_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cdb2004132l</Template>
  <TotalTime>0</TotalTime>
  <Words>2425</Words>
  <Application>WPS 演示</Application>
  <PresentationFormat>全屏显示(4:3)</PresentationFormat>
  <Paragraphs>195</Paragraphs>
  <Slides>26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26</vt:i4>
      </vt:variant>
    </vt:vector>
  </HeadingPairs>
  <TitlesOfParts>
    <vt:vector size="60" baseType="lpstr">
      <vt:lpstr>Arial</vt:lpstr>
      <vt:lpstr>宋体</vt:lpstr>
      <vt:lpstr>Wingdings</vt:lpstr>
      <vt:lpstr>楷体_GB2312</vt:lpstr>
      <vt:lpstr>新宋体</vt:lpstr>
      <vt:lpstr>Verdana</vt:lpstr>
      <vt:lpstr>Calibri</vt:lpstr>
      <vt:lpstr>Times New Roman</vt:lpstr>
      <vt:lpstr>黑体</vt:lpstr>
      <vt:lpstr>KSOF3FB35F8F</vt:lpstr>
      <vt:lpstr>Segoe Print</vt:lpstr>
      <vt:lpstr>微软雅黑</vt:lpstr>
      <vt:lpstr>+mn-ea</vt:lpstr>
      <vt:lpstr>Arial Unicode MS</vt:lpstr>
      <vt:lpstr>cdb2004132l</vt:lpstr>
      <vt:lpstr>1_cdb2004132l</vt:lpstr>
      <vt:lpstr>Photoshop.Image.6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Equation.DSMT4</vt:lpstr>
      <vt:lpstr>Equation.3</vt:lpstr>
      <vt:lpstr>Photoshop.Image.6</vt:lpstr>
      <vt:lpstr>Photoshop.Image.6</vt:lpstr>
      <vt:lpstr>Photoshop.Image.6</vt:lpstr>
      <vt:lpstr>Equation.3</vt:lpstr>
      <vt:lpstr>Equation.DSMT4</vt:lpstr>
      <vt:lpstr>Equation.3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气象统计分析与预报方法 复习概要</dc:title>
  <dc:creator>User</dc:creator>
  <cp:lastModifiedBy>赵元丞</cp:lastModifiedBy>
  <cp:revision>624</cp:revision>
  <dcterms:created xsi:type="dcterms:W3CDTF">2008-12-05T07:55:53Z</dcterms:created>
  <dcterms:modified xsi:type="dcterms:W3CDTF">2026-10-10T00:50:48Z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A4202CACC0174921A2C125B29591D1E0_13</vt:lpwstr>
  </property>
</Properties>
</file>