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9"/>
  </p:notesMasterIdLst>
  <p:sldIdLst>
    <p:sldId id="256" r:id="rId4"/>
    <p:sldId id="367" r:id="rId5"/>
    <p:sldId id="404" r:id="rId6"/>
    <p:sldId id="387" r:id="rId7"/>
    <p:sldId id="388" r:id="rId8"/>
    <p:sldId id="403" r:id="rId10"/>
    <p:sldId id="390" r:id="rId11"/>
    <p:sldId id="391" r:id="rId12"/>
    <p:sldId id="392" r:id="rId13"/>
    <p:sldId id="393" r:id="rId14"/>
    <p:sldId id="394" r:id="rId15"/>
    <p:sldId id="395" r:id="rId16"/>
    <p:sldId id="396" r:id="rId17"/>
    <p:sldId id="397" r:id="rId18"/>
    <p:sldId id="398" r:id="rId19"/>
    <p:sldId id="407" r:id="rId20"/>
    <p:sldId id="409" r:id="rId21"/>
    <p:sldId id="408" r:id="rId22"/>
    <p:sldId id="400" r:id="rId23"/>
    <p:sldId id="402" r:id="rId24"/>
    <p:sldId id="410" r:id="rId25"/>
    <p:sldId id="406" r:id="rId26"/>
    <p:sldId id="323" r:id="rId27"/>
  </p:sldIdLst>
  <p:sldSz cx="9144000" cy="6858000" type="screen4x3"/>
  <p:notesSz cx="6858000" cy="9144000"/>
  <p:defaultTextStyle>
    <a:defPPr>
      <a:defRPr lang="en-US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80808"/>
    <a:srgbClr val="0000FF"/>
    <a:srgbClr val="FFCCFF"/>
    <a:srgbClr val="CCFFFF"/>
    <a:srgbClr val="FF3300"/>
    <a:srgbClr val="FF0000"/>
    <a:srgbClr val="FF66FF"/>
    <a:srgbClr val="99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23674"/>
    <p:restoredTop sz="94660"/>
  </p:normalViewPr>
  <p:slideViewPr>
    <p:cSldViewPr showGuides="1">
      <p:cViewPr varScale="1">
        <p:scale>
          <a:sx n="84" d="100"/>
          <a:sy n="84" d="100"/>
        </p:scale>
        <p:origin x="-60" y="-1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notesMaster" Target="notesMasters/notesMaster1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0" Type="http://schemas.openxmlformats.org/officeDocument/2006/relationships/tableStyles" Target="tableStyles.xml"/><Relationship Id="rId3" Type="http://schemas.openxmlformats.org/officeDocument/2006/relationships/slideMaster" Target="slideMasters/slideMaster2.xml"/><Relationship Id="rId29" Type="http://schemas.openxmlformats.org/officeDocument/2006/relationships/viewProps" Target="viewProps.xml"/><Relationship Id="rId28" Type="http://schemas.openxmlformats.org/officeDocument/2006/relationships/presProps" Target="presProps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image" Target="../media/image2.png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image" Target="../media/image10.wmf"/><Relationship Id="rId1" Type="http://schemas.openxmlformats.org/officeDocument/2006/relationships/image" Target="../media/image9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3.wmf"/><Relationship Id="rId1" Type="http://schemas.openxmlformats.org/officeDocument/2006/relationships/image" Target="../media/image12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074" name="页眉占位符 1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3075" name="日期占位符 2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buFont typeface="Arial" panose="020B0604020202020204" pitchFamily="34" charset="0"/>
              <a:buNone/>
              <a:defRPr sz="12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84DEC38-E1E6-453F-B06B-3438AD080301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6628" name="幻灯片图像占位符 3"/>
          <p:cNvSpPr>
            <a:spLocks noGrp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noFill/>
          </a:ln>
        </p:spPr>
      </p:sp>
      <p:sp>
        <p:nvSpPr>
          <p:cNvPr id="3077" name="备注占位符 4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12700" cmpd="sng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078" name="页脚占位符 5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buFont typeface="Arial" panose="020B0604020202020204" pitchFamily="34" charset="0"/>
              <a:buNone/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3079" name="灯片编号占位符 6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p>
            <a:pPr lvl="0" algn="r" eaLnBrk="1" hangingPunct="1"/>
            <a:fld id="{9A0DB2DC-4C9A-4742-B13C-FB6460FD3503}" type="slidenum">
              <a:rPr lang="zh-CN" altLang="en-US" sz="1200" dirty="0">
                <a:ea typeface="宋体" panose="02010600030101010101" pitchFamily="2" charset="-122"/>
              </a:rPr>
            </a:fld>
            <a:endParaRPr lang="zh-CN" altLang="en-US" sz="1200" dirty="0"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5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7651" name="备注占位符 2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ctr" anchorCtr="0"/>
          <a:p>
            <a:pPr lvl="0" algn="just"/>
            <a:r>
              <a:rPr lang="zh-CN" altLang="en-US" dirty="0">
                <a:ea typeface="宋体" panose="02010600030101010101" pitchFamily="2" charset="-122"/>
              </a:rPr>
              <a:t>解释对流层温度为何随高度降低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2765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zh-CN" altLang="en-US" sz="1200" dirty="0">
                <a:ea typeface="宋体" panose="02010600030101010101" pitchFamily="2" charset="-122"/>
              </a:rPr>
            </a:fld>
            <a:endParaRPr lang="zh-CN" altLang="en-US" sz="12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兰 州 大 学 </a:t>
            </a: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j-ea"/>
                <a:cs typeface="+mn-cs"/>
              </a:rPr>
              <a:t>·</a:t>
            </a: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 </a:t>
            </a: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大 气 科 学 学 院 本 科 课 程</a:t>
            </a:r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《 </a:t>
            </a: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流 体 力 学 </a:t>
            </a: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》</a:t>
            </a: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兰 州 大 学 </a:t>
            </a: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j-ea"/>
                <a:cs typeface="+mn-cs"/>
              </a:rPr>
              <a:t>·</a:t>
            </a: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 </a:t>
            </a: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大 气 科 学 学 院 本 科 课 程</a:t>
            </a:r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《 </a:t>
            </a: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流 体 力 学 </a:t>
            </a: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》</a:t>
            </a: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兰 州 大 学 </a:t>
            </a: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j-ea"/>
                <a:cs typeface="+mn-cs"/>
              </a:rPr>
              <a:t>·</a:t>
            </a: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 </a:t>
            </a: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大 气 科 学 学 院 本 科 课 程</a:t>
            </a:r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《 </a:t>
            </a: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流 体 力 学 </a:t>
            </a: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》</a:t>
            </a: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412875"/>
            <a:ext cx="4038600" cy="50403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412875"/>
            <a:ext cx="4038600" cy="50403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兰 州 大 学 </a:t>
            </a: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j-ea"/>
                <a:cs typeface="+mn-cs"/>
              </a:rPr>
              <a:t>·</a:t>
            </a: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 </a:t>
            </a: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大 气 科 学 学 院 本 科 课 程</a:t>
            </a:r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《 </a:t>
            </a: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流 体 力 学 </a:t>
            </a: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》</a:t>
            </a: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兰 州 大 学 </a:t>
            </a: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j-ea"/>
                <a:cs typeface="+mn-cs"/>
              </a:rPr>
              <a:t>·</a:t>
            </a: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 </a:t>
            </a: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大 气 科 学 学 院 本 科 课 程</a:t>
            </a:r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《 </a:t>
            </a: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流 体 力 学 </a:t>
            </a: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》</a:t>
            </a: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兰 州 大 学 </a:t>
            </a: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j-ea"/>
                <a:cs typeface="+mn-cs"/>
              </a:rPr>
              <a:t>·</a:t>
            </a: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 </a:t>
            </a: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大 气 科 学 学 院 本 科 课 程</a:t>
            </a:r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《 </a:t>
            </a: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流 体 力 学 </a:t>
            </a: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》</a:t>
            </a: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兰 州 大 学 </a:t>
            </a: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j-ea"/>
                <a:cs typeface="+mn-cs"/>
              </a:rPr>
              <a:t>·</a:t>
            </a: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 </a:t>
            </a: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大 气 科 学 学 院 本 科 课 程</a:t>
            </a:r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《 </a:t>
            </a: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流 体 力 学 </a:t>
            </a: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》</a:t>
            </a: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兰 州 大 学 </a:t>
            </a: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j-ea"/>
                <a:cs typeface="+mn-cs"/>
              </a:rPr>
              <a:t>·</a:t>
            </a: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 </a:t>
            </a: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大 气 科 学 学 院 本 科 课 程</a:t>
            </a:r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《 </a:t>
            </a: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流 体 力 学 </a:t>
            </a: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》</a:t>
            </a: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兰 州 大 学 </a:t>
            </a: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j-ea"/>
                <a:cs typeface="+mn-cs"/>
              </a:rPr>
              <a:t>·</a:t>
            </a: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 </a:t>
            </a: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大 气 科 学 学 院 本 科 课 程</a:t>
            </a:r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《 </a:t>
            </a: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流 体 力 学 </a:t>
            </a: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》</a:t>
            </a: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兰 州 大 学 </a:t>
            </a: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j-ea"/>
                <a:cs typeface="+mn-cs"/>
              </a:rPr>
              <a:t>·</a:t>
            </a: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 </a:t>
            </a: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大 气 科 学 学 院 本 科 课 程</a:t>
            </a:r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《 </a:t>
            </a: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流 体 力 学 </a:t>
            </a: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》</a:t>
            </a: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33363"/>
            <a:ext cx="2057400" cy="62198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33363"/>
            <a:ext cx="6019800" cy="62198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兰 州 大 学 </a:t>
            </a: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j-ea"/>
                <a:cs typeface="+mn-cs"/>
              </a:rPr>
              <a:t>·</a:t>
            </a: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 </a:t>
            </a: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大 气 科 学 学 院 本 科 课 程</a:t>
            </a:r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《 </a:t>
            </a: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流 体 力 学 </a:t>
            </a: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》</a:t>
            </a: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412875"/>
            <a:ext cx="4038600" cy="50403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412875"/>
            <a:ext cx="4038600" cy="50403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33363"/>
            <a:ext cx="2057400" cy="62198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33363"/>
            <a:ext cx="6019800" cy="62198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vmlDrawing" Target="../drawings/vmlDrawing1.vml"/><Relationship Id="rId13" Type="http://schemas.openxmlformats.org/officeDocument/2006/relationships/image" Target="../media/image1.png"/><Relationship Id="rId12" Type="http://schemas.openxmlformats.org/officeDocument/2006/relationships/oleObject" Target="../embeddings/oleObject1.bin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7" Type="http://schemas.openxmlformats.org/officeDocument/2006/relationships/theme" Target="../theme/theme2.xml"/><Relationship Id="rId16" Type="http://schemas.openxmlformats.org/officeDocument/2006/relationships/vmlDrawing" Target="../drawings/vmlDrawing2.vml"/><Relationship Id="rId15" Type="http://schemas.openxmlformats.org/officeDocument/2006/relationships/image" Target="../media/image1.png"/><Relationship Id="rId14" Type="http://schemas.openxmlformats.org/officeDocument/2006/relationships/oleObject" Target="../embeddings/oleObject3.bin"/><Relationship Id="rId13" Type="http://schemas.openxmlformats.org/officeDocument/2006/relationships/image" Target="../media/image2.png"/><Relationship Id="rId12" Type="http://schemas.openxmlformats.org/officeDocument/2006/relationships/oleObject" Target="../embeddings/oleObject2.bin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Rectangle 15"/>
          <p:cNvSpPr>
            <a:spLocks noChangeArrowheads="1"/>
          </p:cNvSpPr>
          <p:nvPr/>
        </p:nvSpPr>
        <p:spPr bwMode="auto">
          <a:xfrm>
            <a:off x="0" y="981075"/>
            <a:ext cx="250825" cy="5891213"/>
          </a:xfrm>
          <a:prstGeom prst="rect">
            <a:avLst/>
          </a:prstGeom>
          <a:solidFill>
            <a:schemeClr val="hlink"/>
          </a:solidFill>
          <a:ln>
            <a:noFill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7" name="Rectangle 16"/>
          <p:cNvSpPr>
            <a:spLocks noChangeArrowheads="1"/>
          </p:cNvSpPr>
          <p:nvPr/>
        </p:nvSpPr>
        <p:spPr bwMode="auto">
          <a:xfrm>
            <a:off x="0" y="0"/>
            <a:ext cx="1403350" cy="12477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8" name="Rectangle 17"/>
          <p:cNvSpPr>
            <a:spLocks noChangeArrowheads="1"/>
          </p:cNvSpPr>
          <p:nvPr/>
        </p:nvSpPr>
        <p:spPr bwMode="auto">
          <a:xfrm>
            <a:off x="1403350" y="0"/>
            <a:ext cx="7740650" cy="10525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Rectangle 18"/>
          <p:cNvSpPr>
            <a:spLocks noChangeArrowheads="1"/>
          </p:cNvSpPr>
          <p:nvPr/>
        </p:nvSpPr>
        <p:spPr bwMode="auto">
          <a:xfrm>
            <a:off x="8820150" y="0"/>
            <a:ext cx="73025" cy="7651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19"/>
          <p:cNvSpPr>
            <a:spLocks noChangeArrowheads="1"/>
          </p:cNvSpPr>
          <p:nvPr/>
        </p:nvSpPr>
        <p:spPr bwMode="auto">
          <a:xfrm>
            <a:off x="179388" y="134938"/>
            <a:ext cx="8785225" cy="773113"/>
          </a:xfrm>
          <a:prstGeom prst="rect">
            <a:avLst/>
          </a:prstGeom>
          <a:noFill/>
          <a:ln w="0">
            <a:solidFill>
              <a:schemeClr val="accent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1" name="Line 20"/>
          <p:cNvSpPr/>
          <p:nvPr/>
        </p:nvSpPr>
        <p:spPr>
          <a:xfrm>
            <a:off x="468313" y="6481763"/>
            <a:ext cx="8424862" cy="0"/>
          </a:xfrm>
          <a:prstGeom prst="line">
            <a:avLst/>
          </a:prstGeom>
          <a:ln w="0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32" name="Rectangle 3"/>
          <p:cNvSpPr>
            <a:spLocks noGrp="1"/>
          </p:cNvSpPr>
          <p:nvPr>
            <p:ph type="body" idx="1"/>
          </p:nvPr>
        </p:nvSpPr>
        <p:spPr>
          <a:xfrm>
            <a:off x="457200" y="1412875"/>
            <a:ext cx="8229600" cy="504031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33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-106362" y="6505575"/>
            <a:ext cx="5126038" cy="3524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buFont typeface="Arial" panose="020B0604020202020204" pitchFamily="34" charset="0"/>
              <a:buNone/>
              <a:defRPr sz="1400" b="1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兰 州 大 学 </a:t>
            </a: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j-ea"/>
                <a:cs typeface="+mn-cs"/>
              </a:rPr>
              <a:t>·</a:t>
            </a: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 </a:t>
            </a: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大 气 科 学 学 院 本 科 课 程</a:t>
            </a:r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n-cs"/>
            </a:endParaRPr>
          </a:p>
        </p:txBody>
      </p:sp>
      <p:sp>
        <p:nvSpPr>
          <p:cNvPr id="2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7135813" y="6477000"/>
            <a:ext cx="1828800" cy="2270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buFont typeface="Arial" panose="020B0604020202020204" pitchFamily="34" charset="0"/>
              <a:buNone/>
              <a:defRPr sz="1400" b="1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《 </a:t>
            </a: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流 体 力 学 </a:t>
            </a: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》</a:t>
            </a: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n-cs"/>
            </a:endParaRPr>
          </a:p>
        </p:txBody>
      </p:sp>
      <p:sp>
        <p:nvSpPr>
          <p:cNvPr id="1035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505200" y="6448425"/>
            <a:ext cx="2133600" cy="228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ctr">
              <a:defRPr sz="1000" b="1">
                <a:latin typeface="Verdana" panose="020B0604030504040204" pitchFamily="34" charset="0"/>
                <a:ea typeface="宋体" panose="02010600030101010101" pitchFamily="2" charset="-122"/>
              </a:defRPr>
            </a:lvl1pPr>
          </a:lstStyle>
          <a:p>
            <a:pPr lvl="0" eaLnBrk="1" hangingPunct="1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  <p:graphicFrame>
        <p:nvGraphicFramePr>
          <p:cNvPr id="1036" name="Object 21"/>
          <p:cNvGraphicFramePr>
            <a:graphicFrameLocks noChangeAspect="1"/>
          </p:cNvGraphicFramePr>
          <p:nvPr/>
        </p:nvGraphicFramePr>
        <p:xfrm>
          <a:off x="0" y="0"/>
          <a:ext cx="971550" cy="1042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12" imgW="2540000" imgH="2540000" progId="Photoshop.Image.6">
                  <p:embed/>
                </p:oleObj>
              </mc:Choice>
              <mc:Fallback>
                <p:oleObj name="" r:id="rId12" imgW="2540000" imgH="2540000" progId="Photoshop.Image.6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0" y="0"/>
                        <a:ext cx="971550" cy="10429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7" name="Rectangle 22"/>
          <p:cNvSpPr>
            <a:spLocks noChangeArrowheads="1"/>
          </p:cNvSpPr>
          <p:nvPr/>
        </p:nvSpPr>
        <p:spPr bwMode="auto">
          <a:xfrm>
            <a:off x="1187450" y="908050"/>
            <a:ext cx="7956550" cy="14446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8" name="Rectangle 23"/>
          <p:cNvSpPr>
            <a:spLocks noChangeArrowheads="1"/>
          </p:cNvSpPr>
          <p:nvPr/>
        </p:nvSpPr>
        <p:spPr bwMode="auto">
          <a:xfrm>
            <a:off x="971550" y="0"/>
            <a:ext cx="431800" cy="105251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9" name="Rectangle 2"/>
          <p:cNvSpPr>
            <a:spLocks noGrp="1"/>
          </p:cNvSpPr>
          <p:nvPr>
            <p:ph type="title"/>
          </p:nvPr>
        </p:nvSpPr>
        <p:spPr>
          <a:xfrm>
            <a:off x="747713" y="233363"/>
            <a:ext cx="7862887" cy="563562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F3C43F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F3C43F"/>
          </a:solidFill>
          <a:latin typeface="楷体_GB2312" pitchFamily="1" charset="-122"/>
          <a:ea typeface="楷体_GB2312" pitchFamily="1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F3C43F"/>
          </a:solidFill>
          <a:latin typeface="楷体_GB2312" pitchFamily="1" charset="-122"/>
          <a:ea typeface="楷体_GB2312" pitchFamily="1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F3C43F"/>
          </a:solidFill>
          <a:latin typeface="楷体_GB2312" pitchFamily="1" charset="-122"/>
          <a:ea typeface="楷体_GB2312" pitchFamily="1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F3C43F"/>
          </a:solidFill>
          <a:latin typeface="楷体_GB2312" pitchFamily="1" charset="-122"/>
          <a:ea typeface="楷体_GB2312" pitchFamily="1" charset="-122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F3C43F"/>
          </a:solidFill>
          <a:latin typeface="楷体_GB2312" pitchFamily="1" charset="-122"/>
          <a:ea typeface="楷体_GB2312" pitchFamily="1" charset="-122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F3C43F"/>
          </a:solidFill>
          <a:latin typeface="楷体_GB2312" pitchFamily="1" charset="-122"/>
          <a:ea typeface="楷体_GB2312" pitchFamily="1" charset="-122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F3C43F"/>
          </a:solidFill>
          <a:latin typeface="楷体_GB2312" pitchFamily="1" charset="-122"/>
          <a:ea typeface="楷体_GB2312" pitchFamily="1" charset="-122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F3C43F"/>
          </a:solidFill>
          <a:latin typeface="楷体_GB2312" pitchFamily="1" charset="-122"/>
          <a:ea typeface="楷体_GB2312" pitchFamily="1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v"/>
        <a:defRPr sz="28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800" b="1">
          <a:solidFill>
            <a:schemeClr val="tx1"/>
          </a:solidFill>
          <a:latin typeface="Arial" panose="020B0604020202020204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Wingdings" panose="05000000000000000000" pitchFamily="2" charset="2"/>
        <a:buChar char="•"/>
        <a:defRPr sz="2400" b="1">
          <a:solidFill>
            <a:schemeClr val="tx1"/>
          </a:solidFill>
          <a:latin typeface="Arial" panose="020B0604020202020204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–"/>
        <a:defRPr sz="2000" b="1">
          <a:solidFill>
            <a:schemeClr val="tx1"/>
          </a:solidFill>
          <a:latin typeface="Arial" panose="020B0604020202020204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000" b="1">
          <a:solidFill>
            <a:schemeClr val="tx1"/>
          </a:solidFill>
          <a:latin typeface="Arial" panose="020B0604020202020204" pitchFamily="34" charset="0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000" b="1">
          <a:solidFill>
            <a:schemeClr val="tx1"/>
          </a:solidFill>
          <a:latin typeface="Arial" panose="020B0604020202020204" pitchFamily="34" charset="0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000" b="1">
          <a:solidFill>
            <a:schemeClr val="tx1"/>
          </a:solidFill>
          <a:latin typeface="Arial" panose="020B0604020202020204" pitchFamily="34" charset="0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000" b="1">
          <a:solidFill>
            <a:schemeClr val="tx1"/>
          </a:solidFill>
          <a:latin typeface="Arial" panose="020B0604020202020204" pitchFamily="34" charset="0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000" b="1">
          <a:solidFill>
            <a:schemeClr val="tx1"/>
          </a:solidFill>
          <a:latin typeface="Arial" panose="020B0604020202020204" pitchFamily="34" charset="0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50" name="Rectangle 17"/>
          <p:cNvSpPr>
            <a:spLocks noChangeArrowheads="1"/>
          </p:cNvSpPr>
          <p:nvPr/>
        </p:nvSpPr>
        <p:spPr bwMode="auto">
          <a:xfrm>
            <a:off x="0" y="5157788"/>
            <a:ext cx="9144000" cy="170815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1" name="Rectangle 18"/>
          <p:cNvSpPr>
            <a:spLocks noChangeArrowheads="1"/>
          </p:cNvSpPr>
          <p:nvPr/>
        </p:nvSpPr>
        <p:spPr bwMode="auto">
          <a:xfrm>
            <a:off x="0" y="0"/>
            <a:ext cx="9144000" cy="493553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2" name="Rectangle 19"/>
          <p:cNvSpPr>
            <a:spLocks noChangeArrowheads="1"/>
          </p:cNvSpPr>
          <p:nvPr/>
        </p:nvSpPr>
        <p:spPr bwMode="auto">
          <a:xfrm>
            <a:off x="1270000" y="4933950"/>
            <a:ext cx="7874000" cy="223838"/>
          </a:xfrm>
          <a:prstGeom prst="rect">
            <a:avLst/>
          </a:prstGeom>
          <a:solidFill>
            <a:schemeClr val="hlink"/>
          </a:solidFill>
          <a:ln>
            <a:noFill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3" name="Text Box 14"/>
          <p:cNvSpPr txBox="1">
            <a:spLocks noChangeArrowheads="1"/>
          </p:cNvSpPr>
          <p:nvPr/>
        </p:nvSpPr>
        <p:spPr bwMode="auto">
          <a:xfrm>
            <a:off x="2268538" y="5949950"/>
            <a:ext cx="4608513" cy="36671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College of Atmospheric Sciences</a:t>
            </a:r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4" name="Rectangle 20"/>
          <p:cNvSpPr>
            <a:spLocks noChangeArrowheads="1"/>
          </p:cNvSpPr>
          <p:nvPr/>
        </p:nvSpPr>
        <p:spPr bwMode="auto">
          <a:xfrm>
            <a:off x="-7937" y="4935538"/>
            <a:ext cx="1281113" cy="222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2055" name="Object 21"/>
          <p:cNvGraphicFramePr>
            <a:graphicFrameLocks noChangeAspect="1"/>
          </p:cNvGraphicFramePr>
          <p:nvPr/>
        </p:nvGraphicFramePr>
        <p:xfrm>
          <a:off x="1279525" y="5054600"/>
          <a:ext cx="2351088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2" imgW="2540000" imgH="609600" progId="Photoshop.Image.6">
                  <p:embed/>
                </p:oleObj>
              </mc:Choice>
              <mc:Fallback>
                <p:oleObj name="" r:id="rId12" imgW="2540000" imgH="609600" progId="Photoshop.Image.6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279525" y="5054600"/>
                        <a:ext cx="2351088" cy="609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6" name="Object 22"/>
          <p:cNvGraphicFramePr>
            <a:graphicFrameLocks noChangeAspect="1"/>
          </p:cNvGraphicFramePr>
          <p:nvPr/>
        </p:nvGraphicFramePr>
        <p:xfrm>
          <a:off x="0" y="3500438"/>
          <a:ext cx="1266825" cy="1430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" r:id="rId14" imgW="2540000" imgH="2540000" progId="Photoshop.Image.6">
                  <p:embed/>
                </p:oleObj>
              </mc:Choice>
              <mc:Fallback>
                <p:oleObj name="" r:id="rId14" imgW="2540000" imgH="2540000" progId="Photoshop.Image.6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0" y="3500438"/>
                        <a:ext cx="1266825" cy="14303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7" name="Rectangle 23"/>
          <p:cNvSpPr>
            <a:spLocks noChangeArrowheads="1"/>
          </p:cNvSpPr>
          <p:nvPr/>
        </p:nvSpPr>
        <p:spPr bwMode="auto">
          <a:xfrm>
            <a:off x="1266825" y="1125538"/>
            <a:ext cx="2368550" cy="4535488"/>
          </a:xfrm>
          <a:prstGeom prst="rect">
            <a:avLst/>
          </a:prstGeom>
          <a:noFill/>
          <a:ln w="0">
            <a:solidFill>
              <a:schemeClr val="accent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8" name="Rectangle 24"/>
          <p:cNvSpPr>
            <a:spLocks noChangeArrowheads="1"/>
          </p:cNvSpPr>
          <p:nvPr/>
        </p:nvSpPr>
        <p:spPr bwMode="auto">
          <a:xfrm flipH="1">
            <a:off x="8221663" y="0"/>
            <a:ext cx="95250" cy="20605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9" name="Rectangle 25"/>
          <p:cNvSpPr>
            <a:spLocks noChangeArrowheads="1"/>
          </p:cNvSpPr>
          <p:nvPr/>
        </p:nvSpPr>
        <p:spPr bwMode="auto">
          <a:xfrm>
            <a:off x="250825" y="260350"/>
            <a:ext cx="8569325" cy="4392613"/>
          </a:xfrm>
          <a:prstGeom prst="rect">
            <a:avLst/>
          </a:prstGeom>
          <a:noFill/>
          <a:ln w="0">
            <a:solidFill>
              <a:schemeClr val="tx2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60" name="Rectangle 26"/>
          <p:cNvSpPr>
            <a:spLocks noChangeArrowheads="1"/>
          </p:cNvSpPr>
          <p:nvPr/>
        </p:nvSpPr>
        <p:spPr bwMode="auto">
          <a:xfrm>
            <a:off x="7775575" y="908050"/>
            <a:ext cx="1368425" cy="1439863"/>
          </a:xfrm>
          <a:prstGeom prst="rect">
            <a:avLst/>
          </a:prstGeom>
          <a:noFill/>
          <a:ln w="0">
            <a:solidFill>
              <a:schemeClr val="tx2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61" name="Rectangle 27"/>
          <p:cNvSpPr>
            <a:spLocks noChangeArrowheads="1"/>
          </p:cNvSpPr>
          <p:nvPr/>
        </p:nvSpPr>
        <p:spPr bwMode="auto">
          <a:xfrm>
            <a:off x="611188" y="1916113"/>
            <a:ext cx="7921625" cy="1584325"/>
          </a:xfrm>
          <a:prstGeom prst="rect">
            <a:avLst/>
          </a:prstGeom>
          <a:noFill/>
          <a:ln w="0">
            <a:solidFill>
              <a:schemeClr val="tx2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62" name="Rectangle 3"/>
          <p:cNvSpPr>
            <a:spLocks noGrp="1"/>
          </p:cNvSpPr>
          <p:nvPr>
            <p:ph type="body" idx="1"/>
          </p:nvPr>
        </p:nvSpPr>
        <p:spPr>
          <a:xfrm>
            <a:off x="457200" y="1412875"/>
            <a:ext cx="8229600" cy="504031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2063" name="Rectangle 2"/>
          <p:cNvSpPr>
            <a:spLocks noGrp="1"/>
          </p:cNvSpPr>
          <p:nvPr>
            <p:ph type="title"/>
          </p:nvPr>
        </p:nvSpPr>
        <p:spPr>
          <a:xfrm>
            <a:off x="747713" y="233363"/>
            <a:ext cx="7862887" cy="563562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F3C43F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F3C43F"/>
          </a:solidFill>
          <a:latin typeface="楷体_GB2312" pitchFamily="1" charset="-122"/>
          <a:ea typeface="楷体_GB2312" pitchFamily="1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F3C43F"/>
          </a:solidFill>
          <a:latin typeface="楷体_GB2312" pitchFamily="1" charset="-122"/>
          <a:ea typeface="楷体_GB2312" pitchFamily="1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F3C43F"/>
          </a:solidFill>
          <a:latin typeface="楷体_GB2312" pitchFamily="1" charset="-122"/>
          <a:ea typeface="楷体_GB2312" pitchFamily="1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F3C43F"/>
          </a:solidFill>
          <a:latin typeface="楷体_GB2312" pitchFamily="1" charset="-122"/>
          <a:ea typeface="楷体_GB2312" pitchFamily="1" charset="-122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F3C43F"/>
          </a:solidFill>
          <a:latin typeface="楷体_GB2312" pitchFamily="1" charset="-122"/>
          <a:ea typeface="楷体_GB2312" pitchFamily="1" charset="-122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F3C43F"/>
          </a:solidFill>
          <a:latin typeface="楷体_GB2312" pitchFamily="1" charset="-122"/>
          <a:ea typeface="楷体_GB2312" pitchFamily="1" charset="-122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F3C43F"/>
          </a:solidFill>
          <a:latin typeface="楷体_GB2312" pitchFamily="1" charset="-122"/>
          <a:ea typeface="楷体_GB2312" pitchFamily="1" charset="-122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F3C43F"/>
          </a:solidFill>
          <a:latin typeface="楷体_GB2312" pitchFamily="1" charset="-122"/>
          <a:ea typeface="楷体_GB2312" pitchFamily="1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v"/>
        <a:defRPr sz="28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800" b="1">
          <a:solidFill>
            <a:schemeClr val="tx1"/>
          </a:solidFill>
          <a:latin typeface="Arial" panose="020B0604020202020204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Wingdings" panose="05000000000000000000" pitchFamily="2" charset="2"/>
        <a:buChar char="•"/>
        <a:defRPr sz="2400" b="1">
          <a:solidFill>
            <a:schemeClr val="tx1"/>
          </a:solidFill>
          <a:latin typeface="Arial" panose="020B0604020202020204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–"/>
        <a:defRPr sz="2000" b="1">
          <a:solidFill>
            <a:schemeClr val="tx1"/>
          </a:solidFill>
          <a:latin typeface="Arial" panose="020B0604020202020204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000" b="1">
          <a:solidFill>
            <a:schemeClr val="tx1"/>
          </a:solidFill>
          <a:latin typeface="Arial" panose="020B0604020202020204" pitchFamily="34" charset="0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000" b="1">
          <a:solidFill>
            <a:schemeClr val="tx1"/>
          </a:solidFill>
          <a:latin typeface="Arial" panose="020B0604020202020204" pitchFamily="34" charset="0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000" b="1">
          <a:solidFill>
            <a:schemeClr val="tx1"/>
          </a:solidFill>
          <a:latin typeface="Arial" panose="020B0604020202020204" pitchFamily="34" charset="0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000" b="1">
          <a:solidFill>
            <a:schemeClr val="tx1"/>
          </a:solidFill>
          <a:latin typeface="Arial" panose="020B0604020202020204" pitchFamily="34" charset="0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000" b="1">
          <a:solidFill>
            <a:schemeClr val="tx1"/>
          </a:solidFill>
          <a:latin typeface="Arial" panose="020B0604020202020204" pitchFamily="34" charset="0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.jpeg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jpe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3.v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11.wmf"/><Relationship Id="rId5" Type="http://schemas.openxmlformats.org/officeDocument/2006/relationships/oleObject" Target="../embeddings/oleObject6.bin"/><Relationship Id="rId4" Type="http://schemas.openxmlformats.org/officeDocument/2006/relationships/image" Target="../media/image10.wmf"/><Relationship Id="rId3" Type="http://schemas.openxmlformats.org/officeDocument/2006/relationships/oleObject" Target="../embeddings/oleObject5.bin"/><Relationship Id="rId2" Type="http://schemas.openxmlformats.org/officeDocument/2006/relationships/image" Target="../media/image9.wmf"/><Relationship Id="rId1" Type="http://schemas.openxmlformats.org/officeDocument/2006/relationships/oleObject" Target="../embeddings/oleObject4.bin"/></Relationships>
</file>

<file path=ppt/slides/_rels/slide16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4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3.wmf"/><Relationship Id="rId3" Type="http://schemas.openxmlformats.org/officeDocument/2006/relationships/oleObject" Target="../embeddings/oleObject8.bin"/><Relationship Id="rId2" Type="http://schemas.openxmlformats.org/officeDocument/2006/relationships/image" Target="../media/image12.wmf"/><Relationship Id="rId1" Type="http://schemas.openxmlformats.org/officeDocument/2006/relationships/oleObject" Target="../embeddings/oleObject7.bin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6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9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8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620713" y="785813"/>
            <a:ext cx="7902575" cy="2735263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5400" b="1" i="0" u="none" strike="noStrike" kern="0" cap="none" spc="0" normalizeH="0" baseline="0" noProof="0">
                <a:ln>
                  <a:noFill/>
                </a:ln>
                <a:solidFill>
                  <a:srgbClr val="F3C43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第 四 章</a:t>
            </a:r>
            <a:br>
              <a:rPr kumimoji="0" lang="zh-CN" altLang="en-US" sz="4400" b="1" i="0" u="none" strike="noStrike" kern="0" cap="none" spc="0" normalizeH="0" baseline="0" noProof="0">
                <a:ln>
                  <a:noFill/>
                </a:ln>
                <a:solidFill>
                  <a:srgbClr val="F3C43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</a:br>
            <a:b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F3C43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</a:br>
            <a:r>
              <a:rPr kumimoji="0" lang="zh-CN" altLang="en-US" sz="6000" b="1" i="0" u="none" strike="noStrike" kern="0" cap="none" spc="0" normalizeH="0" baseline="0" noProof="0">
                <a:ln>
                  <a:noFill/>
                </a:ln>
                <a:solidFill>
                  <a:srgbClr val="F3C43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大气的分层和结构</a:t>
            </a:r>
            <a:endParaRPr kumimoji="0" lang="zh-CN" altLang="en-US" sz="6000" b="1" i="0" u="none" strike="noStrike" kern="0" cap="none" spc="0" normalizeH="0" baseline="0" noProof="0">
              <a:ln>
                <a:noFill/>
              </a:ln>
              <a:solidFill>
                <a:srgbClr val="F3C43F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075" name="Rectangle 5"/>
          <p:cNvSpPr>
            <a:spLocks noGrp="1"/>
          </p:cNvSpPr>
          <p:nvPr>
            <p:ph type="subTitle" idx="4294967295"/>
          </p:nvPr>
        </p:nvSpPr>
        <p:spPr>
          <a:xfrm>
            <a:off x="250825" y="260350"/>
            <a:ext cx="2881313" cy="381000"/>
          </a:xfrm>
          <a:ln/>
        </p:spPr>
        <p:txBody>
          <a:bodyPr vert="horz" wrap="square" lIns="91440" tIns="45720" rIns="91440" bIns="45720" anchor="t" anchorCtr="0"/>
          <a:lstStyle>
            <a:lvl1pPr marL="0" lvl="0" indent="0" algn="ctr">
              <a:buClr>
                <a:schemeClr val="hlink"/>
              </a:buClr>
              <a:buSzTx/>
              <a:buFont typeface="Wingdings" panose="05000000000000000000" pitchFamily="2" charset="2"/>
              <a:buNone/>
              <a:defRPr/>
            </a:lvl1pPr>
            <a:lvl2pPr marL="457200" lvl="1" indent="0" algn="ctr"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lvl2pPr>
            <a:lvl3pPr marL="914400" lvl="2" indent="0" algn="ctr">
              <a:buClr>
                <a:schemeClr val="tx1"/>
              </a:buClr>
              <a:buSzTx/>
              <a:buFont typeface="Wingdings" panose="05000000000000000000" pitchFamily="2" charset="2"/>
              <a:buNone/>
              <a:defRPr/>
            </a:lvl3pPr>
            <a:lvl4pPr marL="1371600" lvl="3" indent="0" algn="ctr">
              <a:buClrTx/>
              <a:buSzTx/>
              <a:buFont typeface="Wingdings" panose="05000000000000000000" pitchFamily="2" charset="2"/>
              <a:buNone/>
              <a:defRPr/>
            </a:lvl4pPr>
            <a:lvl5pPr marL="1828800" lvl="4" indent="0" algn="ctr">
              <a:buClrTx/>
              <a:buSzTx/>
              <a:buFont typeface="Wingdings" panose="05000000000000000000" pitchFamily="2" charset="2"/>
              <a:buNone/>
              <a:defRPr/>
            </a:lvl5pPr>
          </a:lstStyle>
          <a:p>
            <a:pPr lvl="0" eaLnBrk="1" hangingPunct="1"/>
            <a:r>
              <a:rPr lang="zh-CN" altLang="en-US" sz="1800" dirty="0">
                <a:solidFill>
                  <a:srgbClr val="D27D00"/>
                </a:solidFill>
                <a:ea typeface="宋体" panose="02010600030101010101" pitchFamily="2" charset="-122"/>
              </a:rPr>
              <a:t>大气科学学院本科课程</a:t>
            </a:r>
            <a:endParaRPr lang="zh-CN" altLang="en-US" sz="1800" dirty="0">
              <a:solidFill>
                <a:srgbClr val="D27D00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8" name="Text Box 8"/>
          <p:cNvSpPr txBox="1"/>
          <p:nvPr/>
        </p:nvSpPr>
        <p:spPr>
          <a:xfrm>
            <a:off x="1143000" y="2000250"/>
            <a:ext cx="7072313" cy="32623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 eaLnBrk="1" hangingPunct="1">
              <a:spcAft>
                <a:spcPts val="3600"/>
              </a:spcAft>
            </a:pPr>
            <a:r>
              <a:rPr lang="zh-CN" altLang="en-US" sz="36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重  点</a:t>
            </a:r>
            <a:endParaRPr lang="zh-CN" altLang="en-US" sz="36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/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1. 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对流层、平流层，中间层的主要特征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/>
            <a:endParaRPr lang="en-US" altLang="zh-CN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/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/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2. 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大气总质量的估算及垂直分布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/>
            <a:endParaRPr lang="en-US" altLang="zh-CN" sz="28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099" name="TextBox 2"/>
          <p:cNvSpPr txBox="1"/>
          <p:nvPr/>
        </p:nvSpPr>
        <p:spPr>
          <a:xfrm>
            <a:off x="1428750" y="142875"/>
            <a:ext cx="7715250" cy="646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 eaLnBrk="1" hangingPunct="1"/>
            <a:r>
              <a:rPr lang="zh-CN" altLang="en-US" sz="3600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第四章  大气的分层与结构</a:t>
            </a:r>
            <a:endParaRPr lang="zh-CN" altLang="en-US" sz="3600" dirty="0">
              <a:solidFill>
                <a:srgbClr val="FFFF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2" name="TextBox 3"/>
          <p:cNvSpPr txBox="1"/>
          <p:nvPr/>
        </p:nvSpPr>
        <p:spPr>
          <a:xfrm>
            <a:off x="642938" y="1714500"/>
            <a:ext cx="8358187" cy="39703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lnSpc>
                <a:spcPct val="150000"/>
              </a:lnSpc>
            </a:pPr>
            <a:r>
              <a:rPr lang="zh-CN" altLang="en-US" sz="24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大气分层：</a:t>
            </a:r>
            <a:endParaRPr lang="zh-CN" altLang="en-US" sz="2400" b="1" dirty="0">
              <a:solidFill>
                <a:srgbClr val="0000F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sz="24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（</a:t>
            </a:r>
            <a:r>
              <a:rPr lang="en-US" altLang="zh-CN" sz="24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r>
              <a:rPr lang="zh-CN" altLang="en-US" sz="24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）</a:t>
            </a:r>
            <a:r>
              <a:rPr lang="zh-CN" altLang="en-US" sz="2400" b="1" dirty="0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中性成分的热力结构：</a:t>
            </a:r>
            <a:r>
              <a:rPr lang="zh-CN" altLang="en-US" sz="24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对流层、平流层、中间层和热层。</a:t>
            </a:r>
            <a:endParaRPr lang="zh-CN" altLang="en-US" sz="2400" b="1" dirty="0">
              <a:solidFill>
                <a:srgbClr val="0000F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sz="24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（</a:t>
            </a:r>
            <a:r>
              <a:rPr lang="en-US" altLang="zh-CN" sz="24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zh-CN" altLang="en-US" sz="24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）</a:t>
            </a:r>
            <a:r>
              <a:rPr lang="zh-CN" altLang="en-US" sz="2400" b="1" dirty="0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大气的</a:t>
            </a:r>
            <a:r>
              <a:rPr lang="zh-CN" altLang="en-US" sz="24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化学成分：</a:t>
            </a:r>
            <a:r>
              <a:rPr lang="zh-CN" altLang="en-US" sz="24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匀和层和非匀和层（均质层和非均质层）。</a:t>
            </a:r>
            <a:endParaRPr lang="zh-CN" altLang="en-US" sz="2400" b="1" dirty="0">
              <a:solidFill>
                <a:srgbClr val="0000F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sz="24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（</a:t>
            </a:r>
            <a:r>
              <a:rPr lang="en-US" altLang="zh-CN" sz="24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3</a:t>
            </a:r>
            <a:r>
              <a:rPr lang="zh-CN" altLang="en-US" sz="24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）</a:t>
            </a:r>
            <a:r>
              <a:rPr lang="zh-CN" altLang="en-US" sz="2400" b="1" dirty="0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大气的电磁</a:t>
            </a:r>
            <a:r>
              <a:rPr lang="zh-CN" altLang="en-US" sz="24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特性：</a:t>
            </a:r>
            <a:r>
              <a:rPr lang="zh-CN" altLang="en-US" sz="24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电离层和磁层。</a:t>
            </a:r>
            <a:endParaRPr lang="zh-CN" altLang="en-US" sz="2400" b="1" dirty="0">
              <a:solidFill>
                <a:srgbClr val="0000F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sz="24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（</a:t>
            </a:r>
            <a:r>
              <a:rPr lang="en-US" altLang="zh-CN" sz="24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4</a:t>
            </a:r>
            <a:r>
              <a:rPr lang="zh-CN" altLang="en-US" sz="24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）</a:t>
            </a:r>
            <a:r>
              <a:rPr lang="zh-CN" altLang="en-US" sz="2400" b="1" dirty="0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大气压力</a:t>
            </a:r>
            <a:r>
              <a:rPr lang="zh-CN" altLang="en-US" sz="24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结构：</a:t>
            </a:r>
            <a:r>
              <a:rPr lang="zh-CN" altLang="en-US" sz="24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外大气层或逸散层、气压层（</a:t>
            </a:r>
            <a:r>
              <a:rPr lang="en-US" altLang="zh-CN" sz="24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500 km</a:t>
            </a:r>
            <a:r>
              <a:rPr lang="zh-CN" altLang="en-US" sz="24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以下 ）。</a:t>
            </a:r>
            <a:endParaRPr lang="zh-CN" altLang="en-US" sz="2400" b="1" dirty="0">
              <a:solidFill>
                <a:srgbClr val="0000F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123" name="Text Box 2"/>
          <p:cNvSpPr txBox="1"/>
          <p:nvPr/>
        </p:nvSpPr>
        <p:spPr>
          <a:xfrm>
            <a:off x="1428750" y="214313"/>
            <a:ext cx="7500938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 eaLnBrk="1" hangingPunct="1"/>
            <a:r>
              <a:rPr lang="en-US" altLang="zh-CN" sz="3600" b="1" dirty="0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§4.1  </a:t>
            </a:r>
            <a:r>
              <a:rPr lang="zh-CN" altLang="en-US" sz="3600" b="1" dirty="0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大 气 分 层</a:t>
            </a:r>
            <a:endParaRPr lang="zh-CN" altLang="en-US" sz="3600" b="1" dirty="0">
              <a:solidFill>
                <a:srgbClr val="FFFF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146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8625" y="1071563"/>
            <a:ext cx="8569325" cy="56784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147" name="Text Box 2"/>
          <p:cNvSpPr txBox="1"/>
          <p:nvPr/>
        </p:nvSpPr>
        <p:spPr>
          <a:xfrm>
            <a:off x="1428750" y="214313"/>
            <a:ext cx="7500938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 eaLnBrk="1" hangingPunct="1"/>
            <a:r>
              <a:rPr lang="zh-CN" altLang="en-US" sz="3600" b="1" dirty="0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一、热力结构分层</a:t>
            </a:r>
            <a:endParaRPr lang="zh-CN" altLang="en-US" sz="3600" b="1" dirty="0">
              <a:solidFill>
                <a:srgbClr val="FFFF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0" name="Text Box 9"/>
          <p:cNvSpPr txBox="1"/>
          <p:nvPr/>
        </p:nvSpPr>
        <p:spPr>
          <a:xfrm>
            <a:off x="755650" y="1643063"/>
            <a:ext cx="7821613" cy="7080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en-US" altLang="zh-CN" sz="4000" b="1" dirty="0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1. </a:t>
            </a:r>
            <a:r>
              <a:rPr lang="zh-CN" altLang="en-US" sz="4000" b="1" dirty="0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对流层</a:t>
            </a:r>
            <a:r>
              <a:rPr lang="zh-CN" altLang="en-US" sz="3200" b="1" dirty="0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（地面到</a:t>
            </a:r>
            <a:r>
              <a:rPr lang="en-US" altLang="zh-CN" sz="3200" b="1" dirty="0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12 km</a:t>
            </a:r>
            <a:r>
              <a:rPr lang="zh-CN" altLang="en-US" sz="3200" b="1" dirty="0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左右的大气层）</a:t>
            </a:r>
            <a:endParaRPr lang="zh-CN" altLang="en-US" sz="3200" b="1" dirty="0">
              <a:solidFill>
                <a:srgbClr val="FF33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171" name="Text Box 10"/>
          <p:cNvSpPr txBox="1"/>
          <p:nvPr/>
        </p:nvSpPr>
        <p:spPr>
          <a:xfrm>
            <a:off x="1214438" y="2771775"/>
            <a:ext cx="7072312" cy="25860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lnSpc>
                <a:spcPct val="150000"/>
              </a:lnSpc>
            </a:pPr>
            <a:r>
              <a:rPr lang="zh-CN" altLang="en-US" sz="36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（</a:t>
            </a:r>
            <a:r>
              <a:rPr lang="en-US" altLang="zh-CN" sz="36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r>
              <a:rPr lang="zh-CN" altLang="en-US" sz="36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）大气温度随高度减低</a:t>
            </a:r>
            <a:r>
              <a:rPr lang="en-US" altLang="zh-CN" sz="36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;</a:t>
            </a:r>
            <a:endParaRPr lang="zh-CN" altLang="en-US" sz="3600" b="1" dirty="0">
              <a:solidFill>
                <a:srgbClr val="0000F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sz="36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（</a:t>
            </a:r>
            <a:r>
              <a:rPr lang="en-US" altLang="zh-CN" sz="36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zh-CN" altLang="en-US" sz="36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）大气的垂直混合作用强</a:t>
            </a:r>
            <a:r>
              <a:rPr lang="en-US" altLang="zh-CN" sz="36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;</a:t>
            </a:r>
            <a:endParaRPr lang="zh-CN" altLang="en-US" sz="3600" b="1" dirty="0">
              <a:solidFill>
                <a:srgbClr val="0000F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sz="36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（</a:t>
            </a:r>
            <a:r>
              <a:rPr lang="en-US" altLang="zh-CN" sz="36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3</a:t>
            </a:r>
            <a:r>
              <a:rPr lang="zh-CN" altLang="en-US" sz="36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）气象要素水平分布不均匀</a:t>
            </a:r>
            <a:r>
              <a:rPr lang="en-US" altLang="zh-CN" sz="36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.</a:t>
            </a:r>
            <a:endParaRPr lang="zh-CN" altLang="en-US" sz="3600" b="1" dirty="0">
              <a:solidFill>
                <a:srgbClr val="0000F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172" name="Text Box 2"/>
          <p:cNvSpPr txBox="1"/>
          <p:nvPr/>
        </p:nvSpPr>
        <p:spPr>
          <a:xfrm>
            <a:off x="1428750" y="214313"/>
            <a:ext cx="7500938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 eaLnBrk="1" hangingPunct="1"/>
            <a:r>
              <a:rPr lang="zh-CN" altLang="en-US" sz="3600" b="1" dirty="0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一、热力结构分层</a:t>
            </a:r>
            <a:endParaRPr lang="zh-CN" altLang="en-US" sz="3600" b="1" dirty="0">
              <a:solidFill>
                <a:srgbClr val="FFFF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4" name="Text Box 16"/>
          <p:cNvSpPr txBox="1"/>
          <p:nvPr/>
        </p:nvSpPr>
        <p:spPr>
          <a:xfrm>
            <a:off x="827088" y="2276475"/>
            <a:ext cx="7993062" cy="3416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lnSpc>
                <a:spcPct val="150000"/>
              </a:lnSpc>
            </a:pPr>
            <a:r>
              <a:rPr lang="zh-CN" altLang="en-US" sz="24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对流层顶：</a:t>
            </a:r>
            <a:r>
              <a:rPr lang="zh-CN" altLang="en-US" sz="2400" b="1" dirty="0">
                <a:solidFill>
                  <a:srgbClr val="080808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温度垂直递减率减小到</a:t>
            </a:r>
            <a:r>
              <a:rPr lang="en-US" altLang="zh-CN" sz="2400" b="1" dirty="0">
                <a:solidFill>
                  <a:srgbClr val="080808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 K/km</a:t>
            </a:r>
            <a:r>
              <a:rPr lang="zh-CN" altLang="en-US" sz="2400" b="1" dirty="0">
                <a:solidFill>
                  <a:srgbClr val="080808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或更小的最低高度。</a:t>
            </a:r>
            <a:endParaRPr lang="zh-CN" altLang="en-US" sz="2400" b="1" dirty="0">
              <a:solidFill>
                <a:srgbClr val="080808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sz="24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气团：</a:t>
            </a:r>
            <a:r>
              <a:rPr lang="zh-CN" altLang="en-US" sz="2400" b="1" dirty="0">
                <a:solidFill>
                  <a:srgbClr val="080808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将水平方向上温度、湿度相对均匀，天气现象类似，垂直方向上气象要素变化近于相同的大范围地区的空气，划分为一个气团。</a:t>
            </a:r>
            <a:endParaRPr lang="zh-CN" altLang="en-US" sz="2400" b="1" dirty="0">
              <a:solidFill>
                <a:srgbClr val="080808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sz="24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锋面：</a:t>
            </a:r>
            <a:r>
              <a:rPr lang="zh-CN" altLang="en-US" sz="2400" b="1" dirty="0">
                <a:solidFill>
                  <a:srgbClr val="080808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冷暖气团之间的交界面。</a:t>
            </a:r>
            <a:endParaRPr lang="zh-CN" altLang="en-US" sz="2400" b="1" dirty="0">
              <a:solidFill>
                <a:srgbClr val="080808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195" name="Text Box 2"/>
          <p:cNvSpPr txBox="1"/>
          <p:nvPr/>
        </p:nvSpPr>
        <p:spPr>
          <a:xfrm>
            <a:off x="1428750" y="214313"/>
            <a:ext cx="7500938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 eaLnBrk="1" hangingPunct="1"/>
            <a:r>
              <a:rPr lang="zh-CN" altLang="en-US" sz="3600" b="1" dirty="0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一、热力结构分层</a:t>
            </a:r>
            <a:endParaRPr lang="zh-CN" altLang="en-US" sz="3600" b="1" dirty="0">
              <a:solidFill>
                <a:srgbClr val="FFFF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8" name="Text Box 5"/>
          <p:cNvSpPr txBox="1"/>
          <p:nvPr/>
        </p:nvSpPr>
        <p:spPr>
          <a:xfrm>
            <a:off x="571500" y="1357313"/>
            <a:ext cx="8321675" cy="646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en-US" altLang="zh-CN" sz="3600" b="1" dirty="0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2. </a:t>
            </a:r>
            <a:r>
              <a:rPr lang="zh-CN" altLang="en-US" sz="3600" b="1" dirty="0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平流层（对流层顶向上到</a:t>
            </a:r>
            <a:r>
              <a:rPr lang="en-US" altLang="zh-CN" sz="3600" b="1" dirty="0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50 km</a:t>
            </a:r>
            <a:r>
              <a:rPr lang="zh-CN" altLang="en-US" sz="3600" b="1" dirty="0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左右）</a:t>
            </a:r>
            <a:endParaRPr lang="zh-CN" altLang="en-US" sz="3600" b="1" dirty="0">
              <a:solidFill>
                <a:srgbClr val="FF33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9219" name="Picture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52888" y="3400425"/>
            <a:ext cx="1038225" cy="571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220" name="Text Box 12"/>
          <p:cNvSpPr txBox="1"/>
          <p:nvPr/>
        </p:nvSpPr>
        <p:spPr>
          <a:xfrm>
            <a:off x="642938" y="2141538"/>
            <a:ext cx="7858125" cy="3416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lnSpc>
                <a:spcPct val="150000"/>
              </a:lnSpc>
            </a:pPr>
            <a:r>
              <a:rPr lang="zh-CN" altLang="en-US" sz="24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（</a:t>
            </a:r>
            <a:r>
              <a:rPr lang="en-US" altLang="zh-CN" sz="24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r>
              <a:rPr lang="zh-CN" altLang="en-US" sz="24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）温度随高度升高，垂直温度递减率为负值</a:t>
            </a:r>
            <a:r>
              <a:rPr lang="en-US" altLang="zh-CN" sz="24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;</a:t>
            </a:r>
            <a:endParaRPr lang="zh-CN" altLang="en-US" sz="2400" b="1" dirty="0">
              <a:solidFill>
                <a:srgbClr val="0000F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sz="24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（</a:t>
            </a:r>
            <a:r>
              <a:rPr lang="en-US" altLang="zh-CN" sz="24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zh-CN" altLang="en-US" sz="24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）大气稳定，垂直运动很弱</a:t>
            </a:r>
            <a:r>
              <a:rPr lang="en-US" altLang="zh-CN" sz="24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;</a:t>
            </a:r>
            <a:endParaRPr lang="zh-CN" altLang="en-US" sz="2400" b="1" dirty="0">
              <a:solidFill>
                <a:srgbClr val="0000F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sz="24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（</a:t>
            </a:r>
            <a:r>
              <a:rPr lang="en-US" altLang="zh-CN" sz="24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3</a:t>
            </a:r>
            <a:r>
              <a:rPr lang="zh-CN" altLang="en-US" sz="24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）平流层大气透明度高，对流层的物质不容易进入平流层。</a:t>
            </a:r>
            <a:endParaRPr lang="en-US" altLang="zh-CN" sz="2400" b="1" dirty="0">
              <a:solidFill>
                <a:srgbClr val="0000F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sz="24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（</a:t>
            </a:r>
            <a:r>
              <a:rPr lang="en-US" altLang="zh-CN" sz="24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4</a:t>
            </a:r>
            <a:r>
              <a:rPr lang="zh-CN" altLang="en-US" sz="24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）水汽含量很少。</a:t>
            </a:r>
            <a:endParaRPr lang="en-US" altLang="zh-CN" sz="2400" b="1" dirty="0">
              <a:solidFill>
                <a:srgbClr val="0000F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150000"/>
              </a:lnSpc>
            </a:pPr>
            <a:endParaRPr lang="zh-CN" altLang="en-US" sz="2400" b="1" dirty="0">
              <a:solidFill>
                <a:srgbClr val="0000F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221" name="Text Box 2"/>
          <p:cNvSpPr txBox="1"/>
          <p:nvPr/>
        </p:nvSpPr>
        <p:spPr>
          <a:xfrm>
            <a:off x="1428750" y="214313"/>
            <a:ext cx="7500938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 eaLnBrk="1" hangingPunct="1"/>
            <a:r>
              <a:rPr lang="zh-CN" altLang="en-US" sz="3600" b="1" dirty="0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一、热力结构分层</a:t>
            </a:r>
            <a:endParaRPr lang="zh-CN" altLang="en-US" sz="3600" b="1" dirty="0">
              <a:solidFill>
                <a:srgbClr val="FFFF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8" name="Picture 8" descr="nacreousclou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7900" y="4221163"/>
            <a:ext cx="3149600" cy="22875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" name="Rectangle 9"/>
          <p:cNvSpPr/>
          <p:nvPr/>
        </p:nvSpPr>
        <p:spPr>
          <a:xfrm>
            <a:off x="4427538" y="6524625"/>
            <a:ext cx="4151312" cy="27622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1200" b="1" dirty="0">
                <a:solidFill>
                  <a:srgbClr val="FF66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mother-of-pearl clouds (mostly frozen sulfuric acid droplets)</a:t>
            </a:r>
            <a:endParaRPr lang="en-US" altLang="zh-CN" sz="1200" b="1" dirty="0">
              <a:solidFill>
                <a:srgbClr val="FF66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2" name="Text Box 9"/>
          <p:cNvSpPr txBox="1"/>
          <p:nvPr/>
        </p:nvSpPr>
        <p:spPr>
          <a:xfrm>
            <a:off x="1081088" y="1285875"/>
            <a:ext cx="7991475" cy="7016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40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平流层温度和环流特征（一月）</a:t>
            </a:r>
            <a:endParaRPr lang="zh-CN" altLang="en-US" sz="4000" b="1" dirty="0">
              <a:solidFill>
                <a:srgbClr val="0000F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243" name="Picture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5750" y="2000250"/>
            <a:ext cx="8820150" cy="45593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Text Box 2"/>
          <p:cNvSpPr txBox="1"/>
          <p:nvPr/>
        </p:nvSpPr>
        <p:spPr>
          <a:xfrm>
            <a:off x="3160713" y="1512888"/>
            <a:ext cx="5340350" cy="7016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4000" b="1" dirty="0">
                <a:solidFill>
                  <a:srgbClr val="00B05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平流层过程</a:t>
            </a:r>
            <a:endParaRPr lang="zh-CN" altLang="en-US" sz="4000" b="1" dirty="0">
              <a:solidFill>
                <a:srgbClr val="00B05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1267" name="Text Box 4"/>
          <p:cNvSpPr txBox="1"/>
          <p:nvPr/>
        </p:nvSpPr>
        <p:spPr>
          <a:xfrm>
            <a:off x="1928813" y="2500313"/>
            <a:ext cx="5514975" cy="2678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 eaLnBrk="1" hangingPunct="1">
              <a:lnSpc>
                <a:spcPct val="150000"/>
              </a:lnSpc>
            </a:pPr>
            <a:r>
              <a:rPr lang="zh-CN" altLang="en-US" sz="28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准两年振荡（</a:t>
            </a:r>
            <a:r>
              <a:rPr lang="en-US" altLang="zh-CN" sz="28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QBO</a:t>
            </a:r>
            <a:r>
              <a:rPr lang="zh-CN" altLang="en-US" sz="28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）</a:t>
            </a:r>
            <a:endParaRPr lang="zh-CN" altLang="en-US" sz="2800" b="1" dirty="0">
              <a:solidFill>
                <a:srgbClr val="0000F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ctr" eaLnBrk="1" hangingPunct="1">
              <a:lnSpc>
                <a:spcPct val="150000"/>
              </a:lnSpc>
            </a:pPr>
            <a:r>
              <a:rPr lang="zh-CN" altLang="en-US" sz="28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平流层爆发性增温</a:t>
            </a:r>
            <a:endParaRPr lang="zh-CN" altLang="en-US" sz="2800" b="1" dirty="0">
              <a:solidFill>
                <a:srgbClr val="0000F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ctr" eaLnBrk="1" hangingPunct="1">
              <a:lnSpc>
                <a:spcPct val="150000"/>
              </a:lnSpc>
            </a:pPr>
            <a:r>
              <a:rPr lang="zh-CN" altLang="en-US" sz="28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物质传输：剩余环流</a:t>
            </a:r>
            <a:r>
              <a:rPr lang="en-US" altLang="zh-CN" sz="28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+</a:t>
            </a:r>
            <a:r>
              <a:rPr lang="zh-CN" altLang="en-US" sz="28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水平混和</a:t>
            </a:r>
            <a:endParaRPr lang="en-US" altLang="zh-CN" sz="2800" b="1" dirty="0">
              <a:solidFill>
                <a:srgbClr val="0000F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ctr" eaLnBrk="1" hangingPunct="1">
              <a:lnSpc>
                <a:spcPct val="150000"/>
              </a:lnSpc>
            </a:pPr>
            <a:r>
              <a:rPr lang="zh-CN" altLang="en-US" sz="28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热带海表温度对平流层的调节</a:t>
            </a:r>
            <a:endParaRPr lang="zh-CN" altLang="en-US" sz="2800" b="1" dirty="0">
              <a:solidFill>
                <a:srgbClr val="0000F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90" name="Text Box 8"/>
          <p:cNvSpPr txBox="1"/>
          <p:nvPr/>
        </p:nvSpPr>
        <p:spPr>
          <a:xfrm>
            <a:off x="428625" y="1370013"/>
            <a:ext cx="8353425" cy="646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en-US" altLang="zh-CN" sz="36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3. </a:t>
            </a:r>
            <a:r>
              <a:rPr lang="zh-CN" altLang="en-US" sz="36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中间层（平流层顶到</a:t>
            </a:r>
            <a:r>
              <a:rPr lang="en-US" altLang="zh-CN" sz="36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85 km</a:t>
            </a:r>
            <a:r>
              <a:rPr lang="zh-CN" altLang="en-US" sz="36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）</a:t>
            </a:r>
            <a:endParaRPr lang="zh-CN" altLang="en-US" sz="3600" b="1" dirty="0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2291" name="Text Box 11"/>
          <p:cNvSpPr txBox="1"/>
          <p:nvPr/>
        </p:nvSpPr>
        <p:spPr>
          <a:xfrm>
            <a:off x="684213" y="2100263"/>
            <a:ext cx="7959725" cy="40005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lnSpc>
                <a:spcPct val="150000"/>
              </a:lnSpc>
            </a:pPr>
            <a:r>
              <a:rPr lang="zh-CN" altLang="en-US" sz="28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（</a:t>
            </a:r>
            <a:r>
              <a:rPr lang="en-US" altLang="zh-CN" sz="28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r>
              <a:rPr lang="zh-CN" altLang="en-US" sz="28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）温度随高度减低</a:t>
            </a:r>
            <a:endParaRPr lang="en-US" altLang="zh-CN" sz="2800" b="1" dirty="0">
              <a:solidFill>
                <a:srgbClr val="0000F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sz="2400" b="1" dirty="0">
                <a:solidFill>
                  <a:srgbClr val="080808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臭氧稀少，能被氧分子吸收的紫外辐射已被热层大气吸收了，再没有其他吸收气体；且</a:t>
            </a:r>
            <a:r>
              <a:rPr lang="en-US" altLang="zh-CN" sz="2400" b="1" dirty="0">
                <a:solidFill>
                  <a:srgbClr val="080808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CO</a:t>
            </a:r>
            <a:r>
              <a:rPr lang="en-US" altLang="zh-CN" sz="2400" b="1" baseline="-25000" dirty="0">
                <a:solidFill>
                  <a:srgbClr val="080808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zh-CN" altLang="en-US" sz="2400" b="1" dirty="0">
                <a:solidFill>
                  <a:srgbClr val="080808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在</a:t>
            </a:r>
            <a:r>
              <a:rPr lang="en-US" altLang="zh-CN" sz="2400" b="1" dirty="0">
                <a:solidFill>
                  <a:srgbClr val="080808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15 μm</a:t>
            </a:r>
            <a:r>
              <a:rPr lang="zh-CN" altLang="en-US" sz="2400" b="1" dirty="0">
                <a:solidFill>
                  <a:srgbClr val="080808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存在红外辐射散热，中间层顶温度可降到</a:t>
            </a:r>
            <a:r>
              <a:rPr lang="en-US" altLang="zh-CN" sz="2400" b="1" dirty="0">
                <a:solidFill>
                  <a:srgbClr val="080808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-100 ~-90 </a:t>
            </a:r>
            <a:r>
              <a:rPr lang="zh-CN" altLang="en-US" sz="2400" b="1" dirty="0">
                <a:solidFill>
                  <a:srgbClr val="080808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℃。</a:t>
            </a:r>
            <a:endParaRPr lang="zh-CN" altLang="en-US" sz="2400" b="1" dirty="0">
              <a:solidFill>
                <a:srgbClr val="0000F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150000"/>
              </a:lnSpc>
              <a:spcBef>
                <a:spcPts val="1200"/>
              </a:spcBef>
            </a:pPr>
            <a:r>
              <a:rPr lang="zh-CN" altLang="en-US" sz="28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（</a:t>
            </a:r>
            <a:r>
              <a:rPr lang="en-US" altLang="zh-CN" sz="28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zh-CN" altLang="en-US" sz="28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）大气不稳定</a:t>
            </a:r>
            <a:endParaRPr lang="en-US" altLang="zh-CN" sz="2800" b="1" dirty="0">
              <a:solidFill>
                <a:srgbClr val="0000F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150000"/>
              </a:lnSpc>
              <a:spcBef>
                <a:spcPts val="1200"/>
              </a:spcBef>
            </a:pPr>
            <a:r>
              <a:rPr lang="zh-CN" altLang="en-US" sz="28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（</a:t>
            </a:r>
            <a:r>
              <a:rPr lang="en-US" altLang="zh-CN" sz="28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3</a:t>
            </a:r>
            <a:r>
              <a:rPr lang="zh-CN" altLang="en-US" sz="28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）水汽极少</a:t>
            </a:r>
            <a:endParaRPr lang="zh-CN" altLang="en-US" sz="2800" dirty="0">
              <a:solidFill>
                <a:srgbClr val="0000F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316" name="Text Box 14"/>
          <p:cNvSpPr txBox="1"/>
          <p:nvPr/>
        </p:nvSpPr>
        <p:spPr>
          <a:xfrm>
            <a:off x="1187450" y="6021388"/>
            <a:ext cx="3714750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2400" b="1" dirty="0">
                <a:solidFill>
                  <a:srgbClr val="080808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中间层可看到夜光云</a:t>
            </a:r>
            <a:endParaRPr lang="zh-CN" altLang="en-US" sz="2400" b="1" dirty="0">
              <a:solidFill>
                <a:srgbClr val="080808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2293" name="Text Box 2"/>
          <p:cNvSpPr txBox="1"/>
          <p:nvPr/>
        </p:nvSpPr>
        <p:spPr>
          <a:xfrm>
            <a:off x="1428750" y="214313"/>
            <a:ext cx="7500938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 eaLnBrk="1" hangingPunct="1"/>
            <a:r>
              <a:rPr lang="zh-CN" altLang="en-US" sz="3600" b="1" dirty="0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一、热力结构分层</a:t>
            </a:r>
            <a:endParaRPr lang="zh-CN" altLang="en-US" sz="3600" b="1" dirty="0">
              <a:solidFill>
                <a:srgbClr val="FFFF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6" name="Picture 6" descr="NLC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57750" y="4500563"/>
            <a:ext cx="3786188" cy="235743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4" name="Text Box 2"/>
          <p:cNvSpPr txBox="1"/>
          <p:nvPr/>
        </p:nvSpPr>
        <p:spPr>
          <a:xfrm>
            <a:off x="642938" y="1370013"/>
            <a:ext cx="8101012" cy="7016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en-US" altLang="zh-CN" sz="40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4.  </a:t>
            </a:r>
            <a:r>
              <a:rPr lang="zh-CN" altLang="en-US" sz="40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热层</a:t>
            </a:r>
            <a:endParaRPr lang="zh-CN" altLang="en-US" sz="4000" b="1" dirty="0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3315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52888" y="3400425"/>
            <a:ext cx="1038225" cy="571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3316" name="Text Box 7"/>
          <p:cNvSpPr txBox="1"/>
          <p:nvPr/>
        </p:nvSpPr>
        <p:spPr>
          <a:xfrm>
            <a:off x="1000125" y="2357438"/>
            <a:ext cx="7597775" cy="354012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>
              <a:lnSpc>
                <a:spcPct val="150000"/>
              </a:lnSpc>
            </a:pPr>
            <a:r>
              <a:rPr lang="zh-CN" altLang="en-US" sz="28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（</a:t>
            </a:r>
            <a:r>
              <a:rPr lang="en-US" altLang="zh-CN" sz="28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r>
              <a:rPr lang="zh-CN" altLang="en-US" sz="28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）温度随高度升高</a:t>
            </a:r>
            <a:endParaRPr lang="zh-CN" altLang="en-US" sz="2800" b="1" dirty="0">
              <a:solidFill>
                <a:srgbClr val="0000F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sz="28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（</a:t>
            </a:r>
            <a:r>
              <a:rPr lang="en-US" altLang="zh-CN" sz="28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zh-CN" altLang="en-US" sz="28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）空气稀薄，大气热量的传输主要靠热传导</a:t>
            </a:r>
            <a:endParaRPr lang="zh-CN" altLang="en-US" sz="2800" b="1" dirty="0">
              <a:solidFill>
                <a:srgbClr val="0000F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sz="28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（</a:t>
            </a:r>
            <a:r>
              <a:rPr lang="en-US" altLang="zh-CN" sz="28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3</a:t>
            </a:r>
            <a:r>
              <a:rPr lang="zh-CN" altLang="en-US" sz="28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）热层顶（</a:t>
            </a:r>
            <a:r>
              <a:rPr lang="en-US" altLang="zh-CN" sz="28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500 km</a:t>
            </a:r>
            <a:r>
              <a:rPr lang="zh-CN" altLang="en-US" sz="28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）的温度趋于一个常数</a:t>
            </a:r>
            <a:endParaRPr lang="en-US" altLang="zh-CN" sz="2800" b="1" dirty="0">
              <a:solidFill>
                <a:srgbClr val="0000F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sz="28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（</a:t>
            </a:r>
            <a:r>
              <a:rPr lang="en-US" altLang="zh-CN" sz="28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1000~2000 K)</a:t>
            </a:r>
            <a:endParaRPr lang="en-US" altLang="zh-CN" sz="2800" b="1" dirty="0">
              <a:solidFill>
                <a:srgbClr val="0000F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/>
            <a:endParaRPr lang="en-US" altLang="zh-CN" sz="2800" b="1" dirty="0">
              <a:solidFill>
                <a:schemeClr val="accent2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/>
            <a:r>
              <a:rPr lang="zh-CN" altLang="en-US" sz="2800" b="1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注意区别中间层大气和中层大气</a:t>
            </a:r>
            <a:endParaRPr lang="zh-CN" altLang="en-US" sz="2800" b="1" dirty="0">
              <a:solidFill>
                <a:srgbClr val="CC33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317" name="Text Box 2"/>
          <p:cNvSpPr txBox="1"/>
          <p:nvPr/>
        </p:nvSpPr>
        <p:spPr>
          <a:xfrm>
            <a:off x="1428750" y="214313"/>
            <a:ext cx="7500938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 eaLnBrk="1" hangingPunct="1"/>
            <a:r>
              <a:rPr lang="zh-CN" altLang="en-US" sz="3600" b="1" dirty="0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一、热力结构分层</a:t>
            </a:r>
            <a:endParaRPr lang="zh-CN" altLang="en-US" sz="3600" b="1" dirty="0">
              <a:solidFill>
                <a:srgbClr val="FFFF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>
                                            <p:txEl>
                                              <p:charRg st="72" end="8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8" name="Text Box 1035"/>
          <p:cNvSpPr txBox="1"/>
          <p:nvPr/>
        </p:nvSpPr>
        <p:spPr>
          <a:xfrm>
            <a:off x="611188" y="1341438"/>
            <a:ext cx="8215312" cy="31384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lnSpc>
                <a:spcPct val="150000"/>
              </a:lnSpc>
            </a:pPr>
            <a:r>
              <a:rPr lang="en-US" altLang="zh-CN" sz="28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1. </a:t>
            </a:r>
            <a:r>
              <a:rPr lang="zh-CN" altLang="en-US" sz="28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匀和层</a:t>
            </a:r>
            <a:r>
              <a:rPr lang="en-US" altLang="zh-CN" sz="28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(homosphere)</a:t>
            </a:r>
            <a:r>
              <a:rPr lang="zh-CN" altLang="en-US" sz="28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或湍流层</a:t>
            </a:r>
            <a:r>
              <a:rPr lang="en-US" altLang="zh-CN" sz="28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(turbosphere)</a:t>
            </a:r>
            <a:endParaRPr lang="zh-CN" altLang="en-US" sz="2800" b="1" dirty="0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sz="28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</a:t>
            </a:r>
            <a:r>
              <a:rPr lang="en-US" altLang="zh-CN" sz="28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86-90 km </a:t>
            </a:r>
            <a:r>
              <a:rPr lang="zh-CN" altLang="en-US" sz="28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以下</a:t>
            </a:r>
            <a:endParaRPr lang="en-US" altLang="zh-CN" sz="2800" b="1" dirty="0">
              <a:solidFill>
                <a:srgbClr val="0000F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150000"/>
              </a:lnSpc>
            </a:pPr>
            <a:r>
              <a:rPr lang="en-US" altLang="zh-CN" sz="28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</a:t>
            </a:r>
            <a:r>
              <a:rPr lang="zh-CN" altLang="en-US" sz="24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湍流扩散作用</a:t>
            </a:r>
            <a:r>
              <a:rPr lang="zh-CN" altLang="en-US" sz="2400" b="1" dirty="0">
                <a:solidFill>
                  <a:srgbClr val="080808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使大气均匀混合，除臭氧等可变成分外，大气中各种成分</a:t>
            </a:r>
            <a:r>
              <a:rPr lang="zh-CN" altLang="en-US" sz="24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所占的比例</a:t>
            </a:r>
            <a:r>
              <a:rPr lang="zh-CN" altLang="en-US" sz="2400" b="1" dirty="0">
                <a:solidFill>
                  <a:srgbClr val="080808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在垂直方向和水平方向保持不变，</a:t>
            </a:r>
            <a:r>
              <a:rPr lang="en-US" altLang="zh-CN" sz="2400" b="1" dirty="0">
                <a:solidFill>
                  <a:srgbClr val="080808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M</a:t>
            </a:r>
            <a:r>
              <a:rPr lang="en-US" altLang="zh-CN" sz="2400" b="1" baseline="-25000" dirty="0">
                <a:solidFill>
                  <a:srgbClr val="080808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d</a:t>
            </a:r>
            <a:r>
              <a:rPr lang="en-US" altLang="zh-CN" sz="2400" b="1" dirty="0">
                <a:solidFill>
                  <a:srgbClr val="080808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=28.964X10</a:t>
            </a:r>
            <a:r>
              <a:rPr lang="en-US" altLang="zh-CN" sz="2400" b="1" baseline="30000" dirty="0">
                <a:solidFill>
                  <a:srgbClr val="080808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-3</a:t>
            </a:r>
            <a:r>
              <a:rPr lang="en-US" altLang="zh-CN" sz="2400" b="1" dirty="0">
                <a:solidFill>
                  <a:srgbClr val="080808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kg/mol</a:t>
            </a:r>
            <a:r>
              <a:rPr lang="zh-CN" altLang="en-US" sz="2400" b="1" dirty="0">
                <a:solidFill>
                  <a:srgbClr val="080808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。</a:t>
            </a:r>
            <a:endParaRPr lang="zh-CN" altLang="en-US" sz="2400" b="1" dirty="0">
              <a:solidFill>
                <a:srgbClr val="080808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339" name="Text Box 1038"/>
          <p:cNvSpPr txBox="1"/>
          <p:nvPr/>
        </p:nvSpPr>
        <p:spPr>
          <a:xfrm>
            <a:off x="714375" y="4652963"/>
            <a:ext cx="8215313" cy="18208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lnSpc>
                <a:spcPct val="150000"/>
              </a:lnSpc>
            </a:pPr>
            <a:r>
              <a:rPr lang="en-US" altLang="zh-CN" sz="28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2. </a:t>
            </a:r>
            <a:r>
              <a:rPr lang="zh-CN" altLang="en-US" sz="28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非匀和层 </a:t>
            </a:r>
            <a:r>
              <a:rPr lang="en-US" altLang="zh-CN" sz="28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(heterosphere</a:t>
            </a:r>
            <a:r>
              <a:rPr lang="en-US" altLang="zh-CN" sz="28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90-500 km</a:t>
            </a:r>
            <a:r>
              <a:rPr lang="en-US" altLang="zh-CN" sz="28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)</a:t>
            </a:r>
            <a:r>
              <a:rPr lang="zh-CN" altLang="en-US" sz="28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：</a:t>
            </a:r>
            <a:endParaRPr lang="zh-CN" altLang="en-US" sz="2800" b="1" dirty="0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sz="2600" b="1" dirty="0">
                <a:solidFill>
                  <a:srgbClr val="080808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</a:t>
            </a:r>
            <a:r>
              <a:rPr lang="zh-CN" altLang="en-US" sz="2400" b="1" dirty="0">
                <a:solidFill>
                  <a:srgbClr val="080808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重力分离作用及光化学作用占主导，大气成分</a:t>
            </a:r>
            <a:r>
              <a:rPr lang="zh-CN" altLang="en-US" sz="24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所占的比例</a:t>
            </a:r>
            <a:r>
              <a:rPr lang="zh-CN" altLang="en-US" sz="2400" b="1" dirty="0">
                <a:solidFill>
                  <a:srgbClr val="080808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随高度变化，平均摩尔质量随高度减小。</a:t>
            </a:r>
            <a:endParaRPr lang="zh-CN" altLang="en-US" sz="2400" b="1" dirty="0">
              <a:solidFill>
                <a:srgbClr val="080808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340" name="Text Box 2"/>
          <p:cNvSpPr txBox="1"/>
          <p:nvPr/>
        </p:nvSpPr>
        <p:spPr>
          <a:xfrm>
            <a:off x="1428750" y="214313"/>
            <a:ext cx="7500938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 eaLnBrk="1" hangingPunct="1"/>
            <a:r>
              <a:rPr lang="zh-CN" altLang="en-US" sz="3600" b="1" dirty="0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二、按化学成分分层</a:t>
            </a:r>
            <a:endParaRPr lang="zh-CN" altLang="en-US" sz="3600" b="1" dirty="0">
              <a:solidFill>
                <a:srgbClr val="FFFF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2" name="Text Box 12"/>
          <p:cNvSpPr txBox="1"/>
          <p:nvPr/>
        </p:nvSpPr>
        <p:spPr>
          <a:xfrm>
            <a:off x="571500" y="2000250"/>
            <a:ext cx="8143875" cy="33242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lnSpc>
                <a:spcPct val="150000"/>
              </a:lnSpc>
            </a:pPr>
            <a:r>
              <a:rPr lang="zh-CN" altLang="en-US" sz="28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外大气层（</a:t>
            </a:r>
            <a:r>
              <a:rPr lang="en-US" altLang="zh-CN" sz="28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exosphere</a:t>
            </a:r>
            <a:r>
              <a:rPr lang="zh-CN" altLang="en-US" sz="28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）（逃逸层）：</a:t>
            </a:r>
            <a:endParaRPr lang="zh-CN" altLang="en-US" sz="2800" b="1" dirty="0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sz="28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从</a:t>
            </a:r>
            <a:r>
              <a:rPr lang="en-US" altLang="zh-CN" sz="28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500 km</a:t>
            </a:r>
            <a:r>
              <a:rPr lang="zh-CN" altLang="en-US" sz="28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以上的热层顶以上到</a:t>
            </a:r>
            <a:r>
              <a:rPr lang="en-US" altLang="zh-CN" sz="28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3000 km</a:t>
            </a:r>
            <a:r>
              <a:rPr lang="zh-CN" altLang="en-US" sz="28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的大气层。</a:t>
            </a:r>
            <a:endParaRPr lang="zh-CN" altLang="en-US" sz="2800" b="1" dirty="0">
              <a:solidFill>
                <a:srgbClr val="0000F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150000"/>
              </a:lnSpc>
            </a:pPr>
            <a:endParaRPr lang="zh-CN" altLang="en-US" sz="2800" b="1" dirty="0">
              <a:solidFill>
                <a:srgbClr val="0000F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sz="28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外大气层中大气大部分处于电离状态，这一层粒子速度很高，可逃逸到星际空间，故又称逃逸层。</a:t>
            </a:r>
            <a:endParaRPr lang="zh-CN" altLang="en-US" sz="2800" b="1" dirty="0">
              <a:solidFill>
                <a:srgbClr val="0000F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5363" name="Text Box 2"/>
          <p:cNvSpPr txBox="1"/>
          <p:nvPr/>
        </p:nvSpPr>
        <p:spPr>
          <a:xfrm>
            <a:off x="1428750" y="214313"/>
            <a:ext cx="7500938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 eaLnBrk="1" hangingPunct="1"/>
            <a:r>
              <a:rPr lang="zh-CN" altLang="en-US" sz="3600" b="1" dirty="0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三、外大气层</a:t>
            </a:r>
            <a:endParaRPr lang="zh-CN" altLang="en-US" sz="3600" b="1" dirty="0">
              <a:solidFill>
                <a:srgbClr val="FFFF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6" name="Text Box 2"/>
          <p:cNvSpPr txBox="1"/>
          <p:nvPr/>
        </p:nvSpPr>
        <p:spPr>
          <a:xfrm>
            <a:off x="500063" y="1285875"/>
            <a:ext cx="8572500" cy="12001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lnSpc>
                <a:spcPct val="150000"/>
              </a:lnSpc>
            </a:pPr>
            <a:r>
              <a:rPr lang="en-US" altLang="zh-CN" sz="24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1. </a:t>
            </a:r>
            <a:r>
              <a:rPr lang="zh-CN" altLang="en-US" sz="24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电离层</a:t>
            </a:r>
            <a:r>
              <a:rPr lang="en-US" altLang="zh-CN" sz="24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(ionosphere)</a:t>
            </a:r>
            <a:r>
              <a:rPr lang="zh-CN" altLang="en-US" sz="24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：</a:t>
            </a:r>
            <a:r>
              <a:rPr lang="en-US" altLang="zh-CN" sz="24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60 km- (500-1000)</a:t>
            </a:r>
            <a:r>
              <a:rPr lang="zh-CN" altLang="en-US" sz="24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24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km</a:t>
            </a:r>
            <a:endParaRPr lang="en-US" altLang="zh-CN" sz="2400" b="1" dirty="0">
              <a:solidFill>
                <a:srgbClr val="0000F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150000"/>
              </a:lnSpc>
            </a:pPr>
            <a:r>
              <a:rPr lang="en-US" altLang="zh-CN" sz="24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2. </a:t>
            </a:r>
            <a:r>
              <a:rPr lang="zh-CN" altLang="en-US" sz="24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磁层</a:t>
            </a:r>
            <a:r>
              <a:rPr lang="en-US" altLang="zh-CN" sz="24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(magnetosphere)</a:t>
            </a:r>
            <a:r>
              <a:rPr lang="zh-CN" altLang="en-US" sz="24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：</a:t>
            </a:r>
            <a:r>
              <a:rPr lang="en-US" altLang="zh-CN" sz="24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500-1000 km </a:t>
            </a:r>
            <a:r>
              <a:rPr lang="zh-CN" altLang="en-US" sz="24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以上</a:t>
            </a:r>
            <a:endParaRPr lang="zh-CN" altLang="en-US" sz="2400" b="1" dirty="0">
              <a:solidFill>
                <a:srgbClr val="0000F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6387" name="Picture 3" descr="radiation_belts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8688" y="2673350"/>
            <a:ext cx="5040312" cy="37798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6388" name="Text Box 4"/>
          <p:cNvSpPr txBox="1"/>
          <p:nvPr/>
        </p:nvSpPr>
        <p:spPr>
          <a:xfrm>
            <a:off x="6286500" y="3500438"/>
            <a:ext cx="1857375" cy="92392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b="1" dirty="0">
                <a:solidFill>
                  <a:srgbClr val="080808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地球辐射带 </a:t>
            </a:r>
            <a:endParaRPr lang="zh-CN" altLang="en-US" b="1" dirty="0">
              <a:solidFill>
                <a:srgbClr val="080808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/>
            <a:r>
              <a:rPr lang="zh-CN" altLang="en-US" b="1" dirty="0">
                <a:solidFill>
                  <a:srgbClr val="080808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（引之</a:t>
            </a:r>
            <a:r>
              <a:rPr lang="en-US" altLang="zh-CN" b="1" dirty="0">
                <a:solidFill>
                  <a:srgbClr val="080808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windows</a:t>
            </a:r>
            <a:endParaRPr lang="en-US" altLang="zh-CN" b="1" dirty="0">
              <a:solidFill>
                <a:srgbClr val="080808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b="1" dirty="0">
                <a:solidFill>
                  <a:srgbClr val="080808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To Earch</a:t>
            </a:r>
            <a:r>
              <a:rPr lang="zh-CN" altLang="en-US" b="1" dirty="0">
                <a:solidFill>
                  <a:srgbClr val="080808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）</a:t>
            </a:r>
            <a:endParaRPr lang="zh-CN" altLang="en-US" b="1" dirty="0">
              <a:solidFill>
                <a:srgbClr val="080808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6389" name="Text Box 2"/>
          <p:cNvSpPr txBox="1"/>
          <p:nvPr/>
        </p:nvSpPr>
        <p:spPr>
          <a:xfrm>
            <a:off x="1428750" y="214313"/>
            <a:ext cx="7500938" cy="646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 eaLnBrk="1" hangingPunct="1"/>
            <a:r>
              <a:rPr lang="zh-CN" altLang="en-US" sz="3600" b="1" dirty="0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四、按电磁特性分层</a:t>
            </a:r>
            <a:endParaRPr lang="zh-CN" altLang="en-US" sz="3600" b="1" dirty="0">
              <a:solidFill>
                <a:srgbClr val="FFFF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0" name="TextBox 4"/>
          <p:cNvSpPr txBox="1"/>
          <p:nvPr/>
        </p:nvSpPr>
        <p:spPr>
          <a:xfrm>
            <a:off x="323850" y="6308725"/>
            <a:ext cx="8610600" cy="369888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>
            <a:spAutoFit/>
          </a:bodyPr>
          <a:p>
            <a:pPr eaLnBrk="1" hangingPunct="1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7411" name="Text Box 9"/>
          <p:cNvSpPr txBox="1"/>
          <p:nvPr/>
        </p:nvSpPr>
        <p:spPr>
          <a:xfrm>
            <a:off x="323850" y="1341438"/>
            <a:ext cx="4206875" cy="46196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4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单位截面积上空气柱质量为：</a:t>
            </a:r>
            <a:endParaRPr lang="zh-CN" altLang="en-US" sz="2400" b="1" dirty="0">
              <a:solidFill>
                <a:srgbClr val="0000F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7412" name="Text Box 11"/>
          <p:cNvSpPr txBox="1"/>
          <p:nvPr/>
        </p:nvSpPr>
        <p:spPr>
          <a:xfrm>
            <a:off x="395288" y="2781300"/>
            <a:ext cx="8539162" cy="5746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lnSpc>
                <a:spcPct val="150000"/>
              </a:lnSpc>
            </a:pPr>
            <a:r>
              <a:rPr lang="zh-CN" altLang="en-US" sz="24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假设静力学方程在整层大气上成立，且大气上界气压为零，有：</a:t>
            </a:r>
            <a:endParaRPr lang="zh-CN" altLang="en-US" sz="2400" b="1" dirty="0">
              <a:solidFill>
                <a:srgbClr val="0000F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7413" name="Text Box 2"/>
          <p:cNvSpPr txBox="1"/>
          <p:nvPr/>
        </p:nvSpPr>
        <p:spPr>
          <a:xfrm>
            <a:off x="1428750" y="214313"/>
            <a:ext cx="7500938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 eaLnBrk="1" hangingPunct="1"/>
            <a:r>
              <a:rPr lang="en-US" altLang="zh-CN" sz="3600" b="1" dirty="0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§4.2  </a:t>
            </a:r>
            <a:r>
              <a:rPr lang="zh-CN" altLang="en-US" sz="3600" b="1" dirty="0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大气质量及其垂直分布</a:t>
            </a:r>
            <a:endParaRPr lang="zh-CN" altLang="en-US" sz="3600" b="1" dirty="0">
              <a:solidFill>
                <a:srgbClr val="FFFF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17414" name="对象 1"/>
          <p:cNvGraphicFramePr>
            <a:graphicFrameLocks noChangeAspect="1"/>
          </p:cNvGraphicFramePr>
          <p:nvPr/>
        </p:nvGraphicFramePr>
        <p:xfrm>
          <a:off x="3284538" y="1803400"/>
          <a:ext cx="2871787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" r:id="rId1" imgW="862965" imgH="342900" progId="Equation.3">
                  <p:embed/>
                </p:oleObj>
              </mc:Choice>
              <mc:Fallback>
                <p:oleObj name="" r:id="rId1" imgW="862965" imgH="342900" progId="Equation.3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284538" y="1803400"/>
                        <a:ext cx="2871787" cy="977900"/>
                      </a:xfrm>
                      <a:prstGeom prst="rect">
                        <a:avLst/>
                      </a:prstGeom>
                      <a:solidFill>
                        <a:srgbClr val="FFCCFF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5" name="对象 2"/>
          <p:cNvGraphicFramePr>
            <a:graphicFrameLocks noChangeAspect="1"/>
          </p:cNvGraphicFramePr>
          <p:nvPr/>
        </p:nvGraphicFramePr>
        <p:xfrm>
          <a:off x="2427288" y="3429000"/>
          <a:ext cx="4883150" cy="1374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" name="" r:id="rId3" imgW="1333500" imgH="419100" progId="Equation.3">
                  <p:embed/>
                </p:oleObj>
              </mc:Choice>
              <mc:Fallback>
                <p:oleObj name="" r:id="rId3" imgW="1333500" imgH="419100" progId="Equation.3">
                  <p:embed/>
                  <p:pic>
                    <p:nvPicPr>
                      <p:cNvPr id="0" name="图片 307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427288" y="3429000"/>
                        <a:ext cx="4883150" cy="1374775"/>
                      </a:xfrm>
                      <a:prstGeom prst="rect">
                        <a:avLst/>
                      </a:prstGeom>
                      <a:solidFill>
                        <a:srgbClr val="FFCCFF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6" name="Text Box 12"/>
          <p:cNvSpPr txBox="1"/>
          <p:nvPr/>
        </p:nvSpPr>
        <p:spPr>
          <a:xfrm>
            <a:off x="395288" y="5056188"/>
            <a:ext cx="6442075" cy="460375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4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取</a:t>
            </a:r>
            <a:r>
              <a:rPr lang="en-US" altLang="zh-CN" sz="24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g=9.8m/s</a:t>
            </a:r>
            <a:r>
              <a:rPr lang="en-US" altLang="zh-CN" sz="2400" b="1" baseline="30000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24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，海平面处</a:t>
            </a:r>
            <a:r>
              <a:rPr lang="en-US" altLang="zh-CN" sz="24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</a:t>
            </a:r>
            <a:r>
              <a:rPr lang="en-US" altLang="zh-CN" sz="2400" b="1" baseline="-25000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</a:t>
            </a:r>
            <a:r>
              <a:rPr lang="en-US" altLang="zh-CN" sz="24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=101325 Pa</a:t>
            </a:r>
            <a:r>
              <a:rPr lang="zh-CN" altLang="en-US" sz="24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，则有：</a:t>
            </a:r>
            <a:endParaRPr lang="zh-CN" altLang="en-US" sz="2400" b="1" dirty="0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17417" name="对象 3"/>
          <p:cNvGraphicFramePr>
            <a:graphicFrameLocks noChangeAspect="1"/>
          </p:cNvGraphicFramePr>
          <p:nvPr/>
        </p:nvGraphicFramePr>
        <p:xfrm>
          <a:off x="1619250" y="5661025"/>
          <a:ext cx="6508750" cy="1008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0" name="" r:id="rId5" imgW="2667000" imgH="419100" progId="Equation.3">
                  <p:embed/>
                </p:oleObj>
              </mc:Choice>
              <mc:Fallback>
                <p:oleObj name="" r:id="rId5" imgW="2667000" imgH="419100" progId="Equation.3">
                  <p:embed/>
                  <p:pic>
                    <p:nvPicPr>
                      <p:cNvPr id="0" name="图片 3079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619250" y="5661025"/>
                        <a:ext cx="6508750" cy="1008063"/>
                      </a:xfrm>
                      <a:prstGeom prst="rect">
                        <a:avLst/>
                      </a:prstGeom>
                      <a:solidFill>
                        <a:srgbClr val="FFCCFF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4" name="Text Box 4"/>
          <p:cNvSpPr txBox="1"/>
          <p:nvPr/>
        </p:nvSpPr>
        <p:spPr>
          <a:xfrm>
            <a:off x="1187450" y="1633538"/>
            <a:ext cx="1987550" cy="522287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8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地球半径：</a:t>
            </a:r>
            <a:endParaRPr lang="zh-CN" altLang="en-US" sz="2800" b="1" dirty="0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18435" name="Object 5"/>
          <p:cNvGraphicFramePr>
            <a:graphicFrameLocks noChangeAspect="1"/>
          </p:cNvGraphicFramePr>
          <p:nvPr/>
        </p:nvGraphicFramePr>
        <p:xfrm>
          <a:off x="3276600" y="1557338"/>
          <a:ext cx="3167063" cy="671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1" imgW="1079500" imgH="228600" progId="Equation.3">
                  <p:embed/>
                </p:oleObj>
              </mc:Choice>
              <mc:Fallback>
                <p:oleObj name="" r:id="rId1" imgW="1079500" imgH="228600" progId="Equation.3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276600" y="1557338"/>
                        <a:ext cx="3167063" cy="671512"/>
                      </a:xfrm>
                      <a:prstGeom prst="rect">
                        <a:avLst/>
                      </a:prstGeom>
                      <a:solidFill>
                        <a:srgbClr val="FFCCFF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36" name="Text Box 6"/>
          <p:cNvSpPr txBox="1"/>
          <p:nvPr/>
        </p:nvSpPr>
        <p:spPr>
          <a:xfrm>
            <a:off x="1187450" y="2990850"/>
            <a:ext cx="2349500" cy="523875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8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大气总质量：</a:t>
            </a:r>
            <a:endParaRPr lang="zh-CN" altLang="en-US" sz="2800" b="1" dirty="0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18437" name="Object 7"/>
          <p:cNvGraphicFramePr>
            <a:graphicFrameLocks noChangeAspect="1"/>
          </p:cNvGraphicFramePr>
          <p:nvPr/>
        </p:nvGraphicFramePr>
        <p:xfrm>
          <a:off x="3529013" y="2865438"/>
          <a:ext cx="4859337" cy="730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3" imgW="1764665" imgH="266700" progId="Equation.3">
                  <p:embed/>
                </p:oleObj>
              </mc:Choice>
              <mc:Fallback>
                <p:oleObj name="" r:id="rId3" imgW="1764665" imgH="266700" progId="Equation.3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529013" y="2865438"/>
                        <a:ext cx="4859337" cy="730250"/>
                      </a:xfrm>
                      <a:prstGeom prst="rect">
                        <a:avLst/>
                      </a:prstGeom>
                      <a:solidFill>
                        <a:srgbClr val="FFCCFF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8" name="Text Box 2"/>
          <p:cNvSpPr txBox="1"/>
          <p:nvPr/>
        </p:nvSpPr>
        <p:spPr>
          <a:xfrm>
            <a:off x="1428750" y="214313"/>
            <a:ext cx="7500938" cy="646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 eaLnBrk="1" hangingPunct="1"/>
            <a:r>
              <a:rPr lang="en-US" altLang="zh-CN" sz="3600" b="1" dirty="0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§4.3  </a:t>
            </a:r>
            <a:r>
              <a:rPr lang="zh-CN" altLang="en-US" sz="3600" b="1" dirty="0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海洋环流</a:t>
            </a:r>
            <a:endParaRPr lang="zh-CN" altLang="en-US" sz="3600" b="1" dirty="0">
              <a:solidFill>
                <a:srgbClr val="FFFF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1507" name="TextBox 1"/>
          <p:cNvSpPr txBox="1">
            <a:spLocks noChangeArrowheads="1"/>
          </p:cNvSpPr>
          <p:nvPr/>
        </p:nvSpPr>
        <p:spPr bwMode="auto">
          <a:xfrm>
            <a:off x="688975" y="1412875"/>
            <a:ext cx="8240713" cy="458628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海洋的物理特性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（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）海水密度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1.0225-1.0285 t/m</a:t>
            </a:r>
            <a:r>
              <a:rPr kumimoji="0" lang="en-US" altLang="zh-CN" sz="2400" b="1" i="0" u="none" strike="noStrike" kern="1200" cap="none" spc="0" normalizeH="0" baseline="30000" noProof="0" dirty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3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,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为海平面空气密度的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800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倍。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accent4">
                  <a:lumMod val="60000"/>
                  <a:lumOff val="4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800" b="1" i="0" u="none" strike="noStrike" kern="1200" cap="none" spc="0" normalizeH="0" baseline="0" noProof="0" dirty="0">
              <a:ln>
                <a:noFill/>
              </a:ln>
              <a:solidFill>
                <a:schemeClr val="accent4">
                  <a:lumMod val="60000"/>
                  <a:lumOff val="4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（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）海水总质量等于大气质量的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267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倍。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accent4">
                  <a:lumMod val="60000"/>
                  <a:lumOff val="4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800" b="1" i="0" u="none" strike="noStrike" kern="1200" cap="none" spc="0" normalizeH="0" baseline="0" noProof="0" dirty="0">
              <a:ln>
                <a:noFill/>
              </a:ln>
              <a:solidFill>
                <a:schemeClr val="accent4">
                  <a:lumMod val="60000"/>
                  <a:lumOff val="4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（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3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）海水热容量等于大气的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3120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倍，海洋上层仅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3m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厚海水就具有与大气相当的热容量。海洋是大气最重要的热源。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accent4">
                  <a:lumMod val="60000"/>
                  <a:lumOff val="4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800" b="1" i="0" u="none" strike="noStrike" kern="1200" cap="none" spc="0" normalizeH="0" baseline="0" noProof="0" dirty="0">
              <a:ln>
                <a:noFill/>
              </a:ln>
              <a:solidFill>
                <a:schemeClr val="accent4">
                  <a:lumMod val="60000"/>
                  <a:lumOff val="4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（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4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）类似大气，海洋也成层状分布：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accent4">
                  <a:lumMod val="60000"/>
                  <a:lumOff val="4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 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海表约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100 m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，季节变化层。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accent4">
                  <a:lumMod val="60000"/>
                  <a:lumOff val="4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 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变化层以下厚约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1000-1500m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是过渡层，特性有跃变。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accent4">
                  <a:lumMod val="60000"/>
                  <a:lumOff val="4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 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过渡层以下为深层，海水特性变化很小。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accent4">
                  <a:lumMod val="60000"/>
                  <a:lumOff val="4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0482" name="Picture 7"/>
          <p:cNvPicPr>
            <a:picLocks noChangeAspect="1"/>
          </p:cNvPicPr>
          <p:nvPr/>
        </p:nvPicPr>
        <p:blipFill>
          <a:blip r:embed="rId1"/>
          <a:srcRect l="3859" t="9006" r="1965"/>
          <a:stretch>
            <a:fillRect/>
          </a:stretch>
        </p:blipFill>
        <p:spPr>
          <a:xfrm>
            <a:off x="688975" y="1484313"/>
            <a:ext cx="8102600" cy="53292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483" name="Text Box 2"/>
          <p:cNvSpPr txBox="1"/>
          <p:nvPr/>
        </p:nvSpPr>
        <p:spPr>
          <a:xfrm>
            <a:off x="1428750" y="214313"/>
            <a:ext cx="7500938" cy="646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 eaLnBrk="1" hangingPunct="1"/>
            <a:r>
              <a:rPr lang="en-US" altLang="zh-CN" sz="3600" b="1" dirty="0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§4.3  </a:t>
            </a:r>
            <a:r>
              <a:rPr lang="zh-CN" altLang="en-US" sz="3600" b="1" dirty="0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海洋环流</a:t>
            </a:r>
            <a:endParaRPr lang="zh-CN" altLang="en-US" sz="3600" b="1" dirty="0">
              <a:solidFill>
                <a:srgbClr val="FFFF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20484" name="图片 4"/>
          <p:cNvPicPr>
            <a:picLocks noChangeAspect="1"/>
          </p:cNvPicPr>
          <p:nvPr/>
        </p:nvPicPr>
        <p:blipFill>
          <a:blip r:embed="rId2"/>
          <a:srcRect l="12201" t="23399" r="11151" b="16402"/>
          <a:stretch>
            <a:fillRect/>
          </a:stretch>
        </p:blipFill>
        <p:spPr>
          <a:xfrm>
            <a:off x="306388" y="1557338"/>
            <a:ext cx="8802687" cy="51847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1506" name="Picture 2" descr="3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4000" y="571500"/>
            <a:ext cx="8890000" cy="61087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30" name="Text Box 2"/>
          <p:cNvSpPr txBox="1"/>
          <p:nvPr/>
        </p:nvSpPr>
        <p:spPr>
          <a:xfrm>
            <a:off x="1785938" y="1143000"/>
            <a:ext cx="5903912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36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全球海平面平均温度</a:t>
            </a:r>
            <a:r>
              <a:rPr lang="en-US" altLang="zh-CN" sz="36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(SST)</a:t>
            </a:r>
            <a:endParaRPr lang="en-US" altLang="zh-CN" sz="3600" b="1" dirty="0">
              <a:solidFill>
                <a:srgbClr val="0000F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22531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119313"/>
            <a:ext cx="9144000" cy="4738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2532" name="图片 4"/>
          <p:cNvPicPr>
            <a:picLocks noChangeAspect="1"/>
          </p:cNvPicPr>
          <p:nvPr/>
        </p:nvPicPr>
        <p:blipFill>
          <a:blip r:embed="rId2"/>
          <a:srcRect l="18500" t="27245" r="9050" b="16400"/>
          <a:stretch>
            <a:fillRect/>
          </a:stretch>
        </p:blipFill>
        <p:spPr>
          <a:xfrm>
            <a:off x="395288" y="1900238"/>
            <a:ext cx="8497887" cy="4957762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3554" name="图片 4"/>
          <p:cNvPicPr>
            <a:picLocks noChangeAspect="1"/>
          </p:cNvPicPr>
          <p:nvPr/>
        </p:nvPicPr>
        <p:blipFill>
          <a:blip r:embed="rId1"/>
          <a:srcRect l="21651" t="33202" r="5901" b="12199"/>
          <a:stretch>
            <a:fillRect/>
          </a:stretch>
        </p:blipFill>
        <p:spPr>
          <a:xfrm>
            <a:off x="484188" y="1989138"/>
            <a:ext cx="8535987" cy="4824412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78" name="Text Box 8"/>
          <p:cNvSpPr txBox="1"/>
          <p:nvPr/>
        </p:nvSpPr>
        <p:spPr>
          <a:xfrm>
            <a:off x="1143000" y="2000250"/>
            <a:ext cx="7072313" cy="32623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 eaLnBrk="1" hangingPunct="1">
              <a:spcAft>
                <a:spcPts val="3600"/>
              </a:spcAft>
            </a:pPr>
            <a:r>
              <a:rPr lang="zh-CN" altLang="en-US" sz="36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重  点</a:t>
            </a:r>
            <a:endParaRPr lang="zh-CN" altLang="en-US" sz="36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/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1. 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对流层、平流层，中间层的主要特征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/>
            <a:endParaRPr lang="en-US" altLang="zh-CN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/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/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2. 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大气总质量的估算及垂直分布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/>
            <a:endParaRPr lang="en-US" altLang="zh-CN" sz="28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4579" name="TextBox 2"/>
          <p:cNvSpPr txBox="1"/>
          <p:nvPr/>
        </p:nvSpPr>
        <p:spPr>
          <a:xfrm>
            <a:off x="1428750" y="142875"/>
            <a:ext cx="7715250" cy="646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 eaLnBrk="1" hangingPunct="1"/>
            <a:r>
              <a:rPr lang="zh-CN" altLang="en-US" sz="3600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第四章  大气的分层与结构</a:t>
            </a:r>
            <a:endParaRPr lang="zh-CN" altLang="en-US" sz="3600" dirty="0">
              <a:solidFill>
                <a:srgbClr val="FFFF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602" name="WordArt 3"/>
          <p:cNvSpPr>
            <a:spLocks noTextEdit="1"/>
          </p:cNvSpPr>
          <p:nvPr/>
        </p:nvSpPr>
        <p:spPr>
          <a:xfrm>
            <a:off x="3995738" y="1989138"/>
            <a:ext cx="1173162" cy="1008062"/>
          </a:xfrm>
          <a:prstGeom prst="rect">
            <a:avLst/>
          </a:prstGeom>
        </p:spPr>
        <p:txBody>
          <a:bodyPr wrap="none" fromWordArt="1">
            <a:prstTxWarp prst="textDeflate">
              <a:avLst>
                <a:gd name="adj" fmla="val 0"/>
              </a:avLst>
            </a:prstTxWarp>
            <a:normAutofit/>
          </a:bodyPr>
          <a:p>
            <a:pPr algn="ctr"/>
            <a:r>
              <a:rPr lang="zh-CN" altLang="en-US" sz="3600" b="1">
                <a:ln w="28575" cap="flat" cmpd="sng">
                  <a:solidFill>
                    <a:schemeClr val="bg1"/>
                  </a:solidFill>
                  <a:prstDash val="solid"/>
                  <a:headEnd type="none" w="med" len="med"/>
                  <a:tailEnd type="none" w="med" len="med"/>
                </a:ln>
                <a:solidFill>
                  <a:schemeClr val="folHlink">
                    <a:alpha val="76862"/>
                  </a:schemeClr>
                </a:solidFill>
                <a:effectLst>
                  <a:outerShdw dist="89803" dir="2699999" algn="ctr" rotWithShape="0">
                    <a:schemeClr val="tx2">
                      <a:alpha val="50000"/>
                    </a:schemeClr>
                  </a:outerShdw>
                </a:effectLst>
                <a:latin typeface="+mn-ea" charset="0"/>
                <a:ea typeface="+mn-ea" charset="0"/>
              </a:rPr>
              <a:t>完</a:t>
            </a:r>
            <a:endParaRPr lang="zh-CN" altLang="en-US" sz="3600" b="1">
              <a:ln w="28575" cap="flat" cmpd="sng">
                <a:solidFill>
                  <a:schemeClr val="bg1"/>
                </a:solidFill>
                <a:prstDash val="solid"/>
                <a:headEnd type="none" w="med" len="med"/>
                <a:tailEnd type="none" w="med" len="med"/>
              </a:ln>
              <a:solidFill>
                <a:schemeClr val="folHlink">
                  <a:alpha val="76862"/>
                </a:schemeClr>
              </a:solidFill>
              <a:effectLst>
                <a:outerShdw dist="89803" dir="2699999" algn="ctr" rotWithShape="0">
                  <a:schemeClr val="tx2">
                    <a:alpha val="50000"/>
                  </a:schemeClr>
                </a:outerShdw>
              </a:effectLst>
              <a:latin typeface="+mn-ea" charset="0"/>
              <a:ea typeface="+mn-ea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56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56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5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cdb2004132l">
  <a:themeElements>
    <a:clrScheme name="cdb2004132l 3">
      <a:dk1>
        <a:srgbClr val="1A1A70"/>
      </a:dk1>
      <a:lt1>
        <a:srgbClr val="FFFFFF"/>
      </a:lt1>
      <a:dk2>
        <a:srgbClr val="243D8C"/>
      </a:dk2>
      <a:lt2>
        <a:srgbClr val="DDDDDD"/>
      </a:lt2>
      <a:accent1>
        <a:srgbClr val="3E78C6"/>
      </a:accent1>
      <a:accent2>
        <a:srgbClr val="84A1E8"/>
      </a:accent2>
      <a:accent3>
        <a:srgbClr val="FFFFFF"/>
      </a:accent3>
      <a:accent4>
        <a:srgbClr val="14145F"/>
      </a:accent4>
      <a:accent5>
        <a:srgbClr val="AFBEDF"/>
      </a:accent5>
      <a:accent6>
        <a:srgbClr val="7791D2"/>
      </a:accent6>
      <a:hlink>
        <a:srgbClr val="90B54D"/>
      </a:hlink>
      <a:folHlink>
        <a:srgbClr val="F3C43F"/>
      </a:folHlink>
    </a:clrScheme>
    <a:fontScheme name="cdb2004132l">
      <a:majorFont>
        <a:latin typeface="楷体_GB2312"/>
        <a:ea typeface="楷体_GB2312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cdb2004132l 1">
        <a:dk1>
          <a:srgbClr val="1D4940"/>
        </a:dk1>
        <a:lt1>
          <a:srgbClr val="FFFFFF"/>
        </a:lt1>
        <a:dk2>
          <a:srgbClr val="3F716F"/>
        </a:dk2>
        <a:lt2>
          <a:srgbClr val="DDDDDD"/>
        </a:lt2>
        <a:accent1>
          <a:srgbClr val="669E86"/>
        </a:accent1>
        <a:accent2>
          <a:srgbClr val="A2CAB4"/>
        </a:accent2>
        <a:accent3>
          <a:srgbClr val="FFFFFF"/>
        </a:accent3>
        <a:accent4>
          <a:srgbClr val="173D35"/>
        </a:accent4>
        <a:accent5>
          <a:srgbClr val="B8CCC3"/>
        </a:accent5>
        <a:accent6>
          <a:srgbClr val="92B7A3"/>
        </a:accent6>
        <a:hlink>
          <a:srgbClr val="8CA35F"/>
        </a:hlink>
        <a:folHlink>
          <a:srgbClr val="C1B05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db2004132l 2">
        <a:dk1>
          <a:srgbClr val="2D4473"/>
        </a:dk1>
        <a:lt1>
          <a:srgbClr val="FFFFFF"/>
        </a:lt1>
        <a:dk2>
          <a:srgbClr val="2B6185"/>
        </a:dk2>
        <a:lt2>
          <a:srgbClr val="D3D9DD"/>
        </a:lt2>
        <a:accent1>
          <a:srgbClr val="638AA1"/>
        </a:accent1>
        <a:accent2>
          <a:srgbClr val="8CA8B5"/>
        </a:accent2>
        <a:accent3>
          <a:srgbClr val="FFFFFF"/>
        </a:accent3>
        <a:accent4>
          <a:srgbClr val="253961"/>
        </a:accent4>
        <a:accent5>
          <a:srgbClr val="B7C4CD"/>
        </a:accent5>
        <a:accent6>
          <a:srgbClr val="7E98A4"/>
        </a:accent6>
        <a:hlink>
          <a:srgbClr val="6FA2E7"/>
        </a:hlink>
        <a:folHlink>
          <a:srgbClr val="99C25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db2004132l 3">
        <a:dk1>
          <a:srgbClr val="1A1A70"/>
        </a:dk1>
        <a:lt1>
          <a:srgbClr val="FFFFFF"/>
        </a:lt1>
        <a:dk2>
          <a:srgbClr val="243D8C"/>
        </a:dk2>
        <a:lt2>
          <a:srgbClr val="DDDDDD"/>
        </a:lt2>
        <a:accent1>
          <a:srgbClr val="3E78C6"/>
        </a:accent1>
        <a:accent2>
          <a:srgbClr val="84A1E8"/>
        </a:accent2>
        <a:accent3>
          <a:srgbClr val="FFFFFF"/>
        </a:accent3>
        <a:accent4>
          <a:srgbClr val="14145F"/>
        </a:accent4>
        <a:accent5>
          <a:srgbClr val="AFBEDF"/>
        </a:accent5>
        <a:accent6>
          <a:srgbClr val="7791D2"/>
        </a:accent6>
        <a:hlink>
          <a:srgbClr val="90B54D"/>
        </a:hlink>
        <a:folHlink>
          <a:srgbClr val="F3C43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cdb2004132l">
  <a:themeElements>
    <a:clrScheme name="1_cdb2004132l 3">
      <a:dk1>
        <a:srgbClr val="1A1A70"/>
      </a:dk1>
      <a:lt1>
        <a:srgbClr val="FFFFFF"/>
      </a:lt1>
      <a:dk2>
        <a:srgbClr val="243D8C"/>
      </a:dk2>
      <a:lt2>
        <a:srgbClr val="DDDDDD"/>
      </a:lt2>
      <a:accent1>
        <a:srgbClr val="3E78C6"/>
      </a:accent1>
      <a:accent2>
        <a:srgbClr val="84A1E8"/>
      </a:accent2>
      <a:accent3>
        <a:srgbClr val="FFFFFF"/>
      </a:accent3>
      <a:accent4>
        <a:srgbClr val="14145F"/>
      </a:accent4>
      <a:accent5>
        <a:srgbClr val="AFBEDF"/>
      </a:accent5>
      <a:accent6>
        <a:srgbClr val="7791D2"/>
      </a:accent6>
      <a:hlink>
        <a:srgbClr val="90B54D"/>
      </a:hlink>
      <a:folHlink>
        <a:srgbClr val="F3C43F"/>
      </a:folHlink>
    </a:clrScheme>
    <a:fontScheme name="1_cdb2004132l">
      <a:majorFont>
        <a:latin typeface="楷体_GB2312"/>
        <a:ea typeface="楷体_GB2312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1_cdb2004132l 1">
        <a:dk1>
          <a:srgbClr val="1D4940"/>
        </a:dk1>
        <a:lt1>
          <a:srgbClr val="FFFFFF"/>
        </a:lt1>
        <a:dk2>
          <a:srgbClr val="3F716F"/>
        </a:dk2>
        <a:lt2>
          <a:srgbClr val="DDDDDD"/>
        </a:lt2>
        <a:accent1>
          <a:srgbClr val="669E86"/>
        </a:accent1>
        <a:accent2>
          <a:srgbClr val="A2CAB4"/>
        </a:accent2>
        <a:accent3>
          <a:srgbClr val="FFFFFF"/>
        </a:accent3>
        <a:accent4>
          <a:srgbClr val="173D35"/>
        </a:accent4>
        <a:accent5>
          <a:srgbClr val="B8CCC3"/>
        </a:accent5>
        <a:accent6>
          <a:srgbClr val="92B7A3"/>
        </a:accent6>
        <a:hlink>
          <a:srgbClr val="8CA35F"/>
        </a:hlink>
        <a:folHlink>
          <a:srgbClr val="C1B05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db2004132l 2">
        <a:dk1>
          <a:srgbClr val="2D4473"/>
        </a:dk1>
        <a:lt1>
          <a:srgbClr val="FFFFFF"/>
        </a:lt1>
        <a:dk2>
          <a:srgbClr val="2B6185"/>
        </a:dk2>
        <a:lt2>
          <a:srgbClr val="D3D9DD"/>
        </a:lt2>
        <a:accent1>
          <a:srgbClr val="638AA1"/>
        </a:accent1>
        <a:accent2>
          <a:srgbClr val="8CA8B5"/>
        </a:accent2>
        <a:accent3>
          <a:srgbClr val="FFFFFF"/>
        </a:accent3>
        <a:accent4>
          <a:srgbClr val="253961"/>
        </a:accent4>
        <a:accent5>
          <a:srgbClr val="B7C4CD"/>
        </a:accent5>
        <a:accent6>
          <a:srgbClr val="7E98A4"/>
        </a:accent6>
        <a:hlink>
          <a:srgbClr val="6FA2E7"/>
        </a:hlink>
        <a:folHlink>
          <a:srgbClr val="99C25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db2004132l 3">
        <a:dk1>
          <a:srgbClr val="1A1A70"/>
        </a:dk1>
        <a:lt1>
          <a:srgbClr val="FFFFFF"/>
        </a:lt1>
        <a:dk2>
          <a:srgbClr val="243D8C"/>
        </a:dk2>
        <a:lt2>
          <a:srgbClr val="DDDDDD"/>
        </a:lt2>
        <a:accent1>
          <a:srgbClr val="3E78C6"/>
        </a:accent1>
        <a:accent2>
          <a:srgbClr val="84A1E8"/>
        </a:accent2>
        <a:accent3>
          <a:srgbClr val="FFFFFF"/>
        </a:accent3>
        <a:accent4>
          <a:srgbClr val="14145F"/>
        </a:accent4>
        <a:accent5>
          <a:srgbClr val="AFBEDF"/>
        </a:accent5>
        <a:accent6>
          <a:srgbClr val="7791D2"/>
        </a:accent6>
        <a:hlink>
          <a:srgbClr val="90B54D"/>
        </a:hlink>
        <a:folHlink>
          <a:srgbClr val="F3C43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cdb2004132l</Template>
  <TotalTime>0</TotalTime>
  <Words>1685</Words>
  <Application>WPS 演示</Application>
  <PresentationFormat>全屏显示(4:3)</PresentationFormat>
  <Paragraphs>147</Paragraphs>
  <Slides>23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8</vt:i4>
      </vt:variant>
      <vt:variant>
        <vt:lpstr>幻灯片标题</vt:lpstr>
      </vt:variant>
      <vt:variant>
        <vt:i4>23</vt:i4>
      </vt:variant>
    </vt:vector>
  </HeadingPairs>
  <TitlesOfParts>
    <vt:vector size="47" baseType="lpstr">
      <vt:lpstr>Arial</vt:lpstr>
      <vt:lpstr>宋体</vt:lpstr>
      <vt:lpstr>Wingdings</vt:lpstr>
      <vt:lpstr>楷体_GB2312</vt:lpstr>
      <vt:lpstr>新宋体</vt:lpstr>
      <vt:lpstr>Verdana</vt:lpstr>
      <vt:lpstr>Calibri</vt:lpstr>
      <vt:lpstr>黑体</vt:lpstr>
      <vt:lpstr>Times New Roman</vt:lpstr>
      <vt:lpstr>KSOF3FB35F8F</vt:lpstr>
      <vt:lpstr>Segoe Print</vt:lpstr>
      <vt:lpstr>微软雅黑</vt:lpstr>
      <vt:lpstr>+mn-ea</vt:lpstr>
      <vt:lpstr>Arial Unicode MS</vt:lpstr>
      <vt:lpstr>cdb2004132l</vt:lpstr>
      <vt:lpstr>1_cdb2004132l</vt:lpstr>
      <vt:lpstr>Photoshop.Image.6</vt:lpstr>
      <vt:lpstr>Photoshop.Image.6</vt:lpstr>
      <vt:lpstr>Photoshop.Image.6</vt:lpstr>
      <vt:lpstr>Equation.3</vt:lpstr>
      <vt:lpstr>Equation.3</vt:lpstr>
      <vt:lpstr>Equation.3</vt:lpstr>
      <vt:lpstr>Equation.3</vt:lpstr>
      <vt:lpstr>Equation.3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气象统计分析与预报方法 复习概要</dc:title>
  <dc:creator>User</dc:creator>
  <cp:lastModifiedBy>赵元丞</cp:lastModifiedBy>
  <cp:revision>449</cp:revision>
  <dcterms:created xsi:type="dcterms:W3CDTF">2008-12-05T07:55:53Z</dcterms:created>
  <dcterms:modified xsi:type="dcterms:W3CDTF">2026-10-10T00:50:46Z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2052-12.1.0.28802</vt:lpwstr>
  </property>
  <property fmtid="{D5CDD505-2E9C-101B-9397-08002B2CF9AE}" pid="3" name="ICV">
    <vt:lpwstr>1353D57178C343DFBDD09B2B1B82B775_13</vt:lpwstr>
  </property>
</Properties>
</file>