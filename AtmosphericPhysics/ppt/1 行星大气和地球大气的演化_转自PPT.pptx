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3" r:id="rId3"/>
  </p:sldMasterIdLst>
  <p:notesMasterIdLst>
    <p:notesMasterId r:id="rId5"/>
  </p:notesMasterIdLst>
  <p:handoutMasterIdLst>
    <p:handoutMasterId r:id="rId33"/>
  </p:handoutMasterIdLst>
  <p:sldIdLst>
    <p:sldId id="849" r:id="rId4"/>
    <p:sldId id="943" r:id="rId6"/>
    <p:sldId id="944" r:id="rId7"/>
    <p:sldId id="945" r:id="rId8"/>
    <p:sldId id="948" r:id="rId9"/>
    <p:sldId id="946" r:id="rId10"/>
    <p:sldId id="947" r:id="rId11"/>
    <p:sldId id="949" r:id="rId12"/>
    <p:sldId id="950" r:id="rId13"/>
    <p:sldId id="951" r:id="rId14"/>
    <p:sldId id="952" r:id="rId15"/>
    <p:sldId id="964" r:id="rId16"/>
    <p:sldId id="962" r:id="rId17"/>
    <p:sldId id="963" r:id="rId18"/>
    <p:sldId id="955" r:id="rId19"/>
    <p:sldId id="976" r:id="rId20"/>
    <p:sldId id="960" r:id="rId21"/>
    <p:sldId id="965" r:id="rId22"/>
    <p:sldId id="966" r:id="rId23"/>
    <p:sldId id="870" r:id="rId24"/>
    <p:sldId id="877" r:id="rId25"/>
    <p:sldId id="260" r:id="rId26"/>
    <p:sldId id="975" r:id="rId27"/>
    <p:sldId id="871" r:id="rId28"/>
    <p:sldId id="970" r:id="rId29"/>
    <p:sldId id="971" r:id="rId30"/>
    <p:sldId id="972" r:id="rId31"/>
    <p:sldId id="974" r:id="rId3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0066"/>
    <a:srgbClr val="000099"/>
    <a:srgbClr val="FF0000"/>
    <a:srgbClr val="000066"/>
    <a:srgbClr val="0000CC"/>
    <a:srgbClr val="33CC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870"/>
    <p:restoredTop sz="90143"/>
  </p:normalViewPr>
  <p:slideViewPr>
    <p:cSldViewPr showGuides="1">
      <p:cViewPr varScale="1">
        <p:scale>
          <a:sx n="88" d="100"/>
          <a:sy n="88" d="100"/>
        </p:scale>
        <p:origin x="-432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9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9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9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9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b="1" dirty="0"/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类地行星有固体表面，类木行星没有固体表面。</a:t>
            </a:r>
            <a:endParaRPr lang="zh-CN" altLang="en-US" dirty="0"/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 noRot="1" noTextEdit="1"/>
          </p:cNvSpPr>
          <p:nvPr>
            <p:ph type="sldImg"/>
          </p:nvPr>
        </p:nvSpPr>
        <p:spPr>
          <a:ln>
            <a:noFill/>
          </a:ln>
        </p:spPr>
      </p:sp>
      <p:sp>
        <p:nvSpPr>
          <p:cNvPr id="53251" name="Rectangle 3"/>
          <p:cNvSpPr>
            <a:spLocks noGrp="1" noRot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现在大气发展的后期，地球温度降低，大气中的二氧化碳和水汽就可能结合到岩石中去。这种使很大一部分二氧化碳被锢禁到岩石中去的过程，是现在大气形成后期大气中二氧化碳含量减少的原因。再则，一般温度愈低，水中溶解的二氧化碳量就愈多，这又是现在大气形成后期二氧化碳含量比前期大为减少的原因之一。因为现在大气的温度比早期为低。</a:t>
            </a:r>
            <a:r>
              <a:rPr lang="en-US" altLang="zh-CN" dirty="0"/>
              <a:t> 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0" y="476250"/>
            <a:ext cx="9009063" cy="1052513"/>
            <a:chOff x="0" y="1536"/>
            <a:chExt cx="5675" cy="663"/>
          </a:xfrm>
        </p:grpSpPr>
        <p:grpSp>
          <p:nvGrpSpPr>
            <p:cNvPr id="3080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081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302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02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solidFill>
                  <a:schemeClr val="bg2"/>
                </a:solidFill>
                <a:latin typeface="Tahoma" panose="020B0604030504040204" pitchFamily="34" charset="0"/>
              </a:rPr>
            </a:fld>
            <a:endParaRPr lang="en-US" altLang="zh-CN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9697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9697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12553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9215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128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400" b="0">
                <a:solidFill>
                  <a:srgbClr val="0000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B56D08-5479-4452-BC2E-9B5B2D86FBE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sz="1400" b="0">
                <a:solidFill>
                  <a:srgbClr val="0000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1" Type="http://schemas.openxmlformats.org/officeDocument/2006/relationships/slide" Target="slide2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14363" y="979488"/>
            <a:ext cx="7918450" cy="5257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大气物理学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王 治 厅</a:t>
            </a:r>
            <a:endParaRPr kumimoji="0" lang="en-US" altLang="zh-CN" sz="4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wangzt@lzu.edu.cn</a:t>
            </a:r>
            <a:endParaRPr kumimoji="0" lang="en-US" altLang="zh-CN" sz="4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兰州大学大气科学学院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7411" name="TextBox 2"/>
          <p:cNvSpPr txBox="1"/>
          <p:nvPr/>
        </p:nvSpPr>
        <p:spPr>
          <a:xfrm>
            <a:off x="323850" y="395288"/>
            <a:ext cx="38163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u="sng" dirty="0">
                <a:solidFill>
                  <a:srgbClr val="FF6600"/>
                </a:solidFill>
                <a:latin typeface="Arial" panose="020B0604020202020204" pitchFamily="34" charset="0"/>
              </a:rPr>
              <a:t>大气科学学院本科课程</a:t>
            </a:r>
            <a:endParaRPr lang="zh-CN" altLang="en-US" u="sng" dirty="0">
              <a:solidFill>
                <a:srgbClr val="FF66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rgbClr val="FFFF00"/>
                </a:solidFill>
              </a:rPr>
              <a:t>本课程基本内容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539750" y="1412875"/>
            <a:ext cx="8281988" cy="51117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FF00"/>
                </a:solidFill>
              </a:rPr>
              <a:t>大气概论</a:t>
            </a:r>
            <a:endParaRPr lang="en-US" altLang="zh-CN" b="1" dirty="0">
              <a:solidFill>
                <a:srgbClr val="FFFF0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</a:rPr>
              <a:t>第一章：行星大气和地球大气的演化</a:t>
            </a:r>
            <a:endParaRPr lang="en-US" altLang="zh-CN" b="1" dirty="0">
              <a:solidFill>
                <a:schemeClr val="bg1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</a:rPr>
              <a:t>第二章：地球大气的成分及分布</a:t>
            </a:r>
            <a:endParaRPr lang="en-US" altLang="zh-CN" b="1" dirty="0">
              <a:solidFill>
                <a:schemeClr val="bg1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</a:rPr>
              <a:t>第三章：大气压力</a:t>
            </a:r>
            <a:endParaRPr lang="en-US" altLang="zh-CN" b="1" dirty="0">
              <a:solidFill>
                <a:schemeClr val="bg1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</a:rPr>
              <a:t>第四章：大气的分层和结构</a:t>
            </a:r>
            <a:endParaRPr lang="en-US" altLang="zh-CN" b="1" dirty="0">
              <a:solidFill>
                <a:schemeClr val="bg1"/>
              </a:solidFill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FF00"/>
                </a:solidFill>
              </a:rPr>
              <a:t>大气物理基础</a:t>
            </a:r>
            <a:endParaRPr lang="zh-CN" altLang="en-US" b="1" dirty="0">
              <a:solidFill>
                <a:srgbClr val="FFFF0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</a:rPr>
              <a:t>第五章：地面和大气中的辐射过程</a:t>
            </a:r>
            <a:endParaRPr lang="zh-CN" altLang="en-US" b="1" dirty="0">
              <a:solidFill>
                <a:schemeClr val="bg1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</a:rPr>
              <a:t>第六章：大气热力学基础</a:t>
            </a:r>
            <a:endParaRPr lang="zh-CN" altLang="en-US" b="1" dirty="0">
              <a:solidFill>
                <a:schemeClr val="bg1"/>
              </a:solidFill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endParaRPr lang="zh-CN" altLang="en-US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Rectangle 5"/>
          <p:cNvSpPr/>
          <p:nvPr/>
        </p:nvSpPr>
        <p:spPr>
          <a:xfrm>
            <a:off x="3348038" y="404813"/>
            <a:ext cx="2438400" cy="7921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>
              <a:lnSpc>
                <a:spcPct val="150000"/>
              </a:lnSpc>
            </a:pPr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考核方式</a:t>
            </a:r>
            <a:endParaRPr lang="en-US" altLang="zh-CN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59" name="Rectangle 2"/>
          <p:cNvSpPr txBox="1"/>
          <p:nvPr/>
        </p:nvSpPr>
        <p:spPr>
          <a:xfrm>
            <a:off x="755650" y="1484313"/>
            <a:ext cx="7848600" cy="39068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FFFF00"/>
                </a:solidFill>
                <a:latin typeface="Tahoma" panose="020B0604030504040204" pitchFamily="34" charset="0"/>
              </a:rPr>
              <a:t>考试时间</a:t>
            </a:r>
            <a:r>
              <a:rPr lang="zh-CN" altLang="en-US" sz="3200" dirty="0">
                <a:solidFill>
                  <a:schemeClr val="bg1"/>
                </a:solidFill>
                <a:latin typeface="Tahoma" panose="020B0604030504040204" pitchFamily="34" charset="0"/>
              </a:rPr>
              <a:t>：第</a:t>
            </a:r>
            <a:r>
              <a:rPr lang="en-US" altLang="zh-CN" sz="3200" dirty="0">
                <a:solidFill>
                  <a:schemeClr val="bg1"/>
                </a:solidFill>
                <a:latin typeface="Tahoma" panose="020B0604030504040204" pitchFamily="34" charset="0"/>
              </a:rPr>
              <a:t>19~20</a:t>
            </a:r>
            <a:r>
              <a:rPr lang="zh-CN" altLang="en-US" sz="3200" dirty="0">
                <a:solidFill>
                  <a:schemeClr val="bg1"/>
                </a:solidFill>
                <a:latin typeface="Tahoma" panose="020B0604030504040204" pitchFamily="34" charset="0"/>
              </a:rPr>
              <a:t>周</a:t>
            </a:r>
            <a:endParaRPr lang="en-US" altLang="zh-CN" sz="32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endParaRPr lang="zh-CN" altLang="en-US" sz="3200" dirty="0">
              <a:latin typeface="Tahoma" panose="020B0604030504040204" pitchFamily="34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FFFF00"/>
                </a:solidFill>
                <a:latin typeface="Tahoma" panose="020B0604030504040204" pitchFamily="34" charset="0"/>
              </a:rPr>
              <a:t>考试形式</a:t>
            </a:r>
            <a:r>
              <a:rPr lang="zh-CN" altLang="en-US" sz="3200" dirty="0">
                <a:solidFill>
                  <a:schemeClr val="bg1"/>
                </a:solidFill>
                <a:latin typeface="Tahoma" panose="020B0604030504040204" pitchFamily="34" charset="0"/>
              </a:rPr>
              <a:t>：闭卷</a:t>
            </a:r>
            <a:endParaRPr lang="en-US" altLang="zh-CN" sz="32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endParaRPr lang="zh-CN" altLang="en-US" sz="3200" dirty="0">
              <a:latin typeface="Tahoma" panose="020B0604030504040204" pitchFamily="34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FFFF00"/>
                </a:solidFill>
                <a:latin typeface="Tahoma" panose="020B0604030504040204" pitchFamily="34" charset="0"/>
              </a:rPr>
              <a:t>分值比例</a:t>
            </a:r>
            <a:r>
              <a:rPr lang="zh-CN" altLang="en-US" sz="3200" dirty="0">
                <a:solidFill>
                  <a:schemeClr val="bg1"/>
                </a:solidFill>
                <a:latin typeface="Tahoma" panose="020B0604030504040204" pitchFamily="34" charset="0"/>
              </a:rPr>
              <a:t>：</a:t>
            </a:r>
            <a:endParaRPr lang="zh-CN" altLang="en-US" sz="3200" dirty="0">
              <a:latin typeface="Tahoma" panose="020B0604030504040204" pitchFamily="34" charset="0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2800" dirty="0">
                <a:solidFill>
                  <a:schemeClr val="bg1"/>
                </a:solidFill>
                <a:latin typeface="Tahoma" panose="020B0604030504040204" pitchFamily="34" charset="0"/>
              </a:rPr>
              <a:t>平时作业、小测试及出勤，占总成绩</a:t>
            </a:r>
            <a:r>
              <a:rPr lang="en-US" altLang="zh-CN" sz="2800" dirty="0">
                <a:solidFill>
                  <a:schemeClr val="bg1"/>
                </a:solidFill>
                <a:latin typeface="Tahoma" panose="020B0604030504040204" pitchFamily="34" charset="0"/>
              </a:rPr>
              <a:t>30%</a:t>
            </a:r>
            <a:endParaRPr lang="zh-CN" altLang="en-US" sz="28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2800" dirty="0">
                <a:solidFill>
                  <a:schemeClr val="bg1"/>
                </a:solidFill>
                <a:latin typeface="Tahoma" panose="020B0604030504040204" pitchFamily="34" charset="0"/>
              </a:rPr>
              <a:t>期末闭卷笔试，占总成绩</a:t>
            </a:r>
            <a:r>
              <a:rPr lang="en-US" altLang="zh-CN" sz="2800" dirty="0">
                <a:solidFill>
                  <a:schemeClr val="bg1"/>
                </a:solidFill>
                <a:latin typeface="Tahoma" panose="020B0604030504040204" pitchFamily="34" charset="0"/>
              </a:rPr>
              <a:t>70%</a:t>
            </a:r>
            <a:r>
              <a:rPr lang="zh-CN" altLang="en-US" sz="2800" dirty="0">
                <a:solidFill>
                  <a:schemeClr val="bg1"/>
                </a:solidFill>
                <a:latin typeface="Tahoma" panose="020B0604030504040204" pitchFamily="34" charset="0"/>
              </a:rPr>
              <a:t>；</a:t>
            </a:r>
            <a:endParaRPr lang="zh-CN" altLang="en-US" sz="28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50000"/>
              <a:buNone/>
            </a:pPr>
            <a:endParaRPr lang="zh-CN" altLang="en-US" sz="2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b="1" dirty="0">
                <a:solidFill>
                  <a:srgbClr val="FFFF00"/>
                </a:solidFill>
              </a:rPr>
              <a:t>要求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514350" indent="-514350">
              <a:buFont typeface="Garamond" pitchFamily="18" charset="0"/>
              <a:buAutoNum type="arabicPeriod"/>
            </a:pPr>
            <a:endParaRPr lang="en-US" altLang="zh-CN" b="1" dirty="0">
              <a:solidFill>
                <a:schemeClr val="bg1"/>
              </a:solidFill>
            </a:endParaRPr>
          </a:p>
          <a:p>
            <a:pPr marL="514350" indent="-514350">
              <a:buFont typeface="Garamond" pitchFamily="18" charset="0"/>
              <a:buAutoNum type="arabicPeriod"/>
            </a:pPr>
            <a:r>
              <a:rPr lang="zh-CN" altLang="en-US" b="1" dirty="0">
                <a:solidFill>
                  <a:schemeClr val="bg1"/>
                </a:solidFill>
              </a:rPr>
              <a:t>上课关闭手机；</a:t>
            </a:r>
            <a:endParaRPr lang="en-US" altLang="zh-CN" b="1" dirty="0">
              <a:solidFill>
                <a:schemeClr val="bg1"/>
              </a:solidFill>
            </a:endParaRPr>
          </a:p>
          <a:p>
            <a:pPr marL="514350" indent="-514350">
              <a:buFont typeface="Garamond" pitchFamily="18" charset="0"/>
              <a:buAutoNum type="arabicPeriod"/>
            </a:pPr>
            <a:r>
              <a:rPr lang="zh-CN" altLang="en-US" b="1" dirty="0">
                <a:solidFill>
                  <a:schemeClr val="bg1"/>
                </a:solidFill>
              </a:rPr>
              <a:t>按时交作业</a:t>
            </a:r>
            <a:endParaRPr lang="en-US" altLang="zh-C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b="1" dirty="0">
                <a:solidFill>
                  <a:srgbClr val="FFFF00"/>
                </a:solidFill>
              </a:rPr>
              <a:t>主要参考书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358775" indent="-358775">
              <a:lnSpc>
                <a:spcPct val="150000"/>
              </a:lnSpc>
              <a:buClr>
                <a:schemeClr val="folHlink"/>
              </a:buClr>
              <a:buSzPct val="6000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华莱士、霍布斯著，王鹏飞等译，大气科学概观，上海科学技术出版社，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1981.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8775" indent="-358775">
              <a:lnSpc>
                <a:spcPct val="150000"/>
              </a:lnSpc>
              <a:buClr>
                <a:schemeClr val="folHlink"/>
              </a:buClr>
              <a:buSzPct val="6000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徐绍祖主编：大气物理学基础，气象出版社，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1993.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8775" indent="-358775">
              <a:lnSpc>
                <a:spcPct val="150000"/>
              </a:lnSpc>
              <a:buClr>
                <a:schemeClr val="folHlink"/>
              </a:buClr>
              <a:buSzPct val="6000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徐玉貌、刘红年、徐桂玉编著：大气科学概论，南京大学出版社，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2000.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 noRot="1"/>
          </p:cNvSpPr>
          <p:nvPr>
            <p:ph type="title"/>
          </p:nvPr>
        </p:nvSpPr>
        <p:spPr>
          <a:xfrm>
            <a:off x="760413" y="765175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rgbClr val="FFFF00"/>
                </a:solidFill>
              </a:rPr>
              <a:t>何谓“大气物理”？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22531" name="Text Box 4"/>
          <p:cNvSpPr txBox="1"/>
          <p:nvPr/>
        </p:nvSpPr>
        <p:spPr>
          <a:xfrm>
            <a:off x="1323975" y="2492375"/>
            <a:ext cx="7188200" cy="22129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FF00"/>
                </a:solidFill>
                <a:latin typeface="Arial" panose="020B0604020202020204" pitchFamily="34" charset="0"/>
              </a:rPr>
              <a:t>大气物理</a:t>
            </a:r>
            <a:endParaRPr lang="zh-CN" altLang="en-US" sz="32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FF00"/>
                </a:solidFill>
                <a:latin typeface="Arial" panose="020B0604020202020204" pitchFamily="34" charset="0"/>
              </a:rPr>
              <a:t>是研究大气的</a:t>
            </a:r>
            <a:r>
              <a:rPr lang="zh-CN" altLang="en-US" sz="3200" u="sng" dirty="0">
                <a:solidFill>
                  <a:srgbClr val="FF0000"/>
                </a:solidFill>
                <a:latin typeface="Arial" panose="020B0604020202020204" pitchFamily="34" charset="0"/>
              </a:rPr>
              <a:t>物理现象</a:t>
            </a:r>
            <a:r>
              <a:rPr lang="zh-CN" altLang="en-US" sz="3200" dirty="0">
                <a:solidFill>
                  <a:srgbClr val="FFFF00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3200" u="sng" dirty="0">
                <a:solidFill>
                  <a:srgbClr val="FF0000"/>
                </a:solidFill>
                <a:latin typeface="Arial" panose="020B0604020202020204" pitchFamily="34" charset="0"/>
              </a:rPr>
              <a:t>物理过程</a:t>
            </a:r>
            <a:endParaRPr lang="zh-CN" altLang="en-US" sz="3200" u="sng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FF00"/>
                </a:solidFill>
                <a:latin typeface="Arial" panose="020B0604020202020204" pitchFamily="34" charset="0"/>
              </a:rPr>
              <a:t>及其</a:t>
            </a:r>
            <a:r>
              <a:rPr lang="zh-CN" altLang="en-US" sz="3200" u="sng" dirty="0">
                <a:solidFill>
                  <a:srgbClr val="FF0000"/>
                </a:solidFill>
                <a:latin typeface="Arial" panose="020B0604020202020204" pitchFamily="34" charset="0"/>
              </a:rPr>
              <a:t>演变规律</a:t>
            </a:r>
            <a:r>
              <a:rPr lang="zh-CN" altLang="en-US" sz="3200" dirty="0">
                <a:solidFill>
                  <a:srgbClr val="FFFF00"/>
                </a:solidFill>
                <a:latin typeface="Arial" panose="020B0604020202020204" pitchFamily="34" charset="0"/>
              </a:rPr>
              <a:t>的大气科学的分支学科；</a:t>
            </a:r>
            <a:endParaRPr lang="en-US" altLang="zh-CN" sz="3200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 noRot="1"/>
          </p:cNvSpPr>
          <p:nvPr>
            <p:ph type="title"/>
          </p:nvPr>
        </p:nvSpPr>
        <p:spPr>
          <a:xfrm>
            <a:off x="539750" y="21336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solidFill>
                  <a:srgbClr val="FFFF00"/>
                </a:solidFill>
              </a:rPr>
              <a:t>《</a:t>
            </a:r>
            <a:r>
              <a:rPr lang="zh-CN" altLang="en-US" b="1" dirty="0">
                <a:solidFill>
                  <a:srgbClr val="FFFF00"/>
                </a:solidFill>
              </a:rPr>
              <a:t>大气物理学</a:t>
            </a:r>
            <a:r>
              <a:rPr lang="en-US" altLang="zh-CN" b="1" dirty="0">
                <a:solidFill>
                  <a:srgbClr val="FFFF00"/>
                </a:solidFill>
              </a:rPr>
              <a:t>》</a:t>
            </a:r>
            <a:r>
              <a:rPr lang="zh-CN" altLang="en-US" b="1" dirty="0">
                <a:solidFill>
                  <a:srgbClr val="FFFF00"/>
                </a:solidFill>
              </a:rPr>
              <a:t>主要研究内容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Picture 2" descr="海市辰楼北极，山是假的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Rectangle 3"/>
          <p:cNvSpPr>
            <a:spLocks noGrp="1" noRot="1"/>
          </p:cNvSpPr>
          <p:nvPr>
            <p:ph type="title"/>
          </p:nvPr>
        </p:nvSpPr>
        <p:spPr>
          <a:xfrm>
            <a:off x="762000" y="44196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北极的海市蜃楼</a:t>
            </a:r>
            <a:endParaRPr lang="zh-CN" altLang="en-US" dirty="0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365125" y="6064250"/>
            <a:ext cx="28352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前方的山是假的</a:t>
            </a:r>
            <a:endParaRPr kumimoji="1" lang="zh-CN" altLang="en-US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199" name="Picture 7" descr="http://imgsrc.baidu.com/baike/pic/item/906289dd4aa5c1795882dd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3" y="142875"/>
            <a:ext cx="8643937" cy="6537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38" y="765175"/>
            <a:ext cx="8589962" cy="5184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2" name="Picture 2" descr="彩虹杭州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3" name="Rectangle 3"/>
          <p:cNvSpPr>
            <a:spLocks noGrp="1" noRot="1"/>
          </p:cNvSpPr>
          <p:nvPr>
            <p:ph type="title"/>
          </p:nvPr>
        </p:nvSpPr>
        <p:spPr>
          <a:xfrm>
            <a:off x="7315200" y="274638"/>
            <a:ext cx="1166813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6000" dirty="0">
                <a:ea typeface="华文新魏" panose="02010800040101010101" pitchFamily="2" charset="-122"/>
              </a:rPr>
              <a:t>虹</a:t>
            </a:r>
            <a:endParaRPr lang="zh-CN" altLang="en-US" sz="6000" dirty="0">
              <a:ea typeface="华文新魏" panose="02010800040101010101" pitchFamily="2" charset="-122"/>
            </a:endParaRPr>
          </a:p>
        </p:txBody>
      </p:sp>
      <p:pic>
        <p:nvPicPr>
          <p:cNvPr id="9222" name="Picture 6" descr="http://pic3.nipic.com/20090609/135053_083631043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14438"/>
            <a:ext cx="8572500" cy="53578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Rot="1"/>
          </p:cNvSpPr>
          <p:nvPr>
            <p:ph type="title"/>
          </p:nvPr>
        </p:nvSpPr>
        <p:spPr>
          <a:xfrm>
            <a:off x="304800" y="381000"/>
            <a:ext cx="4038600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极光</a:t>
            </a:r>
            <a:r>
              <a:rPr lang="en-US" altLang="zh-CN" dirty="0"/>
              <a:t>6</a:t>
            </a:r>
            <a:endParaRPr lang="en-US" altLang="zh-CN" dirty="0"/>
          </a:p>
        </p:txBody>
      </p:sp>
      <p:pic>
        <p:nvPicPr>
          <p:cNvPr id="26627" name="Picture 3" descr="北极光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8" name="WordArt 4"/>
          <p:cNvSpPr>
            <a:spLocks noTextEdit="1"/>
          </p:cNvSpPr>
          <p:nvPr/>
        </p:nvSpPr>
        <p:spPr>
          <a:xfrm>
            <a:off x="533400" y="533400"/>
            <a:ext cx="1143000" cy="5619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4400" b="1">
                <a:ln w="1905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00"/>
                </a:solidFill>
                <a:effectLst>
                  <a:outerShdw dist="35921" dir="2699999" algn="ctr" rotWithShape="0">
                    <a:srgbClr val="990000">
                      <a:alpha val="7499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极光</a:t>
            </a:r>
            <a:endParaRPr lang="zh-CN" altLang="en-US" sz="4400" b="1"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00"/>
              </a:solidFill>
              <a:effectLst>
                <a:outerShdw dist="35921" dir="2699999" algn="ctr" rotWithShape="0">
                  <a:srgbClr val="990000">
                    <a:alpha val="7499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367" name="Picture 7" descr="http://upload.wikimedia.org/wikipedia/commons/thumb/9/9a/Aurora_australis_20050911.jpg/300px-Aurora_australis_200509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3" y="214313"/>
            <a:ext cx="6429375" cy="6429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50" name="Picture 2" descr="冰雹050531北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1" name="Rectangle 3"/>
          <p:cNvSpPr>
            <a:spLocks noGrp="1" noRot="1"/>
          </p:cNvSpPr>
          <p:nvPr>
            <p:ph type="title"/>
          </p:nvPr>
        </p:nvSpPr>
        <p:spPr>
          <a:xfrm>
            <a:off x="107950" y="295275"/>
            <a:ext cx="64008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冰雹，北京，</a:t>
            </a:r>
            <a:r>
              <a:rPr lang="en-US" altLang="zh-CN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20050531</a:t>
            </a:r>
            <a:endParaRPr lang="en-US" altLang="zh-CN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414" name="Picture 6" descr="http://a0.att.hudong.com/48/59/193000009326391306395909506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000125"/>
            <a:ext cx="7510462" cy="5643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75" y="2065338"/>
            <a:ext cx="6819900" cy="4394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838" y="3284538"/>
            <a:ext cx="5359400" cy="35734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Rot="1"/>
          </p:cNvSpPr>
          <p:nvPr>
            <p:ph type="title"/>
          </p:nvPr>
        </p:nvSpPr>
        <p:spPr>
          <a:xfrm>
            <a:off x="250825" y="21336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rgbClr val="FFFF00"/>
                </a:solidFill>
              </a:rPr>
              <a:t>。。。。。。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b="1" dirty="0">
                <a:solidFill>
                  <a:srgbClr val="FFFF00"/>
                </a:solidFill>
              </a:rPr>
              <a:t>包括</a:t>
            </a:r>
            <a:r>
              <a:rPr lang="en-US" altLang="zh-CN" b="1" dirty="0">
                <a:solidFill>
                  <a:srgbClr val="FFFF00"/>
                </a:solidFill>
              </a:rPr>
              <a:t>的学科分支</a:t>
            </a:r>
            <a:endParaRPr lang="en-US" altLang="zh-CN" b="1" dirty="0">
              <a:solidFill>
                <a:srgbClr val="FFFF00"/>
              </a:solidFill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b="1" dirty="0">
                <a:solidFill>
                  <a:schemeClr val="bg1"/>
                </a:solidFill>
              </a:rPr>
              <a:t>大气声学、大气光学，大气电学；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大气热力学</a:t>
            </a:r>
            <a:r>
              <a:rPr lang="en-US" altLang="zh-CN" b="1" dirty="0">
                <a:solidFill>
                  <a:schemeClr val="bg1"/>
                </a:solidFill>
              </a:rPr>
              <a:t>；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大气辐射学；</a:t>
            </a:r>
            <a:endParaRPr lang="en-US" altLang="zh-CN" b="1" dirty="0">
              <a:solidFill>
                <a:schemeClr val="bg1"/>
              </a:solidFill>
            </a:endParaRP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云和降水物理学；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大气边界层物理学；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平流层和中层大气物理学</a:t>
            </a:r>
            <a:endParaRPr lang="en-US" altLang="zh-CN" b="1" dirty="0">
              <a:solidFill>
                <a:schemeClr val="bg1"/>
              </a:solidFill>
            </a:endParaRP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endParaRPr lang="en-US" altLang="zh-C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idx="1"/>
          </p:nvPr>
        </p:nvSpPr>
        <p:spPr>
          <a:xfrm>
            <a:off x="428625" y="384175"/>
            <a:ext cx="8243888" cy="65008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0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大气物理学和大气科学其他分支有紧密的联系</a:t>
            </a:r>
            <a:endParaRPr lang="en-US" altLang="zh-CN" sz="30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bg1"/>
                </a:solidFill>
              </a:rPr>
              <a:t>大气物理学和天气学（各种天气系统）关系密切；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bg1"/>
                </a:solidFill>
              </a:rPr>
              <a:t>大气物理学的内容是气候学科研究的基础；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bg1"/>
                </a:solidFill>
              </a:rPr>
              <a:t>大气物理学是大气探测和应用气象学的基础，而这两个学科的发展，又丰富了大气物理学的内容。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 noRot="1"/>
          </p:cNvSpPr>
          <p:nvPr>
            <p:ph type="title"/>
          </p:nvPr>
        </p:nvSpPr>
        <p:spPr>
          <a:xfrm>
            <a:off x="395288" y="404813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rgbClr val="FFFF00"/>
                </a:solidFill>
              </a:rPr>
              <a:t>一些科学问题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31747" name="Rectangle 4"/>
          <p:cNvSpPr>
            <a:spLocks noGrp="1"/>
          </p:cNvSpPr>
          <p:nvPr>
            <p:ph idx="1"/>
          </p:nvPr>
        </p:nvSpPr>
        <p:spPr>
          <a:xfrm>
            <a:off x="1258888" y="1844675"/>
            <a:ext cx="6481762" cy="43211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平流层大气的</a:t>
            </a:r>
            <a:r>
              <a:rPr lang="en-US" altLang="zh-CN" b="1" dirty="0">
                <a:solidFill>
                  <a:schemeClr val="bg1"/>
                </a:solidFill>
              </a:rPr>
              <a:t>BD</a:t>
            </a:r>
            <a:r>
              <a:rPr lang="zh-CN" altLang="en-US" b="1" dirty="0">
                <a:solidFill>
                  <a:schemeClr val="bg1"/>
                </a:solidFill>
              </a:rPr>
              <a:t>环流</a:t>
            </a:r>
            <a:endParaRPr lang="en-US" altLang="zh-CN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对流云的模拟</a:t>
            </a:r>
            <a:endParaRPr lang="en-US" altLang="zh-CN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大气中的湍流输送</a:t>
            </a:r>
            <a:endParaRPr lang="en-US" altLang="en-US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大气模式中的次网格过程</a:t>
            </a:r>
            <a:endParaRPr lang="en-US" altLang="zh-CN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热带海洋对大气的影响</a:t>
            </a:r>
            <a:endParaRPr lang="en-US" altLang="zh-CN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770" name="图片 2"/>
          <p:cNvPicPr>
            <a:picLocks noChangeAspect="1"/>
          </p:cNvPicPr>
          <p:nvPr/>
        </p:nvPicPr>
        <p:blipFill>
          <a:blip r:embed="rId1"/>
          <a:srcRect l="19864" t="7314" r="7974" b="-1280"/>
          <a:stretch>
            <a:fillRect/>
          </a:stretch>
        </p:blipFill>
        <p:spPr>
          <a:xfrm>
            <a:off x="1588" y="0"/>
            <a:ext cx="9142412" cy="69580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357188" y="285750"/>
            <a:ext cx="8229600" cy="982663"/>
          </a:xfrm>
          <a:prstGeom prst="rect">
            <a:avLst/>
          </a:prstGeom>
        </p:spPr>
        <p:txBody>
          <a:bodyPr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400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anose="02010600030101010101" pitchFamily="2" charset="-122"/>
                <a:cs typeface="+mn-cs"/>
              </a:rPr>
              <a:t>大气概论掌握要点</a:t>
            </a:r>
            <a:endParaRPr kumimoji="0" lang="en-US" altLang="zh-CN" sz="4400" kern="1200" cap="none" spc="0" normalizeH="0" baseline="0" noProof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aramond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468313" y="1268413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大气中各种成分的天气气候效应，大气中水汽的各种表述方法及相互转化；</a:t>
            </a:r>
            <a:endParaRPr kumimoji="0" lang="en-US" altLang="zh-CN" sz="3200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掌握状态方程、静力学方程以及压高公式的应用；</a:t>
            </a:r>
            <a:endParaRPr kumimoji="0" lang="zh-CN" altLang="en-US" sz="3200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大气的垂直分层结构及不同层次大气内的一些主要天气现象和过程。</a:t>
            </a:r>
            <a:endParaRPr kumimoji="0" lang="en-US" altLang="zh-CN" sz="3200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 noRot="1"/>
          </p:cNvSpPr>
          <p:nvPr>
            <p:ph type="title"/>
          </p:nvPr>
        </p:nvSpPr>
        <p:spPr>
          <a:xfrm>
            <a:off x="0" y="333375"/>
            <a:ext cx="9144000" cy="23034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</a:rPr>
              <a:t>第一章</a:t>
            </a:r>
            <a:br>
              <a:rPr lang="zh-CN" altLang="en-US" sz="4000" b="1" dirty="0">
                <a:solidFill>
                  <a:srgbClr val="FF0000"/>
                </a:solidFill>
              </a:rPr>
            </a:br>
            <a:br>
              <a:rPr lang="zh-CN" altLang="en-US" sz="4000" b="1" dirty="0">
                <a:solidFill>
                  <a:srgbClr val="FF0000"/>
                </a:solidFill>
              </a:rPr>
            </a:br>
            <a:r>
              <a:rPr lang="zh-CN" altLang="en-US" sz="4000" b="1" dirty="0">
                <a:solidFill>
                  <a:srgbClr val="FF0000"/>
                </a:solidFill>
              </a:rPr>
              <a:t>行星大气和地球大气的演化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1692275" y="3235325"/>
            <a:ext cx="5903913" cy="28575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</a:rPr>
              <a:t>掌握主要几种行星大气的特点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</a:rPr>
              <a:t>掌握地球大气的形成和演化过程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</a:rPr>
              <a:t>掌握各演化阶段大气的组成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idx="1"/>
          </p:nvPr>
        </p:nvSpPr>
        <p:spPr>
          <a:xfrm>
            <a:off x="6324600" y="838200"/>
            <a:ext cx="2667000" cy="5486400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139000"/>
              </a:lnSpc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rgbClr val="3333CC"/>
                </a:solidFill>
              </a:rPr>
              <a:t>     </a:t>
            </a:r>
            <a:r>
              <a:rPr lang="zh-CN" altLang="en-US" sz="2400" b="1" dirty="0">
                <a:solidFill>
                  <a:srgbClr val="3333CC"/>
                </a:solidFill>
                <a:ea typeface="华文楷体" panose="02010600040101010101" pitchFamily="2" charset="-122"/>
              </a:rPr>
              <a:t>从太空中看，地球是一颗明亮的蓝色星球，美丽而多变。蓝色是因为它表面的四分之三是覆盖着蓝色的海洋，明亮是因为它上面有许多云层。</a:t>
            </a:r>
            <a:endParaRPr lang="en-US" altLang="zh-CN" sz="2400" b="1" dirty="0">
              <a:solidFill>
                <a:srgbClr val="3333CC"/>
              </a:solidFill>
              <a:ea typeface="华文楷体" panose="02010600040101010101" pitchFamily="2" charset="-122"/>
            </a:endParaRPr>
          </a:p>
        </p:txBody>
      </p:sp>
      <p:pic>
        <p:nvPicPr>
          <p:cNvPr id="35843" name="Picture 3" descr="eart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260350"/>
            <a:ext cx="6553200" cy="6624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6" name="Picture 4" descr="1009508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0" y="1125538"/>
            <a:ext cx="7167563" cy="5111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7" name="Text Box 6"/>
          <p:cNvSpPr txBox="1"/>
          <p:nvPr/>
        </p:nvSpPr>
        <p:spPr>
          <a:xfrm>
            <a:off x="1331913" y="6372225"/>
            <a:ext cx="6840537" cy="400050"/>
          </a:xfrm>
          <a:prstGeom prst="rect">
            <a:avLst/>
          </a:prstGeom>
          <a:noFill/>
          <a:ln w="28575" cap="flat" cmpd="sng">
            <a:solidFill>
              <a:srgbClr val="00B0F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latin typeface="Arial" panose="020B0604020202020204" pitchFamily="34" charset="0"/>
              </a:rPr>
              <a:t>大气质量：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50%</a:t>
            </a:r>
            <a:r>
              <a:rPr lang="zh-CN" altLang="en-US" sz="2000" dirty="0">
                <a:latin typeface="Arial" panose="020B0604020202020204" pitchFamily="34" charset="0"/>
              </a:rPr>
              <a:t>在集中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6 km</a:t>
            </a:r>
            <a:r>
              <a:rPr lang="zh-CN" altLang="en-US" sz="2000" dirty="0">
                <a:latin typeface="Arial" panose="020B0604020202020204" pitchFamily="34" charset="0"/>
              </a:rPr>
              <a:t>以下，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99.9%</a:t>
            </a:r>
            <a:r>
              <a:rPr lang="zh-CN" altLang="en-US" sz="2000" dirty="0">
                <a:latin typeface="Arial" panose="020B0604020202020204" pitchFamily="34" charset="0"/>
              </a:rPr>
              <a:t>集中在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50 km</a:t>
            </a:r>
            <a:r>
              <a:rPr lang="zh-CN" altLang="en-US" sz="2000" dirty="0">
                <a:latin typeface="Arial" panose="020B0604020202020204" pitchFamily="34" charset="0"/>
              </a:rPr>
              <a:t>以下。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36868" name="Text Box 5"/>
          <p:cNvSpPr txBox="1"/>
          <p:nvPr/>
        </p:nvSpPr>
        <p:spPr>
          <a:xfrm>
            <a:off x="2843213" y="538163"/>
            <a:ext cx="374491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latin typeface="Arial" panose="020B0604020202020204" pitchFamily="34" charset="0"/>
              </a:rPr>
              <a:t>行星大气：从太空看地球大气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90" name="Picture 10" descr="Family2 0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0" y="1125538"/>
            <a:ext cx="7105650" cy="532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1" name="Text Box 11"/>
          <p:cNvSpPr txBox="1"/>
          <p:nvPr/>
        </p:nvSpPr>
        <p:spPr>
          <a:xfrm>
            <a:off x="3132138" y="549275"/>
            <a:ext cx="412591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latin typeface="Arial" panose="020B0604020202020204" pitchFamily="34" charset="0"/>
              </a:rPr>
              <a:t>从飞机（约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10 km</a:t>
            </a:r>
            <a:r>
              <a:rPr lang="zh-CN" altLang="en-US" sz="2000" dirty="0">
                <a:latin typeface="Arial" panose="020B0604020202020204" pitchFamily="34" charset="0"/>
              </a:rPr>
              <a:t>高度）上看大气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37892" name="Text Box 12"/>
          <p:cNvSpPr txBox="1"/>
          <p:nvPr/>
        </p:nvSpPr>
        <p:spPr>
          <a:xfrm>
            <a:off x="149225" y="2636838"/>
            <a:ext cx="1614488" cy="2341562"/>
          </a:xfrm>
          <a:prstGeom prst="rect">
            <a:avLst/>
          </a:prstGeom>
          <a:noFill/>
          <a:ln w="28575" cap="flat" cmpd="sng">
            <a:solidFill>
              <a:srgbClr val="7030A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just"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75%</a:t>
            </a:r>
            <a:r>
              <a:rPr lang="zh-CN" altLang="en-US" sz="2000" dirty="0">
                <a:latin typeface="Arial" panose="020B0604020202020204" pitchFamily="34" charset="0"/>
              </a:rPr>
              <a:t>的地球大气质量集中在对流层，也即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10 km</a:t>
            </a:r>
            <a:r>
              <a:rPr lang="zh-CN" altLang="en-US" sz="2000" dirty="0">
                <a:latin typeface="Arial" panose="020B0604020202020204" pitchFamily="34" charset="0"/>
              </a:rPr>
              <a:t>以下。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50825" y="1989138"/>
            <a:ext cx="8748713" cy="4392613"/>
          </a:xfrm>
          <a:prstGeom prst="rect">
            <a:avLst/>
          </a:prstGeom>
        </p:spPr>
        <p:txBody>
          <a:bodyPr/>
          <a:lstStyle/>
          <a:p>
            <a:pPr marL="342900" marR="0" indent="-342900" algn="just" defTabSz="914400" eaLnBrk="1" hangingPunct="1">
              <a:lnSpc>
                <a:spcPct val="2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※</a:t>
            </a:r>
            <a:r>
              <a:rPr kumimoji="0" lang="zh-CN" altLang="en-US" sz="2800" kern="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定义：包裹着行星体的中性气体和电离气体的总称。</a:t>
            </a:r>
            <a:endParaRPr kumimoji="0" lang="en-US" altLang="zh-CN" sz="2800" kern="0" cap="none" spc="0" normalizeH="0" baseline="0" noProof="0" dirty="0">
              <a:solidFill>
                <a:schemeClr val="accent1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indent="-342900" algn="just" defTabSz="914400" eaLnBrk="1" hangingPunct="1">
              <a:lnSpc>
                <a:spcPct val="2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solidFill>
                  <a:schemeClr val="accent1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※</a:t>
            </a:r>
            <a:r>
              <a:rPr kumimoji="0" lang="en-US" altLang="zh-CN" sz="2800" kern="0" cap="none" spc="0" normalizeH="0" baseline="0" noProof="0" dirty="0">
                <a:solidFill>
                  <a:srgbClr val="00B0F0"/>
                </a:solidFill>
                <a:latin typeface="+mn-lt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行星的分类：</a:t>
            </a:r>
            <a:endParaRPr kumimoji="0" lang="zh-CN" altLang="en-US" sz="2800" kern="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类地行星：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水星、金星、地球和火星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类木行星：木星、土星、天王星和海王星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  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   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6987"/>
            <a:ext cx="9144000" cy="792163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第一章 行星大气和地球大气的演化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8916" name="TextBox 5"/>
          <p:cNvSpPr txBox="1"/>
          <p:nvPr/>
        </p:nvSpPr>
        <p:spPr>
          <a:xfrm>
            <a:off x="2124075" y="982663"/>
            <a:ext cx="453548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600" dirty="0">
                <a:latin typeface="Arial" panose="020B0604020202020204" pitchFamily="34" charset="0"/>
              </a:rPr>
              <a:t>1.1    </a:t>
            </a:r>
            <a:r>
              <a:rPr lang="zh-CN" altLang="en-US" sz="3600" dirty="0">
                <a:latin typeface="Arial" panose="020B0604020202020204" pitchFamily="34" charset="0"/>
              </a:rPr>
              <a:t>行星大气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466" name="Group 130"/>
          <p:cNvGraphicFramePr>
            <a:graphicFrameLocks noGrp="1"/>
          </p:cNvGraphicFramePr>
          <p:nvPr/>
        </p:nvGraphicFramePr>
        <p:xfrm>
          <a:off x="8218488" y="1628775"/>
          <a:ext cx="925513" cy="4492625"/>
        </p:xfrm>
        <a:graphic>
          <a:graphicData uri="http://schemas.openxmlformats.org/drawingml/2006/table">
            <a:tbl>
              <a:tblPr/>
              <a:tblGrid>
                <a:gridCol w="925512"/>
              </a:tblGrid>
              <a:tr h="18875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04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446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942" name="AutoShape 148"/>
          <p:cNvSpPr/>
          <p:nvPr/>
        </p:nvSpPr>
        <p:spPr>
          <a:xfrm>
            <a:off x="611188" y="6243638"/>
            <a:ext cx="1223962" cy="333375"/>
          </a:xfrm>
          <a:prstGeom prst="rightArrow">
            <a:avLst>
              <a:gd name="adj1" fmla="val 50000"/>
              <a:gd name="adj2" fmla="val 91785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43" name="Text Box 149"/>
          <p:cNvSpPr txBox="1"/>
          <p:nvPr/>
        </p:nvSpPr>
        <p:spPr>
          <a:xfrm>
            <a:off x="1854200" y="6092825"/>
            <a:ext cx="70389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pitchFamily="49" charset="-122"/>
              </a:rPr>
              <a:t>地球的结构特征普通，无特别之处</a:t>
            </a:r>
            <a:endParaRPr lang="en-US" altLang="zh-CN" sz="3200" dirty="0">
              <a:solidFill>
                <a:srgbClr val="33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39944" name="Picture 2"/>
          <p:cNvPicPr>
            <a:picLocks noChangeAspect="1"/>
          </p:cNvPicPr>
          <p:nvPr/>
        </p:nvPicPr>
        <p:blipFill>
          <a:blip r:embed="rId1"/>
          <a:srcRect t="9196"/>
          <a:stretch>
            <a:fillRect/>
          </a:stretch>
        </p:blipFill>
        <p:spPr>
          <a:xfrm>
            <a:off x="0" y="0"/>
            <a:ext cx="9156700" cy="5876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26987"/>
            <a:ext cx="9144000" cy="7191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地球大气的演化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0963" name="Rectangle 2"/>
          <p:cNvSpPr txBox="1"/>
          <p:nvPr/>
        </p:nvSpPr>
        <p:spPr>
          <a:xfrm>
            <a:off x="152400" y="1600200"/>
            <a:ext cx="8686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9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800" dirty="0">
                <a:latin typeface="Tahoma" panose="020B0604030504040204" pitchFamily="34" charset="0"/>
                <a:ea typeface="楷体_GB2312" pitchFamily="49" charset="-122"/>
              </a:rPr>
              <a:t>       </a:t>
            </a:r>
            <a:r>
              <a:rPr lang="zh-CN" altLang="en-US" sz="3200" dirty="0">
                <a:latin typeface="Tahoma" panose="020B0604030504040204" pitchFamily="34" charset="0"/>
                <a:ea typeface="楷体_GB2312" pitchFamily="49" charset="-122"/>
              </a:rPr>
              <a:t>从宏观上看，地球演化主要是地球各圈层的演化以及各圈层演化的耦合关系。地球的演化分为古大气圈的演化、古水圈的演化、古生物圈的演化、古岩石圈的演化等等。因此，大气圈的演化也要结合各圈层进行分析。</a:t>
            </a:r>
            <a:endParaRPr lang="en-US" altLang="zh-CN" sz="3200" dirty="0"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26987"/>
            <a:ext cx="9144000" cy="7191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地球大气的演化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4213" y="1052513"/>
            <a:ext cx="7848600" cy="2808288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/>
          <a:lstStyle/>
          <a:p>
            <a:pPr marL="342900" marR="0" indent="-342900" algn="just" defTabSz="914400" eaLnBrk="1" hangingPunct="1">
              <a:lnSpc>
                <a:spcPct val="2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kern="0" cap="none" spc="0" normalizeH="0" baseline="0" noProof="0" dirty="0">
                <a:solidFill>
                  <a:schemeClr val="accent1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※</a:t>
            </a:r>
            <a:r>
              <a:rPr kumimoji="0" lang="en-US" altLang="zh-CN" sz="2000" kern="0" cap="none" spc="0" normalizeH="0" baseline="0" noProof="0" dirty="0">
                <a:solidFill>
                  <a:srgbClr val="00B0F0"/>
                </a:solidFill>
                <a:latin typeface="+mn-lt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地球大气演化的</a:t>
            </a:r>
            <a:r>
              <a:rPr kumimoji="0" lang="zh-CN" altLang="en-US" sz="2000" kern="0" cap="none" spc="0" normalizeH="0" baseline="0" noProof="0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cs"/>
              </a:rPr>
              <a:t>三个</a:t>
            </a:r>
            <a:r>
              <a:rPr kumimoji="0" lang="zh-CN" altLang="en-US" sz="20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阶段：</a:t>
            </a:r>
            <a:endParaRPr kumimoji="0" lang="zh-CN" altLang="en-US" sz="2000" kern="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原始大气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CO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次生大气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CO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NH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现代大气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     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4" name="矩形 5"/>
          <p:cNvSpPr/>
          <p:nvPr/>
        </p:nvSpPr>
        <p:spPr>
          <a:xfrm>
            <a:off x="684213" y="4441825"/>
            <a:ext cx="7848600" cy="1939925"/>
          </a:xfrm>
          <a:prstGeom prst="rect">
            <a:avLst/>
          </a:prstGeom>
          <a:noFill/>
          <a:ln w="1905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</a:rPr>
              <a:t>现在地球大气由多种气体和大气气溶胶组成：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</a:rPr>
              <a:t>准定常成份：（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000" baseline="-25000" dirty="0">
                <a:solidFill>
                  <a:srgbClr val="CC33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rgbClr val="CC3300"/>
                </a:solidFill>
                <a:latin typeface="Arial" panose="020B0604020202020204" pitchFamily="34" charset="0"/>
              </a:rPr>
              <a:t>， 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O</a:t>
            </a:r>
            <a:r>
              <a:rPr lang="en-US" altLang="zh-CN" sz="2000" baseline="-25000" dirty="0">
                <a:solidFill>
                  <a:srgbClr val="CC33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000" dirty="0">
                <a:latin typeface="Arial" panose="020B0604020202020204" pitchFamily="34" charset="0"/>
              </a:rPr>
              <a:t>），（</a:t>
            </a:r>
            <a:r>
              <a:rPr lang="en-US" altLang="zh-CN" sz="2000" dirty="0">
                <a:latin typeface="Arial" panose="020B0604020202020204" pitchFamily="34" charset="0"/>
              </a:rPr>
              <a:t>He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Ne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Ar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Kr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Xe</a:t>
            </a:r>
            <a:r>
              <a:rPr lang="zh-CN" altLang="en-US" sz="2000" dirty="0">
                <a:latin typeface="Arial" panose="020B0604020202020204" pitchFamily="34" charset="0"/>
              </a:rPr>
              <a:t>）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</a:rPr>
              <a:t>可变成分：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H</a:t>
            </a:r>
            <a:r>
              <a:rPr lang="en-US" altLang="zh-CN" sz="2000" baseline="-25000" dirty="0">
                <a:solidFill>
                  <a:srgbClr val="CC33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O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CO</a:t>
            </a:r>
            <a:r>
              <a:rPr lang="en-US" altLang="zh-CN" sz="2000" baseline="-25000" dirty="0">
                <a:solidFill>
                  <a:srgbClr val="CC33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CH</a:t>
            </a:r>
            <a:r>
              <a:rPr lang="en-US" altLang="zh-CN" sz="20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N</a:t>
            </a:r>
            <a:r>
              <a:rPr lang="en-US" altLang="zh-CN" sz="2000" baseline="-25000" dirty="0"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O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CO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rgbClr val="CC3300"/>
                </a:solidFill>
                <a:latin typeface="Arial" panose="020B0604020202020204" pitchFamily="34" charset="0"/>
              </a:rPr>
              <a:t>O</a:t>
            </a:r>
            <a:r>
              <a:rPr lang="en-US" altLang="zh-CN" sz="2000" baseline="-25000" dirty="0">
                <a:solidFill>
                  <a:srgbClr val="CC33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SO</a:t>
            </a:r>
            <a:r>
              <a:rPr lang="en-US" altLang="zh-CN" sz="2000" baseline="-25000" dirty="0">
                <a:latin typeface="Arial" panose="020B0604020202020204" pitchFamily="34" charset="0"/>
              </a:rPr>
              <a:t>2</a:t>
            </a:r>
            <a:r>
              <a:rPr lang="zh-CN" altLang="en-US" sz="2000" dirty="0">
                <a:latin typeface="Arial" panose="020B0604020202020204" pitchFamily="34" charset="0"/>
              </a:rPr>
              <a:t>，气溶胶，</a:t>
            </a:r>
            <a:r>
              <a:rPr lang="en-US" altLang="zh-CN" sz="2000" dirty="0">
                <a:latin typeface="Arial" panose="020B0604020202020204" pitchFamily="34" charset="0"/>
              </a:rPr>
              <a:t>CFCs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NOx</a:t>
            </a:r>
            <a:r>
              <a:rPr lang="zh-CN" altLang="en-US" sz="2000" dirty="0">
                <a:latin typeface="Arial" panose="020B0604020202020204" pitchFamily="34" charset="0"/>
              </a:rPr>
              <a:t>等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41989" name="右箭头 1">
            <a:hlinkClick r:id="rId1" action="ppaction://hlinksldjump"/>
          </p:cNvPr>
          <p:cNvSpPr/>
          <p:nvPr/>
        </p:nvSpPr>
        <p:spPr>
          <a:xfrm>
            <a:off x="6156325" y="2636838"/>
            <a:ext cx="719138" cy="287337"/>
          </a:xfrm>
          <a:prstGeom prst="rightArrow">
            <a:avLst>
              <a:gd name="adj1" fmla="val 50000"/>
              <a:gd name="adj2" fmla="val 50055"/>
            </a:avLst>
          </a:prstGeom>
          <a:solidFill>
            <a:srgbClr val="92D050"/>
          </a:solid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0" name="右箭头 5">
            <a:hlinkClick r:id="rId2" action="ppaction://hlinksldjump"/>
          </p:cNvPr>
          <p:cNvSpPr/>
          <p:nvPr/>
        </p:nvSpPr>
        <p:spPr>
          <a:xfrm>
            <a:off x="4427538" y="3284538"/>
            <a:ext cx="720725" cy="288925"/>
          </a:xfrm>
          <a:prstGeom prst="rightArrow">
            <a:avLst>
              <a:gd name="adj1" fmla="val 50000"/>
              <a:gd name="adj2" fmla="val 49890"/>
            </a:avLst>
          </a:prstGeom>
          <a:solidFill>
            <a:srgbClr val="92D050"/>
          </a:solid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右箭头 6">
            <a:hlinkClick r:id="" action="ppaction://noaction"/>
          </p:cNvPr>
          <p:cNvSpPr/>
          <p:nvPr/>
        </p:nvSpPr>
        <p:spPr>
          <a:xfrm>
            <a:off x="7667625" y="6524625"/>
            <a:ext cx="720725" cy="288925"/>
          </a:xfrm>
          <a:prstGeom prst="rightArrow">
            <a:avLst>
              <a:gd name="adj1" fmla="val 50000"/>
              <a:gd name="adj2" fmla="val 49890"/>
            </a:avLst>
          </a:prstGeom>
          <a:solidFill>
            <a:srgbClr val="92D050"/>
          </a:solid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684213" y="333375"/>
            <a:ext cx="7793037" cy="719138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sz="3600" b="1" dirty="0">
                <a:solidFill>
                  <a:srgbClr val="FF0000"/>
                </a:solidFill>
                <a:ea typeface="幼圆" pitchFamily="49" charset="-122"/>
              </a:rPr>
              <a:t>（</a:t>
            </a:r>
            <a:r>
              <a:rPr lang="en-US" altLang="zh-CN" sz="3600" b="1" dirty="0">
                <a:solidFill>
                  <a:srgbClr val="FF0000"/>
                </a:solidFill>
                <a:ea typeface="幼圆" pitchFamily="49" charset="-122"/>
              </a:rPr>
              <a:t>2</a:t>
            </a:r>
            <a:r>
              <a:rPr lang="zh-CN" altLang="en-US" sz="3600" b="1" dirty="0">
                <a:solidFill>
                  <a:srgbClr val="FF0000"/>
                </a:solidFill>
                <a:ea typeface="幼圆" pitchFamily="49" charset="-122"/>
              </a:rPr>
              <a:t>）次生大气</a:t>
            </a:r>
            <a:r>
              <a:rPr lang="zh-CN" altLang="en-US" sz="3200" b="1" dirty="0">
                <a:solidFill>
                  <a:srgbClr val="FF0000"/>
                </a:solidFill>
              </a:rPr>
              <a:t>（地质大气圈）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381000" y="1447800"/>
            <a:ext cx="8305800" cy="26670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地球生成以后，由于温度的下降，地球表面发生冷凝现象，而地球内部的高温又促使</a:t>
            </a:r>
            <a:r>
              <a:rPr lang="zh-CN" altLang="en-US" sz="2800" b="1" dirty="0">
                <a:solidFill>
                  <a:srgbClr val="FF0000"/>
                </a:solidFill>
              </a:rPr>
              <a:t>火山</a:t>
            </a:r>
            <a:r>
              <a:rPr lang="zh-CN" altLang="en-US" sz="2800" b="1" dirty="0"/>
              <a:t>频繁活动，火山爆发时所形成的挥发气体，就逐渐代替了原始大气，而成为次生大气。</a:t>
            </a:r>
            <a:endParaRPr lang="en-US" altLang="zh-CN" b="1" dirty="0">
              <a:solidFill>
                <a:schemeClr val="hlink"/>
              </a:solidFill>
              <a:latin typeface="幼圆" pitchFamily="49" charset="-122"/>
              <a:ea typeface="幼圆" pitchFamily="49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457200" y="5257800"/>
            <a:ext cx="8458200" cy="1143000"/>
          </a:xfrm>
          <a:ln/>
        </p:spPr>
        <p:txBody>
          <a:bodyPr vert="horz" wrap="square" lIns="91440" tIns="45720" rIns="91440" bIns="45720" anchor="b" anchorCtr="0"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</a:rPr>
              <a:t>次生大气中没有氧，即使有也不能保留。当时地面温度很高，地壳中有很多金属铁，氧将很快和金属铁反应形成氧化铁。</a:t>
            </a:r>
            <a:endParaRPr lang="en-US" altLang="zh-CN" sz="36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type="body" sz="half" idx="1"/>
          </p:nvPr>
        </p:nvSpPr>
        <p:spPr>
          <a:xfrm>
            <a:off x="107950" y="890588"/>
            <a:ext cx="4464050" cy="42672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chemeClr val="tx2"/>
                </a:solidFill>
                <a:latin typeface="幼圆" pitchFamily="49" charset="-122"/>
                <a:ea typeface="幼圆" pitchFamily="49" charset="-122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  <a:latin typeface="幼圆" pitchFamily="49" charset="-122"/>
                <a:ea typeface="幼圆" pitchFamily="49" charset="-122"/>
              </a:rPr>
              <a:t>次生大气主要来自地球内部，由火山喷发产生。按现代火山喷发的成分，</a:t>
            </a:r>
            <a:r>
              <a:rPr lang="zh-CN" altLang="en-US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主要是水汽（</a:t>
            </a:r>
            <a:r>
              <a:rPr lang="zh-CN" altLang="ja-JP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79%</a:t>
            </a:r>
            <a:r>
              <a:rPr lang="zh-CN" altLang="en-US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）、二氧化碳（</a:t>
            </a:r>
            <a:r>
              <a:rPr lang="zh-CN" altLang="ja-JP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12%</a:t>
            </a:r>
            <a:r>
              <a:rPr lang="zh-CN" altLang="en-US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）、甲烷，一些氮和硫的化合物。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27652" name="Group 4"/>
          <p:cNvGraphicFramePr>
            <a:graphicFrameLocks noGrp="1"/>
          </p:cNvGraphicFramePr>
          <p:nvPr>
            <p:ph sz="half" idx="1"/>
          </p:nvPr>
        </p:nvGraphicFramePr>
        <p:xfrm>
          <a:off x="4648200" y="762000"/>
          <a:ext cx="4038600" cy="3821113"/>
        </p:xfrm>
        <a:graphic>
          <a:graphicData uri="http://schemas.openxmlformats.org/drawingml/2006/table">
            <a:tbl>
              <a:tblPr/>
              <a:tblGrid>
                <a:gridCol w="2109788"/>
                <a:gridCol w="1928812"/>
              </a:tblGrid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火山气体成分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体积分数</a:t>
                      </a:r>
                      <a:r>
                        <a:rPr kumimoji="0" lang="zh-CN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 %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水蒸气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79.31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二氧化碳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11.61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二氧化硫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6.48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氮气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1.29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氧气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其他气体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0.73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062" name="Text Box 30"/>
          <p:cNvSpPr txBox="1"/>
          <p:nvPr/>
        </p:nvSpPr>
        <p:spPr>
          <a:xfrm>
            <a:off x="5029200" y="4724400"/>
            <a:ext cx="3248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夏威夷火山气体的成分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1150938" y="476250"/>
            <a:ext cx="7793037" cy="768350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sz="3600" b="1" dirty="0">
                <a:solidFill>
                  <a:srgbClr val="FF0000"/>
                </a:solidFill>
                <a:ea typeface="幼圆" pitchFamily="49" charset="-122"/>
              </a:rPr>
              <a:t>（</a:t>
            </a:r>
            <a:r>
              <a:rPr lang="en-US" altLang="zh-CN" sz="3600" b="1" dirty="0">
                <a:solidFill>
                  <a:srgbClr val="FF0000"/>
                </a:solidFill>
                <a:ea typeface="幼圆" pitchFamily="49" charset="-122"/>
              </a:rPr>
              <a:t>3</a:t>
            </a:r>
            <a:r>
              <a:rPr lang="zh-CN" altLang="en-US" sz="3600" b="1" dirty="0">
                <a:solidFill>
                  <a:srgbClr val="FF0000"/>
                </a:solidFill>
                <a:ea typeface="幼圆" pitchFamily="49" charset="-122"/>
              </a:rPr>
              <a:t>）现代大气</a:t>
            </a:r>
            <a:endParaRPr lang="en-US" altLang="zh-CN" sz="3600" b="1" dirty="0">
              <a:solidFill>
                <a:srgbClr val="FF0000"/>
              </a:solidFill>
              <a:ea typeface="幼圆" pitchFamily="49" charset="-122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500063" y="1428750"/>
            <a:ext cx="8229600" cy="4525963"/>
          </a:xfrm>
          <a:ln/>
        </p:spPr>
        <p:txBody>
          <a:bodyPr vert="horz" wrap="square" lIns="91440" tIns="45720" rIns="91440" bIns="45720" anchor="t" anchorCtr="0"/>
          <a:p>
            <a:pPr marL="609600" indent="-609600">
              <a:lnSpc>
                <a:spcPct val="130000"/>
              </a:lnSpc>
              <a:buFontTx/>
              <a:buNone/>
            </a:pPr>
            <a:r>
              <a:rPr lang="zh-CN" altLang="zh-CN" b="1" dirty="0">
                <a:solidFill>
                  <a:srgbClr val="0000CC"/>
                </a:solidFill>
                <a:ea typeface="幼圆" pitchFamily="49" charset="-122"/>
              </a:rPr>
              <a:t>     </a:t>
            </a:r>
            <a:r>
              <a:rPr lang="zh-CN" altLang="en-US" sz="2800" b="1" dirty="0">
                <a:solidFill>
                  <a:srgbClr val="000099"/>
                </a:solidFill>
                <a:latin typeface="宋体" panose="02010600030101010101" pitchFamily="2" charset="-122"/>
              </a:rPr>
              <a:t>由次生大气转化为现代大气，与生命现象的发展关系最为密切。</a:t>
            </a:r>
            <a:endParaRPr lang="en-US" altLang="zh-CN" sz="2800" b="1" dirty="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marL="609600" indent="-609600">
              <a:lnSpc>
                <a:spcPct val="130000"/>
              </a:lnSpc>
              <a:buFont typeface="Tahoma" panose="020B0604030504040204" pitchFamily="34" charset="0"/>
              <a:buAutoNum type="arabicPeriod"/>
            </a:pPr>
            <a:r>
              <a:rPr lang="zh-CN" altLang="en-US" sz="2800" b="1" dirty="0">
                <a:latin typeface="宋体" panose="02010600030101010101" pitchFamily="2" charset="-122"/>
              </a:rPr>
              <a:t>植物的出现和发展</a:t>
            </a:r>
            <a:r>
              <a:rPr lang="zh-CN" altLang="en-US" sz="2800" b="1" dirty="0"/>
              <a:t>使大气中氧出现并逐渐增多起来，动物的出现借呼吸作用使大气中的氧和二氧化碳的比例得到调节。</a:t>
            </a:r>
            <a:endParaRPr lang="en-US" altLang="zh-CN" sz="2800" dirty="0"/>
          </a:p>
          <a:p>
            <a:pPr marL="609600" indent="-609600">
              <a:lnSpc>
                <a:spcPct val="130000"/>
              </a:lnSpc>
              <a:buFont typeface="Tahoma" panose="020B0604030504040204" pitchFamily="34" charset="0"/>
              <a:buAutoNum type="arabicPeriod"/>
            </a:pPr>
            <a:r>
              <a:rPr lang="zh-CN" altLang="en-US" sz="2800" b="1" dirty="0"/>
              <a:t>大气中的二氧化碳还通过被禁锢到岩石和溶解于水得到调节。</a:t>
            </a:r>
            <a:r>
              <a:rPr lang="en-US" altLang="zh-CN" dirty="0"/>
              <a:t> </a:t>
            </a:r>
            <a:endParaRPr lang="en-US" altLang="zh-CN" b="1" dirty="0">
              <a:solidFill>
                <a:srgbClr val="0000CC"/>
              </a:solidFill>
              <a:ea typeface="幼圆" pitchFamily="49" charset="-122"/>
            </a:endParaRPr>
          </a:p>
        </p:txBody>
      </p:sp>
      <p:sp>
        <p:nvSpPr>
          <p:cNvPr id="45060" name="右箭头 3">
            <a:hlinkClick r:id="rId1" action="ppaction://hlinksldjump"/>
          </p:cNvPr>
          <p:cNvSpPr/>
          <p:nvPr/>
        </p:nvSpPr>
        <p:spPr>
          <a:xfrm rot="10800000">
            <a:off x="7812088" y="6381750"/>
            <a:ext cx="720725" cy="287338"/>
          </a:xfrm>
          <a:prstGeom prst="rightArrow">
            <a:avLst>
              <a:gd name="adj1" fmla="val 50000"/>
              <a:gd name="adj2" fmla="val 50165"/>
            </a:avLst>
          </a:prstGeom>
          <a:solidFill>
            <a:srgbClr val="92D050"/>
          </a:solid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ACOL-EN-PPT_REAL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1_SACOL-EN-PPT_RE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SACOL-EN-PPT_RE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1757</Words>
  <Application>WPS 演示</Application>
  <PresentationFormat>全屏显示(4:3)</PresentationFormat>
  <Paragraphs>190</Paragraphs>
  <Slides>28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7" baseType="lpstr">
      <vt:lpstr>Arial</vt:lpstr>
      <vt:lpstr>宋体</vt:lpstr>
      <vt:lpstr>Wingdings</vt:lpstr>
      <vt:lpstr>Tahoma</vt:lpstr>
      <vt:lpstr>黑体</vt:lpstr>
      <vt:lpstr>华文楷体</vt:lpstr>
      <vt:lpstr>楷体</vt:lpstr>
      <vt:lpstr>Garamond</vt:lpstr>
      <vt:lpstr>Original Garamond Std Roman</vt:lpstr>
      <vt:lpstr>Times New Roman</vt:lpstr>
      <vt:lpstr>楷体_GB2312</vt:lpstr>
      <vt:lpstr>新宋体</vt:lpstr>
      <vt:lpstr>华文新魏</vt:lpstr>
      <vt:lpstr>华文细黑</vt:lpstr>
      <vt:lpstr>幼圆</vt:lpstr>
      <vt:lpstr>微软雅黑</vt:lpstr>
      <vt:lpstr>Arial Unicode MS</vt:lpstr>
      <vt:lpstr>Blends</vt:lpstr>
      <vt:lpstr>2_SACOL-EN-PPT_REAL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NUIST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X. Cao</dc:creator>
  <cp:lastModifiedBy>赵元丞</cp:lastModifiedBy>
  <cp:revision>797</cp:revision>
  <dcterms:created xsi:type="dcterms:W3CDTF">2007-02-13T12:16:13Z</dcterms:created>
  <dcterms:modified xsi:type="dcterms:W3CDTF">2026-10-10T00:51:01Z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5D5AE370A1414207A613ABDA46B0D3A0_13</vt:lpwstr>
  </property>
  <property fmtid="{D5CDD505-2E9C-101B-9397-08002B2CF9AE}" pid="3" name="KSOProductBuildVer">
    <vt:lpwstr>2052-12.1.0.28802</vt:lpwstr>
  </property>
</Properties>
</file>