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2" r:id="rId3"/>
  </p:sldMasterIdLst>
  <p:notesMasterIdLst>
    <p:notesMasterId r:id="rId5"/>
  </p:notesMasterIdLst>
  <p:handoutMasterIdLst>
    <p:handoutMasterId r:id="rId32"/>
  </p:handoutMasterIdLst>
  <p:sldIdLst>
    <p:sldId id="849" r:id="rId4"/>
    <p:sldId id="874" r:id="rId6"/>
    <p:sldId id="878" r:id="rId7"/>
    <p:sldId id="914" r:id="rId8"/>
    <p:sldId id="882" r:id="rId9"/>
    <p:sldId id="913" r:id="rId10"/>
    <p:sldId id="915" r:id="rId11"/>
    <p:sldId id="885" r:id="rId12"/>
    <p:sldId id="978" r:id="rId13"/>
    <p:sldId id="886" r:id="rId14"/>
    <p:sldId id="887" r:id="rId15"/>
    <p:sldId id="916" r:id="rId16"/>
    <p:sldId id="976" r:id="rId17"/>
    <p:sldId id="889" r:id="rId18"/>
    <p:sldId id="890" r:id="rId19"/>
    <p:sldId id="891" r:id="rId20"/>
    <p:sldId id="892" r:id="rId21"/>
    <p:sldId id="893" r:id="rId22"/>
    <p:sldId id="894" r:id="rId23"/>
    <p:sldId id="977" r:id="rId24"/>
    <p:sldId id="917" r:id="rId25"/>
    <p:sldId id="942" r:id="rId26"/>
    <p:sldId id="941" r:id="rId27"/>
    <p:sldId id="918" r:id="rId28"/>
    <p:sldId id="919" r:id="rId29"/>
    <p:sldId id="920" r:id="rId30"/>
    <p:sldId id="921" r:id="rId31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CC"/>
    <a:srgbClr val="FF0066"/>
    <a:srgbClr val="000099"/>
    <a:srgbClr val="FF0000"/>
    <a:srgbClr val="000066"/>
    <a:srgbClr val="0000CC"/>
    <a:srgbClr val="33CC33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676"/>
    <p:restoredTop sz="92801"/>
  </p:normalViewPr>
  <p:slideViewPr>
    <p:cSldViewPr showGuides="1">
      <p:cViewPr varScale="1">
        <p:scale>
          <a:sx n="90" d="100"/>
          <a:sy n="90" d="100"/>
        </p:scale>
        <p:origin x="-592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handoutMaster" Target="handoutMasters/handoutMaster1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2.vml.rels><?xml version="1.0" encoding="UTF-8" standalone="yes"?>
<Relationships xmlns="http://schemas.openxmlformats.org/package/2006/relationships"><Relationship Id="rId4" Type="http://schemas.openxmlformats.org/officeDocument/2006/relationships/image" Target="../media/image18.wmf"/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3.vml.rels><?xml version="1.0" encoding="UTF-8" standalone="yes"?>
<Relationships xmlns="http://schemas.openxmlformats.org/package/2006/relationships"><Relationship Id="rId5" Type="http://schemas.openxmlformats.org/officeDocument/2006/relationships/image" Target="../media/image23.wmf"/><Relationship Id="rId4" Type="http://schemas.openxmlformats.org/officeDocument/2006/relationships/image" Target="../media/image22.wmf"/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50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50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50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en-US" altLang="zh-CN" sz="1200" b="0" dirty="0"/>
            </a:fld>
            <a:endParaRPr lang="en-US" altLang="zh-CN" sz="1200" b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97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97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4036" name="Rectangle 4"/>
          <p:cNvSpPr>
            <a:spLocks noRo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897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97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97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en-US" altLang="zh-CN" sz="1200" b="0" dirty="0"/>
            </a:fld>
            <a:endParaRPr lang="en-US" altLang="zh-CN" sz="1200" b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059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4506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/>
            </a:fld>
            <a:endParaRPr lang="en-US" altLang="zh-CN" sz="1200" b="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CA" sz="1200" b="0" dirty="0"/>
            </a:fld>
            <a:endParaRPr lang="zh-CN" altLang="en-CA" sz="1200" b="0" dirty="0"/>
          </a:p>
        </p:txBody>
      </p:sp>
      <p:sp>
        <p:nvSpPr>
          <p:cNvPr id="46083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CA" sz="1200" b="0" dirty="0"/>
            </a:fld>
            <a:endParaRPr lang="zh-CN" altLang="en-CA" sz="1200" b="0" dirty="0"/>
          </a:p>
        </p:txBody>
      </p:sp>
      <p:sp>
        <p:nvSpPr>
          <p:cNvPr id="47107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CA" sz="1200" b="0" dirty="0"/>
            </a:fld>
            <a:endParaRPr lang="zh-CN" altLang="en-CA" sz="1200" b="0" dirty="0"/>
          </a:p>
        </p:txBody>
      </p:sp>
      <p:sp>
        <p:nvSpPr>
          <p:cNvPr id="48131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CA" sz="1200" b="0" dirty="0"/>
            </a:fld>
            <a:endParaRPr lang="zh-CN" altLang="en-CA" sz="1200" b="0" dirty="0"/>
          </a:p>
        </p:txBody>
      </p:sp>
      <p:sp>
        <p:nvSpPr>
          <p:cNvPr id="49155" name="Rectangle 2"/>
          <p:cNvSpPr>
            <a:spLocks noTextEdit="1"/>
          </p:cNvSpPr>
          <p:nvPr>
            <p:ph type="sldImg"/>
          </p:nvPr>
        </p:nvSpPr>
        <p:spPr>
          <a:solidFill>
            <a:srgbClr val="FFFFFF">
              <a:alpha val="100000"/>
            </a:srgbClr>
          </a:solidFill>
          <a:ln/>
        </p:spPr>
      </p:sp>
      <p:sp>
        <p:nvSpPr>
          <p:cNvPr id="49156" name="Rectangle 3"/>
          <p:cNvSpPr/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/>
          </a:ln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CA" sz="1200" b="0" dirty="0"/>
            </a:fld>
            <a:endParaRPr lang="zh-CN" altLang="en-CA" sz="1200" b="0" dirty="0"/>
          </a:p>
        </p:txBody>
      </p:sp>
      <p:sp>
        <p:nvSpPr>
          <p:cNvPr id="50179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CA" sz="1200" b="0" dirty="0"/>
            </a:fld>
            <a:endParaRPr lang="zh-CN" altLang="en-CA" sz="1200" b="0" dirty="0"/>
          </a:p>
        </p:txBody>
      </p:sp>
      <p:sp>
        <p:nvSpPr>
          <p:cNvPr id="51203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CA" sz="1200" b="0" dirty="0"/>
            </a:fld>
            <a:endParaRPr lang="zh-CN" altLang="en-CA" sz="1200" b="0" dirty="0"/>
          </a:p>
        </p:txBody>
      </p:sp>
      <p:sp>
        <p:nvSpPr>
          <p:cNvPr id="52227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CA" sz="1200" b="0" dirty="0"/>
            </a:fld>
            <a:endParaRPr lang="zh-CN" altLang="en-CA" sz="1200" b="0" dirty="0"/>
          </a:p>
        </p:txBody>
      </p:sp>
      <p:sp>
        <p:nvSpPr>
          <p:cNvPr id="53251" name="Rectangle 3074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075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CA" sz="1200" b="0" dirty="0"/>
            </a:fld>
            <a:endParaRPr lang="zh-CN" altLang="en-CA" sz="1200" b="0" dirty="0"/>
          </a:p>
        </p:txBody>
      </p:sp>
      <p:sp>
        <p:nvSpPr>
          <p:cNvPr id="54275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CA" sz="1200" b="0" dirty="0"/>
            </a:fld>
            <a:endParaRPr lang="zh-CN" altLang="en-CA" sz="1200" b="0" dirty="0"/>
          </a:p>
        </p:txBody>
      </p:sp>
      <p:sp>
        <p:nvSpPr>
          <p:cNvPr id="55299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CA" sz="1200" b="0" dirty="0"/>
            </a:fld>
            <a:endParaRPr lang="zh-CN" altLang="en-CA" sz="1200" b="0" dirty="0"/>
          </a:p>
        </p:txBody>
      </p:sp>
      <p:sp>
        <p:nvSpPr>
          <p:cNvPr id="56323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CA" sz="1200" b="0" dirty="0"/>
            </a:fld>
            <a:endParaRPr lang="zh-CN" altLang="en-CA" sz="1200" b="0" dirty="0"/>
          </a:p>
        </p:txBody>
      </p:sp>
      <p:sp>
        <p:nvSpPr>
          <p:cNvPr id="57347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CA" sz="1200" b="0" dirty="0"/>
            </a:fld>
            <a:endParaRPr lang="zh-CN" altLang="en-CA" sz="1200" b="0" dirty="0"/>
          </a:p>
        </p:txBody>
      </p:sp>
      <p:sp>
        <p:nvSpPr>
          <p:cNvPr id="58371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2"/>
          <p:cNvGrpSpPr/>
          <p:nvPr/>
        </p:nvGrpSpPr>
        <p:grpSpPr>
          <a:xfrm>
            <a:off x="0" y="476250"/>
            <a:ext cx="9009063" cy="1052513"/>
            <a:chOff x="0" y="1536"/>
            <a:chExt cx="5675" cy="663"/>
          </a:xfrm>
        </p:grpSpPr>
        <p:grpSp>
          <p:nvGrpSpPr>
            <p:cNvPr id="3080" name="Group 3"/>
            <p:cNvGrpSpPr/>
            <p:nvPr/>
          </p:nvGrpSpPr>
          <p:grpSpPr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2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wrap="none" anchor="ctr"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3081" name="Group 6"/>
            <p:cNvGrpSpPr/>
            <p:nvPr/>
          </p:nvGrpSpPr>
          <p:grpSpPr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2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anchor="ctr"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43020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3021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24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solidFill>
                  <a:schemeClr val="bg2"/>
                </a:solidFill>
                <a:latin typeface="Tahoma" panose="020B0604030504040204" pitchFamily="34" charset="0"/>
              </a:rPr>
            </a:fld>
            <a:endParaRPr lang="en-US" altLang="zh-CN" dirty="0">
              <a:solidFill>
                <a:schemeClr val="bg2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4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Tahoma" panose="020B0604030504040204" pitchFamily="34" charset="0"/>
              </a:rPr>
            </a:fld>
            <a:endParaRPr lang="en-US" altLang="zh-CN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4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Tahoma" panose="020B0604030504040204" pitchFamily="34" charset="0"/>
              </a:rPr>
            </a:fld>
            <a:endParaRPr lang="en-US" altLang="zh-CN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4" name="Rectangle 11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Tahoma" panose="020B0604030504040204" pitchFamily="34" charset="0"/>
              </a:rPr>
            </a:fld>
            <a:endParaRPr lang="en-US" altLang="zh-CN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4" name="Rectangle 11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2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3"/>
          <p:cNvSpPr>
            <a:spLocks noGrp="1" noChangeArrowheads="1"/>
          </p:cNvSpPr>
          <p:nvPr>
            <p:ph type="sldNum" sz="quarter" idx="1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Tahoma" panose="020B0604030504040204" pitchFamily="34" charset="0"/>
              </a:rPr>
            </a:fld>
            <a:endParaRPr lang="en-US" altLang="zh-CN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4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Tahoma" panose="020B0604030504040204" pitchFamily="34" charset="0"/>
              </a:rPr>
            </a:fld>
            <a:endParaRPr lang="en-US" altLang="zh-CN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Tahoma" panose="020B0604030504040204" pitchFamily="34" charset="0"/>
              </a:rPr>
            </a:fld>
            <a:endParaRPr lang="en-US" altLang="zh-CN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4" name="Rectangle 11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Tahoma" panose="020B0604030504040204" pitchFamily="34" charset="0"/>
              </a:rPr>
            </a:fld>
            <a:endParaRPr lang="en-US" altLang="zh-CN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4" name="Rectangle 11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Tahoma" panose="020B0604030504040204" pitchFamily="34" charset="0"/>
              </a:rPr>
            </a:fld>
            <a:endParaRPr lang="en-US" altLang="zh-CN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4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Tahoma" panose="020B0604030504040204" pitchFamily="34" charset="0"/>
              </a:rPr>
            </a:fld>
            <a:endParaRPr lang="en-US" altLang="zh-CN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4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Tahoma" panose="020B0604030504040204" pitchFamily="34" charset="0"/>
              </a:rPr>
            </a:fld>
            <a:endParaRPr lang="en-US" altLang="zh-CN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 showMasterSp="0">
  <p:cSld name="标题，文本与两项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145088" y="2017713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145088" y="4151313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4" name="Rectangle 11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2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Tahoma" panose="020B0604030504040204" pitchFamily="34" charset="0"/>
              </a:rPr>
            </a:fld>
            <a:endParaRPr lang="en-US" altLang="zh-CN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 showMasterSp="0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1150938" y="214313"/>
            <a:ext cx="7804150" cy="591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4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Tahoma" panose="020B0604030504040204" pitchFamily="34" charset="0"/>
              </a:rPr>
            </a:fld>
            <a:endParaRPr lang="en-US" altLang="zh-CN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C199281-0F27-4C05-8AE9-9B0838E9068D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C199281-0F27-4C05-8AE9-9B0838E9068D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C199281-0F27-4C05-8AE9-9B0838E9068D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C199281-0F27-4C05-8AE9-9B0838E9068D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C199281-0F27-4C05-8AE9-9B0838E9068D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C199281-0F27-4C05-8AE9-9B0838E9068D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C199281-0F27-4C05-8AE9-9B0838E9068D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C199281-0F27-4C05-8AE9-9B0838E9068D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C199281-0F27-4C05-8AE9-9B0838E9068D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C199281-0F27-4C05-8AE9-9B0838E9068D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C199281-0F27-4C05-8AE9-9B0838E9068D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3" Type="http://schemas.openxmlformats.org/officeDocument/2006/relationships/theme" Target="../theme/theme2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19697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19697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125538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69215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4128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3" name="Rectangle 9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34" name="Rectangle 10"/>
          <p:cNvSpPr>
            <a:spLocks noGrp="1"/>
          </p:cNvSpPr>
          <p:nvPr>
            <p:ph type="body" idx="1"/>
          </p:nvPr>
        </p:nvSpPr>
        <p:spPr>
          <a:xfrm>
            <a:off x="1182688" y="2017713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199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400" b="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99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400" b="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99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 b="0">
                <a:latin typeface="Tahoma" panose="020B0604030504040204" pitchFamily="34" charset="0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/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050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1" name="Rectangl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spcBef>
                <a:spcPct val="0"/>
              </a:spcBef>
              <a:defRPr sz="1400" b="0">
                <a:solidFill>
                  <a:srgbClr val="000000"/>
                </a:solidFill>
                <a:latin typeface="+mn-lt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C199281-0F27-4C05-8AE9-9B0838E9068D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spcBef>
                <a:spcPct val="0"/>
              </a:spcBef>
              <a:defRPr sz="1400" b="0">
                <a:solidFill>
                  <a:srgbClr val="000000"/>
                </a:solidFill>
                <a:latin typeface="+mn-lt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 b="0">
                <a:solidFill>
                  <a:srgbClr val="000000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jpeg"/><Relationship Id="rId1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image" Target="../media/image8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4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13.wmf"/><Relationship Id="rId1" Type="http://schemas.openxmlformats.org/officeDocument/2006/relationships/oleObject" Target="../embeddings/oleObject1.bin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wmf"/><Relationship Id="rId8" Type="http://schemas.openxmlformats.org/officeDocument/2006/relationships/oleObject" Target="../embeddings/oleObject6.bin"/><Relationship Id="rId7" Type="http://schemas.openxmlformats.org/officeDocument/2006/relationships/image" Target="../media/image17.wmf"/><Relationship Id="rId6" Type="http://schemas.openxmlformats.org/officeDocument/2006/relationships/oleObject" Target="../embeddings/oleObject5.bin"/><Relationship Id="rId5" Type="http://schemas.openxmlformats.org/officeDocument/2006/relationships/image" Target="../media/image16.wmf"/><Relationship Id="rId4" Type="http://schemas.openxmlformats.org/officeDocument/2006/relationships/oleObject" Target="../embeddings/oleObject4.bin"/><Relationship Id="rId3" Type="http://schemas.openxmlformats.org/officeDocument/2006/relationships/image" Target="../media/image15.wmf"/><Relationship Id="rId2" Type="http://schemas.openxmlformats.org/officeDocument/2006/relationships/oleObject" Target="../embeddings/oleObject3.bin"/><Relationship Id="rId11" Type="http://schemas.openxmlformats.org/officeDocument/2006/relationships/vmlDrawing" Target="../drawings/vmlDrawing2.v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wmf"/><Relationship Id="rId8" Type="http://schemas.openxmlformats.org/officeDocument/2006/relationships/oleObject" Target="../embeddings/oleObject10.bin"/><Relationship Id="rId7" Type="http://schemas.openxmlformats.org/officeDocument/2006/relationships/image" Target="../media/image21.wmf"/><Relationship Id="rId6" Type="http://schemas.openxmlformats.org/officeDocument/2006/relationships/oleObject" Target="../embeddings/oleObject9.bin"/><Relationship Id="rId5" Type="http://schemas.openxmlformats.org/officeDocument/2006/relationships/image" Target="../media/image20.wmf"/><Relationship Id="rId4" Type="http://schemas.openxmlformats.org/officeDocument/2006/relationships/oleObject" Target="../embeddings/oleObject8.bin"/><Relationship Id="rId3" Type="http://schemas.openxmlformats.org/officeDocument/2006/relationships/image" Target="../media/image19.wmf"/><Relationship Id="rId2" Type="http://schemas.openxmlformats.org/officeDocument/2006/relationships/oleObject" Target="../embeddings/oleObject7.bin"/><Relationship Id="rId14" Type="http://schemas.openxmlformats.org/officeDocument/2006/relationships/vmlDrawing" Target="../drawings/vmlDrawing3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23.wmf"/><Relationship Id="rId11" Type="http://schemas.openxmlformats.org/officeDocument/2006/relationships/oleObject" Target="../embeddings/oleObject11.bin"/><Relationship Id="rId10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0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614363" y="979488"/>
            <a:ext cx="7918450" cy="5257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66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大气物理学</a:t>
            </a:r>
            <a:endParaRPr kumimoji="0" lang="zh-CN" altLang="en-US" sz="66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   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 </a:t>
            </a:r>
            <a:r>
              <a: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王 治 厅</a:t>
            </a:r>
            <a:endParaRPr kumimoji="0" lang="en-US" altLang="zh-CN" sz="4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44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wangzt@lzu.edu.cn</a:t>
            </a:r>
            <a:endParaRPr kumimoji="0" lang="en-US" altLang="zh-CN" sz="4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兰州大学大气科学学院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  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16387" name="TextBox 2"/>
          <p:cNvSpPr txBox="1"/>
          <p:nvPr/>
        </p:nvSpPr>
        <p:spPr>
          <a:xfrm>
            <a:off x="323850" y="395288"/>
            <a:ext cx="3816350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u="sng" dirty="0">
                <a:solidFill>
                  <a:srgbClr val="FF6600"/>
                </a:solidFill>
                <a:latin typeface="Arial" panose="020B0604020202020204" pitchFamily="34" charset="0"/>
              </a:rPr>
              <a:t>大气科学学院本科课程</a:t>
            </a:r>
            <a:endParaRPr lang="zh-CN" altLang="en-US" u="sng" dirty="0">
              <a:solidFill>
                <a:srgbClr val="FF66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Rectangle 3"/>
          <p:cNvSpPr/>
          <p:nvPr/>
        </p:nvSpPr>
        <p:spPr>
          <a:xfrm>
            <a:off x="1331913" y="1628775"/>
            <a:ext cx="6934200" cy="2308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en-US" altLang="zh-CN" sz="2400" b="0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en-US" altLang="zh-CN" sz="2400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2.1</a:t>
            </a:r>
            <a:r>
              <a:rPr lang="zh-CN" altLang="en-US" sz="2400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干洁大气</a:t>
            </a:r>
            <a:endParaRPr lang="zh-CN" altLang="en-US" sz="2400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zh-CN" altLang="en-US" sz="2400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en-US" altLang="zh-CN" sz="2400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2.2</a:t>
            </a:r>
            <a:r>
              <a:rPr lang="zh-CN" altLang="en-US" sz="2400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大气中的水汽</a:t>
            </a:r>
            <a:endParaRPr lang="en-US" altLang="zh-CN" sz="2400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en-US" altLang="zh-CN" sz="2400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2.3  </a:t>
            </a:r>
            <a:r>
              <a:rPr lang="zh-CN" altLang="en-US" sz="2400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大气气溶胶</a:t>
            </a:r>
            <a:endParaRPr lang="zh-CN" altLang="en-US" sz="2400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-26987"/>
            <a:ext cx="9144000" cy="719138"/>
          </a:xfrm>
          <a:prstGeom prst="rect">
            <a:avLst/>
          </a:prstGeom>
          <a:gradFill rotWithShape="1">
            <a:gsLst>
              <a:gs pos="0">
                <a:srgbClr val="3366FF"/>
              </a:gs>
              <a:gs pos="100000">
                <a:srgbClr val="3366FF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anchor="ctr" anchorCtr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第二章 地球大气的成分及分布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-26987"/>
            <a:ext cx="9144000" cy="719138"/>
          </a:xfrm>
          <a:prstGeom prst="rect">
            <a:avLst/>
          </a:prstGeom>
          <a:gradFill rotWithShape="1">
            <a:gsLst>
              <a:gs pos="0">
                <a:srgbClr val="3366FF"/>
              </a:gs>
              <a:gs pos="100000">
                <a:srgbClr val="3366FF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anchor="ctr" anchorCtr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第二章 地球大气的成分及分布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18435" name="Text Box 8"/>
          <p:cNvSpPr txBox="1"/>
          <p:nvPr/>
        </p:nvSpPr>
        <p:spPr>
          <a:xfrm>
            <a:off x="1042988" y="1412875"/>
            <a:ext cx="6842125" cy="923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>
              <a:lnSpc>
                <a:spcPct val="150000"/>
              </a:lnSpc>
              <a:spcAft>
                <a:spcPts val="3000"/>
              </a:spcAft>
            </a:pPr>
            <a:r>
              <a:rPr lang="zh-CN" altLang="en-US" sz="36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重 点</a:t>
            </a:r>
            <a:endParaRPr lang="zh-CN" altLang="en-US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59632" y="2564904"/>
            <a:ext cx="7344816" cy="3046988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>
            <a:spAutoFit/>
          </a:bodyPr>
          <a:lstStyle/>
          <a:p>
            <a:pPr marL="342900" marR="0" indent="-342900" defTabSz="914400" eaLnBrk="1" hangingPunct="1">
              <a:lnSpc>
                <a:spcPct val="200000"/>
              </a:lnSpc>
              <a:buClrTx/>
              <a:buSzTx/>
              <a:buFontTx/>
              <a:buAutoNum type="arabicPeriod"/>
              <a:defRPr/>
            </a:pPr>
            <a:r>
              <a:rPr kumimoji="0" lang="zh-CN" altLang="en-US" sz="2400" kern="1200" cap="none" spc="0" normalizeH="0" baseline="0" noProof="0" dirty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 干、湿空气的状态方程</a:t>
            </a:r>
            <a:endParaRPr kumimoji="0" lang="en-US" altLang="zh-CN" sz="2400" kern="1200" cap="none" spc="0" normalizeH="0" baseline="0" noProof="0" dirty="0">
              <a:solidFill>
                <a:srgbClr val="0000FF"/>
              </a:solidFill>
              <a:latin typeface="+mn-ea"/>
              <a:ea typeface="+mn-ea"/>
              <a:cs typeface="+mn-cs"/>
            </a:endParaRPr>
          </a:p>
          <a:p>
            <a:pPr marL="342900" marR="0" indent="-342900" defTabSz="914400" eaLnBrk="1" hangingPunct="1">
              <a:lnSpc>
                <a:spcPct val="200000"/>
              </a:lnSpc>
              <a:buClrTx/>
              <a:buSzTx/>
              <a:buFontTx/>
              <a:buAutoNum type="arabicPeriod"/>
              <a:defRPr/>
            </a:pPr>
            <a:r>
              <a:rPr kumimoji="0" lang="zh-CN" altLang="en-US" sz="2400" kern="1200" cap="none" spc="0" normalizeH="0" baseline="0" noProof="0" dirty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 大气湿度的表示方法及相互转换</a:t>
            </a:r>
            <a:endParaRPr kumimoji="0" lang="en-US" altLang="zh-CN" sz="2400" kern="1200" cap="none" spc="0" normalizeH="0" baseline="0" noProof="0" dirty="0">
              <a:solidFill>
                <a:srgbClr val="0000FF"/>
              </a:solidFill>
              <a:latin typeface="+mn-ea"/>
              <a:ea typeface="+mn-ea"/>
              <a:cs typeface="+mn-cs"/>
            </a:endParaRPr>
          </a:p>
          <a:p>
            <a:pPr marR="0" defTabSz="914400" eaLnBrk="1" hangingPunct="1">
              <a:lnSpc>
                <a:spcPct val="200000"/>
              </a:lnSpc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3. </a:t>
            </a:r>
            <a:r>
              <a:rPr kumimoji="0" lang="zh-CN" altLang="en-US" sz="2400" kern="1200" cap="none" spc="0" normalizeH="0" baseline="0" noProof="0" dirty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一些主要痕量成分的分布特征及在大气过程中</a:t>
            </a:r>
            <a:endParaRPr kumimoji="0" lang="en-US" altLang="zh-CN" sz="2400" kern="1200" cap="none" spc="0" normalizeH="0" baseline="0" noProof="0" dirty="0">
              <a:solidFill>
                <a:srgbClr val="0000FF"/>
              </a:solidFill>
              <a:latin typeface="+mn-ea"/>
              <a:ea typeface="+mn-ea"/>
              <a:cs typeface="+mn-cs"/>
            </a:endParaRPr>
          </a:p>
          <a:p>
            <a:pPr marR="0" defTabSz="914400" eaLnBrk="1" hangingPunct="1">
              <a:lnSpc>
                <a:spcPct val="200000"/>
              </a:lnSpc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0" dirty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    的作用</a:t>
            </a:r>
            <a:endParaRPr kumimoji="0" lang="zh-CN" altLang="en-US" sz="2400" kern="1200" cap="none" spc="0" normalizeH="0" baseline="0" noProof="0" dirty="0">
              <a:solidFill>
                <a:srgbClr val="0000FF"/>
              </a:solidFill>
              <a:latin typeface="+mn-ea"/>
              <a:ea typeface="+mn-ea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-52387"/>
            <a:ext cx="9144000" cy="769938"/>
          </a:xfrm>
          <a:prstGeom prst="rect">
            <a:avLst/>
          </a:prstGeom>
          <a:gradFill rotWithShape="1">
            <a:gsLst>
              <a:gs pos="0">
                <a:srgbClr val="3366FF"/>
              </a:gs>
              <a:gs pos="100000">
                <a:srgbClr val="3366FF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anchor="ctr" anchorCtr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2.1 </a:t>
            </a: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干洁大气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28676" name="Rectangle 4"/>
          <p:cNvSpPr/>
          <p:nvPr/>
        </p:nvSpPr>
        <p:spPr>
          <a:xfrm>
            <a:off x="179388" y="1393825"/>
            <a:ext cx="5616575" cy="523875"/>
          </a:xfrm>
          <a:prstGeom prst="rect">
            <a:avLst/>
          </a:prstGeom>
          <a:solidFill>
            <a:srgbClr val="990033"/>
          </a:solidFill>
          <a:ln w="12700">
            <a:noFill/>
          </a:ln>
        </p:spPr>
        <p:txBody>
          <a:bodyPr>
            <a:spAutoFit/>
          </a:bodyPr>
          <a:p>
            <a:pPr algn="ctr" eaLnBrk="1" hangingPunct="1"/>
            <a:r>
              <a:rPr lang="en-US" altLang="zh-CN" sz="2800" dirty="0">
                <a:solidFill>
                  <a:schemeClr val="bg1"/>
                </a:solidFill>
                <a:latin typeface="Arial" panose="020B0604020202020204" pitchFamily="34" charset="0"/>
                <a:ea typeface="华文楷体" panose="02010600040101010101" pitchFamily="2" charset="-122"/>
              </a:rPr>
              <a:t>1. </a:t>
            </a:r>
            <a:r>
              <a:rPr lang="zh-CN" altLang="en-US" sz="2800" dirty="0">
                <a:solidFill>
                  <a:schemeClr val="bg1"/>
                </a:solidFill>
                <a:latin typeface="Arial" panose="020B0604020202020204" pitchFamily="34" charset="0"/>
                <a:ea typeface="华文楷体" panose="02010600040101010101" pitchFamily="2" charset="-122"/>
              </a:rPr>
              <a:t>干空气成分的分类</a:t>
            </a:r>
            <a:r>
              <a:rPr lang="en-US" altLang="zh-CN" sz="2800" dirty="0">
                <a:solidFill>
                  <a:schemeClr val="bg1"/>
                </a:solidFill>
                <a:latin typeface="Arial" panose="020B0604020202020204" pitchFamily="34" charset="0"/>
                <a:ea typeface="华文楷体" panose="02010600040101010101" pitchFamily="2" charset="-122"/>
              </a:rPr>
              <a:t>——</a:t>
            </a:r>
            <a:r>
              <a:rPr lang="zh-CN" altLang="en-US" sz="2800" dirty="0">
                <a:solidFill>
                  <a:schemeClr val="bg1"/>
                </a:solidFill>
                <a:latin typeface="Arial" panose="020B0604020202020204" pitchFamily="34" charset="0"/>
                <a:ea typeface="华文楷体" panose="02010600040101010101" pitchFamily="2" charset="-122"/>
              </a:rPr>
              <a:t>浓度法</a:t>
            </a:r>
            <a:endParaRPr lang="zh-CN" altLang="en-US" sz="2800" dirty="0">
              <a:solidFill>
                <a:schemeClr val="bg1"/>
              </a:solidFill>
              <a:latin typeface="Arial" panose="020B0604020202020204" pitchFamily="34" charset="0"/>
              <a:ea typeface="华文楷体" panose="02010600040101010101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065463" y="2103438"/>
            <a:ext cx="2970213" cy="461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气体浓度的表示方法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684213" y="2565400"/>
            <a:ext cx="8064500" cy="3970338"/>
          </a:xfrm>
          <a:prstGeom prst="rect">
            <a:avLst/>
          </a:prstGeom>
          <a:noFill/>
          <a:ln w="19050">
            <a:solidFill>
              <a:schemeClr val="accent1">
                <a:lumMod val="75000"/>
              </a:schemeClr>
            </a:solidFill>
            <a:miter lim="800000"/>
          </a:ln>
        </p:spPr>
        <p:txBody>
          <a:bodyPr>
            <a:spAutoFit/>
          </a:bodyPr>
          <a:lstStyle/>
          <a:p>
            <a:pPr marR="0" defTabSz="914400" eaLnBrk="1" hangingPunct="1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1" lang="zh-CN" altLang="en-US" sz="2400" kern="1200" cap="none" spc="0" normalizeH="0" baseline="0" noProof="0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</a:t>
            </a:r>
            <a:r>
              <a:rPr kumimoji="0" lang="zh-CN" altLang="en-US" sz="2400" kern="1200" cap="none" spc="0" normalizeH="0" baseline="0" noProof="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绝对</a:t>
            </a:r>
            <a:r>
              <a:rPr kumimoji="0" lang="zh-CN" altLang="en-US" sz="24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浓度：</a:t>
            </a:r>
            <a:r>
              <a:rPr kumimoji="0" lang="en-US" altLang="zh-CN" sz="2400" kern="1200" cap="none" spc="0" normalizeH="0" baseline="0" noProof="0" dirty="0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kg/m^3,  mg/m^3</a:t>
            </a:r>
            <a:r>
              <a:rPr kumimoji="0" lang="zh-CN" altLang="en-US" sz="2400" kern="1200" cap="none" spc="0" normalizeH="0" baseline="0" noProof="0" dirty="0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 </a:t>
            </a:r>
            <a:r>
              <a:rPr kumimoji="0" lang="en-US" altLang="zh-CN" sz="2400" kern="1200" cap="none" spc="0" normalizeH="0" baseline="0" noProof="0" dirty="0" err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ug</a:t>
            </a:r>
            <a:r>
              <a:rPr kumimoji="0" lang="en-US" altLang="zh-CN" sz="2400" kern="1200" cap="none" spc="0" normalizeH="0" baseline="0" noProof="0" dirty="0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/m^3</a:t>
            </a:r>
            <a:endParaRPr kumimoji="1" lang="en-US" altLang="zh-CN" sz="2400" kern="1200" cap="none" spc="0" normalizeH="0" baseline="0" noProof="0" dirty="0"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R="0" defTabSz="914400" eaLnBrk="1" hangingPunct="1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1" lang="zh-CN" altLang="en-US" sz="2400" kern="1200" cap="none" spc="0" normalizeH="0" baseline="0" noProof="0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</a:t>
            </a:r>
            <a:r>
              <a:rPr kumimoji="0" lang="zh-CN" altLang="en-US" sz="2400" kern="1200" cap="none" spc="0" normalizeH="0" baseline="0" noProof="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相对</a:t>
            </a:r>
            <a:r>
              <a:rPr kumimoji="0" lang="zh-CN" altLang="en-US" sz="24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浓度：混合比（体积混合比，质量混合比）</a:t>
            </a:r>
            <a:endParaRPr kumimoji="0" lang="en-US" altLang="zh-CN" sz="2400" kern="1200" cap="none" spc="0" normalizeH="0" baseline="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1" lang="en-US" altLang="zh-CN" sz="2400" kern="1200" cap="none" spc="0" normalizeH="0" baseline="0" noProof="0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 </a:t>
            </a:r>
            <a:r>
              <a:rPr kumimoji="0" lang="en-US" altLang="zh-CN" sz="2400" kern="1200" cap="none" spc="0" normalizeH="0" baseline="0" noProof="0" dirty="0" err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ppm</a:t>
            </a:r>
            <a:r>
              <a:rPr kumimoji="0" lang="zh-CN" altLang="en-US" sz="2400" kern="1200" cap="none" spc="0" normalizeH="0" baseline="0" noProof="0" dirty="0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：</a:t>
            </a:r>
            <a:r>
              <a:rPr kumimoji="0" lang="en-US" altLang="zh-CN" sz="24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part per million </a:t>
            </a:r>
            <a:r>
              <a:rPr kumimoji="0" lang="zh-CN" altLang="en-US" sz="24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百万分之     </a:t>
            </a:r>
            <a:r>
              <a:rPr kumimoji="0" lang="en-US" altLang="zh-CN" sz="24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10^-6</a:t>
            </a:r>
            <a:endParaRPr kumimoji="0" lang="en-US" altLang="zh-CN" sz="2400" kern="1200" cap="none" spc="0" normalizeH="0" baseline="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ppb</a:t>
            </a:r>
            <a:r>
              <a:rPr kumimoji="0" lang="zh-CN" altLang="en-US" sz="2400" kern="1200" cap="none" spc="0" normalizeH="0" baseline="0" noProof="0" dirty="0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：</a:t>
            </a:r>
            <a:r>
              <a:rPr kumimoji="0" lang="zh-CN" altLang="en-US" sz="2400" kern="1200" cap="none" spc="0" normalizeH="0" baseline="0" noProof="0" dirty="0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part per billion 10</a:t>
            </a:r>
            <a:r>
              <a:rPr kumimoji="0" lang="zh-CN" altLang="en-US" sz="24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亿分之      </a:t>
            </a:r>
            <a:r>
              <a:rPr kumimoji="0" lang="en-US" altLang="zh-CN" sz="24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10^-9</a:t>
            </a:r>
            <a:endParaRPr kumimoji="0" lang="en-US" altLang="zh-CN" sz="2400" kern="1200" cap="none" spc="0" normalizeH="0" baseline="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2400" kern="1200" cap="none" spc="0" normalizeH="0" baseline="0" noProof="0" dirty="0" err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ppt</a:t>
            </a:r>
            <a:r>
              <a:rPr kumimoji="0" lang="zh-CN" altLang="en-US" sz="2400" kern="1200" cap="none" spc="0" normalizeH="0" baseline="0" noProof="0" dirty="0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：</a:t>
            </a:r>
            <a:r>
              <a:rPr kumimoji="0" lang="zh-CN" altLang="en-US" sz="2400" kern="1200" cap="none" spc="0" normalizeH="0" baseline="0" noProof="0" dirty="0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kern="1200" cap="none" spc="0" normalizeH="0" baseline="0" noProof="0" dirty="0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part per trillion </a:t>
            </a:r>
            <a:r>
              <a:rPr kumimoji="0" lang="zh-CN" altLang="en-US" sz="24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万亿分之</a:t>
            </a:r>
            <a:r>
              <a:rPr kumimoji="0" lang="en-US" altLang="zh-CN" sz="24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10^-12</a:t>
            </a:r>
            <a:r>
              <a:rPr kumimoji="0" lang="en-US" altLang="zh-CN" sz="2400" kern="1200" cap="none" spc="0" normalizeH="0" baseline="0" noProof="0" dirty="0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endParaRPr kumimoji="0" lang="en-US" altLang="zh-CN" sz="2400" kern="1200" cap="none" spc="0" normalizeH="0" baseline="0" noProof="0" dirty="0">
              <a:solidFill>
                <a:srgbClr val="CC3300"/>
              </a:solidFill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2400" kern="1200" cap="none" spc="0" normalizeH="0" baseline="0" noProof="0" dirty="0" err="1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ppm</a:t>
            </a:r>
            <a:r>
              <a:rPr kumimoji="0" lang="en-US" altLang="zh-CN" sz="2400" kern="1200" cap="none" spc="0" normalizeH="0" baseline="0" noProof="0" dirty="0" err="1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v</a:t>
            </a:r>
            <a:r>
              <a:rPr kumimoji="0" lang="zh-CN" altLang="en-US" sz="2400" kern="1200" cap="none" spc="0" normalizeH="0" baseline="0" noProof="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：</a:t>
            </a:r>
            <a:r>
              <a:rPr kumimoji="0" lang="en-US" altLang="zh-CN" sz="2400" kern="1200" cap="none" spc="0" normalizeH="0" baseline="0" noProof="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0" lang="en-US" altLang="zh-CN" sz="24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part per million by volume </a:t>
            </a:r>
            <a:r>
              <a:rPr kumimoji="0" lang="zh-CN" altLang="en-US" sz="24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百万分之  </a:t>
            </a:r>
            <a:r>
              <a:rPr kumimoji="0" lang="en-US" altLang="zh-CN" sz="24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10^-6</a:t>
            </a:r>
            <a:endParaRPr kumimoji="0" lang="en-US" altLang="zh-CN" sz="2400" kern="1200" cap="none" spc="0" normalizeH="0" baseline="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2400" kern="1200" cap="none" spc="0" normalizeH="0" baseline="0" noProof="0" dirty="0" err="1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ppm</a:t>
            </a:r>
            <a:r>
              <a:rPr kumimoji="0" lang="en-US" altLang="zh-CN" sz="2400" kern="1200" cap="none" spc="0" normalizeH="0" baseline="0" noProof="0" dirty="0" err="1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</a:t>
            </a:r>
            <a:r>
              <a:rPr kumimoji="0" lang="zh-CN" altLang="en-US" sz="2400" kern="1200" cap="none" spc="0" normalizeH="0" baseline="0" noProof="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：</a:t>
            </a:r>
            <a:r>
              <a:rPr kumimoji="0" lang="en-US" altLang="zh-CN" sz="2400" kern="1200" cap="none" spc="0" normalizeH="0" baseline="0" noProof="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part per million by mass </a:t>
            </a:r>
            <a:r>
              <a:rPr kumimoji="0" lang="zh-CN" altLang="en-US" sz="24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百万分之     </a:t>
            </a:r>
            <a:r>
              <a:rPr kumimoji="0" lang="en-US" altLang="zh-CN" sz="24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10^-6</a:t>
            </a:r>
            <a:endParaRPr kumimoji="0" lang="en-US" altLang="zh-CN" sz="2400" kern="1200" cap="none" spc="0" normalizeH="0" baseline="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462" name="TextBox 8"/>
          <p:cNvSpPr txBox="1"/>
          <p:nvPr/>
        </p:nvSpPr>
        <p:spPr>
          <a:xfrm>
            <a:off x="179388" y="836613"/>
            <a:ext cx="5616575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dirty="0">
                <a:latin typeface="Arial" panose="020B0604020202020204" pitchFamily="34" charset="0"/>
              </a:rPr>
              <a:t>干洁大气：除水汽以外的纯净大气，简称干空气。 </a:t>
            </a:r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6" grpId="0" animBg="1"/>
      <p:bldP spid="7" grpId="0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8729" name="Text Box 9"/>
          <p:cNvSpPr txBox="1">
            <a:spLocks noChangeArrowheads="1"/>
          </p:cNvSpPr>
          <p:nvPr/>
        </p:nvSpPr>
        <p:spPr bwMode="auto">
          <a:xfrm>
            <a:off x="323850" y="2205038"/>
            <a:ext cx="8640763" cy="2308225"/>
          </a:xfrm>
          <a:prstGeom prst="rect">
            <a:avLst/>
          </a:prstGeom>
          <a:noFill/>
          <a:ln w="19050">
            <a:solidFill>
              <a:schemeClr val="accent1">
                <a:lumMod val="75000"/>
              </a:schemeClr>
            </a:solidFill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lnSpc>
                <a:spcPct val="200000"/>
              </a:lnSpc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(1) </a:t>
            </a:r>
            <a:r>
              <a:rPr kumimoji="0" lang="zh-CN" altLang="en-US" sz="2400" kern="1200" cap="none" spc="0" normalizeH="0" baseline="0" noProof="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主要</a:t>
            </a:r>
            <a:r>
              <a:rPr kumimoji="0" lang="zh-CN" altLang="en-US" sz="24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成分：浓度</a:t>
            </a:r>
            <a:r>
              <a:rPr kumimoji="0" lang="en-US" altLang="zh-CN" sz="24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&gt;300 </a:t>
            </a:r>
            <a:r>
              <a:rPr kumimoji="0" lang="en-US" altLang="zh-CN" sz="2400" kern="1200" cap="none" spc="0" normalizeH="0" baseline="0" noProof="0" dirty="0" err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ppmv</a:t>
            </a:r>
            <a:r>
              <a:rPr kumimoji="0" lang="zh-CN" altLang="en-US" sz="24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，如</a:t>
            </a:r>
            <a:r>
              <a:rPr kumimoji="0" lang="en-US" altLang="zh-CN" sz="24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N</a:t>
            </a:r>
            <a:r>
              <a:rPr kumimoji="0" lang="en-US" altLang="zh-CN" sz="2400" kern="1200" cap="none" spc="0" normalizeH="0" baseline="-2500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en-US" sz="24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0" lang="en-US" altLang="zh-CN" sz="24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</a:t>
            </a:r>
            <a:r>
              <a:rPr kumimoji="0" lang="en-US" altLang="zh-CN" sz="2400" kern="1200" cap="none" spc="0" normalizeH="0" baseline="-2500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en-US" sz="24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0" lang="en-US" altLang="zh-CN" sz="2400" kern="1200" cap="none" spc="0" normalizeH="0" baseline="0" noProof="0" dirty="0" err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Ar</a:t>
            </a:r>
            <a:r>
              <a:rPr kumimoji="0" lang="zh-CN" altLang="en-US" sz="24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0" lang="en-US" altLang="zh-CN" sz="24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</a:t>
            </a:r>
            <a:r>
              <a:rPr kumimoji="0" lang="en-US" altLang="zh-CN" sz="2400" kern="1200" cap="none" spc="0" normalizeH="0" baseline="-2500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</a:t>
            </a:r>
            <a:endParaRPr kumimoji="0" lang="en-US" altLang="zh-CN" sz="2400" kern="1200" cap="none" spc="0" normalizeH="0" baseline="-25000" noProof="0" dirty="0">
              <a:solidFill>
                <a:srgbClr val="CC3300"/>
              </a:solidFill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lnSpc>
                <a:spcPct val="200000"/>
              </a:lnSpc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(2) </a:t>
            </a:r>
            <a:r>
              <a:rPr kumimoji="0" lang="zh-CN" altLang="en-US" sz="2400" kern="1200" cap="none" spc="0" normalizeH="0" baseline="0" noProof="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微量</a:t>
            </a:r>
            <a:r>
              <a:rPr kumimoji="0" lang="zh-CN" altLang="en-US" sz="24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成分：浓度</a:t>
            </a:r>
            <a:r>
              <a:rPr kumimoji="0" lang="en-US" altLang="zh-CN" sz="24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1~20ppmv</a:t>
            </a:r>
            <a:r>
              <a:rPr kumimoji="0" lang="zh-CN" altLang="en-US" sz="24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，如</a:t>
            </a:r>
            <a:r>
              <a:rPr kumimoji="0" lang="en-US" altLang="zh-CN" sz="24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CH</a:t>
            </a:r>
            <a:r>
              <a:rPr kumimoji="0" lang="en-US" altLang="zh-CN" sz="2400" kern="1200" cap="none" spc="0" normalizeH="0" baseline="-2500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</a:t>
            </a:r>
            <a:endParaRPr kumimoji="0" lang="en-US" altLang="zh-CN" sz="2400" kern="1200" cap="none" spc="0" normalizeH="0" baseline="-2500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lnSpc>
                <a:spcPct val="200000"/>
              </a:lnSpc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(3) </a:t>
            </a:r>
            <a:r>
              <a:rPr kumimoji="0" lang="zh-CN" altLang="en-US" sz="2400" kern="1200" cap="none" spc="0" normalizeH="0" baseline="0" noProof="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痕量</a:t>
            </a:r>
            <a:r>
              <a:rPr kumimoji="0" lang="zh-CN" altLang="en-US" sz="24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成分：浓度</a:t>
            </a:r>
            <a:r>
              <a:rPr kumimoji="0" lang="en-US" altLang="zh-CN" sz="24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&lt;1ppmv</a:t>
            </a:r>
            <a:r>
              <a:rPr kumimoji="0" lang="zh-CN" altLang="en-US" sz="24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，如</a:t>
            </a:r>
            <a:r>
              <a:rPr kumimoji="0" lang="en-US" altLang="zh-CN" sz="24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</a:t>
            </a:r>
            <a:r>
              <a:rPr kumimoji="0" lang="en-US" altLang="zh-CN" sz="2400" kern="1200" cap="none" spc="0" normalizeH="0" baseline="-2500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3</a:t>
            </a:r>
            <a:r>
              <a:rPr kumimoji="0" lang="zh-CN" altLang="en-US" sz="24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0" lang="en-US" altLang="zh-CN" sz="24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H</a:t>
            </a:r>
            <a:r>
              <a:rPr kumimoji="0" lang="en-US" altLang="zh-CN" sz="2400" kern="1200" cap="none" spc="0" normalizeH="0" baseline="-2500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en-US" sz="24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，氮氧化物，硫化物</a:t>
            </a:r>
            <a:endParaRPr kumimoji="0" lang="en-US" altLang="zh-CN" sz="2400" kern="1200" cap="none" spc="0" normalizeH="0" baseline="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-52387"/>
            <a:ext cx="9144000" cy="769938"/>
          </a:xfrm>
          <a:prstGeom prst="rect">
            <a:avLst/>
          </a:prstGeom>
          <a:gradFill rotWithShape="1">
            <a:gsLst>
              <a:gs pos="0">
                <a:srgbClr val="3366FF"/>
              </a:gs>
              <a:gs pos="100000">
                <a:srgbClr val="3366FF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anchor="ctr" anchorCtr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2.1 </a:t>
            </a: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干洁大气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20484" name="Rectangle 4"/>
          <p:cNvSpPr/>
          <p:nvPr/>
        </p:nvSpPr>
        <p:spPr>
          <a:xfrm>
            <a:off x="179388" y="1125538"/>
            <a:ext cx="5472112" cy="523875"/>
          </a:xfrm>
          <a:prstGeom prst="rect">
            <a:avLst/>
          </a:prstGeom>
          <a:solidFill>
            <a:srgbClr val="990033"/>
          </a:solidFill>
          <a:ln w="12700">
            <a:noFill/>
          </a:ln>
        </p:spPr>
        <p:txBody>
          <a:bodyPr>
            <a:spAutoFit/>
          </a:bodyPr>
          <a:p>
            <a:pPr algn="ctr" eaLnBrk="1" hangingPunct="1"/>
            <a:r>
              <a:rPr lang="en-US" altLang="zh-CN" sz="2800" dirty="0">
                <a:solidFill>
                  <a:schemeClr val="bg1"/>
                </a:solidFill>
                <a:latin typeface="Arial" panose="020B0604020202020204" pitchFamily="34" charset="0"/>
                <a:ea typeface="华文楷体" panose="02010600040101010101" pitchFamily="2" charset="-122"/>
              </a:rPr>
              <a:t>1. </a:t>
            </a:r>
            <a:r>
              <a:rPr lang="zh-CN" altLang="en-US" sz="2800" dirty="0">
                <a:solidFill>
                  <a:schemeClr val="bg1"/>
                </a:solidFill>
                <a:latin typeface="Arial" panose="020B0604020202020204" pitchFamily="34" charset="0"/>
                <a:ea typeface="华文楷体" panose="02010600040101010101" pitchFamily="2" charset="-122"/>
              </a:rPr>
              <a:t>干空气成分的分类</a:t>
            </a:r>
            <a:r>
              <a:rPr lang="en-US" altLang="zh-CN" sz="2800" dirty="0">
                <a:solidFill>
                  <a:schemeClr val="bg1"/>
                </a:solidFill>
                <a:latin typeface="Arial" panose="020B0604020202020204" pitchFamily="34" charset="0"/>
                <a:ea typeface="华文楷体" panose="02010600040101010101" pitchFamily="2" charset="-122"/>
              </a:rPr>
              <a:t>——</a:t>
            </a:r>
            <a:r>
              <a:rPr lang="zh-CN" altLang="en-US" sz="2800" dirty="0">
                <a:solidFill>
                  <a:srgbClr val="FFFF00"/>
                </a:solidFill>
                <a:latin typeface="Arial" panose="020B0604020202020204" pitchFamily="34" charset="0"/>
                <a:ea typeface="华文楷体" panose="02010600040101010101" pitchFamily="2" charset="-122"/>
              </a:rPr>
              <a:t>浓度法</a:t>
            </a:r>
            <a:endParaRPr lang="zh-CN" altLang="en-US" sz="2800" dirty="0">
              <a:solidFill>
                <a:srgbClr val="FFFF00"/>
              </a:solidFill>
              <a:latin typeface="Arial" panose="020B0604020202020204" pitchFamily="34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8729" name="Text Box 9"/>
          <p:cNvSpPr txBox="1">
            <a:spLocks noChangeArrowheads="1"/>
          </p:cNvSpPr>
          <p:nvPr/>
        </p:nvSpPr>
        <p:spPr bwMode="auto">
          <a:xfrm>
            <a:off x="395288" y="2852738"/>
            <a:ext cx="8497888" cy="3482975"/>
          </a:xfrm>
          <a:prstGeom prst="rect">
            <a:avLst/>
          </a:prstGeom>
          <a:noFill/>
          <a:ln w="19050">
            <a:solidFill>
              <a:schemeClr val="accent1">
                <a:lumMod val="75000"/>
              </a:schemeClr>
            </a:solidFill>
            <a:miter lim="800000"/>
          </a:ln>
          <a:effectLst/>
        </p:spPr>
        <p:txBody>
          <a:bodyPr>
            <a:spAutoFit/>
          </a:bodyPr>
          <a:lstStyle/>
          <a:p>
            <a:pPr marL="457200" marR="0" indent="-457200" defTabSz="914400" eaLnBrk="1" hangingPunct="1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(1) </a:t>
            </a:r>
            <a:r>
              <a:rPr kumimoji="0" lang="zh-CN" altLang="en-US" sz="2400" kern="1200" cap="none" spc="0" normalizeH="0" baseline="0" noProof="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准定常</a:t>
            </a:r>
            <a:r>
              <a:rPr kumimoji="0" lang="zh-CN" altLang="en-US" sz="24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成分：平均寿命</a:t>
            </a:r>
            <a:r>
              <a:rPr kumimoji="0" lang="en-US" altLang="zh-CN" sz="24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&gt;1000a</a:t>
            </a:r>
            <a:r>
              <a:rPr kumimoji="0" lang="zh-CN" altLang="en-US" sz="24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0" lang="en-US" altLang="zh-CN" sz="2400" kern="1200" cap="none" spc="0" normalizeH="0" baseline="0" noProof="0" dirty="0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N2,</a:t>
            </a:r>
            <a:r>
              <a:rPr kumimoji="0" lang="zh-CN" altLang="en-US" sz="2400" kern="1200" cap="none" spc="0" normalizeH="0" baseline="0" noProof="0" dirty="0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kern="1200" cap="none" spc="0" normalizeH="0" baseline="0" noProof="0" dirty="0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O2,</a:t>
            </a:r>
            <a:r>
              <a:rPr kumimoji="0" lang="en-US" altLang="zh-CN" sz="24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kern="1200" cap="none" spc="0" normalizeH="0" baseline="0" noProof="0" dirty="0" err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Ar,He,Ne,Kr,Xe</a:t>
            </a:r>
            <a:endParaRPr kumimoji="0" lang="en-US" altLang="zh-CN" sz="2400" kern="1200" cap="none" spc="0" normalizeH="0" baseline="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lnSpc>
                <a:spcPct val="200000"/>
              </a:lnSpc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(2) </a:t>
            </a:r>
            <a:r>
              <a:rPr kumimoji="0" lang="zh-CN" altLang="en-US" sz="2400" kern="1200" cap="none" spc="0" normalizeH="0" baseline="0" noProof="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可变</a:t>
            </a:r>
            <a:r>
              <a:rPr kumimoji="0" lang="zh-CN" altLang="en-US" sz="24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成分：平均寿命几年</a:t>
            </a:r>
            <a:r>
              <a:rPr kumimoji="0" lang="en-US" altLang="zh-CN" sz="24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~</a:t>
            </a:r>
            <a:r>
              <a:rPr kumimoji="0" lang="zh-CN" altLang="en-US" sz="24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几十年，</a:t>
            </a:r>
            <a:r>
              <a:rPr kumimoji="0" lang="en-US" altLang="zh-CN" sz="2400" kern="1200" cap="none" spc="0" normalizeH="0" baseline="0" noProof="0" dirty="0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CO2</a:t>
            </a:r>
            <a:r>
              <a:rPr kumimoji="0" lang="zh-CN" altLang="en-US" sz="24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0" lang="en-US" altLang="zh-CN" sz="2400" kern="1200" cap="none" spc="0" normalizeH="0" baseline="0" noProof="0" dirty="0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CH4</a:t>
            </a:r>
            <a:r>
              <a:rPr kumimoji="0" lang="en-US" altLang="zh-CN" sz="24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,  N2O</a:t>
            </a:r>
            <a:r>
              <a:rPr kumimoji="0" lang="zh-CN" altLang="en-US" sz="24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</a:t>
            </a:r>
            <a:endParaRPr kumimoji="0" lang="en-US" altLang="zh-CN" sz="2400" kern="1200" cap="none" spc="0" normalizeH="0" baseline="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lnSpc>
                <a:spcPct val="200000"/>
              </a:lnSpc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CFCs</a:t>
            </a:r>
            <a:r>
              <a:rPr kumimoji="0" lang="zh-CN" altLang="en-US" sz="24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等</a:t>
            </a:r>
            <a:endParaRPr kumimoji="0" lang="en-US" altLang="zh-CN" sz="2400" kern="1200" cap="none" spc="0" normalizeH="0" baseline="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lnSpc>
                <a:spcPct val="200000"/>
              </a:lnSpc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(3) </a:t>
            </a:r>
            <a:r>
              <a:rPr kumimoji="0" lang="zh-CN" altLang="en-US" sz="2400" kern="1200" cap="none" spc="0" normalizeH="0" baseline="0" noProof="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快变</a:t>
            </a:r>
            <a:r>
              <a:rPr kumimoji="0" lang="zh-CN" altLang="en-US" sz="24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成分：平均寿命</a:t>
            </a:r>
            <a:r>
              <a:rPr kumimoji="0" lang="en-US" altLang="zh-CN" sz="24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&lt;1a</a:t>
            </a:r>
            <a:r>
              <a:rPr kumimoji="0" lang="zh-CN" altLang="en-US" sz="24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，如</a:t>
            </a:r>
            <a:r>
              <a:rPr kumimoji="0" lang="en-US" altLang="zh-CN" sz="2400" kern="1200" cap="none" spc="0" normalizeH="0" baseline="0" noProof="0" dirty="0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O3</a:t>
            </a:r>
            <a:r>
              <a:rPr kumimoji="0" lang="zh-CN" altLang="en-US" sz="2400" kern="1200" cap="none" spc="0" normalizeH="0" baseline="0" noProof="0" dirty="0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0" lang="en-US" altLang="zh-CN" sz="24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OH</a:t>
            </a:r>
            <a:r>
              <a:rPr kumimoji="0" lang="zh-CN" altLang="en-US" sz="24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、碳、硫、氮的化合物</a:t>
            </a:r>
            <a:endParaRPr kumimoji="0" lang="en-US" altLang="zh-CN" sz="2400" kern="1200" cap="none" spc="0" normalizeH="0" baseline="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07" name="Rectangle 4"/>
          <p:cNvSpPr/>
          <p:nvPr/>
        </p:nvSpPr>
        <p:spPr>
          <a:xfrm>
            <a:off x="179388" y="1125538"/>
            <a:ext cx="6553200" cy="523875"/>
          </a:xfrm>
          <a:prstGeom prst="rect">
            <a:avLst/>
          </a:prstGeom>
          <a:solidFill>
            <a:srgbClr val="990033"/>
          </a:solidFill>
          <a:ln w="12700">
            <a:noFill/>
          </a:ln>
        </p:spPr>
        <p:txBody>
          <a:bodyPr>
            <a:spAutoFit/>
          </a:bodyPr>
          <a:p>
            <a:pPr algn="ctr" eaLnBrk="1" hangingPunct="1"/>
            <a:r>
              <a:rPr lang="en-US" altLang="zh-CN" sz="2800" dirty="0">
                <a:solidFill>
                  <a:schemeClr val="bg1"/>
                </a:solidFill>
                <a:latin typeface="Arial" panose="020B0604020202020204" pitchFamily="34" charset="0"/>
                <a:ea typeface="华文楷体" panose="02010600040101010101" pitchFamily="2" charset="-122"/>
              </a:rPr>
              <a:t>2. </a:t>
            </a:r>
            <a:r>
              <a:rPr lang="zh-CN" altLang="en-US" sz="2800" dirty="0">
                <a:solidFill>
                  <a:schemeClr val="bg1"/>
                </a:solidFill>
                <a:latin typeface="Arial" panose="020B0604020202020204" pitchFamily="34" charset="0"/>
                <a:ea typeface="华文楷体" panose="02010600040101010101" pitchFamily="2" charset="-122"/>
              </a:rPr>
              <a:t>干空气成分的分类</a:t>
            </a:r>
            <a:r>
              <a:rPr lang="en-US" altLang="zh-CN" sz="2800" dirty="0">
                <a:solidFill>
                  <a:schemeClr val="bg1"/>
                </a:solidFill>
                <a:latin typeface="Arial" panose="020B0604020202020204" pitchFamily="34" charset="0"/>
                <a:ea typeface="华文楷体" panose="02010600040101010101" pitchFamily="2" charset="-122"/>
              </a:rPr>
              <a:t>——</a:t>
            </a:r>
            <a:r>
              <a:rPr lang="zh-CN" altLang="en-US" sz="2800" dirty="0">
                <a:solidFill>
                  <a:srgbClr val="FFFF00"/>
                </a:solidFill>
                <a:latin typeface="Arial" panose="020B0604020202020204" pitchFamily="34" charset="0"/>
                <a:ea typeface="华文楷体" panose="02010600040101010101" pitchFamily="2" charset="-122"/>
              </a:rPr>
              <a:t>平均停留时间</a:t>
            </a:r>
            <a:endParaRPr lang="zh-CN" altLang="en-US" sz="2800" dirty="0">
              <a:solidFill>
                <a:srgbClr val="FFFF00"/>
              </a:solidFill>
              <a:latin typeface="Arial" panose="020B0604020202020204" pitchFamily="34" charset="0"/>
              <a:ea typeface="华文楷体" panose="02010600040101010101" pitchFamily="2" charset="-122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-52387"/>
            <a:ext cx="9144000" cy="769938"/>
          </a:xfrm>
          <a:prstGeom prst="rect">
            <a:avLst/>
          </a:prstGeom>
          <a:gradFill rotWithShape="1">
            <a:gsLst>
              <a:gs pos="0">
                <a:srgbClr val="3366FF"/>
              </a:gs>
              <a:gs pos="100000">
                <a:srgbClr val="3366FF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anchor="ctr" anchorCtr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2.1 </a:t>
            </a: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干洁大气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21509" name="TextBox 4"/>
          <p:cNvSpPr txBox="1"/>
          <p:nvPr/>
        </p:nvSpPr>
        <p:spPr>
          <a:xfrm>
            <a:off x="250825" y="2051050"/>
            <a:ext cx="8713788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000" dirty="0">
                <a:latin typeface="Arial" panose="020B0604020202020204" pitchFamily="34" charset="0"/>
              </a:rPr>
              <a:t>平均滞留时间：该种成分的所有分子更新一次所需的时间，即“平均寿命”。</a:t>
            </a:r>
            <a:endParaRPr lang="zh-CN" altLang="en-US" sz="20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2530" name="Picture 3" descr="FG03_004"/>
          <p:cNvPicPr>
            <a:picLocks noChangeAspect="1"/>
          </p:cNvPicPr>
          <p:nvPr/>
        </p:nvPicPr>
        <p:blipFill>
          <a:blip r:embed="rId1"/>
          <a:srcRect l="20796" r="22026"/>
          <a:stretch>
            <a:fillRect/>
          </a:stretch>
        </p:blipFill>
        <p:spPr>
          <a:xfrm>
            <a:off x="1763713" y="908050"/>
            <a:ext cx="5216525" cy="5365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Text Box 6"/>
          <p:cNvSpPr txBox="1"/>
          <p:nvPr/>
        </p:nvSpPr>
        <p:spPr>
          <a:xfrm>
            <a:off x="250825" y="836613"/>
            <a:ext cx="2520950" cy="830262"/>
          </a:xfrm>
          <a:prstGeom prst="rect">
            <a:avLst/>
          </a:prstGeom>
          <a:noFill/>
          <a:ln w="19050" cap="flat" cmpd="sng">
            <a:solidFill>
              <a:srgbClr val="0066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algn="ctr" eaLnBrk="1" hangingPunct="1"/>
            <a:r>
              <a:rPr lang="en-US" altLang="zh-CN" sz="4800" dirty="0">
                <a:latin typeface="Arial" panose="020B0604020202020204" pitchFamily="34" charset="0"/>
              </a:rPr>
              <a:t>1. CO</a:t>
            </a:r>
            <a:r>
              <a:rPr lang="en-US" altLang="zh-CN" sz="4800" baseline="-25000" dirty="0">
                <a:latin typeface="Arial" panose="020B0604020202020204" pitchFamily="34" charset="0"/>
              </a:rPr>
              <a:t>2</a:t>
            </a:r>
            <a:endParaRPr lang="en-US" altLang="zh-CN" sz="4800" baseline="-25000" dirty="0">
              <a:latin typeface="Arial" panose="020B0604020202020204" pitchFamily="34" charset="0"/>
            </a:endParaRPr>
          </a:p>
        </p:txBody>
      </p:sp>
      <p:sp>
        <p:nvSpPr>
          <p:cNvPr id="200711" name="Text Box 7"/>
          <p:cNvSpPr txBox="1">
            <a:spLocks noChangeArrowheads="1"/>
          </p:cNvSpPr>
          <p:nvPr/>
        </p:nvSpPr>
        <p:spPr bwMode="auto">
          <a:xfrm>
            <a:off x="611188" y="2020888"/>
            <a:ext cx="8532813" cy="4583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en-US" sz="2200" kern="1200" cap="none" spc="0" normalizeH="0" baseline="0" noProof="0" dirty="0">
                <a:latin typeface="+mn-ea"/>
                <a:ea typeface="+mn-ea"/>
                <a:cs typeface="+mn-cs"/>
              </a:rPr>
              <a:t>◆ 最重要的</a:t>
            </a:r>
            <a:r>
              <a:rPr kumimoji="0" lang="zh-CN" altLang="en-US" sz="2200" kern="1200" cap="none" spc="0" normalizeH="0" baseline="0" noProof="0" dirty="0">
                <a:solidFill>
                  <a:srgbClr val="FF0000"/>
                </a:solidFill>
                <a:latin typeface="+mn-ea"/>
                <a:ea typeface="+mn-ea"/>
                <a:cs typeface="+mn-cs"/>
              </a:rPr>
              <a:t>温室气体</a:t>
            </a:r>
            <a:endParaRPr kumimoji="0" lang="zh-CN" altLang="en-US" sz="2200" kern="1200" cap="none" spc="0" normalizeH="0" baseline="0" noProof="0" dirty="0">
              <a:solidFill>
                <a:srgbClr val="FF0000"/>
              </a:solidFill>
              <a:latin typeface="+mn-ea"/>
              <a:ea typeface="+mn-ea"/>
              <a:cs typeface="+mn-cs"/>
            </a:endParaRPr>
          </a:p>
          <a:p>
            <a:pPr marR="0" defTabSz="914400" eaLnBrk="1" hangingPunct="1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en-US" sz="2200" kern="1200" cap="none" spc="0" normalizeH="0" baseline="0" noProof="0" dirty="0">
                <a:latin typeface="+mn-ea"/>
                <a:ea typeface="宋体" panose="02010600030101010101" pitchFamily="2" charset="-122"/>
                <a:cs typeface="+mn-cs"/>
              </a:rPr>
              <a:t>◆ </a:t>
            </a:r>
            <a:r>
              <a:rPr kumimoji="0" lang="zh-CN" altLang="en-US" sz="2200" kern="1200" cap="none" spc="0" normalizeH="0" baseline="0" noProof="0" dirty="0">
                <a:latin typeface="+mn-ea"/>
                <a:ea typeface="+mn-ea"/>
                <a:cs typeface="+mn-cs"/>
              </a:rPr>
              <a:t>主要的</a:t>
            </a:r>
            <a:r>
              <a:rPr kumimoji="0" lang="zh-CN" altLang="en-US" sz="2200" kern="1200" cap="none" spc="0" normalizeH="0" baseline="0" noProof="0" dirty="0">
                <a:solidFill>
                  <a:srgbClr val="FF0000"/>
                </a:solidFill>
                <a:latin typeface="+mn-ea"/>
                <a:ea typeface="+mn-ea"/>
                <a:cs typeface="+mn-cs"/>
              </a:rPr>
              <a:t>源</a:t>
            </a:r>
            <a:r>
              <a:rPr kumimoji="0" lang="zh-CN" altLang="en-US" sz="2200" kern="1200" cap="none" spc="0" normalizeH="0" baseline="0" noProof="0" dirty="0">
                <a:latin typeface="+mn-ea"/>
                <a:ea typeface="+mn-ea"/>
                <a:cs typeface="+mn-cs"/>
              </a:rPr>
              <a:t>：矿物燃料的燃烧和工业排放，</a:t>
            </a:r>
            <a:endParaRPr kumimoji="0" lang="zh-CN" altLang="en-US" sz="2200" kern="1200" cap="none" spc="0" normalizeH="0" baseline="0" noProof="0" dirty="0">
              <a:latin typeface="+mn-ea"/>
              <a:ea typeface="+mn-ea"/>
              <a:cs typeface="+mn-cs"/>
            </a:endParaRPr>
          </a:p>
          <a:p>
            <a:pPr marR="0" defTabSz="914400" eaLnBrk="1" hangingPunct="1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en-US" sz="2200" kern="1200" cap="none" spc="0" normalizeH="0" baseline="0" noProof="0" dirty="0">
                <a:latin typeface="+mn-ea"/>
                <a:ea typeface="+mn-ea"/>
                <a:cs typeface="+mn-cs"/>
              </a:rPr>
              <a:t>             死亡生物体的腐败和呼吸作用。</a:t>
            </a:r>
            <a:r>
              <a:rPr kumimoji="0" lang="zh-CN" altLang="en-US" sz="2200" kern="1200" cap="none" spc="0" normalizeH="0" baseline="0" noProof="0" dirty="0">
                <a:solidFill>
                  <a:srgbClr val="0000FF"/>
                </a:solidFill>
                <a:latin typeface="+mn-ea"/>
                <a:ea typeface="宋体" panose="02010600030101010101" pitchFamily="2" charset="-122"/>
                <a:cs typeface="+mn-cs"/>
              </a:rPr>
              <a:t>         </a:t>
            </a:r>
            <a:endParaRPr kumimoji="0" lang="en-US" altLang="zh-CN" sz="2200" kern="1200" cap="none" spc="0" normalizeH="0" baseline="0" noProof="0" dirty="0">
              <a:solidFill>
                <a:srgbClr val="0000FF"/>
              </a:solidFill>
              <a:latin typeface="+mn-ea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en-US" sz="2200" kern="1200" cap="none" spc="0" normalizeH="0" baseline="0" noProof="0" dirty="0">
                <a:solidFill>
                  <a:srgbClr val="0000FF"/>
                </a:solidFill>
                <a:latin typeface="+mn-ea"/>
                <a:ea typeface="宋体" panose="02010600030101010101" pitchFamily="2" charset="-122"/>
                <a:cs typeface="+mn-cs"/>
              </a:rPr>
              <a:t>         呼吸作用：</a:t>
            </a:r>
            <a:r>
              <a:rPr kumimoji="0" lang="en-US" altLang="zh-CN" sz="2200" kern="1200" cap="none" spc="0" normalizeH="0" baseline="0" noProof="0" dirty="0">
                <a:solidFill>
                  <a:srgbClr val="0000FF"/>
                </a:solidFill>
                <a:latin typeface="+mn-ea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200" kern="1200" cap="none" spc="0" normalizeH="0" baseline="0" noProof="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[CH2O]n+nO2=nCO2+nH2O</a:t>
            </a:r>
            <a:r>
              <a:rPr kumimoji="0" lang="en-US" altLang="zh-CN" sz="2200" kern="1200" cap="none" spc="0" normalizeH="0" baseline="0" noProof="0" dirty="0">
                <a:solidFill>
                  <a:schemeClr val="accent2"/>
                </a:solidFill>
                <a:latin typeface="+mn-ea"/>
                <a:ea typeface="+mn-ea"/>
                <a:cs typeface="+mn-cs"/>
              </a:rPr>
              <a:t>   </a:t>
            </a:r>
            <a:endParaRPr kumimoji="0" lang="en-US" altLang="zh-CN" sz="2200" kern="1200" cap="none" spc="0" normalizeH="0" baseline="0" noProof="0" dirty="0">
              <a:solidFill>
                <a:schemeClr val="accent2"/>
              </a:solidFill>
              <a:latin typeface="+mn-ea"/>
              <a:ea typeface="+mn-ea"/>
              <a:cs typeface="+mn-cs"/>
            </a:endParaRPr>
          </a:p>
          <a:p>
            <a:pPr marR="0" defTabSz="914400" eaLnBrk="1" hangingPunct="1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en-US" altLang="zh-CN" sz="2200" kern="1200" cap="none" spc="0" normalizeH="0" baseline="0" noProof="0" dirty="0">
                <a:solidFill>
                  <a:schemeClr val="accent2"/>
                </a:solidFill>
                <a:latin typeface="+mn-ea"/>
                <a:ea typeface="+mn-ea"/>
                <a:cs typeface="+mn-cs"/>
              </a:rPr>
              <a:t>  </a:t>
            </a:r>
            <a:endParaRPr kumimoji="0" lang="zh-CN" altLang="en-US" sz="2200" kern="1200" cap="none" spc="0" normalizeH="0" baseline="0" noProof="0" dirty="0">
              <a:latin typeface="+mn-ea"/>
              <a:ea typeface="+mn-ea"/>
              <a:cs typeface="+mn-cs"/>
            </a:endParaRPr>
          </a:p>
          <a:p>
            <a:pPr marR="0" defTabSz="914400" eaLnBrk="1" hangingPunct="1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en-US" sz="2200" kern="1200" cap="none" spc="0" normalizeH="0" baseline="0" noProof="0" dirty="0">
                <a:latin typeface="+mn-ea"/>
                <a:ea typeface="宋体" panose="02010600030101010101" pitchFamily="2" charset="-122"/>
                <a:cs typeface="+mn-cs"/>
              </a:rPr>
              <a:t>◆ </a:t>
            </a:r>
            <a:r>
              <a:rPr kumimoji="0" lang="zh-CN" altLang="en-US" sz="2200" kern="1200" cap="none" spc="0" normalizeH="0" baseline="0" noProof="0" dirty="0">
                <a:latin typeface="+mn-ea"/>
                <a:ea typeface="+mn-ea"/>
                <a:cs typeface="+mn-cs"/>
              </a:rPr>
              <a:t>主要的</a:t>
            </a:r>
            <a:r>
              <a:rPr kumimoji="0" lang="zh-CN" altLang="en-US" sz="2200" kern="1200" cap="none" spc="0" normalizeH="0" baseline="0" noProof="0" dirty="0">
                <a:solidFill>
                  <a:srgbClr val="FF0000"/>
                </a:solidFill>
                <a:latin typeface="+mn-ea"/>
                <a:ea typeface="+mn-ea"/>
                <a:cs typeface="+mn-cs"/>
              </a:rPr>
              <a:t>汇</a:t>
            </a:r>
            <a:r>
              <a:rPr kumimoji="0" lang="zh-CN" altLang="en-US" sz="2200" kern="1200" cap="none" spc="0" normalizeH="0" baseline="0" noProof="0" dirty="0">
                <a:latin typeface="+mn-ea"/>
                <a:ea typeface="+mn-ea"/>
                <a:cs typeface="+mn-cs"/>
              </a:rPr>
              <a:t>：海洋，植被</a:t>
            </a:r>
            <a:endParaRPr kumimoji="0" lang="en-US" altLang="zh-CN" sz="2200" kern="1200" cap="none" spc="0" normalizeH="0" baseline="0" noProof="0" dirty="0">
              <a:latin typeface="+mn-ea"/>
              <a:ea typeface="+mn-ea"/>
              <a:cs typeface="+mn-cs"/>
            </a:endParaRPr>
          </a:p>
          <a:p>
            <a:pPr marR="0" defTabSz="914400" eaLnBrk="1" hangingPunct="1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en-US" altLang="zh-CN" sz="2200" kern="1200" cap="none" spc="0" normalizeH="0" baseline="0" noProof="0" dirty="0">
                <a:latin typeface="+mn-ea"/>
                <a:ea typeface="+mn-ea"/>
                <a:cs typeface="+mn-cs"/>
              </a:rPr>
              <a:t>     </a:t>
            </a:r>
            <a:r>
              <a:rPr kumimoji="0" lang="zh-CN" altLang="en-US" sz="2200" kern="1200" cap="none" spc="0" normalizeH="0" baseline="0" noProof="0" dirty="0">
                <a:latin typeface="+mn-ea"/>
                <a:ea typeface="+mn-ea"/>
                <a:cs typeface="+mn-cs"/>
              </a:rPr>
              <a:t>高纬度海洋是汇，低纬度热带海洋是源，总体而言是汇。</a:t>
            </a:r>
            <a:endParaRPr kumimoji="0" lang="en-US" altLang="zh-CN" sz="2200" kern="1200" cap="none" spc="0" normalizeH="0" baseline="0" noProof="0" dirty="0">
              <a:latin typeface="+mn-ea"/>
              <a:ea typeface="+mn-ea"/>
              <a:cs typeface="+mn-cs"/>
            </a:endParaRPr>
          </a:p>
          <a:p>
            <a:pPr marR="0" defTabSz="914400" eaLnBrk="1" hangingPunct="1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en-US" sz="2200" kern="1200" cap="none" spc="0" normalizeH="0" baseline="0" noProof="0" dirty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         光合作用：</a:t>
            </a:r>
            <a:r>
              <a:rPr kumimoji="0" lang="en-US" altLang="zh-CN" sz="2200" kern="1200" cap="none" spc="0" normalizeH="0" baseline="0" noProof="0" dirty="0">
                <a:solidFill>
                  <a:schemeClr val="accent2"/>
                </a:solidFill>
                <a:latin typeface="+mn-ea"/>
                <a:ea typeface="+mn-ea"/>
                <a:cs typeface="+mn-cs"/>
              </a:rPr>
              <a:t> </a:t>
            </a:r>
            <a:r>
              <a:rPr kumimoji="0" lang="en-US" altLang="zh-CN" sz="2200" kern="1200" cap="none" spc="0" normalizeH="0" baseline="0" noProof="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nCO2+nH2O=[CH2O]n+nO2</a:t>
            </a:r>
            <a:endParaRPr kumimoji="0" lang="en-US" altLang="zh-CN" sz="2200" kern="1200" cap="none" spc="0" normalizeH="0" baseline="0" noProof="0" dirty="0">
              <a:latin typeface="+mn-ea"/>
              <a:ea typeface="+mn-ea"/>
              <a:cs typeface="+mn-cs"/>
            </a:endParaRPr>
          </a:p>
          <a:p>
            <a:pPr marR="0" defTabSz="914400" eaLnBrk="1" hangingPunct="1">
              <a:lnSpc>
                <a:spcPct val="150000"/>
              </a:lnSpc>
              <a:buClrTx/>
              <a:buSzTx/>
              <a:buFontTx/>
              <a:buNone/>
              <a:defRPr/>
            </a:pPr>
            <a:endParaRPr kumimoji="0" lang="zh-CN" altLang="en-US" sz="2200" kern="1200" cap="none" spc="0" normalizeH="0" baseline="0" noProof="0" dirty="0">
              <a:latin typeface="+mn-ea"/>
              <a:ea typeface="+mn-ea"/>
              <a:cs typeface="+mn-cs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-26987"/>
            <a:ext cx="9144000" cy="719138"/>
          </a:xfrm>
          <a:prstGeom prst="rect">
            <a:avLst/>
          </a:prstGeom>
          <a:gradFill rotWithShape="1">
            <a:gsLst>
              <a:gs pos="0">
                <a:srgbClr val="3366FF"/>
              </a:gs>
              <a:gs pos="100000">
                <a:srgbClr val="3366FF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anchor="ctr" anchorCtr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一、碳的化合物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灯片编号占位符 1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b="0" dirty="0">
                <a:latin typeface="Tahoma" panose="020B0604030504040204" pitchFamily="34" charset="0"/>
              </a:rPr>
            </a:fld>
            <a:endParaRPr lang="en-US" altLang="zh-CN" sz="1400" b="0" dirty="0">
              <a:latin typeface="Tahoma" panose="020B0604030504040204" pitchFamily="34" charset="0"/>
            </a:endParaRPr>
          </a:p>
        </p:txBody>
      </p:sp>
      <p:pic>
        <p:nvPicPr>
          <p:cNvPr id="24579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0725" y="0"/>
            <a:ext cx="516255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9923" name="Text Box 3"/>
          <p:cNvSpPr txBox="1">
            <a:spLocks noChangeArrowheads="1"/>
          </p:cNvSpPr>
          <p:nvPr/>
        </p:nvSpPr>
        <p:spPr bwMode="auto">
          <a:xfrm>
            <a:off x="755650" y="2157413"/>
            <a:ext cx="6408738" cy="3924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en-US" sz="2200" kern="1200" cap="none" spc="0" normalizeH="0" baseline="0" noProof="0" dirty="0">
                <a:latin typeface="+mn-ea"/>
                <a:ea typeface="宋体" panose="02010600030101010101" pitchFamily="2" charset="-122"/>
                <a:cs typeface="+mn-cs"/>
              </a:rPr>
              <a:t>◆ </a:t>
            </a:r>
            <a:r>
              <a:rPr kumimoji="0" lang="zh-CN" altLang="en-US" sz="22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重要的</a:t>
            </a:r>
            <a:r>
              <a:rPr kumimoji="0" lang="zh-CN" altLang="en-US" sz="2200" kern="1200" cap="none" spc="0" normalizeH="0" baseline="0" noProof="0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温室气体</a:t>
            </a:r>
            <a:endParaRPr kumimoji="0" lang="zh-CN" altLang="en-US" sz="2200" kern="1200" cap="none" spc="0" normalizeH="0" baseline="0" noProof="0" dirty="0">
              <a:solidFill>
                <a:srgbClr val="FF0066"/>
              </a:solidFill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en-US" sz="2200" kern="1200" cap="none" spc="0" normalizeH="0" baseline="0" noProof="0" dirty="0">
                <a:latin typeface="+mn-ea"/>
                <a:ea typeface="宋体" panose="02010600030101010101" pitchFamily="2" charset="-122"/>
                <a:cs typeface="+mn-cs"/>
              </a:rPr>
              <a:t>◆ </a:t>
            </a:r>
            <a:r>
              <a:rPr kumimoji="0" lang="zh-CN" altLang="en-US" sz="22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主要的</a:t>
            </a:r>
            <a:r>
              <a:rPr kumimoji="0" lang="zh-CN" altLang="en-US" sz="2200" kern="1200" cap="none" spc="0" normalizeH="0" baseline="0" noProof="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源</a:t>
            </a:r>
            <a:r>
              <a:rPr kumimoji="0" lang="zh-CN" altLang="en-US" sz="22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：生物体腐败后被细菌分解生成，</a:t>
            </a:r>
            <a:endParaRPr kumimoji="0" lang="en-US" altLang="zh-CN" sz="2200" kern="1200" cap="none" spc="0" normalizeH="0" baseline="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en-US" altLang="zh-CN" sz="22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                </a:t>
            </a:r>
            <a:r>
              <a:rPr kumimoji="0" lang="zh-CN" altLang="en-US" sz="22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天然气和污水，工业废水。                  </a:t>
            </a:r>
            <a:endParaRPr kumimoji="0" lang="zh-CN" altLang="en-US" sz="2200" kern="1200" cap="none" spc="0" normalizeH="0" baseline="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en-US" sz="2200" kern="1200" cap="none" spc="0" normalizeH="0" baseline="0" noProof="0" dirty="0">
                <a:latin typeface="+mn-ea"/>
                <a:ea typeface="宋体" panose="02010600030101010101" pitchFamily="2" charset="-122"/>
                <a:cs typeface="+mn-cs"/>
              </a:rPr>
              <a:t>◆ </a:t>
            </a:r>
            <a:r>
              <a:rPr kumimoji="0" lang="zh-CN" altLang="en-US" sz="2200" kern="1200" cap="none" spc="0" normalizeH="0" baseline="0" noProof="0" dirty="0">
                <a:solidFill>
                  <a:srgbClr val="FF0000"/>
                </a:solidFill>
                <a:latin typeface="+mn-ea"/>
                <a:ea typeface="宋体" panose="02010600030101010101" pitchFamily="2" charset="-122"/>
                <a:cs typeface="+mn-cs"/>
              </a:rPr>
              <a:t>汇</a:t>
            </a:r>
            <a:r>
              <a:rPr kumimoji="0" lang="zh-CN" altLang="en-US" sz="2200" kern="1200" cap="none" spc="0" normalizeH="0" baseline="0" noProof="0" dirty="0">
                <a:latin typeface="+mn-ea"/>
                <a:ea typeface="宋体" panose="02010600030101010101" pitchFamily="2" charset="-122"/>
                <a:cs typeface="+mn-cs"/>
              </a:rPr>
              <a:t>：</a:t>
            </a:r>
            <a:r>
              <a:rPr kumimoji="0" lang="zh-CN" altLang="en-US" sz="22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是一种</a:t>
            </a:r>
            <a:r>
              <a:rPr kumimoji="0" lang="zh-CN" altLang="en-US" sz="2200" kern="1200" cap="none" spc="0" normalizeH="0" baseline="0" noProof="0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化学活性气体</a:t>
            </a:r>
            <a:endParaRPr kumimoji="0" lang="zh-CN" altLang="en-US" sz="2200" kern="1200" cap="none" spc="0" normalizeH="0" baseline="0" noProof="0" dirty="0">
              <a:solidFill>
                <a:srgbClr val="FF0066"/>
              </a:solidFill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en-US" altLang="zh-CN" sz="2200" kern="1200" cap="none" spc="0" normalizeH="0" baseline="0" noProof="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   </a:t>
            </a:r>
            <a:r>
              <a:rPr kumimoji="0" lang="zh-CN" altLang="en-US" sz="22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对流层</a:t>
            </a:r>
            <a:r>
              <a:rPr kumimoji="0" lang="en-US" altLang="zh-CN" sz="22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:</a:t>
            </a:r>
            <a:r>
              <a:rPr kumimoji="0" lang="en-US" altLang="zh-CN" sz="2200" kern="1200" cap="none" spc="0" normalizeH="0" baseline="0" noProof="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CH</a:t>
            </a:r>
            <a:r>
              <a:rPr kumimoji="0" lang="en-US" altLang="zh-CN" sz="2200" kern="1200" cap="none" spc="0" normalizeH="0" baseline="-25000" noProof="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</a:t>
            </a:r>
            <a:r>
              <a:rPr kumimoji="0" lang="en-US" altLang="zh-CN" sz="2200" kern="1200" cap="none" spc="0" normalizeH="0" baseline="0" noProof="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+ OH → CO</a:t>
            </a:r>
            <a:r>
              <a:rPr kumimoji="0" lang="en-US" altLang="zh-CN" sz="2200" kern="1200" cap="none" spc="0" normalizeH="0" baseline="-25000" noProof="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2200" kern="1200" cap="none" spc="0" normalizeH="0" baseline="0" noProof="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+ H</a:t>
            </a:r>
            <a:r>
              <a:rPr kumimoji="0" lang="en-US" altLang="zh-CN" sz="2200" kern="1200" cap="none" spc="0" normalizeH="0" baseline="-25000" noProof="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2200" kern="1200" cap="none" spc="0" normalizeH="0" baseline="0" noProof="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</a:t>
            </a:r>
            <a:endParaRPr kumimoji="0" lang="en-US" altLang="zh-CN" sz="2200" kern="1200" cap="none" spc="0" normalizeH="0" baseline="0" noProof="0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en-US" altLang="zh-CN" sz="22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   </a:t>
            </a:r>
            <a:r>
              <a:rPr kumimoji="0" lang="zh-CN" altLang="en-US" sz="22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平流层</a:t>
            </a:r>
            <a:r>
              <a:rPr kumimoji="0" lang="en-US" altLang="zh-CN" sz="22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: OH, Cl, O(</a:t>
            </a:r>
            <a:r>
              <a:rPr kumimoji="0" lang="en-US" altLang="zh-CN" sz="2200" kern="1200" cap="none" spc="0" normalizeH="0" baseline="3000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22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D)</a:t>
            </a:r>
            <a:r>
              <a:rPr kumimoji="0" lang="zh-CN" altLang="en-US" sz="22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的破坏。</a:t>
            </a:r>
            <a:endParaRPr kumimoji="0" lang="en-US" altLang="zh-CN" sz="2200" kern="1200" cap="none" spc="0" normalizeH="0" baseline="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en-US" sz="2200" kern="1200" cap="none" spc="0" normalizeH="0" baseline="0" noProof="0" dirty="0">
                <a:latin typeface="+mn-ea"/>
                <a:ea typeface="宋体" panose="02010600030101010101" pitchFamily="2" charset="-122"/>
                <a:cs typeface="+mn-cs"/>
              </a:rPr>
              <a:t>◆ </a:t>
            </a:r>
            <a:r>
              <a:rPr kumimoji="0" lang="zh-CN" altLang="en-US" sz="22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在对流层内均匀混合，当前浓度约</a:t>
            </a:r>
            <a:r>
              <a:rPr kumimoji="0" lang="en-US" altLang="zh-CN" sz="22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1.8 </a:t>
            </a:r>
            <a:r>
              <a:rPr kumimoji="0" lang="en-US" altLang="zh-CN" sz="2200" kern="1200" cap="none" spc="0" normalizeH="0" baseline="0" noProof="0" dirty="0" err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ppmv</a:t>
            </a:r>
            <a:endParaRPr kumimoji="0" lang="en-US" altLang="zh-CN" sz="2200" kern="1200" cap="none" spc="0" normalizeH="0" baseline="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endParaRPr kumimoji="0" lang="zh-CN" altLang="en-US" kern="1200" cap="none" spc="0" normalizeH="0" baseline="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603" name="Text Box 6"/>
          <p:cNvSpPr txBox="1"/>
          <p:nvPr/>
        </p:nvSpPr>
        <p:spPr>
          <a:xfrm>
            <a:off x="250825" y="836613"/>
            <a:ext cx="2376488" cy="830262"/>
          </a:xfrm>
          <a:prstGeom prst="rect">
            <a:avLst/>
          </a:prstGeom>
          <a:noFill/>
          <a:ln w="19050" cap="flat" cmpd="sng">
            <a:solidFill>
              <a:srgbClr val="0066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algn="ctr" eaLnBrk="1" hangingPunct="1"/>
            <a:r>
              <a:rPr lang="en-US" altLang="zh-CN" sz="4800" dirty="0">
                <a:latin typeface="Arial" panose="020B0604020202020204" pitchFamily="34" charset="0"/>
              </a:rPr>
              <a:t>2. CH</a:t>
            </a:r>
            <a:r>
              <a:rPr lang="en-US" altLang="zh-CN" sz="4800" baseline="-25000" dirty="0">
                <a:latin typeface="Arial" panose="020B0604020202020204" pitchFamily="34" charset="0"/>
              </a:rPr>
              <a:t>4</a:t>
            </a:r>
            <a:endParaRPr lang="en-US" altLang="zh-CN" sz="4800" baseline="-25000" dirty="0">
              <a:latin typeface="Arial" panose="020B0604020202020204" pitchFamily="34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-26987"/>
            <a:ext cx="9144000" cy="719138"/>
          </a:xfrm>
          <a:prstGeom prst="rect">
            <a:avLst/>
          </a:prstGeom>
          <a:gradFill rotWithShape="1">
            <a:gsLst>
              <a:gs pos="0">
                <a:srgbClr val="3366FF"/>
              </a:gs>
              <a:gs pos="100000">
                <a:srgbClr val="3366FF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anchor="ctr" anchorCtr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一、碳的化合物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Text Box 3"/>
          <p:cNvSpPr txBox="1"/>
          <p:nvPr/>
        </p:nvSpPr>
        <p:spPr>
          <a:xfrm>
            <a:off x="2987675" y="1196975"/>
            <a:ext cx="3063875" cy="769938"/>
          </a:xfrm>
          <a:prstGeom prst="rect">
            <a:avLst/>
          </a:prstGeom>
          <a:noFill/>
          <a:ln w="19050" cap="flat" cmpd="sng">
            <a:solidFill>
              <a:srgbClr val="0066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pPr eaLnBrk="1" hangingPunct="1"/>
            <a:r>
              <a:rPr lang="en-US" altLang="zh-CN" sz="4400" dirty="0">
                <a:latin typeface="Arial" panose="020B0604020202020204" pitchFamily="34" charset="0"/>
              </a:rPr>
              <a:t>CH</a:t>
            </a:r>
            <a:r>
              <a:rPr lang="en-US" altLang="zh-CN" sz="4400" baseline="-25000" dirty="0">
                <a:latin typeface="Arial" panose="020B0604020202020204" pitchFamily="34" charset="0"/>
              </a:rPr>
              <a:t>4</a:t>
            </a:r>
            <a:r>
              <a:rPr lang="en-US" altLang="zh-CN" sz="4400" dirty="0">
                <a:latin typeface="Arial" panose="020B0604020202020204" pitchFamily="34" charset="0"/>
              </a:rPr>
              <a:t> </a:t>
            </a:r>
            <a:r>
              <a:rPr lang="zh-CN" altLang="en-US" sz="4400" dirty="0">
                <a:latin typeface="Arial" panose="020B0604020202020204" pitchFamily="34" charset="0"/>
              </a:rPr>
              <a:t>的分布</a:t>
            </a:r>
            <a:endParaRPr lang="zh-CN" altLang="en-US" sz="4400" dirty="0">
              <a:latin typeface="Arial" panose="020B0604020202020204" pitchFamily="34" charset="0"/>
            </a:endParaRPr>
          </a:p>
        </p:txBody>
      </p:sp>
      <p:pic>
        <p:nvPicPr>
          <p:cNvPr id="26627" name="Picture 5" descr="ch4_h2o_cli"/>
          <p:cNvPicPr>
            <a:picLocks noChangeAspect="1"/>
          </p:cNvPicPr>
          <p:nvPr/>
        </p:nvPicPr>
        <p:blipFill>
          <a:blip r:embed="rId1"/>
          <a:srcRect l="49637" b="50967"/>
          <a:stretch>
            <a:fillRect/>
          </a:stretch>
        </p:blipFill>
        <p:spPr>
          <a:xfrm>
            <a:off x="323850" y="2473325"/>
            <a:ext cx="8351838" cy="43846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-26987"/>
            <a:ext cx="9144000" cy="719138"/>
          </a:xfrm>
          <a:prstGeom prst="rect">
            <a:avLst/>
          </a:prstGeom>
          <a:gradFill rotWithShape="1">
            <a:gsLst>
              <a:gs pos="0">
                <a:srgbClr val="3366FF"/>
              </a:gs>
              <a:gs pos="100000">
                <a:srgbClr val="3366FF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anchor="ctr" anchorCtr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一、碳的化合物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9923" name="Text Box 3"/>
          <p:cNvSpPr txBox="1">
            <a:spLocks noChangeArrowheads="1"/>
          </p:cNvSpPr>
          <p:nvPr/>
        </p:nvSpPr>
        <p:spPr bwMode="auto">
          <a:xfrm>
            <a:off x="755650" y="2601913"/>
            <a:ext cx="6408738" cy="2800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lnSpc>
                <a:spcPct val="200000"/>
              </a:lnSpc>
              <a:buClrTx/>
              <a:buSzTx/>
              <a:buFontTx/>
              <a:buNone/>
              <a:defRPr/>
            </a:pPr>
            <a:r>
              <a:rPr kumimoji="0" lang="zh-CN" altLang="en-US" sz="2200" kern="1200" cap="none" spc="0" normalizeH="0" baseline="0" noProof="0" dirty="0">
                <a:latin typeface="+mn-ea"/>
                <a:ea typeface="宋体" panose="02010600030101010101" pitchFamily="2" charset="-122"/>
                <a:cs typeface="+mn-cs"/>
              </a:rPr>
              <a:t>◆ </a:t>
            </a:r>
            <a:r>
              <a:rPr kumimoji="0" lang="zh-CN" altLang="en-US" sz="22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重要的</a:t>
            </a:r>
            <a:r>
              <a:rPr kumimoji="0" lang="zh-CN" altLang="en-US" sz="2200" kern="1200" cap="none" spc="0" normalizeH="0" baseline="0" noProof="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温室气体</a:t>
            </a:r>
            <a:endParaRPr kumimoji="0" lang="zh-CN" altLang="en-US" sz="2200" kern="1200" cap="none" spc="0" normalizeH="0" baseline="0" noProof="0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lnSpc>
                <a:spcPct val="200000"/>
              </a:lnSpc>
              <a:buClrTx/>
              <a:buSzTx/>
              <a:buFontTx/>
              <a:buNone/>
              <a:defRPr/>
            </a:pPr>
            <a:r>
              <a:rPr kumimoji="0" lang="zh-CN" altLang="en-US" sz="2200" kern="1200" cap="none" spc="0" normalizeH="0" baseline="0" noProof="0" dirty="0">
                <a:latin typeface="+mn-ea"/>
                <a:ea typeface="宋体" panose="02010600030101010101" pitchFamily="2" charset="-122"/>
                <a:cs typeface="+mn-cs"/>
              </a:rPr>
              <a:t>◆ 性质非常稳定且无毒</a:t>
            </a:r>
            <a:r>
              <a:rPr kumimoji="0" lang="en-US" altLang="zh-CN" sz="2200" kern="1200" cap="none" spc="0" normalizeH="0" baseline="0" noProof="0" dirty="0">
                <a:latin typeface="+mn-ea"/>
                <a:ea typeface="宋体" panose="02010600030101010101" pitchFamily="2" charset="-122"/>
                <a:cs typeface="+mn-cs"/>
              </a:rPr>
              <a:t>——</a:t>
            </a:r>
            <a:r>
              <a:rPr kumimoji="0" lang="zh-CN" altLang="en-US" sz="2200" kern="1200" cap="none" spc="0" normalizeH="0" baseline="0" noProof="0" dirty="0">
                <a:latin typeface="+mn-ea"/>
                <a:ea typeface="宋体" panose="02010600030101010101" pitchFamily="2" charset="-122"/>
                <a:cs typeface="+mn-cs"/>
              </a:rPr>
              <a:t>制冷剂</a:t>
            </a:r>
            <a:endParaRPr kumimoji="0" lang="en-US" altLang="zh-CN" sz="2200" kern="1200" cap="none" spc="0" normalizeH="0" baseline="0" noProof="0" dirty="0">
              <a:latin typeface="+mn-ea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lnSpc>
                <a:spcPct val="200000"/>
              </a:lnSpc>
              <a:buClrTx/>
              <a:buSzTx/>
              <a:buFontTx/>
              <a:buNone/>
              <a:defRPr/>
            </a:pPr>
            <a:r>
              <a:rPr kumimoji="0" lang="zh-CN" altLang="en-US" sz="2200" kern="1200" cap="none" spc="0" normalizeH="0" baseline="0" noProof="0" dirty="0">
                <a:latin typeface="+mn-ea"/>
                <a:ea typeface="宋体" panose="02010600030101010101" pitchFamily="2" charset="-122"/>
                <a:cs typeface="+mn-cs"/>
              </a:rPr>
              <a:t>◆ 在</a:t>
            </a:r>
            <a:r>
              <a:rPr kumimoji="0" lang="zh-CN" altLang="en-US" sz="2200" kern="1200" cap="none" spc="0" normalizeH="0" baseline="0" noProof="0" dirty="0">
                <a:solidFill>
                  <a:srgbClr val="FF0000"/>
                </a:solidFill>
                <a:latin typeface="+mn-ea"/>
                <a:ea typeface="宋体" panose="02010600030101010101" pitchFamily="2" charset="-122"/>
                <a:cs typeface="+mn-cs"/>
              </a:rPr>
              <a:t>对流层</a:t>
            </a:r>
            <a:r>
              <a:rPr kumimoji="0" lang="zh-CN" altLang="en-US" sz="2200" kern="1200" cap="none" spc="0" normalizeH="0" baseline="0" noProof="0" dirty="0">
                <a:latin typeface="+mn-ea"/>
                <a:ea typeface="宋体" panose="02010600030101010101" pitchFamily="2" charset="-122"/>
                <a:cs typeface="+mn-cs"/>
              </a:rPr>
              <a:t>呈惰性</a:t>
            </a:r>
            <a:endParaRPr kumimoji="0" lang="zh-CN" altLang="en-US" sz="2200" kern="1200" cap="none" spc="0" normalizeH="0" baseline="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lnSpc>
                <a:spcPct val="200000"/>
              </a:lnSpc>
              <a:buClrTx/>
              <a:buSzTx/>
              <a:buFontTx/>
              <a:buNone/>
              <a:defRPr/>
            </a:pPr>
            <a:r>
              <a:rPr kumimoji="0" lang="zh-CN" altLang="en-US" sz="2200" kern="1200" cap="none" spc="0" normalizeH="0" baseline="0" noProof="0" dirty="0">
                <a:latin typeface="+mn-ea"/>
                <a:ea typeface="宋体" panose="02010600030101010101" pitchFamily="2" charset="-122"/>
                <a:cs typeface="+mn-cs"/>
              </a:rPr>
              <a:t>◆ 在</a:t>
            </a:r>
            <a:r>
              <a:rPr kumimoji="0" lang="zh-CN" altLang="en-US" sz="2200" kern="1200" cap="none" spc="0" normalizeH="0" baseline="0" noProof="0" dirty="0">
                <a:solidFill>
                  <a:srgbClr val="FF0000"/>
                </a:solidFill>
                <a:latin typeface="+mn-ea"/>
                <a:ea typeface="宋体" panose="02010600030101010101" pitchFamily="2" charset="-122"/>
                <a:cs typeface="+mn-cs"/>
              </a:rPr>
              <a:t>平流层</a:t>
            </a:r>
            <a:r>
              <a:rPr kumimoji="0" lang="zh-CN" altLang="en-US" sz="2200" kern="1200" cap="none" spc="0" normalizeH="0" baseline="0" noProof="0" dirty="0">
                <a:latin typeface="+mn-ea"/>
                <a:ea typeface="宋体" panose="02010600030101010101" pitchFamily="2" charset="-122"/>
                <a:cs typeface="+mn-cs"/>
              </a:rPr>
              <a:t>内光化学分解产生</a:t>
            </a:r>
            <a:r>
              <a:rPr kumimoji="0" lang="en-US" altLang="zh-CN" sz="2200" kern="1200" cap="none" spc="0" normalizeH="0" baseline="0" noProof="0" dirty="0" err="1">
                <a:latin typeface="+mn-ea"/>
                <a:ea typeface="宋体" panose="02010600030101010101" pitchFamily="2" charset="-122"/>
                <a:cs typeface="+mn-cs"/>
              </a:rPr>
              <a:t>Cl</a:t>
            </a:r>
            <a:r>
              <a:rPr kumimoji="0" lang="zh-CN" altLang="en-US" sz="2200" kern="1200" cap="none" spc="0" normalizeH="0" baseline="0" noProof="0" dirty="0">
                <a:latin typeface="+mn-ea"/>
                <a:ea typeface="宋体" panose="02010600030101010101" pitchFamily="2" charset="-122"/>
                <a:cs typeface="+mn-cs"/>
              </a:rPr>
              <a:t>，</a:t>
            </a:r>
            <a:r>
              <a:rPr kumimoji="0" lang="zh-CN" altLang="en-US" sz="2200" kern="1200" cap="none" spc="0" normalizeH="0" baseline="0" noProof="0" dirty="0">
                <a:solidFill>
                  <a:srgbClr val="FF0000"/>
                </a:solidFill>
                <a:latin typeface="+mn-ea"/>
                <a:ea typeface="宋体" panose="02010600030101010101" pitchFamily="2" charset="-122"/>
                <a:cs typeface="+mn-cs"/>
              </a:rPr>
              <a:t>破坏臭氧层</a:t>
            </a:r>
            <a:endParaRPr kumimoji="0" lang="zh-CN" altLang="en-US" sz="2200" kern="1200" cap="none" spc="0" normalizeH="0" baseline="0" noProof="0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651" name="TextBox 4"/>
          <p:cNvSpPr txBox="1"/>
          <p:nvPr/>
        </p:nvSpPr>
        <p:spPr>
          <a:xfrm>
            <a:off x="684213" y="1125538"/>
            <a:ext cx="4032250" cy="755650"/>
          </a:xfrm>
          <a:prstGeom prst="rect">
            <a:avLst/>
          </a:prstGeom>
          <a:noFill/>
          <a:ln w="19050" cap="flat" cmpd="sng">
            <a:solidFill>
              <a:srgbClr val="0066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algn="ctr" eaLnBrk="1" hangingPunct="1"/>
            <a:r>
              <a:rPr lang="en-US" altLang="zh-CN" sz="4400" baseline="-25000" dirty="0">
                <a:latin typeface="Arial" panose="020B0604020202020204" pitchFamily="34" charset="0"/>
              </a:rPr>
              <a:t>3. </a:t>
            </a:r>
            <a:r>
              <a:rPr lang="zh-CN" altLang="en-US" sz="4400" baseline="-25000" dirty="0">
                <a:latin typeface="Arial" panose="020B0604020202020204" pitchFamily="34" charset="0"/>
              </a:rPr>
              <a:t>氟氯化碳化合物</a:t>
            </a:r>
            <a:endParaRPr lang="en-US" altLang="zh-CN" sz="4400" baseline="-25000" dirty="0">
              <a:latin typeface="Arial" panose="020B0604020202020204" pitchFamily="34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-26987"/>
            <a:ext cx="9144000" cy="719138"/>
          </a:xfrm>
          <a:prstGeom prst="rect">
            <a:avLst/>
          </a:prstGeom>
          <a:gradFill rotWithShape="1">
            <a:gsLst>
              <a:gs pos="0">
                <a:srgbClr val="3366FF"/>
              </a:gs>
              <a:gs pos="100000">
                <a:srgbClr val="3366FF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anchor="ctr" anchorCtr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一、碳的化合物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6682" name="Text Box 10"/>
          <p:cNvSpPr txBox="1">
            <a:spLocks noChangeArrowheads="1"/>
          </p:cNvSpPr>
          <p:nvPr/>
        </p:nvSpPr>
        <p:spPr bwMode="auto">
          <a:xfrm>
            <a:off x="477838" y="1844675"/>
            <a:ext cx="7597775" cy="34782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 eaLnBrk="1" hangingPunct="1">
              <a:lnSpc>
                <a:spcPct val="200000"/>
              </a:lnSpc>
              <a:buClrTx/>
              <a:buSzTx/>
              <a:buFontTx/>
              <a:buNone/>
              <a:defRPr/>
            </a:pPr>
            <a:r>
              <a:rPr kumimoji="0" lang="zh-CN" altLang="en-US" sz="2200" kern="1200" cap="none" spc="0" normalizeH="0" baseline="0" noProof="0" dirty="0">
                <a:latin typeface="+mn-ea"/>
                <a:ea typeface="宋体" panose="02010600030101010101" pitchFamily="2" charset="-122"/>
                <a:cs typeface="+mn-cs"/>
              </a:rPr>
              <a:t>◆ </a:t>
            </a:r>
            <a:r>
              <a:rPr kumimoji="0" lang="zh-CN" altLang="en-US" sz="2200" kern="1200" cap="none" spc="0" normalizeH="0" baseline="0" noProof="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极大值</a:t>
            </a:r>
            <a:r>
              <a:rPr kumimoji="0" lang="zh-CN" altLang="en-US" sz="22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在</a:t>
            </a:r>
            <a:r>
              <a:rPr kumimoji="0" lang="en-US" altLang="zh-CN" sz="22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20-30 km</a:t>
            </a:r>
            <a:r>
              <a:rPr kumimoji="0" lang="zh-CN" altLang="en-US" sz="22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高度之间</a:t>
            </a:r>
            <a:endParaRPr kumimoji="0" lang="en-US" altLang="zh-CN" sz="2200" kern="1200" cap="none" spc="0" normalizeH="0" baseline="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080135" marR="0" indent="-457200" defTabSz="914400" eaLnBrk="1" hangingPunct="1">
              <a:lnSpc>
                <a:spcPct val="200000"/>
              </a:lnSpc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200" kern="1200" cap="none" spc="0" normalizeH="0" baseline="0" noProof="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吸收紫外线保护地球</a:t>
            </a:r>
            <a:endParaRPr kumimoji="0" lang="en-US" altLang="zh-CN" sz="2200" kern="1200" cap="none" spc="0" normalizeH="0" baseline="0" noProof="0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080135" marR="0" indent="-457200" defTabSz="914400" eaLnBrk="1" hangingPunct="1">
              <a:lnSpc>
                <a:spcPct val="200000"/>
              </a:lnSpc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200" kern="1200" cap="none" spc="0" normalizeH="0" baseline="0" noProof="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影响平流层对流层的辐射收支</a:t>
            </a:r>
            <a:endParaRPr kumimoji="0" lang="en-US" altLang="zh-CN" sz="2200" kern="1200" cap="none" spc="0" normalizeH="0" baseline="0" noProof="0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lnSpc>
                <a:spcPct val="200000"/>
              </a:lnSpc>
              <a:buClrTx/>
              <a:buSzTx/>
              <a:buFontTx/>
              <a:buNone/>
              <a:defRPr/>
            </a:pPr>
            <a:r>
              <a:rPr kumimoji="0" lang="zh-CN" altLang="en-US" sz="2200" kern="1200" cap="none" spc="0" normalizeH="0" baseline="0" noProof="0" dirty="0">
                <a:latin typeface="+mn-ea"/>
                <a:ea typeface="宋体" panose="02010600030101010101" pitchFamily="2" charset="-122"/>
                <a:cs typeface="+mn-cs"/>
              </a:rPr>
              <a:t>◆ </a:t>
            </a:r>
            <a:r>
              <a:rPr kumimoji="0" lang="zh-CN" altLang="en-US" sz="2200" kern="1200" cap="none" spc="0" normalizeH="0" baseline="0" noProof="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化学活性气体</a:t>
            </a:r>
            <a:endParaRPr kumimoji="0" lang="en-US" altLang="zh-CN" sz="2200" kern="1200" cap="none" spc="0" normalizeH="0" baseline="0" noProof="0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lnSpc>
                <a:spcPct val="200000"/>
              </a:lnSpc>
              <a:buClrTx/>
              <a:buSzTx/>
              <a:buFontTx/>
              <a:buNone/>
              <a:defRPr/>
            </a:pPr>
            <a:r>
              <a:rPr kumimoji="0" lang="zh-CN" altLang="en-US" sz="2200" kern="1200" cap="none" spc="0" normalizeH="0" baseline="0" noProof="0" dirty="0">
                <a:latin typeface="+mn-ea"/>
                <a:ea typeface="宋体" panose="02010600030101010101" pitchFamily="2" charset="-122"/>
                <a:cs typeface="+mn-cs"/>
              </a:rPr>
              <a:t>◆ </a:t>
            </a:r>
            <a:r>
              <a:rPr kumimoji="0" lang="zh-CN" altLang="en-US" sz="2200" kern="1200" cap="none" spc="0" normalizeH="0" baseline="0" noProof="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浓度表示</a:t>
            </a:r>
            <a:r>
              <a:rPr kumimoji="0" lang="zh-CN" altLang="en-US" sz="22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方法：</a:t>
            </a:r>
            <a:r>
              <a:rPr kumimoji="0" lang="en-US" altLang="zh-CN" sz="2200" kern="1200" cap="none" spc="0" normalizeH="0" baseline="0" noProof="0" dirty="0" err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ppmm</a:t>
            </a:r>
            <a:r>
              <a:rPr kumimoji="0" lang="en-US" altLang="zh-CN" sz="22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, </a:t>
            </a:r>
            <a:r>
              <a:rPr kumimoji="0" lang="en-US" altLang="zh-CN" sz="2200" kern="1200" cap="none" spc="0" normalizeH="0" baseline="0" noProof="0" dirty="0" err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ppmv</a:t>
            </a:r>
            <a:r>
              <a:rPr kumimoji="0" lang="en-US" altLang="zh-CN" sz="22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, </a:t>
            </a:r>
            <a:r>
              <a:rPr kumimoji="0" lang="en-US" altLang="zh-CN" sz="2200" kern="1200" cap="none" spc="0" normalizeH="0" baseline="0" noProof="0" dirty="0" err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mPa</a:t>
            </a:r>
            <a:r>
              <a:rPr kumimoji="0" lang="en-US" altLang="zh-CN" sz="22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, Dobson Unit (DU)</a:t>
            </a:r>
            <a:endParaRPr kumimoji="0" lang="en-US" altLang="zh-CN" sz="2200" kern="1200" cap="none" spc="0" normalizeH="0" baseline="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-52387"/>
            <a:ext cx="9144000" cy="769938"/>
          </a:xfrm>
          <a:prstGeom prst="rect">
            <a:avLst/>
          </a:prstGeom>
          <a:gradFill rotWithShape="1">
            <a:gsLst>
              <a:gs pos="0">
                <a:srgbClr val="3366FF"/>
              </a:gs>
              <a:gs pos="100000">
                <a:srgbClr val="3366FF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anchor="ctr" anchorCtr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二、臭氧（</a:t>
            </a: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O</a:t>
            </a:r>
            <a:r>
              <a:rPr kumimoji="0" lang="en-US" altLang="zh-CN" sz="4400" b="1" i="0" u="none" strike="noStrike" kern="1200" cap="none" spc="0" normalizeH="0" baseline="-2500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）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Rectangle 2"/>
          <p:cNvSpPr/>
          <p:nvPr/>
        </p:nvSpPr>
        <p:spPr>
          <a:xfrm>
            <a:off x="1447800" y="942975"/>
            <a:ext cx="5943600" cy="6858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eaLnBrk="1" hangingPunct="1"/>
            <a:r>
              <a:rPr lang="en-GB" altLang="zh-CN" sz="3200" dirty="0">
                <a:solidFill>
                  <a:srgbClr val="FF0066"/>
                </a:solidFill>
                <a:latin typeface="Arial" panose="020B0604020202020204" pitchFamily="34" charset="0"/>
                <a:ea typeface="仿宋_GB2312" pitchFamily="49" charset="-122"/>
              </a:rPr>
              <a:t>                Dobson Unit </a:t>
            </a:r>
            <a:r>
              <a:rPr lang="en-US" altLang="zh-CN" sz="3200" dirty="0">
                <a:solidFill>
                  <a:srgbClr val="FF0066"/>
                </a:solidFill>
                <a:latin typeface="Arial" panose="020B0604020202020204" pitchFamily="34" charset="0"/>
                <a:ea typeface="仿宋_GB2312" pitchFamily="49" charset="-122"/>
              </a:rPr>
              <a:t>(DU)</a:t>
            </a:r>
            <a:r>
              <a:rPr lang="en-GB" altLang="zh-CN" sz="3200" dirty="0">
                <a:solidFill>
                  <a:srgbClr val="FF0066"/>
                </a:solidFill>
                <a:latin typeface="Arial" panose="020B0604020202020204" pitchFamily="34" charset="0"/>
                <a:ea typeface="仿宋_GB2312" pitchFamily="49" charset="-122"/>
              </a:rPr>
              <a:t> </a:t>
            </a:r>
            <a:endParaRPr lang="en-GB" altLang="zh-CN" sz="3200" dirty="0">
              <a:solidFill>
                <a:srgbClr val="FF0066"/>
              </a:solidFill>
              <a:latin typeface="Arial" panose="020B0604020202020204" pitchFamily="34" charset="0"/>
              <a:ea typeface="仿宋_GB2312" pitchFamily="49" charset="-122"/>
            </a:endParaRPr>
          </a:p>
        </p:txBody>
      </p:sp>
      <p:pic>
        <p:nvPicPr>
          <p:cNvPr id="29699" name="Picture 4" descr="[Image illustrating what a ozone column is]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588" y="1874838"/>
            <a:ext cx="5668962" cy="38068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9700" name="Text Box 5"/>
          <p:cNvSpPr txBox="1"/>
          <p:nvPr/>
        </p:nvSpPr>
        <p:spPr>
          <a:xfrm>
            <a:off x="4541838" y="1989138"/>
            <a:ext cx="2025650" cy="641350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txBody>
          <a:bodyPr wrap="none">
            <a:spAutoFit/>
          </a:bodyPr>
          <a:p>
            <a:r>
              <a:rPr lang="en-GB" altLang="zh-CN" dirty="0">
                <a:solidFill>
                  <a:srgbClr val="FF0066"/>
                </a:solidFill>
                <a:latin typeface="Arial" panose="020B0604020202020204" pitchFamily="34" charset="0"/>
              </a:rPr>
              <a:t>Area covered by </a:t>
            </a:r>
            <a:endParaRPr lang="en-GB" altLang="zh-CN" dirty="0">
              <a:solidFill>
                <a:srgbClr val="FF0066"/>
              </a:solidFill>
              <a:latin typeface="Arial" panose="020B0604020202020204" pitchFamily="34" charset="0"/>
            </a:endParaRPr>
          </a:p>
          <a:p>
            <a:r>
              <a:rPr lang="en-GB" altLang="zh-CN" dirty="0">
                <a:solidFill>
                  <a:srgbClr val="FF0066"/>
                </a:solidFill>
                <a:latin typeface="Arial" panose="020B0604020202020204" pitchFamily="34" charset="0"/>
              </a:rPr>
              <a:t>Column</a:t>
            </a:r>
            <a:endParaRPr lang="en-GB" altLang="zh-CN" dirty="0">
              <a:solidFill>
                <a:srgbClr val="FF0066"/>
              </a:solidFill>
              <a:latin typeface="Arial" panose="020B0604020202020204" pitchFamily="34" charset="0"/>
            </a:endParaRPr>
          </a:p>
        </p:txBody>
      </p:sp>
      <p:sp>
        <p:nvSpPr>
          <p:cNvPr id="29701" name="Text Box 7"/>
          <p:cNvSpPr txBox="1"/>
          <p:nvPr/>
        </p:nvSpPr>
        <p:spPr>
          <a:xfrm>
            <a:off x="4186238" y="4005263"/>
            <a:ext cx="3770312" cy="2584450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txBody>
          <a:bodyPr>
            <a:spAutoFit/>
          </a:bodyPr>
          <a:p>
            <a:r>
              <a:rPr lang="en-GB" altLang="zh-CN" dirty="0">
                <a:solidFill>
                  <a:srgbClr val="FF0066"/>
                </a:solidFill>
                <a:latin typeface="Arial" panose="020B0604020202020204" pitchFamily="34" charset="0"/>
              </a:rPr>
              <a:t>All the ozone over a certain</a:t>
            </a:r>
            <a:endParaRPr lang="en-GB" altLang="zh-CN" dirty="0">
              <a:solidFill>
                <a:srgbClr val="FF0066"/>
              </a:solidFill>
              <a:latin typeface="Arial" panose="020B0604020202020204" pitchFamily="34" charset="0"/>
            </a:endParaRPr>
          </a:p>
          <a:p>
            <a:r>
              <a:rPr lang="en-GB" altLang="zh-CN" dirty="0">
                <a:solidFill>
                  <a:srgbClr val="FF0066"/>
                </a:solidFill>
                <a:latin typeface="Arial" panose="020B0604020202020204" pitchFamily="34" charset="0"/>
              </a:rPr>
              <a:t>Area is compressed down to</a:t>
            </a:r>
            <a:endParaRPr lang="en-GB" altLang="zh-CN" dirty="0">
              <a:solidFill>
                <a:srgbClr val="FF0066"/>
              </a:solidFill>
              <a:latin typeface="Arial" panose="020B0604020202020204" pitchFamily="34" charset="0"/>
            </a:endParaRPr>
          </a:p>
          <a:p>
            <a:r>
              <a:rPr lang="en-GB" altLang="zh-CN" dirty="0">
                <a:solidFill>
                  <a:srgbClr val="FF0066"/>
                </a:solidFill>
                <a:latin typeface="Arial" panose="020B0604020202020204" pitchFamily="34" charset="0"/>
              </a:rPr>
              <a:t>0</a:t>
            </a:r>
            <a:r>
              <a:rPr lang="en-GB" altLang="zh-CN" baseline="30000" dirty="0">
                <a:solidFill>
                  <a:srgbClr val="FF0066"/>
                </a:solidFill>
                <a:latin typeface="Arial" panose="020B0604020202020204" pitchFamily="34" charset="0"/>
              </a:rPr>
              <a:t>o</a:t>
            </a:r>
            <a:r>
              <a:rPr lang="en-GB" altLang="zh-CN" dirty="0">
                <a:solidFill>
                  <a:srgbClr val="FF0066"/>
                </a:solidFill>
                <a:latin typeface="Arial" panose="020B0604020202020204" pitchFamily="34" charset="0"/>
              </a:rPr>
              <a:t>C and 1 atm pressure</a:t>
            </a:r>
            <a:endParaRPr lang="en-GB" altLang="zh-CN" dirty="0">
              <a:solidFill>
                <a:srgbClr val="FF0066"/>
              </a:solidFill>
              <a:latin typeface="Arial" panose="020B0604020202020204" pitchFamily="34" charset="0"/>
            </a:endParaRPr>
          </a:p>
          <a:p>
            <a:endParaRPr lang="en-GB" altLang="zh-CN" dirty="0">
              <a:solidFill>
                <a:srgbClr val="FF0066"/>
              </a:solidFill>
              <a:latin typeface="Arial" panose="020B0604020202020204" pitchFamily="34" charset="0"/>
            </a:endParaRPr>
          </a:p>
          <a:p>
            <a:r>
              <a:rPr lang="en-GB" altLang="zh-CN" dirty="0">
                <a:solidFill>
                  <a:srgbClr val="FF0066"/>
                </a:solidFill>
                <a:latin typeface="Arial" panose="020B0604020202020204" pitchFamily="34" charset="0"/>
              </a:rPr>
              <a:t>1 Dobson Unit (DU) is defined</a:t>
            </a:r>
            <a:endParaRPr lang="en-GB" altLang="zh-CN" dirty="0">
              <a:solidFill>
                <a:srgbClr val="FF0066"/>
              </a:solidFill>
              <a:latin typeface="Arial" panose="020B0604020202020204" pitchFamily="34" charset="0"/>
            </a:endParaRPr>
          </a:p>
          <a:p>
            <a:r>
              <a:rPr lang="en-GB" altLang="zh-CN" dirty="0">
                <a:solidFill>
                  <a:srgbClr val="FF0066"/>
                </a:solidFill>
                <a:latin typeface="Arial" panose="020B0604020202020204" pitchFamily="34" charset="0"/>
              </a:rPr>
              <a:t> to be 0.01 mm thickness at stp</a:t>
            </a:r>
            <a:endParaRPr lang="en-GB" altLang="zh-CN" dirty="0">
              <a:solidFill>
                <a:srgbClr val="FF0066"/>
              </a:solidFill>
              <a:latin typeface="Arial" panose="020B0604020202020204" pitchFamily="34" charset="0"/>
            </a:endParaRPr>
          </a:p>
          <a:p>
            <a:endParaRPr lang="en-GB" altLang="zh-CN" dirty="0">
              <a:solidFill>
                <a:srgbClr val="FF0066"/>
              </a:solidFill>
              <a:latin typeface="Arial" panose="020B0604020202020204" pitchFamily="34" charset="0"/>
            </a:endParaRPr>
          </a:p>
          <a:p>
            <a:r>
              <a:rPr lang="en-GB" altLang="zh-CN" dirty="0">
                <a:solidFill>
                  <a:srgbClr val="FF0066"/>
                </a:solidFill>
                <a:latin typeface="Arial" panose="020B0604020202020204" pitchFamily="34" charset="0"/>
              </a:rPr>
              <a:t>It forms a 3 mm think slab,</a:t>
            </a:r>
            <a:endParaRPr lang="en-GB" altLang="zh-CN" dirty="0">
              <a:solidFill>
                <a:srgbClr val="FF0066"/>
              </a:solidFill>
              <a:latin typeface="Arial" panose="020B0604020202020204" pitchFamily="34" charset="0"/>
            </a:endParaRPr>
          </a:p>
          <a:p>
            <a:r>
              <a:rPr lang="en-GB" altLang="zh-CN" dirty="0">
                <a:solidFill>
                  <a:srgbClr val="FF0066"/>
                </a:solidFill>
                <a:latin typeface="Arial" panose="020B0604020202020204" pitchFamily="34" charset="0"/>
              </a:rPr>
              <a:t>Corresponding to 300 DU. </a:t>
            </a:r>
            <a:endParaRPr lang="en-GB" altLang="zh-CN" dirty="0">
              <a:solidFill>
                <a:srgbClr val="FF0066"/>
              </a:solidFill>
              <a:latin typeface="Arial" panose="020B0604020202020204" pitchFamily="34" charset="0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-52387"/>
            <a:ext cx="9144000" cy="769938"/>
          </a:xfrm>
          <a:prstGeom prst="rect">
            <a:avLst/>
          </a:prstGeom>
          <a:gradFill rotWithShape="1">
            <a:gsLst>
              <a:gs pos="0">
                <a:srgbClr val="3366FF"/>
              </a:gs>
              <a:gs pos="100000">
                <a:srgbClr val="3366FF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anchor="ctr" anchorCtr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二、臭氧（</a:t>
            </a: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O</a:t>
            </a:r>
            <a:r>
              <a:rPr kumimoji="0" lang="en-US" altLang="zh-CN" sz="4400" b="1" i="0" u="none" strike="noStrike" kern="1200" cap="none" spc="0" normalizeH="0" baseline="-2500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）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1" name="Text Box 8"/>
          <p:cNvSpPr txBox="1">
            <a:spLocks noChangeArrowheads="1"/>
          </p:cNvSpPr>
          <p:nvPr/>
        </p:nvSpPr>
        <p:spPr bwMode="auto">
          <a:xfrm>
            <a:off x="323850" y="1044575"/>
            <a:ext cx="5540375" cy="584200"/>
          </a:xfrm>
          <a:prstGeom prst="rect">
            <a:avLst/>
          </a:prstGeom>
          <a:noFill/>
          <a:ln w="19050">
            <a:solidFill>
              <a:schemeClr val="accent1">
                <a:lumMod val="75000"/>
              </a:schemeClr>
            </a:solidFill>
            <a:miter lim="800000"/>
          </a:ln>
        </p:spPr>
        <p:txBody>
          <a:bodyPr wrap="none">
            <a:spAutoFit/>
          </a:bodyPr>
          <a:lstStyle/>
          <a:p>
            <a:pPr marR="0" algn="ctr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32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臭氧的垂直分布（兰州探空）</a:t>
            </a:r>
            <a:endParaRPr kumimoji="0" lang="zh-CN" altLang="en-US" sz="3200" kern="1200" cap="none" spc="0" normalizeH="0" baseline="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0723" name="Picture 4"/>
          <p:cNvPicPr>
            <a:picLocks noChangeAspect="1"/>
          </p:cNvPicPr>
          <p:nvPr/>
        </p:nvPicPr>
        <p:blipFill>
          <a:blip r:embed="rId1"/>
          <a:srcRect l="1964" t="21936" r="16833" b="38924"/>
          <a:stretch>
            <a:fillRect/>
          </a:stretch>
        </p:blipFill>
        <p:spPr>
          <a:xfrm>
            <a:off x="250825" y="1700213"/>
            <a:ext cx="4465638" cy="51847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-52387"/>
            <a:ext cx="9144000" cy="769938"/>
          </a:xfrm>
          <a:prstGeom prst="rect">
            <a:avLst/>
          </a:prstGeom>
          <a:gradFill rotWithShape="1">
            <a:gsLst>
              <a:gs pos="0">
                <a:srgbClr val="3366FF"/>
              </a:gs>
              <a:gs pos="100000">
                <a:srgbClr val="3366FF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anchor="ctr" anchorCtr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二、臭氧（</a:t>
            </a: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O</a:t>
            </a:r>
            <a:r>
              <a:rPr kumimoji="0" lang="en-US" altLang="zh-CN" sz="4400" b="1" i="0" u="none" strike="noStrike" kern="1200" cap="none" spc="0" normalizeH="0" baseline="-2500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）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48488" y="800100"/>
            <a:ext cx="1800225" cy="1476375"/>
          </a:xfrm>
          <a:prstGeom prst="rect">
            <a:avLst/>
          </a:prstGeom>
          <a:blipFill rotWithShape="1">
            <a:blip r:embed="rId2"/>
          </a:blipFill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50000"/>
              </a:lnSpc>
            </a:pPr>
            <a:r>
              <a:rPr lang="en-US" altLang="zh-CN" sz="2000" dirty="0">
                <a:latin typeface="Arial" panose="020B0604020202020204" pitchFamily="34" charset="0"/>
              </a:rPr>
              <a:t>O</a:t>
            </a:r>
            <a:r>
              <a:rPr lang="en-US" altLang="zh-CN" sz="2000" baseline="-25000" dirty="0">
                <a:latin typeface="Arial" panose="020B0604020202020204" pitchFamily="34" charset="0"/>
              </a:rPr>
              <a:t>3</a:t>
            </a:r>
            <a:r>
              <a:rPr lang="zh-CN" altLang="en-US" sz="2000" dirty="0">
                <a:latin typeface="Arial" panose="020B0604020202020204" pitchFamily="34" charset="0"/>
              </a:rPr>
              <a:t>层为什么在平流层中，而非对流层</a:t>
            </a:r>
            <a:r>
              <a:rPr lang="en-US" altLang="zh-CN" sz="2000" dirty="0">
                <a:latin typeface="Arial" panose="020B0604020202020204" pitchFamily="34" charset="0"/>
              </a:rPr>
              <a:t>???</a:t>
            </a:r>
            <a:endParaRPr lang="zh-CN" altLang="en-US" sz="2000" dirty="0">
              <a:latin typeface="Arial" panose="020B0604020202020204" pitchFamily="34" charset="0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4932363" y="2719388"/>
            <a:ext cx="3384550" cy="3373438"/>
          </a:xfrm>
          <a:prstGeom prst="rect">
            <a:avLst/>
          </a:prstGeom>
          <a:ln w="28575">
            <a:solidFill>
              <a:srgbClr val="3333CC"/>
            </a:solidFill>
          </a:ln>
        </p:spPr>
        <p:txBody>
          <a:bodyPr/>
          <a:lstStyle/>
          <a:p>
            <a:pPr marL="342900" marR="0" indent="-342900" defTabSz="914400" eaLnBrk="1" hangingPunct="1">
              <a:lnSpc>
                <a:spcPct val="13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200" kern="0" cap="none" spc="0" normalizeH="0" baseline="0" noProof="0" dirty="0">
                <a:latin typeface="+mn-lt"/>
                <a:ea typeface="+mn-ea"/>
                <a:cs typeface="+mn-cs"/>
              </a:rPr>
              <a:t>近地面层臭氧含量很少</a:t>
            </a:r>
            <a:endParaRPr kumimoji="0" lang="en-US" altLang="zh-CN" sz="2200" kern="0" cap="none" spc="0" normalizeH="0" baseline="0" noProof="0" dirty="0">
              <a:latin typeface="+mn-lt"/>
              <a:ea typeface="+mn-ea"/>
              <a:cs typeface="+mn-cs"/>
            </a:endParaRPr>
          </a:p>
          <a:p>
            <a:pPr marL="342900" marR="0" indent="-342900" defTabSz="914400" eaLnBrk="1" hangingPunct="1">
              <a:lnSpc>
                <a:spcPct val="13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200" kern="0" cap="none" spc="0" normalizeH="0" baseline="0" noProof="0" dirty="0">
                <a:latin typeface="+mn-lt"/>
                <a:ea typeface="+mn-ea"/>
                <a:cs typeface="+mn-cs"/>
              </a:rPr>
              <a:t>在</a:t>
            </a:r>
            <a:r>
              <a:rPr kumimoji="0" lang="en-US" altLang="zh-CN" sz="2200" kern="0" cap="none" spc="0" normalizeH="0" baseline="0" noProof="0" dirty="0">
                <a:latin typeface="+mn-lt"/>
                <a:ea typeface="+mn-ea"/>
                <a:cs typeface="+mn-cs"/>
              </a:rPr>
              <a:t>12-15km</a:t>
            </a:r>
            <a:r>
              <a:rPr kumimoji="0" lang="zh-CN" altLang="en-US" sz="2200" kern="0" cap="none" spc="0" normalizeH="0" baseline="0" noProof="0" dirty="0">
                <a:latin typeface="+mn-lt"/>
                <a:ea typeface="+mn-ea"/>
                <a:cs typeface="+mn-cs"/>
              </a:rPr>
              <a:t>以上含量增加的特别显著，在</a:t>
            </a:r>
            <a:r>
              <a:rPr kumimoji="0" lang="en-US" altLang="zh-CN" sz="2200" kern="0" cap="none" spc="0" normalizeH="0" baseline="0" noProof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20-30km</a:t>
            </a:r>
            <a:r>
              <a:rPr kumimoji="0" lang="zh-CN" altLang="en-US" sz="2200" kern="0" cap="none" spc="0" normalizeH="0" baseline="0" noProof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高度处达到最大值</a:t>
            </a:r>
            <a:endParaRPr kumimoji="0" lang="en-US" altLang="zh-CN" sz="2200" kern="0" cap="none" spc="0" normalizeH="0" baseline="0" noProof="0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  <a:p>
            <a:pPr marL="342900" marR="0" indent="-342900" defTabSz="914400" eaLnBrk="1" hangingPunct="1">
              <a:lnSpc>
                <a:spcPct val="13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200" kern="0" cap="none" spc="0" normalizeH="0" baseline="0" noProof="0" dirty="0">
                <a:latin typeface="+mn-lt"/>
                <a:ea typeface="+mn-ea"/>
                <a:cs typeface="+mn-cs"/>
              </a:rPr>
              <a:t>再往上则逐渐减少，到</a:t>
            </a:r>
            <a:r>
              <a:rPr kumimoji="0" lang="en-US" altLang="zh-CN" sz="2200" kern="0" cap="none" spc="0" normalizeH="0" baseline="0" noProof="0" dirty="0">
                <a:latin typeface="+mn-lt"/>
                <a:ea typeface="+mn-ea"/>
                <a:cs typeface="+mn-cs"/>
              </a:rPr>
              <a:t>55km</a:t>
            </a:r>
            <a:r>
              <a:rPr kumimoji="0" lang="zh-CN" altLang="en-US" sz="2200" kern="0" cap="none" spc="0" normalizeH="0" baseline="0" noProof="0" dirty="0">
                <a:latin typeface="+mn-lt"/>
                <a:ea typeface="+mn-ea"/>
                <a:cs typeface="+mn-cs"/>
              </a:rPr>
              <a:t>高度上就极小了。</a:t>
            </a:r>
            <a:endParaRPr kumimoji="0" lang="zh-CN" altLang="en-US" sz="2200" kern="0" cap="none" spc="0" normalizeH="0" baseline="0" noProof="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Text Box 2"/>
          <p:cNvSpPr txBox="1"/>
          <p:nvPr/>
        </p:nvSpPr>
        <p:spPr>
          <a:xfrm>
            <a:off x="1979613" y="868363"/>
            <a:ext cx="4248150" cy="400050"/>
          </a:xfrm>
          <a:prstGeom prst="rect">
            <a:avLst/>
          </a:prstGeom>
          <a:noFill/>
          <a:ln w="19050" cap="flat" cmpd="sng">
            <a:solidFill>
              <a:srgbClr val="FF0066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p>
            <a:pPr algn="ctr" eaLnBrk="1" hangingPunct="1"/>
            <a:r>
              <a:rPr lang="zh-CN" altLang="en-GB" sz="2000" dirty="0">
                <a:latin typeface="Arial" panose="020B0604020202020204" pitchFamily="34" charset="0"/>
              </a:rPr>
              <a:t>解释平流层臭氧层的基本理论</a:t>
            </a:r>
            <a:endParaRPr lang="zh-CN" altLang="en-GB" sz="2000" dirty="0">
              <a:solidFill>
                <a:srgbClr val="000099"/>
              </a:solidFill>
              <a:latin typeface="Arial" panose="020B0604020202020204" pitchFamily="34" charset="0"/>
            </a:endParaRPr>
          </a:p>
        </p:txBody>
      </p:sp>
      <p:sp>
        <p:nvSpPr>
          <p:cNvPr id="31747" name="Text Box 4"/>
          <p:cNvSpPr txBox="1"/>
          <p:nvPr/>
        </p:nvSpPr>
        <p:spPr>
          <a:xfrm>
            <a:off x="468313" y="1928813"/>
            <a:ext cx="184150" cy="58102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p>
            <a:pPr eaLnBrk="1" hangingPunct="1"/>
            <a:endParaRPr lang="en-US" altLang="zh-CN" sz="2400" baseline="-25000" dirty="0">
              <a:latin typeface="Arial" panose="020B0604020202020204" pitchFamily="34" charset="0"/>
            </a:endParaRPr>
          </a:p>
          <a:p>
            <a:pPr eaLnBrk="1" hangingPunct="1"/>
            <a:endParaRPr lang="el-GR" altLang="zh-CN" sz="2400" baseline="-25000" dirty="0">
              <a:latin typeface="Arial" panose="020B0604020202020204" pitchFamily="34" charset="0"/>
            </a:endParaRPr>
          </a:p>
        </p:txBody>
      </p:sp>
      <p:sp>
        <p:nvSpPr>
          <p:cNvPr id="31748" name="Text Box 5"/>
          <p:cNvSpPr txBox="1"/>
          <p:nvPr/>
        </p:nvSpPr>
        <p:spPr>
          <a:xfrm>
            <a:off x="179388" y="1412875"/>
            <a:ext cx="8856662" cy="120015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400" i="1" dirty="0">
                <a:solidFill>
                  <a:srgbClr val="000099"/>
                </a:solidFill>
                <a:latin typeface="Arial" panose="020B0604020202020204" pitchFamily="34" charset="0"/>
              </a:rPr>
              <a:t>The first attempt to explain the presence of the ozone layer, i.e,. The region of maximum ozone number density in the lower Stratosphere is made by Chapman in 1930.</a:t>
            </a:r>
            <a:endParaRPr lang="en-US" altLang="zh-CN" sz="2400" i="1" dirty="0">
              <a:solidFill>
                <a:srgbClr val="000099"/>
              </a:solidFill>
              <a:latin typeface="Arial" panose="020B0604020202020204" pitchFamily="34" charset="0"/>
            </a:endParaRPr>
          </a:p>
        </p:txBody>
      </p:sp>
      <p:sp>
        <p:nvSpPr>
          <p:cNvPr id="31749" name="Text Box 6"/>
          <p:cNvSpPr txBox="1"/>
          <p:nvPr/>
        </p:nvSpPr>
        <p:spPr>
          <a:xfrm>
            <a:off x="323850" y="2708275"/>
            <a:ext cx="8135938" cy="831850"/>
          </a:xfrm>
          <a:prstGeom prst="rect">
            <a:avLst/>
          </a:prstGeom>
          <a:blipFill rotWithShape="1">
            <a:blip r:embed="rId1"/>
          </a:blipFill>
          <a:ln w="12700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400" dirty="0">
                <a:solidFill>
                  <a:srgbClr val="000099"/>
                </a:solidFill>
                <a:latin typeface="Arial" panose="020B0604020202020204" pitchFamily="34" charset="0"/>
              </a:rPr>
              <a:t>Chapman Chemistry---</a:t>
            </a:r>
            <a:r>
              <a:rPr lang="zh-CN" altLang="en-US" sz="2400" dirty="0">
                <a:solidFill>
                  <a:srgbClr val="000099"/>
                </a:solidFill>
                <a:latin typeface="Arial" panose="020B0604020202020204" pitchFamily="34" charset="0"/>
              </a:rPr>
              <a:t>仅考虑氧的光致离解，而不涉及其他气体成分。</a:t>
            </a:r>
            <a:endParaRPr lang="en-US" altLang="zh-CN" sz="2400" dirty="0">
              <a:solidFill>
                <a:srgbClr val="000099"/>
              </a:solidFill>
              <a:latin typeface="Arial" panose="020B0604020202020204" pitchFamily="34" charset="0"/>
            </a:endParaRPr>
          </a:p>
        </p:txBody>
      </p:sp>
      <p:sp>
        <p:nvSpPr>
          <p:cNvPr id="38918" name="Text Box 7"/>
          <p:cNvSpPr txBox="1">
            <a:spLocks noChangeArrowheads="1"/>
          </p:cNvSpPr>
          <p:nvPr/>
        </p:nvSpPr>
        <p:spPr bwMode="auto">
          <a:xfrm>
            <a:off x="684213" y="3644900"/>
            <a:ext cx="5256213" cy="1200150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  <a:ln w="19050">
            <a:solidFill>
              <a:schemeClr val="accent1">
                <a:lumMod val="75000"/>
              </a:schemeClr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R="0" defTabSz="914400" eaLnBrk="1" hangingPunct="1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</a:t>
            </a:r>
            <a:r>
              <a:rPr kumimoji="0" lang="en-US" altLang="zh-CN" sz="2400" kern="1200" cap="none" spc="0" normalizeH="0" baseline="-25000" noProof="0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3</a:t>
            </a:r>
            <a:r>
              <a:rPr kumimoji="0" lang="zh-CN" altLang="en-US" sz="2400" kern="1200" cap="none" spc="0" normalizeH="0" baseline="0" noProof="0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的生成：   </a:t>
            </a:r>
            <a:r>
              <a:rPr kumimoji="0" lang="en-US" altLang="zh-CN" sz="2400" kern="1200" cap="none" spc="0" normalizeH="0" baseline="0" noProof="0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</a:t>
            </a:r>
            <a:r>
              <a:rPr kumimoji="0" lang="en-US" altLang="zh-CN" sz="2400" kern="1200" cap="none" spc="0" normalizeH="0" baseline="-25000" noProof="0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2400" kern="1200" cap="none" spc="0" normalizeH="0" baseline="0" noProof="0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+ </a:t>
            </a:r>
            <a:r>
              <a:rPr kumimoji="0" lang="en-US" altLang="zh-CN" sz="2400" kern="1200" cap="none" spc="0" normalizeH="0" baseline="0" noProof="0" dirty="0" err="1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hv</a:t>
            </a:r>
            <a:r>
              <a:rPr kumimoji="0" lang="en-US" altLang="zh-CN" sz="2400" kern="1200" cap="none" spc="0" normalizeH="0" baseline="0" noProof="0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= 2O</a:t>
            </a:r>
            <a:endParaRPr kumimoji="0" lang="en-US" altLang="zh-CN" sz="2400" kern="1200" cap="none" spc="0" normalizeH="0" baseline="0" noProof="0" dirty="0">
              <a:solidFill>
                <a:srgbClr val="FF0066"/>
              </a:solidFill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algn="ctr" defTabSz="914400" eaLnBrk="1" hangingPunct="1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         O + O</a:t>
            </a:r>
            <a:r>
              <a:rPr kumimoji="0" lang="en-US" altLang="zh-CN" sz="2400" kern="1200" cap="none" spc="0" normalizeH="0" baseline="-25000" noProof="0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2400" kern="1200" cap="none" spc="0" normalizeH="0" baseline="0" noProof="0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+ M = O</a:t>
            </a:r>
            <a:r>
              <a:rPr kumimoji="0" lang="en-US" altLang="zh-CN" sz="2400" kern="1200" cap="none" spc="0" normalizeH="0" baseline="-25000" noProof="0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3</a:t>
            </a:r>
            <a:r>
              <a:rPr kumimoji="0" lang="en-US" altLang="zh-CN" sz="2400" kern="1200" cap="none" spc="0" normalizeH="0" baseline="0" noProof="0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+M</a:t>
            </a:r>
            <a:endParaRPr kumimoji="0" lang="en-US" altLang="zh-CN" sz="2400" kern="1200" cap="none" spc="0" normalizeH="0" baseline="0" noProof="0" dirty="0">
              <a:solidFill>
                <a:srgbClr val="FF0066"/>
              </a:solidFill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43" name="Text Box 8"/>
          <p:cNvSpPr txBox="1"/>
          <p:nvPr/>
        </p:nvSpPr>
        <p:spPr>
          <a:xfrm>
            <a:off x="395288" y="5692775"/>
            <a:ext cx="8353425" cy="83185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400" dirty="0">
                <a:latin typeface="Arial" panose="020B0604020202020204" pitchFamily="34" charset="0"/>
              </a:rPr>
              <a:t>Chapman theory predicts too much ozone in the lower stratosphere.</a:t>
            </a:r>
            <a:endParaRPr lang="en-US" altLang="zh-CN" sz="2400" dirty="0">
              <a:latin typeface="Arial" panose="020B0604020202020204" pitchFamily="34" charset="0"/>
            </a:endParaRP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0" y="-52387"/>
            <a:ext cx="9144000" cy="769938"/>
          </a:xfrm>
          <a:prstGeom prst="rect">
            <a:avLst/>
          </a:prstGeom>
          <a:gradFill rotWithShape="1">
            <a:gsLst>
              <a:gs pos="0">
                <a:srgbClr val="3366FF"/>
              </a:gs>
              <a:gs pos="100000">
                <a:srgbClr val="3366FF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anchor="ctr" anchorCtr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二、臭氧（</a:t>
            </a: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O</a:t>
            </a:r>
            <a:r>
              <a:rPr kumimoji="0" lang="en-US" altLang="zh-CN" sz="4400" b="1" i="0" u="none" strike="noStrike" kern="1200" cap="none" spc="0" normalizeH="0" baseline="-2500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）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Text Box 7"/>
          <p:cNvSpPr txBox="1"/>
          <p:nvPr/>
        </p:nvSpPr>
        <p:spPr>
          <a:xfrm>
            <a:off x="684213" y="5084763"/>
            <a:ext cx="5256212" cy="574675"/>
          </a:xfrm>
          <a:prstGeom prst="rect">
            <a:avLst/>
          </a:prstGeom>
          <a:blipFill rotWithShape="1">
            <a:blip r:embed="rId3"/>
          </a:blipFill>
          <a:ln w="19050" cap="flat" cmpd="sng">
            <a:solidFill>
              <a:srgbClr val="FFC000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p>
            <a:pPr eaLnBrk="1" hangingPunct="1">
              <a:lnSpc>
                <a:spcPct val="150000"/>
              </a:lnSpc>
            </a:pPr>
            <a:r>
              <a:rPr lang="en-US" altLang="zh-CN" sz="2400" dirty="0">
                <a:solidFill>
                  <a:srgbClr val="FF0066"/>
                </a:solidFill>
                <a:latin typeface="Arial" panose="020B0604020202020204" pitchFamily="34" charset="0"/>
              </a:rPr>
              <a:t>O</a:t>
            </a:r>
            <a:r>
              <a:rPr lang="en-US" altLang="zh-CN" sz="2400" baseline="-25000" dirty="0">
                <a:solidFill>
                  <a:srgbClr val="FF0066"/>
                </a:solidFill>
                <a:latin typeface="Arial" panose="020B0604020202020204" pitchFamily="34" charset="0"/>
              </a:rPr>
              <a:t>3</a:t>
            </a:r>
            <a:r>
              <a:rPr lang="zh-CN" altLang="en-US" sz="2400" dirty="0">
                <a:solidFill>
                  <a:srgbClr val="FF0066"/>
                </a:solidFill>
                <a:latin typeface="Arial" panose="020B0604020202020204" pitchFamily="34" charset="0"/>
              </a:rPr>
              <a:t>的损耗：   </a:t>
            </a:r>
            <a:r>
              <a:rPr lang="en-US" altLang="zh-CN" sz="2400" dirty="0">
                <a:solidFill>
                  <a:srgbClr val="FF0066"/>
                </a:solidFill>
                <a:latin typeface="Arial" panose="020B0604020202020204" pitchFamily="34" charset="0"/>
              </a:rPr>
              <a:t>O</a:t>
            </a:r>
            <a:r>
              <a:rPr lang="en-US" altLang="zh-CN" sz="2400" baseline="-25000" dirty="0">
                <a:solidFill>
                  <a:srgbClr val="FF0066"/>
                </a:solidFill>
                <a:latin typeface="Arial" panose="020B0604020202020204" pitchFamily="34" charset="0"/>
              </a:rPr>
              <a:t>3</a:t>
            </a:r>
            <a:r>
              <a:rPr lang="en-US" altLang="zh-CN" sz="2400" dirty="0">
                <a:solidFill>
                  <a:srgbClr val="FF0066"/>
                </a:solidFill>
                <a:latin typeface="Arial" panose="020B0604020202020204" pitchFamily="34" charset="0"/>
              </a:rPr>
              <a:t> + hv = O</a:t>
            </a:r>
            <a:r>
              <a:rPr lang="en-US" altLang="zh-CN" sz="2400" baseline="-25000" dirty="0">
                <a:solidFill>
                  <a:srgbClr val="FF0066"/>
                </a:solidFill>
                <a:latin typeface="Arial" panose="020B0604020202020204" pitchFamily="34" charset="0"/>
              </a:rPr>
              <a:t>2</a:t>
            </a:r>
            <a:r>
              <a:rPr lang="en-US" altLang="zh-CN" sz="2400" dirty="0">
                <a:solidFill>
                  <a:srgbClr val="FF0066"/>
                </a:solidFill>
                <a:latin typeface="Arial" panose="020B0604020202020204" pitchFamily="34" charset="0"/>
              </a:rPr>
              <a:t>+O</a:t>
            </a:r>
            <a:endParaRPr lang="en-US" altLang="zh-CN" sz="2400" dirty="0">
              <a:solidFill>
                <a:srgbClr val="FF0066"/>
              </a:solidFill>
              <a:latin typeface="Arial" panose="020B0604020202020204" pitchFamily="34" charset="0"/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6011863" y="4797425"/>
            <a:ext cx="1008062" cy="287338"/>
          </a:xfrm>
          <a:prstGeom prst="rightArrow">
            <a:avLst>
              <a:gd name="adj1" fmla="val 50000"/>
              <a:gd name="adj2" fmla="val 50122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64388" y="4724400"/>
            <a:ext cx="1368425" cy="369888"/>
          </a:xfrm>
          <a:prstGeom prst="rect">
            <a:avLst/>
          </a:prstGeom>
          <a:noFill/>
          <a:ln w="19050" cap="flat" cmpd="sng">
            <a:solidFill>
              <a:srgbClr val="0070C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algn="ctr" eaLnBrk="1" hangingPunct="1"/>
            <a:r>
              <a:rPr lang="zh-CN" altLang="en-US" dirty="0">
                <a:latin typeface="Arial" panose="020B0604020202020204" pitchFamily="34" charset="0"/>
              </a:rPr>
              <a:t>光化学平衡</a:t>
            </a:r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8" grpId="0" animBg="1"/>
      <p:bldP spid="39943" grpId="0"/>
      <p:bldP spid="9" grpId="0" animBg="1"/>
      <p:bldP spid="11" grpId="0" animBg="1"/>
      <p:bldP spid="1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2770" name="Picture 8" descr="column_o3_cli"/>
          <p:cNvPicPr>
            <a:picLocks noChangeAspect="1"/>
          </p:cNvPicPr>
          <p:nvPr/>
        </p:nvPicPr>
        <p:blipFill>
          <a:blip r:embed="rId1"/>
          <a:srcRect l="12291" t="52620" r="12537"/>
          <a:stretch>
            <a:fillRect/>
          </a:stretch>
        </p:blipFill>
        <p:spPr>
          <a:xfrm>
            <a:off x="539750" y="1431925"/>
            <a:ext cx="7488238" cy="53101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9939" name="Text Box 9"/>
          <p:cNvSpPr txBox="1">
            <a:spLocks noChangeArrowheads="1"/>
          </p:cNvSpPr>
          <p:nvPr/>
        </p:nvSpPr>
        <p:spPr bwMode="auto">
          <a:xfrm>
            <a:off x="395288" y="806450"/>
            <a:ext cx="3278188" cy="461963"/>
          </a:xfrm>
          <a:prstGeom prst="rect">
            <a:avLst/>
          </a:prstGeom>
          <a:noFill/>
          <a:ln w="19050">
            <a:solidFill>
              <a:schemeClr val="accent1">
                <a:lumMod val="75000"/>
              </a:schemeClr>
            </a:solidFill>
            <a:miter lim="800000"/>
          </a:ln>
        </p:spPr>
        <p:txBody>
          <a:bodyPr wrap="none">
            <a:spAutoFit/>
          </a:bodyPr>
          <a:lstStyle/>
          <a:p>
            <a:pPr marR="0" algn="ctr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臭氧的季节和纬度变化</a:t>
            </a:r>
            <a:endParaRPr kumimoji="0" lang="zh-CN" altLang="en-US" sz="2400" kern="1200" cap="none" spc="0" normalizeH="0" baseline="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-52387"/>
            <a:ext cx="9144000" cy="769938"/>
          </a:xfrm>
          <a:prstGeom prst="rect">
            <a:avLst/>
          </a:prstGeom>
          <a:gradFill rotWithShape="1">
            <a:gsLst>
              <a:gs pos="0">
                <a:srgbClr val="3366FF"/>
              </a:gs>
              <a:gs pos="100000">
                <a:srgbClr val="3366FF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anchor="ctr" anchorCtr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二、臭氧（</a:t>
            </a: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O</a:t>
            </a:r>
            <a:r>
              <a:rPr kumimoji="0" lang="en-US" altLang="zh-CN" sz="4400" b="1" i="0" u="none" strike="noStrike" kern="1200" cap="none" spc="0" normalizeH="0" baseline="-2500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）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3794" name="Picture 7" descr="hist0203"/>
          <p:cNvPicPr>
            <a:picLocks noChangeAspect="1"/>
          </p:cNvPicPr>
          <p:nvPr/>
        </p:nvPicPr>
        <p:blipFill>
          <a:blip r:embed="rId1"/>
          <a:srcRect l="49493"/>
          <a:stretch>
            <a:fillRect/>
          </a:stretch>
        </p:blipFill>
        <p:spPr>
          <a:xfrm>
            <a:off x="250825" y="908050"/>
            <a:ext cx="5045075" cy="56530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3795" name="Text Box 8"/>
          <p:cNvSpPr txBox="1"/>
          <p:nvPr/>
        </p:nvSpPr>
        <p:spPr>
          <a:xfrm>
            <a:off x="323850" y="6461125"/>
            <a:ext cx="5832475" cy="3968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pPr eaLnBrk="1" hangingPunct="1"/>
            <a:r>
              <a:rPr lang="en-GB" altLang="zh-CN" sz="2000" dirty="0">
                <a:latin typeface="Arial" panose="020B0604020202020204" pitchFamily="34" charset="0"/>
              </a:rPr>
              <a:t>From web page: http://www.theozonehole.com</a:t>
            </a:r>
            <a:endParaRPr lang="en-GB" altLang="zh-CN" sz="2000" dirty="0">
              <a:latin typeface="Arial" panose="020B0604020202020204" pitchFamily="34" charset="0"/>
            </a:endParaRPr>
          </a:p>
        </p:txBody>
      </p:sp>
      <p:sp>
        <p:nvSpPr>
          <p:cNvPr id="41988" name="TextBox 5"/>
          <p:cNvSpPr txBox="1"/>
          <p:nvPr/>
        </p:nvSpPr>
        <p:spPr>
          <a:xfrm>
            <a:off x="5508625" y="2151063"/>
            <a:ext cx="3240088" cy="3416300"/>
          </a:xfrm>
          <a:prstGeom prst="rect">
            <a:avLst/>
          </a:prstGeom>
          <a:noFill/>
          <a:ln w="28575" cap="flat" cmpd="sng">
            <a:solidFill>
              <a:srgbClr val="FF66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eaLnBrk="1" hangingPunct="1">
              <a:lnSpc>
                <a:spcPct val="150000"/>
              </a:lnSpc>
            </a:pPr>
            <a:r>
              <a:rPr lang="zh-CN" altLang="en-US" sz="2400" dirty="0">
                <a:latin typeface="Arial" panose="020B0604020202020204" pitchFamily="34" charset="0"/>
              </a:rPr>
              <a:t>臭氧洞的定义：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400" dirty="0">
                <a:latin typeface="Arial" panose="020B0604020202020204" pitchFamily="34" charset="0"/>
              </a:rPr>
              <a:t>（</a:t>
            </a:r>
            <a:r>
              <a:rPr lang="en-US" altLang="zh-CN" sz="2400" dirty="0">
                <a:latin typeface="Arial" panose="020B0604020202020204" pitchFamily="34" charset="0"/>
              </a:rPr>
              <a:t>1</a:t>
            </a:r>
            <a:r>
              <a:rPr lang="zh-CN" altLang="en-US" sz="2400" dirty="0">
                <a:latin typeface="Arial" panose="020B0604020202020204" pitchFamily="34" charset="0"/>
              </a:rPr>
              <a:t>）臭氧低值区（低于</a:t>
            </a:r>
            <a:r>
              <a:rPr lang="en-US" altLang="zh-CN" sz="2400" dirty="0">
                <a:latin typeface="Arial" panose="020B0604020202020204" pitchFamily="34" charset="0"/>
              </a:rPr>
              <a:t>220DU</a:t>
            </a:r>
            <a:r>
              <a:rPr lang="zh-CN" altLang="en-US" sz="2400" dirty="0">
                <a:latin typeface="Arial" panose="020B0604020202020204" pitchFamily="34" charset="0"/>
              </a:rPr>
              <a:t>）的</a:t>
            </a:r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范围大</a:t>
            </a:r>
            <a:r>
              <a:rPr lang="zh-CN" altLang="en-US" sz="2400" dirty="0">
                <a:latin typeface="Arial" panose="020B0604020202020204" pitchFamily="34" charset="0"/>
              </a:rPr>
              <a:t>，经常</a:t>
            </a:r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超过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</a:rPr>
              <a:t>10</a:t>
            </a:r>
            <a:r>
              <a:rPr lang="en-US" altLang="zh-CN" sz="2400" baseline="30000" dirty="0">
                <a:solidFill>
                  <a:srgbClr val="FF0000"/>
                </a:solidFill>
                <a:latin typeface="Arial" panose="020B0604020202020204" pitchFamily="34" charset="0"/>
              </a:rPr>
              <a:t>6 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</a:rPr>
              <a:t>km</a:t>
            </a:r>
            <a:r>
              <a:rPr lang="en-US" altLang="zh-CN" sz="2400" baseline="30000" dirty="0">
                <a:solidFill>
                  <a:srgbClr val="FF0000"/>
                </a:solidFill>
                <a:latin typeface="Arial" panose="020B0604020202020204" pitchFamily="34" charset="0"/>
              </a:rPr>
              <a:t>2</a:t>
            </a:r>
            <a:r>
              <a:rPr lang="zh-CN" altLang="en-US" sz="2400" dirty="0">
                <a:latin typeface="Arial" panose="020B0604020202020204" pitchFamily="34" charset="0"/>
              </a:rPr>
              <a:t>；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400" dirty="0">
                <a:latin typeface="Arial" panose="020B0604020202020204" pitchFamily="34" charset="0"/>
              </a:rPr>
              <a:t>（</a:t>
            </a:r>
            <a:r>
              <a:rPr lang="en-US" altLang="zh-CN" sz="2400" dirty="0">
                <a:latin typeface="Arial" panose="020B0604020202020204" pitchFamily="34" charset="0"/>
              </a:rPr>
              <a:t>2</a:t>
            </a:r>
            <a:r>
              <a:rPr lang="zh-CN" altLang="en-US" sz="2400" dirty="0">
                <a:latin typeface="Arial" panose="020B0604020202020204" pitchFamily="34" charset="0"/>
              </a:rPr>
              <a:t>）低值</a:t>
            </a:r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持续时间长</a:t>
            </a:r>
            <a:r>
              <a:rPr lang="zh-CN" altLang="en-US" sz="2400" dirty="0">
                <a:latin typeface="Arial" panose="020B0604020202020204" pitchFamily="34" charset="0"/>
              </a:rPr>
              <a:t>，经常为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</a:rPr>
              <a:t>2-4</a:t>
            </a:r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个月</a:t>
            </a:r>
            <a:r>
              <a:rPr lang="zh-CN" altLang="en-US" sz="2400" dirty="0">
                <a:latin typeface="Arial" panose="020B0604020202020204" pitchFamily="34" charset="0"/>
              </a:rPr>
              <a:t>。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-52387"/>
            <a:ext cx="9144000" cy="769938"/>
          </a:xfrm>
          <a:prstGeom prst="rect">
            <a:avLst/>
          </a:prstGeom>
          <a:gradFill rotWithShape="1">
            <a:gsLst>
              <a:gs pos="0">
                <a:srgbClr val="3366FF"/>
              </a:gs>
              <a:gs pos="100000">
                <a:srgbClr val="3366FF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anchor="ctr" anchorCtr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二、臭氧（</a:t>
            </a: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O</a:t>
            </a:r>
            <a:r>
              <a:rPr kumimoji="0" lang="en-US" altLang="zh-CN" sz="4400" b="1" i="0" u="none" strike="noStrike" kern="1200" cap="none" spc="0" normalizeH="0" baseline="-2500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）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Text Box 2"/>
          <p:cNvSpPr txBox="1"/>
          <p:nvPr/>
        </p:nvSpPr>
        <p:spPr>
          <a:xfrm>
            <a:off x="1768475" y="858838"/>
            <a:ext cx="4711700" cy="7699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4400" dirty="0">
                <a:latin typeface="Arial" panose="020B0604020202020204" pitchFamily="34" charset="0"/>
              </a:rPr>
              <a:t>臭氧空洞形成机理</a:t>
            </a:r>
            <a:endParaRPr lang="zh-CN" altLang="en-US" sz="4400" dirty="0">
              <a:latin typeface="Arial" panose="020B0604020202020204" pitchFamily="34" charset="0"/>
            </a:endParaRPr>
          </a:p>
        </p:txBody>
      </p:sp>
      <p:sp>
        <p:nvSpPr>
          <p:cNvPr id="43011" name="Text Box 3"/>
          <p:cNvSpPr txBox="1"/>
          <p:nvPr/>
        </p:nvSpPr>
        <p:spPr>
          <a:xfrm>
            <a:off x="777875" y="1844675"/>
            <a:ext cx="7610475" cy="4324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50000"/>
              </a:lnSpc>
              <a:spcAft>
                <a:spcPts val="2400"/>
              </a:spcAft>
            </a:pPr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（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</a:rPr>
              <a:t>1</a:t>
            </a:r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）动力原因</a:t>
            </a:r>
            <a:r>
              <a:rPr lang="zh-CN" altLang="en-US" sz="2400" dirty="0">
                <a:latin typeface="Arial" panose="020B0604020202020204" pitchFamily="34" charset="0"/>
              </a:rPr>
              <a:t>：冬季，极涡冷且稳定</a:t>
            </a:r>
            <a:endParaRPr lang="zh-CN" altLang="en-US" sz="24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  <a:spcAft>
                <a:spcPts val="1800"/>
              </a:spcAft>
            </a:pPr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（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</a:rPr>
              <a:t>2</a:t>
            </a:r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）化学原因</a:t>
            </a:r>
            <a:r>
              <a:rPr lang="zh-CN" altLang="en-US" sz="2400" dirty="0">
                <a:latin typeface="Arial" panose="020B0604020202020204" pitchFamily="34" charset="0"/>
              </a:rPr>
              <a:t>：催化反应</a:t>
            </a:r>
            <a:r>
              <a:rPr lang="en-US" altLang="zh-CN" sz="2400" dirty="0">
                <a:latin typeface="Arial" panose="020B0604020202020204" pitchFamily="34" charset="0"/>
              </a:rPr>
              <a:t>       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200000"/>
              </a:lnSpc>
            </a:pPr>
            <a:r>
              <a:rPr lang="en-US" altLang="zh-CN" sz="2400" dirty="0">
                <a:latin typeface="Arial" panose="020B0604020202020204" pitchFamily="34" charset="0"/>
              </a:rPr>
              <a:t>          Cl+O3=CLO+O2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200000"/>
              </a:lnSpc>
            </a:pPr>
            <a:r>
              <a:rPr lang="en-US" altLang="zh-CN" sz="2400" dirty="0">
                <a:latin typeface="Arial" panose="020B0604020202020204" pitchFamily="34" charset="0"/>
              </a:rPr>
              <a:t>          CLO+O=CL+O2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2400" dirty="0">
                <a:latin typeface="Arial" panose="020B0604020202020204" pitchFamily="34" charset="0"/>
              </a:rPr>
              <a:t>       Cl</a:t>
            </a:r>
            <a:r>
              <a:rPr lang="zh-CN" altLang="en-US" sz="2400" dirty="0">
                <a:latin typeface="Arial" panose="020B0604020202020204" pitchFamily="34" charset="0"/>
              </a:rPr>
              <a:t>主要来自于</a:t>
            </a:r>
            <a:r>
              <a:rPr lang="en-US" altLang="zh-CN" sz="2400" dirty="0">
                <a:latin typeface="Arial" panose="020B0604020202020204" pitchFamily="34" charset="0"/>
              </a:rPr>
              <a:t>CFCs </a:t>
            </a:r>
            <a:r>
              <a:rPr lang="zh-CN" altLang="en-US" sz="2400" dirty="0">
                <a:latin typeface="Arial" panose="020B0604020202020204" pitchFamily="34" charset="0"/>
              </a:rPr>
              <a:t>（</a:t>
            </a:r>
            <a:r>
              <a:rPr lang="en-US" altLang="zh-CN" sz="2400" dirty="0">
                <a:latin typeface="Arial" panose="020B0604020202020204" pitchFamily="34" charset="0"/>
              </a:rPr>
              <a:t>chlorofluorocarbons</a:t>
            </a:r>
            <a:r>
              <a:rPr lang="zh-CN" altLang="en-US" sz="2400" dirty="0">
                <a:latin typeface="Arial" panose="020B0604020202020204" pitchFamily="34" charset="0"/>
              </a:rPr>
              <a:t>）</a:t>
            </a:r>
            <a:endParaRPr lang="zh-CN" altLang="en-US" sz="24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2400" dirty="0">
                <a:latin typeface="Arial" panose="020B0604020202020204" pitchFamily="34" charset="0"/>
              </a:rPr>
              <a:t>       CFCs</a:t>
            </a:r>
            <a:r>
              <a:rPr lang="zh-CN" altLang="en-US" sz="2400" dirty="0">
                <a:latin typeface="Arial" panose="020B0604020202020204" pitchFamily="34" charset="0"/>
              </a:rPr>
              <a:t>在紫外辐射的作用下分解出活性</a:t>
            </a:r>
            <a:r>
              <a:rPr lang="en-US" altLang="zh-CN" sz="2400" dirty="0">
                <a:latin typeface="Arial" panose="020B0604020202020204" pitchFamily="34" charset="0"/>
              </a:rPr>
              <a:t>Cl</a:t>
            </a:r>
            <a:endParaRPr lang="en-US" altLang="zh-CN" sz="2400" dirty="0">
              <a:latin typeface="Arial" panose="020B0604020202020204" pitchFamily="34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-52387"/>
            <a:ext cx="9144000" cy="769938"/>
          </a:xfrm>
          <a:prstGeom prst="rect">
            <a:avLst/>
          </a:prstGeom>
          <a:gradFill rotWithShape="1">
            <a:gsLst>
              <a:gs pos="0">
                <a:srgbClr val="3366FF"/>
              </a:gs>
              <a:gs pos="100000">
                <a:srgbClr val="3366FF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anchor="ctr" anchorCtr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二、臭氧（</a:t>
            </a: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O</a:t>
            </a:r>
            <a:r>
              <a:rPr kumimoji="0" lang="en-US" altLang="zh-CN" sz="4400" b="1" i="0" u="none" strike="noStrike" kern="1200" cap="none" spc="0" normalizeH="0" baseline="-2500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）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右箭头 5"/>
          <p:cNvSpPr/>
          <p:nvPr/>
        </p:nvSpPr>
        <p:spPr>
          <a:xfrm>
            <a:off x="4067175" y="4221163"/>
            <a:ext cx="1008063" cy="287337"/>
          </a:xfrm>
          <a:prstGeom prst="rightArrow">
            <a:avLst>
              <a:gd name="adj1" fmla="val 50000"/>
              <a:gd name="adj2" fmla="val 50123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219700" y="4119563"/>
            <a:ext cx="2160588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400" dirty="0">
                <a:latin typeface="Arial" panose="020B0604020202020204" pitchFamily="34" charset="0"/>
              </a:rPr>
              <a:t>O3+O=2O2</a:t>
            </a:r>
            <a:endParaRPr lang="en-US" altLang="zh-CN" sz="24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charRg st="18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charRg st="38" end="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charRg st="61" end="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charRg st="83" end="1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charRg st="124" end="1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-52387"/>
            <a:ext cx="9144000" cy="769938"/>
          </a:xfrm>
          <a:prstGeom prst="rect">
            <a:avLst/>
          </a:prstGeom>
          <a:gradFill rotWithShape="1">
            <a:gsLst>
              <a:gs pos="0">
                <a:srgbClr val="3366FF"/>
              </a:gs>
              <a:gs pos="100000">
                <a:srgbClr val="3366FF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anchor="ctr" anchorCtr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二、臭氧（</a:t>
            </a: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O</a:t>
            </a:r>
            <a:r>
              <a:rPr kumimoji="0" lang="en-US" altLang="zh-CN" sz="4400" b="1" i="0" u="none" strike="noStrike" kern="1200" cap="none" spc="0" normalizeH="0" baseline="-2500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）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457200" y="1989138"/>
            <a:ext cx="8229600" cy="4525963"/>
          </a:xfrm>
          <a:prstGeom prst="rect">
            <a:avLst/>
          </a:prstGeom>
        </p:spPr>
        <p:txBody>
          <a:bodyPr/>
          <a:lstStyle/>
          <a:p>
            <a:pPr marL="342900" marR="0" indent="-342900" defTabSz="914400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kern="0" cap="none" spc="0" normalizeH="0" baseline="0" noProof="0" dirty="0">
                <a:latin typeface="+mn-lt"/>
                <a:ea typeface="+mn-ea"/>
                <a:cs typeface="+mn-cs"/>
              </a:rPr>
              <a:t>对流层臭氧呈增加趋势；</a:t>
            </a:r>
            <a:endParaRPr kumimoji="0" lang="zh-CN" altLang="en-US" sz="2400" kern="0" cap="none" spc="0" normalizeH="0" baseline="0" noProof="0" dirty="0">
              <a:latin typeface="+mn-lt"/>
              <a:ea typeface="+mn-ea"/>
              <a:cs typeface="+mn-cs"/>
            </a:endParaRPr>
          </a:p>
          <a:p>
            <a:pPr marL="342900" marR="0" indent="-342900" defTabSz="914400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kern="0" cap="none" spc="0" normalizeH="0" baseline="0" noProof="0" dirty="0">
                <a:latin typeface="+mn-lt"/>
                <a:ea typeface="+mn-ea"/>
                <a:cs typeface="+mn-cs"/>
              </a:rPr>
              <a:t>臭氧是一种</a:t>
            </a:r>
            <a:r>
              <a:rPr kumimoji="0" lang="zh-CN" altLang="en-US" sz="2400" kern="0" cap="none" spc="0" normalizeH="0" baseline="0" noProof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强氧化剂</a:t>
            </a:r>
            <a:r>
              <a:rPr kumimoji="0" lang="zh-CN" altLang="en-US" sz="2400" kern="0" cap="none" spc="0" normalizeH="0" baseline="0" noProof="0" dirty="0">
                <a:latin typeface="+mn-lt"/>
                <a:ea typeface="+mn-ea"/>
                <a:cs typeface="+mn-cs"/>
              </a:rPr>
              <a:t>，在大气污染过程中起重要作用。例如，能促进二氧化硫的氧化和氮氧化物的转化，从而加速酸雨和光化学烟雾的形成。</a:t>
            </a:r>
            <a:endParaRPr kumimoji="0" lang="en-US" altLang="zh-CN" sz="2400" kern="0" cap="none" spc="0" normalizeH="0" baseline="0" noProof="0" dirty="0">
              <a:latin typeface="+mn-lt"/>
              <a:ea typeface="+mn-ea"/>
              <a:cs typeface="+mn-cs"/>
            </a:endParaRPr>
          </a:p>
          <a:p>
            <a:pPr marL="342900" marR="0" indent="-342900" defTabSz="914400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kern="0" cap="none" spc="0" normalizeH="0" baseline="0" noProof="0" dirty="0">
                <a:latin typeface="+mn-lt"/>
                <a:ea typeface="+mn-ea"/>
                <a:cs typeface="+mn-cs"/>
              </a:rPr>
              <a:t>重要的</a:t>
            </a:r>
            <a:r>
              <a:rPr kumimoji="0" lang="zh-CN" altLang="en-US" sz="2400" kern="0" cap="none" spc="0" normalizeH="0" baseline="0" noProof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温室气体</a:t>
            </a:r>
            <a:endParaRPr kumimoji="0" lang="zh-CN" altLang="en-US" sz="2400" kern="0" cap="none" spc="0" normalizeH="0" baseline="0" noProof="0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  <a:p>
            <a:pPr marL="342900" marR="0" indent="-342900" defTabSz="914400" eaLnBrk="1" hangingPunct="1">
              <a:spcBef>
                <a:spcPts val="12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kern="0" cap="none" spc="0" normalizeH="0" baseline="0" noProof="0" dirty="0">
                <a:latin typeface="+mn-lt"/>
                <a:ea typeface="+mn-ea"/>
                <a:cs typeface="+mn-cs"/>
              </a:rPr>
              <a:t>对流层臭氧的</a:t>
            </a:r>
            <a:r>
              <a:rPr kumimoji="0" lang="zh-CN" altLang="en-US" sz="2400" kern="0" cap="none" spc="0" normalizeH="0" baseline="0" noProof="0" dirty="0">
                <a:solidFill>
                  <a:schemeClr val="hlink"/>
                </a:solidFill>
                <a:latin typeface="+mn-lt"/>
                <a:ea typeface="+mn-ea"/>
                <a:cs typeface="+mn-cs"/>
              </a:rPr>
              <a:t>源：</a:t>
            </a:r>
            <a:endParaRPr kumimoji="0" lang="zh-CN" altLang="en-US" sz="2400" kern="0" cap="none" spc="0" normalizeH="0" baseline="0" noProof="0" dirty="0">
              <a:solidFill>
                <a:schemeClr val="hlink"/>
              </a:solidFill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从平流层以扩散和湍流方式输送来的，对流层顶的间断处是平流层臭氧向对流层输送的主要通道；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对流层大气中发生的光化学反应。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Rectangle 2"/>
          <p:cNvSpPr txBox="1">
            <a:spLocks noRot="1" noChangeArrowheads="1"/>
          </p:cNvSpPr>
          <p:nvPr/>
        </p:nvSpPr>
        <p:spPr>
          <a:xfrm>
            <a:off x="519113" y="1066800"/>
            <a:ext cx="8229600" cy="777875"/>
          </a:xfrm>
          <a:prstGeom prst="rect">
            <a:avLst/>
          </a:prstGeom>
        </p:spPr>
        <p:txBody>
          <a:bodyPr/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3600" kern="0" cap="none" spc="0" normalizeH="0" baseline="0" noProof="0" dirty="0">
                <a:solidFill>
                  <a:schemeClr val="hlink"/>
                </a:solidFill>
                <a:latin typeface="+mj-lt"/>
                <a:ea typeface="+mj-ea"/>
                <a:cs typeface="+mj-cs"/>
              </a:rPr>
              <a:t>对流层臭氧</a:t>
            </a:r>
            <a:endParaRPr kumimoji="0" lang="zh-CN" altLang="en-US" sz="3600" kern="0" cap="none" spc="0" normalizeH="0" baseline="0" noProof="0" dirty="0">
              <a:solidFill>
                <a:schemeClr val="hlink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Text Box 3"/>
          <p:cNvSpPr txBox="1"/>
          <p:nvPr/>
        </p:nvSpPr>
        <p:spPr>
          <a:xfrm>
            <a:off x="777875" y="2205038"/>
            <a:ext cx="7970838" cy="3621087"/>
          </a:xfrm>
          <a:prstGeom prst="rect">
            <a:avLst/>
          </a:prstGeom>
          <a:noFill/>
          <a:ln w="28575" cap="flat" cmpd="sng">
            <a:solidFill>
              <a:srgbClr val="7030A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eaLnBrk="1" hangingPunct="1">
              <a:lnSpc>
                <a:spcPct val="250000"/>
              </a:lnSpc>
            </a:pPr>
            <a:r>
              <a:rPr lang="zh-CN" altLang="en-US" sz="2400" dirty="0">
                <a:latin typeface="Arial" panose="020B0604020202020204" pitchFamily="34" charset="0"/>
              </a:rPr>
              <a:t>种类：</a:t>
            </a:r>
            <a:r>
              <a:rPr lang="en-US" altLang="zh-CN" sz="2400" dirty="0">
                <a:latin typeface="Arial" panose="020B0604020202020204" pitchFamily="34" charset="0"/>
              </a:rPr>
              <a:t>SO2</a:t>
            </a:r>
            <a:r>
              <a:rPr lang="zh-CN" altLang="en-US" sz="2400" dirty="0">
                <a:latin typeface="Arial" panose="020B0604020202020204" pitchFamily="34" charset="0"/>
              </a:rPr>
              <a:t>，</a:t>
            </a:r>
            <a:r>
              <a:rPr lang="en-US" altLang="zh-CN" sz="2400" dirty="0">
                <a:latin typeface="Arial" panose="020B0604020202020204" pitchFamily="34" charset="0"/>
              </a:rPr>
              <a:t>H2S</a:t>
            </a:r>
            <a:r>
              <a:rPr lang="zh-CN" altLang="en-US" sz="2400" dirty="0">
                <a:latin typeface="Arial" panose="020B0604020202020204" pitchFamily="34" charset="0"/>
              </a:rPr>
              <a:t>，</a:t>
            </a:r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硫酸盐颗粒</a:t>
            </a:r>
            <a:endParaRPr lang="en-US" altLang="zh-CN" sz="24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eaLnBrk="1" hangingPunct="1">
              <a:lnSpc>
                <a:spcPct val="250000"/>
              </a:lnSpc>
            </a:pPr>
            <a:r>
              <a:rPr lang="zh-CN" altLang="en-US" sz="2400" dirty="0">
                <a:latin typeface="Arial" panose="020B0604020202020204" pitchFamily="34" charset="0"/>
              </a:rPr>
              <a:t>主要的源：地球表面，如：土壤的分解，生物体腐烂，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250000"/>
              </a:lnSpc>
            </a:pPr>
            <a:r>
              <a:rPr lang="en-US" altLang="zh-CN" sz="2400" dirty="0">
                <a:latin typeface="Arial" panose="020B0604020202020204" pitchFamily="34" charset="0"/>
              </a:rPr>
              <a:t>               </a:t>
            </a:r>
            <a:r>
              <a:rPr lang="zh-CN" altLang="en-US" sz="2400" dirty="0">
                <a:latin typeface="Arial" panose="020B0604020202020204" pitchFamily="34" charset="0"/>
              </a:rPr>
              <a:t>   火山喷发，海浪溅起的泡沫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25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不稳定性</a:t>
            </a:r>
            <a:r>
              <a:rPr lang="zh-CN" altLang="en-US" sz="2400" dirty="0">
                <a:latin typeface="Arial" panose="020B0604020202020204" pitchFamily="34" charset="0"/>
              </a:rPr>
              <a:t>：酸雨，凝结核</a:t>
            </a:r>
            <a:endParaRPr lang="en-US" altLang="zh-CN" sz="2400" dirty="0">
              <a:latin typeface="Arial" panose="020B0604020202020204" pitchFamily="34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-52387"/>
            <a:ext cx="9144000" cy="769938"/>
          </a:xfrm>
          <a:prstGeom prst="rect">
            <a:avLst/>
          </a:prstGeom>
          <a:gradFill rotWithShape="1">
            <a:gsLst>
              <a:gs pos="0">
                <a:srgbClr val="3366FF"/>
              </a:gs>
              <a:gs pos="100000">
                <a:srgbClr val="3366FF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anchor="ctr" anchorCtr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三、硫的化合物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TextBox 2"/>
          <p:cNvSpPr txBox="1"/>
          <p:nvPr/>
        </p:nvSpPr>
        <p:spPr>
          <a:xfrm>
            <a:off x="468313" y="1052513"/>
            <a:ext cx="8351837" cy="47085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zh-CN" altLang="en-US" sz="3200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硫酸盐的干湿沉降是大气酸沉降的主要成分</a:t>
            </a:r>
            <a:endParaRPr lang="en-US" altLang="zh-CN" sz="3200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zh-CN" altLang="en-US" sz="32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干沉降过程</a:t>
            </a:r>
            <a:r>
              <a:rPr lang="zh-CN" altLang="en-US" sz="3200" dirty="0">
                <a:latin typeface="楷体_GB2312" pitchFamily="49" charset="-122"/>
                <a:ea typeface="楷体_GB2312" pitchFamily="49" charset="-122"/>
              </a:rPr>
              <a:t>：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指质粒在干的状况下移出大气的过程。包括重力下沉、附粘移出。</a:t>
            </a:r>
            <a:endParaRPr lang="en-US" altLang="zh-CN" sz="2800" dirty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2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湿沉降过程</a:t>
            </a:r>
            <a:r>
              <a:rPr lang="zh-CN" altLang="en-US" sz="3200" dirty="0">
                <a:latin typeface="楷体_GB2312" pitchFamily="49" charset="-122"/>
                <a:ea typeface="楷体_GB2312" pitchFamily="49" charset="-122"/>
              </a:rPr>
              <a:t>：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指质粒受雨雪或云雾滴等影响而下沉到下垫面移出大气的过程。包括凝长下沉、碰并下沉。（云内清除和云下清除）</a:t>
            </a:r>
            <a:endParaRPr lang="en-US" altLang="zh-CN" sz="2800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Text Box 3"/>
          <p:cNvSpPr txBox="1"/>
          <p:nvPr/>
        </p:nvSpPr>
        <p:spPr>
          <a:xfrm>
            <a:off x="539750" y="2133600"/>
            <a:ext cx="8353425" cy="3621088"/>
          </a:xfrm>
          <a:prstGeom prst="rect">
            <a:avLst/>
          </a:prstGeom>
          <a:noFill/>
          <a:ln w="28575" cap="flat" cmpd="sng">
            <a:solidFill>
              <a:srgbClr val="7030A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eaLnBrk="1" hangingPunct="1">
              <a:lnSpc>
                <a:spcPct val="250000"/>
              </a:lnSpc>
            </a:pPr>
            <a:r>
              <a:rPr lang="zh-CN" altLang="en-US" sz="2400" dirty="0">
                <a:latin typeface="Arial" panose="020B0604020202020204" pitchFamily="34" charset="0"/>
              </a:rPr>
              <a:t>氮的化合物：</a:t>
            </a:r>
            <a:r>
              <a:rPr lang="en-US" altLang="zh-CN" sz="2400" dirty="0">
                <a:latin typeface="Arial" panose="020B0604020202020204" pitchFamily="34" charset="0"/>
              </a:rPr>
              <a:t>NO</a:t>
            </a:r>
            <a:r>
              <a:rPr lang="zh-CN" altLang="en-US" sz="2400" dirty="0">
                <a:latin typeface="Arial" panose="020B0604020202020204" pitchFamily="34" charset="0"/>
              </a:rPr>
              <a:t>，</a:t>
            </a:r>
            <a:r>
              <a:rPr lang="en-US" altLang="zh-CN" sz="2400" dirty="0">
                <a:latin typeface="Arial" panose="020B0604020202020204" pitchFamily="34" charset="0"/>
              </a:rPr>
              <a:t>NO2</a:t>
            </a:r>
            <a:r>
              <a:rPr lang="zh-CN" altLang="en-US" sz="2400" dirty="0">
                <a:latin typeface="Arial" panose="020B0604020202020204" pitchFamily="34" charset="0"/>
              </a:rPr>
              <a:t>，</a:t>
            </a:r>
            <a:r>
              <a:rPr lang="en-US" altLang="zh-CN" sz="2400" dirty="0">
                <a:latin typeface="Arial" panose="020B0604020202020204" pitchFamily="34" charset="0"/>
              </a:rPr>
              <a:t>N2O5</a:t>
            </a:r>
            <a:r>
              <a:rPr lang="zh-CN" altLang="en-US" sz="2400" dirty="0">
                <a:latin typeface="Arial" panose="020B0604020202020204" pitchFamily="34" charset="0"/>
              </a:rPr>
              <a:t>，</a:t>
            </a:r>
            <a:r>
              <a:rPr lang="en-US" altLang="zh-CN" sz="2400" dirty="0">
                <a:latin typeface="Arial" panose="020B0604020202020204" pitchFamily="34" charset="0"/>
              </a:rPr>
              <a:t>N2O3</a:t>
            </a:r>
            <a:r>
              <a:rPr lang="zh-CN" altLang="en-US" sz="2400" dirty="0">
                <a:latin typeface="Arial" panose="020B0604020202020204" pitchFamily="34" charset="0"/>
              </a:rPr>
              <a:t>，</a:t>
            </a:r>
            <a:r>
              <a:rPr lang="en-US" altLang="zh-CN" sz="2400" dirty="0">
                <a:latin typeface="Arial" panose="020B0604020202020204" pitchFamily="34" charset="0"/>
              </a:rPr>
              <a:t>HNO2</a:t>
            </a:r>
            <a:r>
              <a:rPr lang="zh-CN" altLang="en-US" sz="2400" dirty="0">
                <a:latin typeface="Arial" panose="020B0604020202020204" pitchFamily="34" charset="0"/>
              </a:rPr>
              <a:t>，</a:t>
            </a:r>
            <a:r>
              <a:rPr lang="en-US" altLang="zh-CN" sz="2400" dirty="0">
                <a:latin typeface="Arial" panose="020B0604020202020204" pitchFamily="34" charset="0"/>
              </a:rPr>
              <a:t>HNO3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250000"/>
              </a:lnSpc>
            </a:pPr>
            <a:r>
              <a:rPr lang="zh-CN" altLang="en-US" sz="2400" dirty="0">
                <a:latin typeface="Arial" panose="020B0604020202020204" pitchFamily="34" charset="0"/>
              </a:rPr>
              <a:t>主要来源：化石燃料的燃烧（高温条件下燃烧），汽车尾气，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250000"/>
              </a:lnSpc>
            </a:pPr>
            <a:r>
              <a:rPr lang="en-US" altLang="zh-CN" sz="2400" dirty="0">
                <a:latin typeface="Arial" panose="020B0604020202020204" pitchFamily="34" charset="0"/>
              </a:rPr>
              <a:t>               </a:t>
            </a:r>
            <a:r>
              <a:rPr lang="zh-CN" altLang="en-US" sz="2400" dirty="0">
                <a:latin typeface="Arial" panose="020B0604020202020204" pitchFamily="34" charset="0"/>
              </a:rPr>
              <a:t>   生物体燃烧，闪电，土壤排放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25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光化学烟雾</a:t>
            </a:r>
            <a:r>
              <a:rPr lang="zh-CN" altLang="en-US" sz="2400" dirty="0">
                <a:latin typeface="Arial" panose="020B0604020202020204" pitchFamily="34" charset="0"/>
              </a:rPr>
              <a:t>的先驱物</a:t>
            </a:r>
            <a:endParaRPr lang="en-US" altLang="zh-CN" sz="2400" dirty="0">
              <a:latin typeface="Arial" panose="020B0604020202020204" pitchFamily="34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-52387"/>
            <a:ext cx="9144000" cy="769938"/>
          </a:xfrm>
          <a:prstGeom prst="rect">
            <a:avLst/>
          </a:prstGeom>
          <a:gradFill rotWithShape="1">
            <a:gsLst>
              <a:gs pos="0">
                <a:srgbClr val="3366FF"/>
              </a:gs>
              <a:gs pos="100000">
                <a:srgbClr val="3366FF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anchor="ctr" anchorCtr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四、氮的化合物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Text Box 2"/>
          <p:cNvSpPr txBox="1"/>
          <p:nvPr/>
        </p:nvSpPr>
        <p:spPr>
          <a:xfrm>
            <a:off x="395288" y="881063"/>
            <a:ext cx="4105275" cy="400050"/>
          </a:xfrm>
          <a:prstGeom prst="rect">
            <a:avLst/>
          </a:prstGeom>
          <a:noFill/>
          <a:ln w="19050" cap="flat" cmpd="sng">
            <a:solidFill>
              <a:srgbClr val="7030A0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p>
            <a:pPr algn="ctr" eaLnBrk="1" hangingPunct="1"/>
            <a:r>
              <a:rPr lang="zh-CN" altLang="en-GB" sz="2000" dirty="0">
                <a:latin typeface="Arial" panose="020B0604020202020204" pitchFamily="34" charset="0"/>
              </a:rPr>
              <a:t>对流层光化学烟雾的形成机制</a:t>
            </a:r>
            <a:endParaRPr lang="en-GB" altLang="zh-CN" sz="2000" dirty="0">
              <a:solidFill>
                <a:srgbClr val="000099"/>
              </a:solidFill>
              <a:latin typeface="Arial" panose="020B0604020202020204" pitchFamily="34" charset="0"/>
            </a:endParaRPr>
          </a:p>
        </p:txBody>
      </p:sp>
      <p:sp>
        <p:nvSpPr>
          <p:cNvPr id="39939" name="Text Box 4"/>
          <p:cNvSpPr txBox="1"/>
          <p:nvPr/>
        </p:nvSpPr>
        <p:spPr>
          <a:xfrm>
            <a:off x="950913" y="1865313"/>
            <a:ext cx="184150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p>
            <a:pPr eaLnBrk="1" hangingPunct="1"/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47108" name="Text Box 5"/>
          <p:cNvSpPr txBox="1"/>
          <p:nvPr/>
        </p:nvSpPr>
        <p:spPr>
          <a:xfrm>
            <a:off x="141288" y="1341438"/>
            <a:ext cx="8823325" cy="486092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pPr marL="457200" indent="-457200" eaLnBrk="1" hangingPunct="1">
              <a:lnSpc>
                <a:spcPct val="120000"/>
              </a:lnSpc>
              <a:buNone/>
            </a:pPr>
            <a:r>
              <a:rPr lang="zh-CN" altLang="en-US" sz="2200" dirty="0">
                <a:solidFill>
                  <a:srgbClr val="FF00FF"/>
                </a:solidFill>
                <a:latin typeface="Arial" panose="020B0604020202020204" pitchFamily="34" charset="0"/>
              </a:rPr>
              <a:t>形成光化学烟雾的</a:t>
            </a:r>
            <a:r>
              <a:rPr lang="en-US" altLang="zh-CN" sz="2200" dirty="0">
                <a:solidFill>
                  <a:srgbClr val="FF00FF"/>
                </a:solidFill>
                <a:latin typeface="Arial" panose="020B0604020202020204" pitchFamily="34" charset="0"/>
              </a:rPr>
              <a:t>3</a:t>
            </a:r>
            <a:r>
              <a:rPr lang="zh-CN" altLang="en-US" sz="2200" dirty="0">
                <a:solidFill>
                  <a:srgbClr val="FF00FF"/>
                </a:solidFill>
                <a:latin typeface="Arial" panose="020B0604020202020204" pitchFamily="34" charset="0"/>
              </a:rPr>
              <a:t>个必要条件</a:t>
            </a:r>
            <a:r>
              <a:rPr lang="en-US" altLang="zh-CN" sz="2200" dirty="0">
                <a:solidFill>
                  <a:srgbClr val="FF00FF"/>
                </a:solidFill>
                <a:latin typeface="Arial" panose="020B0604020202020204" pitchFamily="34" charset="0"/>
              </a:rPr>
              <a:t>:</a:t>
            </a:r>
            <a:endParaRPr lang="en-US" altLang="zh-CN" sz="2200" dirty="0">
              <a:solidFill>
                <a:srgbClr val="FF00FF"/>
              </a:solidFill>
              <a:latin typeface="Arial" panose="020B0604020202020204" pitchFamily="34" charset="0"/>
            </a:endParaRPr>
          </a:p>
          <a:p>
            <a:pPr marL="457200" indent="-457200" eaLnBrk="1" hangingPunct="1">
              <a:lnSpc>
                <a:spcPct val="120000"/>
              </a:lnSpc>
              <a:buNone/>
            </a:pPr>
            <a:r>
              <a:rPr lang="zh-CN" altLang="en-US" sz="2200" dirty="0">
                <a:solidFill>
                  <a:srgbClr val="0000FF"/>
                </a:solidFill>
                <a:latin typeface="Arial" panose="020B0604020202020204" pitchFamily="34" charset="0"/>
              </a:rPr>
              <a:t>① 氮氧化物</a:t>
            </a:r>
            <a:r>
              <a:rPr lang="en-US" altLang="zh-CN" sz="2200" dirty="0">
                <a:solidFill>
                  <a:srgbClr val="0000FF"/>
                </a:solidFill>
                <a:latin typeface="Arial" panose="020B0604020202020204" pitchFamily="34" charset="0"/>
              </a:rPr>
              <a:t>(NOx=NO+NO2) </a:t>
            </a:r>
            <a:endParaRPr lang="en-US" altLang="zh-CN" sz="2200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marL="457200" indent="-457200" eaLnBrk="1" hangingPunct="1">
              <a:lnSpc>
                <a:spcPct val="120000"/>
              </a:lnSpc>
              <a:buNone/>
            </a:pPr>
            <a:r>
              <a:rPr lang="zh-CN" altLang="en-US" sz="2200" dirty="0">
                <a:solidFill>
                  <a:srgbClr val="0000FF"/>
                </a:solidFill>
                <a:latin typeface="Arial" panose="020B0604020202020204" pitchFamily="34" charset="0"/>
              </a:rPr>
              <a:t>② 碳氢化合物</a:t>
            </a:r>
            <a:r>
              <a:rPr lang="en-US" altLang="zh-CN" sz="2200" dirty="0">
                <a:solidFill>
                  <a:srgbClr val="0000FF"/>
                </a:solidFill>
                <a:latin typeface="Arial" panose="020B0604020202020204" pitchFamily="34" charset="0"/>
              </a:rPr>
              <a:t> (HC)</a:t>
            </a:r>
            <a:endParaRPr lang="en-US" altLang="zh-CN" sz="2200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marL="457200" indent="-457200" eaLnBrk="1" hangingPunct="1">
              <a:lnSpc>
                <a:spcPct val="120000"/>
              </a:lnSpc>
              <a:buNone/>
            </a:pPr>
            <a:r>
              <a:rPr lang="zh-CN" altLang="en-US" sz="2200" dirty="0">
                <a:solidFill>
                  <a:srgbClr val="0000FF"/>
                </a:solidFill>
                <a:latin typeface="Arial" panose="020B0604020202020204" pitchFamily="34" charset="0"/>
              </a:rPr>
              <a:t>③ 太阳紫外辐射</a:t>
            </a:r>
            <a:r>
              <a:rPr lang="en-US" altLang="zh-CN" sz="2200" dirty="0">
                <a:solidFill>
                  <a:srgbClr val="0000FF"/>
                </a:solidFill>
                <a:latin typeface="Arial" panose="020B0604020202020204" pitchFamily="34" charset="0"/>
              </a:rPr>
              <a:t>(UV)</a:t>
            </a:r>
            <a:endParaRPr lang="zh-CN" altLang="en-US" sz="2200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marL="457200" indent="-457200" eaLnBrk="1" hangingPunct="1">
              <a:lnSpc>
                <a:spcPct val="120000"/>
              </a:lnSpc>
              <a:buNone/>
            </a:pPr>
            <a:r>
              <a:rPr lang="zh-CN" altLang="en-US" sz="2200" dirty="0">
                <a:solidFill>
                  <a:srgbClr val="FF00FF"/>
                </a:solidFill>
                <a:latin typeface="Arial" panose="020B0604020202020204" pitchFamily="34" charset="0"/>
              </a:rPr>
              <a:t>主要的化学反应</a:t>
            </a:r>
            <a:r>
              <a:rPr lang="en-US" altLang="zh-CN" sz="2200" dirty="0">
                <a:solidFill>
                  <a:srgbClr val="FF00FF"/>
                </a:solidFill>
                <a:latin typeface="Arial" panose="020B0604020202020204" pitchFamily="34" charset="0"/>
              </a:rPr>
              <a:t>:</a:t>
            </a:r>
            <a:endParaRPr lang="en-US" altLang="zh-CN" sz="2200" dirty="0">
              <a:solidFill>
                <a:srgbClr val="FF00FF"/>
              </a:solidFill>
              <a:latin typeface="Arial" panose="020B0604020202020204" pitchFamily="34" charset="0"/>
            </a:endParaRPr>
          </a:p>
          <a:p>
            <a:pPr marL="457200" indent="-457200" eaLnBrk="1" hangingPunct="1">
              <a:lnSpc>
                <a:spcPct val="120000"/>
              </a:lnSpc>
              <a:buAutoNum type="arabicPeriod"/>
            </a:pPr>
            <a:r>
              <a:rPr lang="en-US" altLang="zh-CN" sz="2200" dirty="0">
                <a:solidFill>
                  <a:srgbClr val="0000FF"/>
                </a:solidFill>
                <a:latin typeface="Arial" panose="020B0604020202020204" pitchFamily="34" charset="0"/>
              </a:rPr>
              <a:t>2NO + O2 --------&gt; 2NO2</a:t>
            </a:r>
            <a:endParaRPr lang="en-US" altLang="zh-CN" sz="2200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marL="457200" indent="-457200" eaLnBrk="1" hangingPunct="1">
              <a:lnSpc>
                <a:spcPct val="120000"/>
              </a:lnSpc>
              <a:buAutoNum type="arabicPeriod"/>
            </a:pPr>
            <a:r>
              <a:rPr lang="en-US" altLang="zh-CN" sz="2200" dirty="0">
                <a:solidFill>
                  <a:srgbClr val="0000FF"/>
                </a:solidFill>
                <a:latin typeface="Arial" panose="020B0604020202020204" pitchFamily="34" charset="0"/>
              </a:rPr>
              <a:t>NO2+hv --------&gt; NO + O</a:t>
            </a:r>
            <a:endParaRPr lang="en-US" altLang="zh-CN" sz="2200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marL="457200" indent="-457200" eaLnBrk="1" hangingPunct="1">
              <a:lnSpc>
                <a:spcPct val="120000"/>
              </a:lnSpc>
              <a:buAutoNum type="arabicPeriod"/>
            </a:pPr>
            <a:r>
              <a:rPr lang="en-US" altLang="zh-CN" sz="2200" dirty="0">
                <a:solidFill>
                  <a:srgbClr val="0000FF"/>
                </a:solidFill>
                <a:latin typeface="Arial" panose="020B0604020202020204" pitchFamily="34" charset="0"/>
              </a:rPr>
              <a:t>O+ O2 --------&gt; O3 </a:t>
            </a:r>
            <a:endParaRPr lang="en-US" altLang="zh-CN" sz="2200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marL="457200" indent="-457200" eaLnBrk="1" hangingPunct="1">
              <a:lnSpc>
                <a:spcPct val="120000"/>
              </a:lnSpc>
              <a:buAutoNum type="arabicPeriod"/>
            </a:pPr>
            <a:r>
              <a:rPr lang="en-US" altLang="zh-CN" sz="2200" dirty="0">
                <a:solidFill>
                  <a:srgbClr val="0000FF"/>
                </a:solidFill>
                <a:latin typeface="Arial" panose="020B0604020202020204" pitchFamily="34" charset="0"/>
              </a:rPr>
              <a:t>O3 + NO --------&gt; NO2 + O2 </a:t>
            </a:r>
            <a:endParaRPr lang="en-US" altLang="zh-CN" sz="2200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marL="457200" indent="-457200" eaLnBrk="1" hangingPunct="1">
              <a:lnSpc>
                <a:spcPct val="120000"/>
              </a:lnSpc>
              <a:buAutoNum type="arabicPeriod"/>
            </a:pPr>
            <a:r>
              <a:rPr lang="en-US" altLang="zh-CN" sz="2200" dirty="0">
                <a:solidFill>
                  <a:srgbClr val="0000FF"/>
                </a:solidFill>
                <a:latin typeface="Arial" panose="020B0604020202020204" pitchFamily="34" charset="0"/>
              </a:rPr>
              <a:t>NO(NO2) + H</a:t>
            </a:r>
            <a:r>
              <a:rPr lang="en-US" altLang="zh-CN" sz="2200" baseline="-25000" dirty="0">
                <a:solidFill>
                  <a:srgbClr val="0000FF"/>
                </a:solidFill>
                <a:latin typeface="Arial" panose="020B0604020202020204" pitchFamily="34" charset="0"/>
              </a:rPr>
              <a:t>m</a:t>
            </a:r>
            <a:r>
              <a:rPr lang="en-US" altLang="zh-CN" sz="2200" dirty="0">
                <a:solidFill>
                  <a:srgbClr val="0000FF"/>
                </a:solidFill>
                <a:latin typeface="Arial" panose="020B0604020202020204" pitchFamily="34" charset="0"/>
              </a:rPr>
              <a:t>C</a:t>
            </a:r>
            <a:r>
              <a:rPr lang="en-US" altLang="zh-CN" sz="2200" baseline="-25000" dirty="0">
                <a:solidFill>
                  <a:srgbClr val="0000FF"/>
                </a:solidFill>
                <a:latin typeface="Arial" panose="020B0604020202020204" pitchFamily="34" charset="0"/>
              </a:rPr>
              <a:t>n</a:t>
            </a:r>
            <a:r>
              <a:rPr lang="en-US" altLang="zh-CN" sz="2200" dirty="0">
                <a:solidFill>
                  <a:srgbClr val="0000FF"/>
                </a:solidFill>
                <a:latin typeface="Arial" panose="020B0604020202020204" pitchFamily="34" charset="0"/>
              </a:rPr>
              <a:t> --------&gt; PAN</a:t>
            </a:r>
            <a:r>
              <a:rPr lang="zh-CN" altLang="en-US" sz="2200" dirty="0">
                <a:solidFill>
                  <a:srgbClr val="0000FF"/>
                </a:solidFill>
                <a:latin typeface="Arial" panose="020B0604020202020204" pitchFamily="34" charset="0"/>
              </a:rPr>
              <a:t>和其他混合物，如</a:t>
            </a:r>
            <a:r>
              <a:rPr lang="en-US" altLang="zh-CN" sz="2200" dirty="0">
                <a:solidFill>
                  <a:srgbClr val="0000FF"/>
                </a:solidFill>
                <a:latin typeface="Arial" panose="020B0604020202020204" pitchFamily="34" charset="0"/>
              </a:rPr>
              <a:t>RCHO, H2O2 </a:t>
            </a:r>
            <a:endParaRPr lang="en-US" altLang="zh-CN" sz="2200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marL="457200" indent="-457200" eaLnBrk="1" hangingPunct="1">
              <a:lnSpc>
                <a:spcPct val="120000"/>
              </a:lnSpc>
              <a:buNone/>
            </a:pPr>
            <a:r>
              <a:rPr lang="zh-CN" altLang="en-US" sz="2200" dirty="0">
                <a:latin typeface="Arial" panose="020B0604020202020204" pitchFamily="34" charset="0"/>
              </a:rPr>
              <a:t>＊</a:t>
            </a:r>
            <a:r>
              <a:rPr lang="en-US" altLang="zh-CN" dirty="0">
                <a:solidFill>
                  <a:srgbClr val="6666FF"/>
                </a:solidFill>
                <a:latin typeface="Arial" panose="020B0604020202020204" pitchFamily="34" charset="0"/>
              </a:rPr>
              <a:t>PAN: peroxyacetyl nitrate(</a:t>
            </a:r>
            <a:r>
              <a:rPr lang="zh-CN" altLang="en-US" dirty="0">
                <a:solidFill>
                  <a:srgbClr val="6666FF"/>
                </a:solidFill>
                <a:latin typeface="Arial" panose="020B0604020202020204" pitchFamily="34" charset="0"/>
              </a:rPr>
              <a:t>过氧乙酰硝酸酯</a:t>
            </a:r>
            <a:r>
              <a:rPr lang="en-US" altLang="zh-CN" dirty="0">
                <a:solidFill>
                  <a:srgbClr val="6666FF"/>
                </a:solidFill>
                <a:latin typeface="Arial" panose="020B0604020202020204" pitchFamily="34" charset="0"/>
              </a:rPr>
              <a:t>); RCHO(</a:t>
            </a:r>
            <a:r>
              <a:rPr lang="zh-CN" altLang="en-US" dirty="0">
                <a:solidFill>
                  <a:srgbClr val="6666FF"/>
                </a:solidFill>
                <a:latin typeface="Arial" panose="020B0604020202020204" pitchFamily="34" charset="0"/>
              </a:rPr>
              <a:t>醛类</a:t>
            </a:r>
            <a:r>
              <a:rPr lang="en-US" altLang="zh-CN" dirty="0">
                <a:solidFill>
                  <a:srgbClr val="6666FF"/>
                </a:solidFill>
                <a:latin typeface="Arial" panose="020B0604020202020204" pitchFamily="34" charset="0"/>
              </a:rPr>
              <a:t>)</a:t>
            </a:r>
            <a:endParaRPr lang="en-US" altLang="zh-CN" dirty="0">
              <a:solidFill>
                <a:srgbClr val="6666FF"/>
              </a:solidFill>
              <a:latin typeface="Arial" panose="020B0604020202020204" pitchFamily="34" charset="0"/>
            </a:endParaRPr>
          </a:p>
          <a:p>
            <a:pPr marL="457200" indent="-457200"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rgbClr val="6666FF"/>
                </a:solidFill>
                <a:latin typeface="Arial" panose="020B0604020202020204" pitchFamily="34" charset="0"/>
              </a:rPr>
              <a:t>    NMHC(</a:t>
            </a:r>
            <a:r>
              <a:rPr lang="zh-CN" altLang="en-US" dirty="0">
                <a:solidFill>
                  <a:srgbClr val="6666FF"/>
                </a:solidFill>
                <a:latin typeface="Arial" panose="020B0604020202020204" pitchFamily="34" charset="0"/>
              </a:rPr>
              <a:t>非甲烷烃</a:t>
            </a:r>
            <a:r>
              <a:rPr lang="en-US" altLang="zh-CN" dirty="0">
                <a:solidFill>
                  <a:srgbClr val="6666FF"/>
                </a:solidFill>
                <a:latin typeface="Arial" panose="020B0604020202020204" pitchFamily="34" charset="0"/>
              </a:rPr>
              <a:t>), </a:t>
            </a:r>
            <a:r>
              <a:rPr lang="en-US" altLang="zh-CN" dirty="0">
                <a:latin typeface="Arial" panose="020B0604020202020204" pitchFamily="34" charset="0"/>
              </a:rPr>
              <a:t>volatile organic compounds (VOC) (</a:t>
            </a:r>
            <a:r>
              <a:rPr lang="zh-CN" altLang="en-US" dirty="0">
                <a:latin typeface="Arial" panose="020B0604020202020204" pitchFamily="34" charset="0"/>
              </a:rPr>
              <a:t>挥发性有机物</a:t>
            </a:r>
            <a:r>
              <a:rPr lang="en-US" altLang="zh-CN" dirty="0">
                <a:latin typeface="Arial" panose="020B0604020202020204" pitchFamily="34" charset="0"/>
              </a:rPr>
              <a:t>).</a:t>
            </a:r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-52387"/>
            <a:ext cx="9144000" cy="769938"/>
          </a:xfrm>
          <a:prstGeom prst="rect">
            <a:avLst/>
          </a:prstGeom>
          <a:gradFill rotWithShape="1">
            <a:gsLst>
              <a:gs pos="0">
                <a:srgbClr val="3366FF"/>
              </a:gs>
              <a:gs pos="100000">
                <a:srgbClr val="3366FF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anchor="ctr" anchorCtr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四、氮的化合物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>
                                            <p:txEl>
                                              <p:charRg st="62" end="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>
                                            <p:txEl>
                                              <p:charRg st="71" end="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>
                                            <p:txEl>
                                              <p:charRg st="95" end="1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>
                                            <p:txEl>
                                              <p:charRg st="119" end="1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>
                                            <p:txEl>
                                              <p:charRg st="139" end="1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>
                                            <p:txEl>
                                              <p:charRg st="167" end="2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>
                                            <p:txEl>
                                              <p:charRg st="215" end="2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>
                                            <p:txEl>
                                              <p:charRg st="261" end="3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圆角矩形 10"/>
          <p:cNvSpPr/>
          <p:nvPr/>
        </p:nvSpPr>
        <p:spPr>
          <a:xfrm>
            <a:off x="468313" y="2492375"/>
            <a:ext cx="8280400" cy="2278063"/>
          </a:xfrm>
          <a:prstGeom prst="roundRect">
            <a:avLst/>
          </a:prstGeom>
          <a:solidFill>
            <a:srgbClr val="99FFCC"/>
          </a:solidFill>
          <a:ln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40963" name="Object 2"/>
          <p:cNvGraphicFramePr>
            <a:graphicFrameLocks noChangeAspect="1"/>
          </p:cNvGraphicFramePr>
          <p:nvPr/>
        </p:nvGraphicFramePr>
        <p:xfrm>
          <a:off x="400050" y="95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114300" imgH="177800" progId="Equation.DSMT4">
                  <p:embed/>
                </p:oleObj>
              </mc:Choice>
              <mc:Fallback>
                <p:oleObj name="" r:id="rId1" imgW="114300" imgH="177800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00050" y="9525"/>
                        <a:ext cx="114300" cy="177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4" name="Object 3"/>
          <p:cNvGraphicFramePr>
            <a:graphicFrameLocks noChangeAspect="1"/>
          </p:cNvGraphicFramePr>
          <p:nvPr/>
        </p:nvGraphicFramePr>
        <p:xfrm>
          <a:off x="1187450" y="2571750"/>
          <a:ext cx="6985000" cy="1433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3" imgW="1803400" imgH="393700" progId="Equation.DSMT4">
                  <p:embed/>
                </p:oleObj>
              </mc:Choice>
              <mc:Fallback>
                <p:oleObj name="" r:id="rId3" imgW="1803400" imgH="3937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87450" y="2571750"/>
                        <a:ext cx="6985000" cy="14335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5" name="Text Box 5"/>
          <p:cNvSpPr txBox="1"/>
          <p:nvPr/>
        </p:nvSpPr>
        <p:spPr>
          <a:xfrm>
            <a:off x="292100" y="5373688"/>
            <a:ext cx="882015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</a:rPr>
              <a:t>◆ </a:t>
            </a:r>
            <a:r>
              <a:rPr lang="zh-CN" altLang="en-US" sz="3200" dirty="0">
                <a:latin typeface="楷体_GB2312" pitchFamily="49" charset="-122"/>
                <a:ea typeface="楷体_GB2312" pitchFamily="49" charset="-122"/>
              </a:rPr>
              <a:t>地球上自然状态下的空气可看作理想气体。</a:t>
            </a:r>
            <a:endParaRPr lang="zh-CN" altLang="en-US" sz="320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-52387"/>
            <a:ext cx="9144000" cy="769938"/>
          </a:xfrm>
          <a:prstGeom prst="rect">
            <a:avLst/>
          </a:prstGeom>
          <a:gradFill rotWithShape="1">
            <a:gsLst>
              <a:gs pos="0">
                <a:srgbClr val="3366FF"/>
              </a:gs>
              <a:gs pos="100000">
                <a:srgbClr val="3366FF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anchor="ctr" anchorCtr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五、干空气状态方程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107950" y="1052513"/>
            <a:ext cx="4103688" cy="612775"/>
          </a:xfrm>
          <a:prstGeom prst="rect">
            <a:avLst/>
          </a:prstGeom>
          <a:solidFill>
            <a:srgbClr val="990033"/>
          </a:solidFill>
          <a:ln w="9525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>
            <a:spAutoFit/>
          </a:bodyPr>
          <a:lstStyle/>
          <a:p>
            <a:pPr marR="0" algn="ctr" defTabSz="914400" eaLnBrk="1" hangingPunct="1"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1" lang="zh-CN" altLang="en-US" sz="2800" kern="1200" cap="none" spc="0" normalizeH="0" baseline="0" noProof="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理想气体状态方程</a:t>
            </a:r>
            <a:endParaRPr kumimoji="1" lang="zh-CN" altLang="en-US" sz="2800" kern="1200" cap="none" spc="0" normalizeH="0" baseline="0" noProof="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0968" name="TextBox 9"/>
          <p:cNvSpPr txBox="1"/>
          <p:nvPr/>
        </p:nvSpPr>
        <p:spPr>
          <a:xfrm>
            <a:off x="323850" y="4016375"/>
            <a:ext cx="8820150" cy="492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600" dirty="0">
                <a:latin typeface="Arial" panose="020B0604020202020204" pitchFamily="34" charset="0"/>
              </a:rPr>
              <a:t>（</a:t>
            </a:r>
            <a:r>
              <a:rPr lang="en-US" altLang="zh-CN" sz="2600" dirty="0">
                <a:latin typeface="Arial" panose="020B0604020202020204" pitchFamily="34" charset="0"/>
              </a:rPr>
              <a:t>R</a:t>
            </a:r>
            <a:r>
              <a:rPr lang="zh-CN" altLang="en-US" sz="2600" dirty="0">
                <a:latin typeface="Arial" panose="020B0604020202020204" pitchFamily="34" charset="0"/>
              </a:rPr>
              <a:t>*是摩尔气体常数，</a:t>
            </a:r>
            <a:r>
              <a:rPr lang="en-US" altLang="zh-CN" sz="2600" dirty="0">
                <a:latin typeface="Arial" panose="020B0604020202020204" pitchFamily="34" charset="0"/>
              </a:rPr>
              <a:t>R</a:t>
            </a:r>
            <a:r>
              <a:rPr lang="zh-CN" altLang="en-US" sz="2600" dirty="0">
                <a:latin typeface="Arial" panose="020B0604020202020204" pitchFamily="34" charset="0"/>
              </a:rPr>
              <a:t>是混合理想气体的比气体常数）</a:t>
            </a:r>
            <a:endParaRPr lang="zh-CN" altLang="en-US" sz="26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Text Box 3"/>
          <p:cNvSpPr txBox="1"/>
          <p:nvPr/>
        </p:nvSpPr>
        <p:spPr>
          <a:xfrm>
            <a:off x="539750" y="908050"/>
            <a:ext cx="2232025" cy="641350"/>
          </a:xfrm>
          <a:prstGeom prst="rect">
            <a:avLst/>
          </a:prstGeom>
          <a:blipFill rotWithShape="1">
            <a:blip r:embed="rId1"/>
          </a:blipFill>
          <a:ln w="19050">
            <a:noFill/>
          </a:ln>
        </p:spPr>
        <p:txBody>
          <a:bodyPr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zh-CN" altLang="en-US" sz="3600" dirty="0">
                <a:latin typeface="楷体_GB2312" pitchFamily="49" charset="-122"/>
                <a:ea typeface="楷体_GB2312" pitchFamily="49" charset="-122"/>
              </a:rPr>
              <a:t>方程推导</a:t>
            </a:r>
            <a:endParaRPr lang="zh-CN" altLang="en-US" sz="360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1987" name="Text Box 4"/>
          <p:cNvSpPr txBox="1"/>
          <p:nvPr/>
        </p:nvSpPr>
        <p:spPr>
          <a:xfrm>
            <a:off x="611188" y="1806575"/>
            <a:ext cx="8208962" cy="8302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设体积为</a:t>
            </a:r>
            <a:r>
              <a:rPr lang="en-US" altLang="zh-CN" sz="2400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V</a:t>
            </a:r>
            <a:r>
              <a:rPr lang="zh-CN" altLang="en-US" sz="2400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、温度为</a:t>
            </a:r>
            <a:r>
              <a:rPr lang="en-US" altLang="zh-CN" sz="2400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T</a:t>
            </a:r>
            <a:r>
              <a:rPr lang="zh-CN" altLang="en-US" sz="2400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的干空气中，含有</a:t>
            </a:r>
            <a:r>
              <a:rPr lang="en-US" altLang="zh-CN" sz="2400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n</a:t>
            </a:r>
            <a:r>
              <a:rPr lang="zh-CN" altLang="en-US" sz="2400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种气体成分，其中第</a:t>
            </a:r>
            <a:r>
              <a:rPr lang="en-US" altLang="zh-CN" sz="2400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zh-CN" altLang="en-US" sz="2400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种成分的状态方程为：</a:t>
            </a:r>
            <a:endParaRPr lang="zh-CN" altLang="en-US" sz="2400" dirty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41988" name="Object 2"/>
          <p:cNvGraphicFramePr>
            <a:graphicFrameLocks noChangeAspect="1"/>
          </p:cNvGraphicFramePr>
          <p:nvPr/>
        </p:nvGraphicFramePr>
        <p:xfrm>
          <a:off x="1763713" y="2636838"/>
          <a:ext cx="5688012" cy="11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2" imgW="1993900" imgH="431800" progId="Equation.DSMT4">
                  <p:embed/>
                </p:oleObj>
              </mc:Choice>
              <mc:Fallback>
                <p:oleObj name="" r:id="rId2" imgW="1993900" imgH="431800" progId="Equation.DSMT4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63713" y="2636838"/>
                        <a:ext cx="5688012" cy="1181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89" name="Text Box 6"/>
          <p:cNvSpPr txBox="1"/>
          <p:nvPr/>
        </p:nvSpPr>
        <p:spPr>
          <a:xfrm>
            <a:off x="611188" y="3786188"/>
            <a:ext cx="45720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对以上</a:t>
            </a:r>
            <a:r>
              <a:rPr lang="en-US" altLang="zh-CN" sz="2400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n</a:t>
            </a:r>
            <a:r>
              <a:rPr lang="zh-CN" altLang="en-US" sz="2400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个式子求和，有</a:t>
            </a:r>
            <a:endParaRPr lang="zh-CN" altLang="en-US" sz="2400" dirty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41990" name="Object 3"/>
          <p:cNvGraphicFramePr>
            <a:graphicFrameLocks noChangeAspect="1"/>
          </p:cNvGraphicFramePr>
          <p:nvPr/>
        </p:nvGraphicFramePr>
        <p:xfrm>
          <a:off x="1692275" y="4292600"/>
          <a:ext cx="5903913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4" imgW="2032000" imgH="431800" progId="Equation.DSMT4">
                  <p:embed/>
                </p:oleObj>
              </mc:Choice>
              <mc:Fallback>
                <p:oleObj name="" r:id="rId4" imgW="2032000" imgH="431800" progId="Equation.DSMT4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92275" y="4292600"/>
                        <a:ext cx="5903913" cy="1047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1" name="Text Box 3"/>
          <p:cNvSpPr txBox="1"/>
          <p:nvPr/>
        </p:nvSpPr>
        <p:spPr>
          <a:xfrm>
            <a:off x="611188" y="5762625"/>
            <a:ext cx="167640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考虑到</a:t>
            </a:r>
            <a:endParaRPr lang="zh-CN" altLang="en-US" sz="2400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41992" name="Object 4"/>
          <p:cNvGraphicFramePr>
            <a:graphicFrameLocks noChangeAspect="1"/>
          </p:cNvGraphicFramePr>
          <p:nvPr/>
        </p:nvGraphicFramePr>
        <p:xfrm>
          <a:off x="2058988" y="5686425"/>
          <a:ext cx="16764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6" imgW="596900" imgH="254000" progId="Equation.DSMT4">
                  <p:embed/>
                </p:oleObj>
              </mc:Choice>
              <mc:Fallback>
                <p:oleObj name="" r:id="rId6" imgW="596900" imgH="254000" progId="Equation.DSMT4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058988" y="5686425"/>
                        <a:ext cx="1676400" cy="685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3" name="Object 5"/>
          <p:cNvGraphicFramePr>
            <a:graphicFrameLocks noChangeAspect="1"/>
          </p:cNvGraphicFramePr>
          <p:nvPr/>
        </p:nvGraphicFramePr>
        <p:xfrm>
          <a:off x="4192588" y="5686425"/>
          <a:ext cx="1771650" cy="766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8" imgW="647700" imgH="254000" progId="Equation.DSMT4">
                  <p:embed/>
                </p:oleObj>
              </mc:Choice>
              <mc:Fallback>
                <p:oleObj name="" r:id="rId8" imgW="647700" imgH="254000" progId="Equation.DSMT4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192588" y="5686425"/>
                        <a:ext cx="1771650" cy="7667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0" y="-52387"/>
            <a:ext cx="9144000" cy="769938"/>
          </a:xfrm>
          <a:prstGeom prst="rect">
            <a:avLst/>
          </a:prstGeom>
          <a:gradFill rotWithShape="1">
            <a:gsLst>
              <a:gs pos="0">
                <a:srgbClr val="3366FF"/>
              </a:gs>
              <a:gs pos="100000">
                <a:srgbClr val="3366FF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anchor="ctr" anchorCtr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五、干空气状态方程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" name="圆角矩形 17"/>
          <p:cNvSpPr/>
          <p:nvPr/>
        </p:nvSpPr>
        <p:spPr>
          <a:xfrm>
            <a:off x="1331913" y="5589588"/>
            <a:ext cx="6264275" cy="1008063"/>
          </a:xfrm>
          <a:prstGeom prst="roundRect">
            <a:avLst/>
          </a:prstGeom>
          <a:blipFill>
            <a:blip r:embed="rId1" cstate="print"/>
            <a:tile tx="0" ty="0" sx="100000" sy="100000" flip="none" algn="tl"/>
          </a:blipFill>
          <a:ln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3011" name="Text Box 6"/>
          <p:cNvSpPr txBox="1"/>
          <p:nvPr/>
        </p:nvSpPr>
        <p:spPr>
          <a:xfrm>
            <a:off x="765175" y="981075"/>
            <a:ext cx="2660650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并令平均摩尔质量</a:t>
            </a:r>
            <a:endParaRPr lang="zh-CN" altLang="en-US" sz="2400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43012" name="Object 5"/>
          <p:cNvGraphicFramePr>
            <a:graphicFrameLocks noChangeAspect="1"/>
          </p:cNvGraphicFramePr>
          <p:nvPr/>
        </p:nvGraphicFramePr>
        <p:xfrm>
          <a:off x="3416300" y="765175"/>
          <a:ext cx="188595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2" imgW="774065" imgH="622300" progId="Equation.DSMT4">
                  <p:embed/>
                </p:oleObj>
              </mc:Choice>
              <mc:Fallback>
                <p:oleObj name="" r:id="rId2" imgW="774065" imgH="622300" progId="Equation.DSMT4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416300" y="765175"/>
                        <a:ext cx="1885950" cy="1295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3" name="Text Box 8"/>
          <p:cNvSpPr txBox="1"/>
          <p:nvPr/>
        </p:nvSpPr>
        <p:spPr>
          <a:xfrm>
            <a:off x="5157788" y="950913"/>
            <a:ext cx="243840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，则有</a:t>
            </a:r>
            <a:endParaRPr lang="zh-CN" altLang="en-US" sz="2400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43014" name="Object 6"/>
          <p:cNvGraphicFramePr>
            <a:graphicFrameLocks noChangeAspect="1"/>
          </p:cNvGraphicFramePr>
          <p:nvPr/>
        </p:nvGraphicFramePr>
        <p:xfrm>
          <a:off x="2268538" y="1844675"/>
          <a:ext cx="5040312" cy="998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4" imgW="2044700" imgH="393700" progId="Equation.DSMT4">
                  <p:embed/>
                </p:oleObj>
              </mc:Choice>
              <mc:Fallback>
                <p:oleObj name="" r:id="rId4" imgW="2044700" imgH="393700" progId="Equation.DSMT4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268538" y="1844675"/>
                        <a:ext cx="5040312" cy="9985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5" name="Text Box 2"/>
          <p:cNvSpPr txBox="1"/>
          <p:nvPr/>
        </p:nvSpPr>
        <p:spPr>
          <a:xfrm>
            <a:off x="671513" y="2997200"/>
            <a:ext cx="3127375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90 km</a:t>
            </a:r>
            <a:r>
              <a:rPr lang="zh-CN" altLang="en-US" sz="2400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以下，计算得：</a:t>
            </a:r>
            <a:endParaRPr lang="zh-CN" altLang="en-US" sz="2400" dirty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43016" name="Object 7"/>
          <p:cNvGraphicFramePr>
            <a:graphicFrameLocks noChangeAspect="1"/>
          </p:cNvGraphicFramePr>
          <p:nvPr/>
        </p:nvGraphicFramePr>
        <p:xfrm>
          <a:off x="3700463" y="3030538"/>
          <a:ext cx="3679825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6" imgW="1651000" imgH="228600" progId="Equation.DSMT4">
                  <p:embed/>
                </p:oleObj>
              </mc:Choice>
              <mc:Fallback>
                <p:oleObj name="" r:id="rId6" imgW="1651000" imgH="228600" progId="Equation.DSMT4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700463" y="3030538"/>
                        <a:ext cx="3679825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7" name="Text Box 4"/>
          <p:cNvSpPr txBox="1"/>
          <p:nvPr/>
        </p:nvSpPr>
        <p:spPr>
          <a:xfrm>
            <a:off x="1001713" y="3759200"/>
            <a:ext cx="76200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令</a:t>
            </a:r>
            <a:endParaRPr lang="zh-CN" altLang="en-US" sz="2400" dirty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43018" name="Object 8"/>
          <p:cNvGraphicFramePr>
            <a:graphicFrameLocks noChangeAspect="1"/>
          </p:cNvGraphicFramePr>
          <p:nvPr/>
        </p:nvGraphicFramePr>
        <p:xfrm>
          <a:off x="1490663" y="3586163"/>
          <a:ext cx="5875337" cy="779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8" imgW="2959100" imgH="419100" progId="Equation.DSMT4">
                  <p:embed/>
                </p:oleObj>
              </mc:Choice>
              <mc:Fallback>
                <p:oleObj name="" r:id="rId8" imgW="2959100" imgH="419100" progId="Equation.DSMT4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490663" y="3586163"/>
                        <a:ext cx="5875337" cy="7794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9" name="Text Box 6"/>
          <p:cNvSpPr txBox="1"/>
          <p:nvPr/>
        </p:nvSpPr>
        <p:spPr>
          <a:xfrm>
            <a:off x="1754188" y="4406900"/>
            <a:ext cx="3825875" cy="461963"/>
          </a:xfrm>
          <a:prstGeom prst="rect">
            <a:avLst/>
          </a:prstGeom>
          <a:blipFill rotWithShape="1">
            <a:blip r:embed="rId10"/>
          </a:blipFill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400" i="1" dirty="0">
                <a:solidFill>
                  <a:srgbClr val="FF00FF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en-US" altLang="zh-CN" sz="2400" baseline="-25000" dirty="0">
                <a:solidFill>
                  <a:srgbClr val="FF00FF"/>
                </a:solidFill>
                <a:latin typeface="楷体_GB2312" pitchFamily="49" charset="-122"/>
                <a:ea typeface="楷体_GB2312" pitchFamily="49" charset="-122"/>
              </a:rPr>
              <a:t>d </a:t>
            </a:r>
            <a:r>
              <a:rPr lang="zh-CN" altLang="en-US" sz="2400" dirty="0">
                <a:solidFill>
                  <a:srgbClr val="FF00FF"/>
                </a:solidFill>
                <a:latin typeface="楷体_GB2312" pitchFamily="49" charset="-122"/>
                <a:ea typeface="楷体_GB2312" pitchFamily="49" charset="-122"/>
              </a:rPr>
              <a:t>称为干空气比气体常数</a:t>
            </a:r>
            <a:endParaRPr lang="zh-CN" altLang="en-US" sz="2400" baseline="-25000" dirty="0">
              <a:solidFill>
                <a:srgbClr val="FF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3020" name="Text Box 7"/>
          <p:cNvSpPr txBox="1"/>
          <p:nvPr/>
        </p:nvSpPr>
        <p:spPr>
          <a:xfrm>
            <a:off x="611188" y="4983163"/>
            <a:ext cx="2197100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400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400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）式可化为</a:t>
            </a:r>
            <a:endParaRPr lang="zh-CN" altLang="en-US" sz="2400" dirty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43021" name="Object 9"/>
          <p:cNvGraphicFramePr>
            <a:graphicFrameLocks noChangeAspect="1"/>
          </p:cNvGraphicFramePr>
          <p:nvPr/>
        </p:nvGraphicFramePr>
        <p:xfrm>
          <a:off x="2225675" y="5661025"/>
          <a:ext cx="4506913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1" imgW="1460500" imgH="228600" progId="Equation.DSMT4">
                  <p:embed/>
                </p:oleObj>
              </mc:Choice>
              <mc:Fallback>
                <p:oleObj name="" r:id="rId11" imgW="1460500" imgH="228600" progId="Equation.DSMT4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225675" y="5661025"/>
                        <a:ext cx="4506913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0" y="-52387"/>
            <a:ext cx="9144000" cy="769938"/>
          </a:xfrm>
          <a:prstGeom prst="rect">
            <a:avLst/>
          </a:prstGeom>
          <a:gradFill rotWithShape="1">
            <a:gsLst>
              <a:gs pos="0">
                <a:srgbClr val="3366FF"/>
              </a:gs>
              <a:gs pos="100000">
                <a:srgbClr val="3366FF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anchor="ctr" anchorCtr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五、干空气状态方程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SACOL-EN-PPT_REAL">
  <a:themeElements>
    <a:clrScheme name="凤舞九天">
      <a:dk1>
        <a:sysClr val="windowText" lastClr="000000"/>
      </a:dk1>
      <a:lt1>
        <a:sysClr val="window" lastClr="FFFFFF"/>
      </a:lt1>
      <a:dk2>
        <a:srgbClr val="004646"/>
      </a:dk2>
      <a:lt2>
        <a:srgbClr val="E1F0FF"/>
      </a:lt2>
      <a:accent1>
        <a:srgbClr val="50742F"/>
      </a:accent1>
      <a:accent2>
        <a:srgbClr val="268868"/>
      </a:accent2>
      <a:accent3>
        <a:srgbClr val="33BD56"/>
      </a:accent3>
      <a:accent4>
        <a:srgbClr val="4BC5B9"/>
      </a:accent4>
      <a:accent5>
        <a:srgbClr val="3163CA"/>
      </a:accent5>
      <a:accent6>
        <a:srgbClr val="4B14AA"/>
      </a:accent6>
      <a:hlink>
        <a:srgbClr val="D9BE02"/>
      </a:hlink>
      <a:folHlink>
        <a:srgbClr val="F900F9"/>
      </a:folHlink>
    </a:clrScheme>
    <a:fontScheme name="1_SACOL-EN-PPT_REA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1_SACOL-EN-PPT_REA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ACOL-EN-PPT_REAL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ACOL-EN-PPT_REAL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ACOL-EN-PPT_REAL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ACOL-EN-PPT_REAL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ACOL-EN-PPT_REAL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ACOL-EN-PPT_REAL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ACOL-EN-PPT_REAL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ACOL-EN-PPT_REAL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ACOL-EN-PPT_REAL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ACOL-EN-PPT_REAL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ACOL-EN-PPT_REAL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3397</Words>
  <Application>WPS 演示</Application>
  <PresentationFormat>全屏显示(4:3)</PresentationFormat>
  <Paragraphs>257</Paragraphs>
  <Slides>27</Slides>
  <Notes>14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11</vt:i4>
      </vt:variant>
      <vt:variant>
        <vt:lpstr>幻灯片标题</vt:lpstr>
      </vt:variant>
      <vt:variant>
        <vt:i4>27</vt:i4>
      </vt:variant>
    </vt:vector>
  </HeadingPairs>
  <TitlesOfParts>
    <vt:vector size="54" baseType="lpstr">
      <vt:lpstr>Arial</vt:lpstr>
      <vt:lpstr>宋体</vt:lpstr>
      <vt:lpstr>Wingdings</vt:lpstr>
      <vt:lpstr>Tahoma</vt:lpstr>
      <vt:lpstr>黑体</vt:lpstr>
      <vt:lpstr>华文楷体</vt:lpstr>
      <vt:lpstr>楷体</vt:lpstr>
      <vt:lpstr>仿宋_GB2312</vt:lpstr>
      <vt:lpstr>仿宋</vt:lpstr>
      <vt:lpstr>楷体_GB2312</vt:lpstr>
      <vt:lpstr>新宋体</vt:lpstr>
      <vt:lpstr>Times New Roman</vt:lpstr>
      <vt:lpstr>微软雅黑</vt:lpstr>
      <vt:lpstr>Arial Unicode MS</vt:lpstr>
      <vt:lpstr>Blends</vt:lpstr>
      <vt:lpstr>2_SACOL-EN-PPT_REAL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NUIST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X. Cao</dc:creator>
  <cp:lastModifiedBy>赵元丞</cp:lastModifiedBy>
  <cp:revision>769</cp:revision>
  <dcterms:created xsi:type="dcterms:W3CDTF">2007-02-13T12:16:13Z</dcterms:created>
  <dcterms:modified xsi:type="dcterms:W3CDTF">2026-10-10T00:51:02Z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159F1E195485462798AFE37A4042D588_13</vt:lpwstr>
  </property>
  <property fmtid="{D5CDD505-2E9C-101B-9397-08002B2CF9AE}" pid="3" name="KSOProductBuildVer">
    <vt:lpwstr>2052-12.1.0.28802</vt:lpwstr>
  </property>
</Properties>
</file>