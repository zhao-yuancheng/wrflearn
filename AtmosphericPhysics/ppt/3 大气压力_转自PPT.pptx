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367" r:id="rId4"/>
    <p:sldId id="368" r:id="rId6"/>
    <p:sldId id="402" r:id="rId7"/>
    <p:sldId id="369" r:id="rId8"/>
    <p:sldId id="389" r:id="rId9"/>
    <p:sldId id="370" r:id="rId10"/>
    <p:sldId id="371" r:id="rId11"/>
    <p:sldId id="374" r:id="rId12"/>
    <p:sldId id="390" r:id="rId13"/>
    <p:sldId id="376" r:id="rId14"/>
    <p:sldId id="372" r:id="rId15"/>
    <p:sldId id="387" r:id="rId16"/>
    <p:sldId id="373" r:id="rId17"/>
    <p:sldId id="353" r:id="rId18"/>
    <p:sldId id="354" r:id="rId19"/>
    <p:sldId id="355" r:id="rId20"/>
    <p:sldId id="356" r:id="rId21"/>
    <p:sldId id="357" r:id="rId22"/>
    <p:sldId id="358" r:id="rId23"/>
    <p:sldId id="359" r:id="rId24"/>
    <p:sldId id="377" r:id="rId25"/>
    <p:sldId id="360" r:id="rId26"/>
    <p:sldId id="398" r:id="rId27"/>
    <p:sldId id="399" r:id="rId28"/>
    <p:sldId id="400" r:id="rId29"/>
    <p:sldId id="401" r:id="rId30"/>
    <p:sldId id="361" r:id="rId31"/>
    <p:sldId id="378" r:id="rId32"/>
    <p:sldId id="379" r:id="rId33"/>
    <p:sldId id="363" r:id="rId34"/>
    <p:sldId id="385" r:id="rId35"/>
    <p:sldId id="380" r:id="rId36"/>
    <p:sldId id="381" r:id="rId37"/>
    <p:sldId id="391" r:id="rId38"/>
    <p:sldId id="382" r:id="rId39"/>
    <p:sldId id="383" r:id="rId40"/>
    <p:sldId id="384" r:id="rId41"/>
    <p:sldId id="365" r:id="rId42"/>
    <p:sldId id="393" r:id="rId43"/>
    <p:sldId id="394" r:id="rId44"/>
    <p:sldId id="395" r:id="rId45"/>
    <p:sldId id="396" r:id="rId46"/>
    <p:sldId id="397" r:id="rId47"/>
    <p:sldId id="386" r:id="rId48"/>
    <p:sldId id="323" r:id="rId49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FF"/>
    <a:srgbClr val="FF0000"/>
    <a:srgbClr val="080808"/>
    <a:srgbClr val="FF3300"/>
    <a:srgbClr val="FF66FF"/>
    <a:srgbClr val="99FF99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2120"/>
    <p:restoredTop sz="92000"/>
  </p:normalViewPr>
  <p:slideViewPr>
    <p:cSldViewPr showGuides="1">
      <p:cViewPr varScale="1">
        <p:scale>
          <a:sx n="90" d="100"/>
          <a:sy n="90" d="100"/>
        </p:scale>
        <p:origin x="-380" y="-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0.vml.rels><?xml version="1.0" encoding="UTF-8" standalone="yes"?>
<Relationships xmlns="http://schemas.openxmlformats.org/package/2006/relationships"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2.wmf"/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2.vml.rels><?xml version="1.0" encoding="UTF-8" standalone="yes"?>
<Relationships xmlns="http://schemas.openxmlformats.org/package/2006/relationships"><Relationship Id="rId4" Type="http://schemas.openxmlformats.org/officeDocument/2006/relationships/image" Target="../media/image46.wmf"/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7477FE-8B36-4CAB-9B23-386137976CC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51203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04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52227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2228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53251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3252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r>
              <a:rPr lang="zh-CN" altLang="en-US" dirty="0">
                <a:ea typeface="宋体" panose="02010600030101010101" pitchFamily="2" charset="-122"/>
              </a:rPr>
              <a:t>提问：等温面非水平，存在水平运动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54275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4276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55299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5300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r>
              <a:rPr lang="zh-CN" altLang="en-US" dirty="0">
                <a:ea typeface="宋体" panose="02010600030101010101" pitchFamily="2" charset="-122"/>
              </a:rPr>
              <a:t>为何是干冷空气？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56323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6324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r>
              <a:rPr lang="zh-CN" altLang="en-US" dirty="0">
                <a:ea typeface="宋体" panose="02010600030101010101" pitchFamily="2" charset="-122"/>
              </a:rPr>
              <a:t>画草图解释气压标高的物理意义。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r>
              <a:rPr lang="zh-CN" altLang="en-US" dirty="0">
                <a:ea typeface="宋体" panose="02010600030101010101" pitchFamily="2" charset="-122"/>
              </a:rPr>
              <a:t>多元大气的特例是等温大气，上界为无穷大。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83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59395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9396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r>
              <a:rPr lang="zh-CN" altLang="en-US" dirty="0">
                <a:ea typeface="宋体" panose="02010600030101010101" pitchFamily="2" charset="-122"/>
              </a:rPr>
              <a:t>介绍保守力，势函数，大地水准面。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r>
              <a:rPr lang="zh-CN" altLang="en-US" dirty="0">
                <a:ea typeface="宋体" panose="02010600030101010101" pitchFamily="2" charset="-122"/>
              </a:rPr>
              <a:t>海平面是不是等位势面？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04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61443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1444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62467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2468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r>
              <a:rPr lang="zh-CN" altLang="en-US" dirty="0">
                <a:ea typeface="宋体" panose="02010600030101010101" pitchFamily="2" charset="-122"/>
              </a:rPr>
              <a:t>布置一个课堂测试：利用标准大气的温度垂直分布，确定气压变化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63491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3492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64515" name="Rectangle 2"/>
          <p:cNvSpPr>
            <a:spLocks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4516" name="Rectangle 3"/>
          <p:cNvSpPr/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65539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5540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CA" sz="1200" dirty="0">
                <a:ea typeface="宋体" panose="02010600030101010101" pitchFamily="2" charset="-122"/>
              </a:rPr>
            </a:fld>
            <a:endParaRPr lang="zh-CN" altLang="en-CA" sz="1200" dirty="0">
              <a:ea typeface="宋体" panose="02010600030101010101" pitchFamily="2" charset="-122"/>
            </a:endParaRPr>
          </a:p>
        </p:txBody>
      </p:sp>
      <p:sp>
        <p:nvSpPr>
          <p:cNvPr id="66563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6564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2.bin"/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7"/>
          <p:cNvSpPr>
            <a:spLocks noChangeArrowheads="1"/>
          </p:cNvSpPr>
          <p:nvPr/>
        </p:nvSpPr>
        <p:spPr bwMode="ltGray">
          <a:xfrm>
            <a:off x="-1587" y="5157788"/>
            <a:ext cx="9145588" cy="17081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white">
          <a:xfrm>
            <a:off x="0" y="0"/>
            <a:ext cx="9144000" cy="49355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9"/>
          <p:cNvSpPr>
            <a:spLocks noChangeArrowheads="1"/>
          </p:cNvSpPr>
          <p:nvPr/>
        </p:nvSpPr>
        <p:spPr bwMode="ltGray">
          <a:xfrm>
            <a:off x="1270000" y="4933950"/>
            <a:ext cx="7874000" cy="223838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Text Box 14"/>
          <p:cNvSpPr txBox="1">
            <a:spLocks noChangeArrowheads="1"/>
          </p:cNvSpPr>
          <p:nvPr/>
        </p:nvSpPr>
        <p:spPr bwMode="gray">
          <a:xfrm>
            <a:off x="2268538" y="5949950"/>
            <a:ext cx="4608513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College of Atmospheric Sciences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gray">
          <a:xfrm>
            <a:off x="-9525" y="4935538"/>
            <a:ext cx="1282700" cy="222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055" name="Object 21"/>
          <p:cNvGraphicFramePr>
            <a:graphicFrameLocks noChangeAspect="1"/>
          </p:cNvGraphicFramePr>
          <p:nvPr/>
        </p:nvGraphicFramePr>
        <p:xfrm>
          <a:off x="1279525" y="5054600"/>
          <a:ext cx="23510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2540000" imgH="609600" progId="Photoshop.Image.6">
                  <p:embed/>
                </p:oleObj>
              </mc:Choice>
              <mc:Fallback>
                <p:oleObj name="" r:id="rId2" imgW="2540000" imgH="609600" progId="Photoshop.Image.6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79525" y="5054600"/>
                        <a:ext cx="2351088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6" name="Object 22"/>
          <p:cNvGraphicFramePr>
            <a:graphicFrameLocks noChangeAspect="1"/>
          </p:cNvGraphicFramePr>
          <p:nvPr/>
        </p:nvGraphicFramePr>
        <p:xfrm>
          <a:off x="0" y="3500438"/>
          <a:ext cx="1266825" cy="143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4" imgW="2540000" imgH="2540000" progId="Photoshop.Image.6">
                  <p:embed/>
                </p:oleObj>
              </mc:Choice>
              <mc:Fallback>
                <p:oleObj name="" r:id="rId4" imgW="2540000" imgH="2540000" progId="Photoshop.Image.6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0" y="3500438"/>
                        <a:ext cx="1266825" cy="1430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3"/>
          <p:cNvSpPr>
            <a:spLocks noChangeArrowheads="1"/>
          </p:cNvSpPr>
          <p:nvPr/>
        </p:nvSpPr>
        <p:spPr bwMode="invGray">
          <a:xfrm>
            <a:off x="1266825" y="1125538"/>
            <a:ext cx="2368550" cy="4535488"/>
          </a:xfrm>
          <a:prstGeom prst="rect">
            <a:avLst/>
          </a:prstGeom>
          <a:noFill/>
          <a:ln w="0" algn="ctr">
            <a:solidFill>
              <a:schemeClr val="accent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Rectangle 24"/>
          <p:cNvSpPr>
            <a:spLocks noChangeArrowheads="1"/>
          </p:cNvSpPr>
          <p:nvPr/>
        </p:nvSpPr>
        <p:spPr bwMode="invGray">
          <a:xfrm flipH="1">
            <a:off x="8221663" y="0"/>
            <a:ext cx="95250" cy="2060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25"/>
          <p:cNvSpPr>
            <a:spLocks noChangeArrowheads="1"/>
          </p:cNvSpPr>
          <p:nvPr/>
        </p:nvSpPr>
        <p:spPr bwMode="invGray">
          <a:xfrm>
            <a:off x="250825" y="260350"/>
            <a:ext cx="8569325" cy="4392613"/>
          </a:xfrm>
          <a:prstGeom prst="rect">
            <a:avLst/>
          </a:prstGeom>
          <a:noFill/>
          <a:ln w="0" algn="ctr">
            <a:solidFill>
              <a:schemeClr val="tx2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26"/>
          <p:cNvSpPr>
            <a:spLocks noChangeArrowheads="1"/>
          </p:cNvSpPr>
          <p:nvPr/>
        </p:nvSpPr>
        <p:spPr bwMode="invGray">
          <a:xfrm>
            <a:off x="7775575" y="908050"/>
            <a:ext cx="1368425" cy="1439863"/>
          </a:xfrm>
          <a:prstGeom prst="rect">
            <a:avLst/>
          </a:prstGeom>
          <a:noFill/>
          <a:ln w="0" algn="ctr">
            <a:solidFill>
              <a:schemeClr val="tx2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27"/>
          <p:cNvSpPr>
            <a:spLocks noChangeArrowheads="1"/>
          </p:cNvSpPr>
          <p:nvPr/>
        </p:nvSpPr>
        <p:spPr bwMode="invGray">
          <a:xfrm>
            <a:off x="611188" y="1916113"/>
            <a:ext cx="7921625" cy="1584325"/>
          </a:xfrm>
          <a:prstGeom prst="rect">
            <a:avLst/>
          </a:prstGeom>
          <a:noFill/>
          <a:ln w="0" algn="ctr">
            <a:solidFill>
              <a:schemeClr val="tx2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1752600" y="3733800"/>
            <a:ext cx="6019800" cy="3810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>
                <a:solidFill>
                  <a:srgbClr val="84A1E8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981200"/>
            <a:ext cx="7239000" cy="1524000"/>
          </a:xfrm>
        </p:spPr>
        <p:txBody>
          <a:bodyPr/>
          <a:lstStyle>
            <a:lvl1pPr>
              <a:defRPr sz="40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2875"/>
            <a:ext cx="4038600" cy="5040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38600" cy="5040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33363"/>
            <a:ext cx="2057400" cy="62198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33363"/>
            <a:ext cx="6019800" cy="62198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7713" y="233363"/>
            <a:ext cx="7862887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412875"/>
            <a:ext cx="4038600" cy="50403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38600" cy="50403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vmlDrawing" Target="../drawings/vmlDrawing2.vml"/><Relationship Id="rId14" Type="http://schemas.openxmlformats.org/officeDocument/2006/relationships/image" Target="../media/image2.png"/><Relationship Id="rId13" Type="http://schemas.openxmlformats.org/officeDocument/2006/relationships/oleObject" Target="../embeddings/oleObject3.bin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15"/>
          <p:cNvSpPr>
            <a:spLocks noChangeArrowheads="1"/>
          </p:cNvSpPr>
          <p:nvPr/>
        </p:nvSpPr>
        <p:spPr bwMode="ltGray">
          <a:xfrm>
            <a:off x="0" y="981075"/>
            <a:ext cx="250825" cy="5891213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16"/>
          <p:cNvSpPr>
            <a:spLocks noChangeArrowheads="1"/>
          </p:cNvSpPr>
          <p:nvPr/>
        </p:nvSpPr>
        <p:spPr bwMode="ltGray">
          <a:xfrm>
            <a:off x="0" y="0"/>
            <a:ext cx="1403350" cy="1247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17"/>
          <p:cNvSpPr>
            <a:spLocks noChangeArrowheads="1"/>
          </p:cNvSpPr>
          <p:nvPr/>
        </p:nvSpPr>
        <p:spPr bwMode="invGray">
          <a:xfrm>
            <a:off x="1403350" y="0"/>
            <a:ext cx="7740650" cy="1052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18"/>
          <p:cNvSpPr>
            <a:spLocks noChangeArrowheads="1"/>
          </p:cNvSpPr>
          <p:nvPr/>
        </p:nvSpPr>
        <p:spPr bwMode="invGray">
          <a:xfrm>
            <a:off x="8820150" y="0"/>
            <a:ext cx="73025" cy="765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19"/>
          <p:cNvSpPr>
            <a:spLocks noChangeArrowheads="1"/>
          </p:cNvSpPr>
          <p:nvPr/>
        </p:nvSpPr>
        <p:spPr bwMode="white">
          <a:xfrm>
            <a:off x="179388" y="134938"/>
            <a:ext cx="8785225" cy="773113"/>
          </a:xfrm>
          <a:prstGeom prst="rect">
            <a:avLst/>
          </a:prstGeom>
          <a:noFill/>
          <a:ln w="0" algn="ctr">
            <a:solidFill>
              <a:schemeClr val="accent1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Line 20"/>
          <p:cNvSpPr/>
          <p:nvPr/>
        </p:nvSpPr>
        <p:spPr>
          <a:xfrm>
            <a:off x="468313" y="6481763"/>
            <a:ext cx="8424862" cy="0"/>
          </a:xfrm>
          <a:prstGeom prst="line">
            <a:avLst/>
          </a:prstGeom>
          <a:ln w="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2" name="Rectangle 3"/>
          <p:cNvSpPr>
            <a:spLocks noGrp="1"/>
          </p:cNvSpPr>
          <p:nvPr>
            <p:ph type="body" idx="1"/>
          </p:nvPr>
        </p:nvSpPr>
        <p:spPr>
          <a:xfrm>
            <a:off x="457200" y="1412875"/>
            <a:ext cx="8229600" cy="504031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-107950" y="6505575"/>
            <a:ext cx="5127625" cy="352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1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兰 州 大 学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j-ea"/>
                <a:cs typeface="+mn-cs"/>
              </a:rPr>
              <a:t>·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大 气 科 学 学 院 本 科 课 程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135813" y="6477000"/>
            <a:ext cx="1828800" cy="227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b="1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《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流 体 力 学 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》</a:t>
            </a: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448425"/>
            <a:ext cx="21336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 b="1"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graphicFrame>
        <p:nvGraphicFramePr>
          <p:cNvPr id="1036" name="Object 21"/>
          <p:cNvGraphicFramePr>
            <a:graphicFrameLocks noChangeAspect="1"/>
          </p:cNvGraphicFramePr>
          <p:nvPr/>
        </p:nvGraphicFramePr>
        <p:xfrm>
          <a:off x="0" y="0"/>
          <a:ext cx="971550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3" imgW="2540000" imgH="2540000" progId="Photoshop.Image.6">
                  <p:embed/>
                </p:oleObj>
              </mc:Choice>
              <mc:Fallback>
                <p:oleObj name="" r:id="rId13" imgW="2540000" imgH="2540000" progId="Photoshop.Image.6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71550" cy="1042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7" name="Rectangle 22"/>
          <p:cNvSpPr>
            <a:spLocks noChangeArrowheads="1"/>
          </p:cNvSpPr>
          <p:nvPr/>
        </p:nvSpPr>
        <p:spPr bwMode="invGray">
          <a:xfrm>
            <a:off x="1187450" y="908050"/>
            <a:ext cx="7956550" cy="1444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8" name="Rectangle 23"/>
          <p:cNvSpPr>
            <a:spLocks noChangeArrowheads="1"/>
          </p:cNvSpPr>
          <p:nvPr/>
        </p:nvSpPr>
        <p:spPr bwMode="invGray">
          <a:xfrm>
            <a:off x="971550" y="0"/>
            <a:ext cx="431800" cy="10525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9" name="Rectangle 2"/>
          <p:cNvSpPr>
            <a:spLocks noGrp="1"/>
          </p:cNvSpPr>
          <p:nvPr>
            <p:ph type="title"/>
          </p:nvPr>
        </p:nvSpPr>
        <p:spPr>
          <a:xfrm>
            <a:off x="747713" y="233363"/>
            <a:ext cx="7862887" cy="5635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F3C43F"/>
          </a:solidFill>
          <a:latin typeface="楷体_GB2312" pitchFamily="49" charset="-122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b="1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 b="1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vmlDrawing" Target="../drawings/vmlDrawing4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6.bin"/><Relationship Id="rId3" Type="http://schemas.openxmlformats.org/officeDocument/2006/relationships/image" Target="../media/image8.wmf"/><Relationship Id="rId2" Type="http://schemas.openxmlformats.org/officeDocument/2006/relationships/oleObject" Target="../embeddings/oleObject5.bin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2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1.wmf"/><Relationship Id="rId1" Type="http://schemas.openxmlformats.org/officeDocument/2006/relationships/oleObject" Target="../embeddings/oleObject8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6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5.wmf"/><Relationship Id="rId1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0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29.wmf"/><Relationship Id="rId1" Type="http://schemas.openxmlformats.org/officeDocument/2006/relationships/oleObject" Target="../embeddings/oleObject13.bin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1.wmf"/><Relationship Id="rId1" Type="http://schemas.openxmlformats.org/officeDocument/2006/relationships/oleObject" Target="../embeddings/oleObject15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.bin"/><Relationship Id="rId8" Type="http://schemas.openxmlformats.org/officeDocument/2006/relationships/image" Target="../media/image36.wmf"/><Relationship Id="rId7" Type="http://schemas.openxmlformats.org/officeDocument/2006/relationships/oleObject" Target="../embeddings/oleObject19.bin"/><Relationship Id="rId6" Type="http://schemas.openxmlformats.org/officeDocument/2006/relationships/image" Target="../media/image35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34.w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33.wmf"/><Relationship Id="rId14" Type="http://schemas.openxmlformats.org/officeDocument/2006/relationships/vmlDrawing" Target="../drawings/vmlDrawing10.vml"/><Relationship Id="rId13" Type="http://schemas.openxmlformats.org/officeDocument/2006/relationships/slideLayout" Target="../slideLayouts/slideLayout4.xml"/><Relationship Id="rId12" Type="http://schemas.openxmlformats.org/officeDocument/2006/relationships/image" Target="../media/image38.wmf"/><Relationship Id="rId11" Type="http://schemas.openxmlformats.org/officeDocument/2006/relationships/oleObject" Target="../embeddings/oleObject21.bin"/><Relationship Id="rId10" Type="http://schemas.openxmlformats.org/officeDocument/2006/relationships/image" Target="../media/image37.wmf"/><Relationship Id="rId1" Type="http://schemas.openxmlformats.org/officeDocument/2006/relationships/oleObject" Target="../embeddings/oleObject16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2.wmf"/><Relationship Id="rId7" Type="http://schemas.openxmlformats.org/officeDocument/2006/relationships/oleObject" Target="../embeddings/oleObject25.bin"/><Relationship Id="rId6" Type="http://schemas.openxmlformats.org/officeDocument/2006/relationships/image" Target="../media/image41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40.w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39.wmf"/><Relationship Id="rId10" Type="http://schemas.openxmlformats.org/officeDocument/2006/relationships/vmlDrawing" Target="../drawings/vmlDrawing11.vml"/><Relationship Id="rId1" Type="http://schemas.openxmlformats.org/officeDocument/2006/relationships/oleObject" Target="../embeddings/oleObject22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6.wmf"/><Relationship Id="rId7" Type="http://schemas.openxmlformats.org/officeDocument/2006/relationships/oleObject" Target="../embeddings/oleObject29.bin"/><Relationship Id="rId6" Type="http://schemas.openxmlformats.org/officeDocument/2006/relationships/image" Target="../media/image45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44.w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43.wmf"/><Relationship Id="rId10" Type="http://schemas.openxmlformats.org/officeDocument/2006/relationships/vmlDrawing" Target="../drawings/vmlDrawing12.vml"/><Relationship Id="rId1" Type="http://schemas.openxmlformats.org/officeDocument/2006/relationships/oleObject" Target="../embeddings/oleObject26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1.jpeg"/><Relationship Id="rId1" Type="http://schemas.openxmlformats.org/officeDocument/2006/relationships/image" Target="../media/image50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2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3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4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7.jpe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8.jpe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9.w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20713" y="838200"/>
            <a:ext cx="7902575" cy="27352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3C43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第 三 章</a:t>
            </a:r>
            <a:b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3C43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3C43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F3C43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大 气 压 力</a:t>
            </a:r>
            <a:endParaRPr kumimoji="0" lang="zh-CN" altLang="en-US" sz="6000" b="1" i="0" u="none" strike="noStrike" kern="0" cap="none" spc="0" normalizeH="0" baseline="0" noProof="0" dirty="0">
              <a:ln>
                <a:noFill/>
              </a:ln>
              <a:solidFill>
                <a:srgbClr val="F3C43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075" name="Rectangle 5"/>
          <p:cNvSpPr>
            <a:spLocks noGrp="1"/>
          </p:cNvSpPr>
          <p:nvPr>
            <p:ph type="subTitle" idx="1"/>
          </p:nvPr>
        </p:nvSpPr>
        <p:spPr>
          <a:xfrm>
            <a:off x="250825" y="260350"/>
            <a:ext cx="2881313" cy="381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SzTx/>
            </a:pPr>
            <a:r>
              <a:rPr lang="zh-CN" altLang="en-US" sz="1800" dirty="0">
                <a:solidFill>
                  <a:srgbClr val="D27D00"/>
                </a:solidFill>
                <a:latin typeface="+mn-lt"/>
                <a:ea typeface="宋体" panose="02010600030101010101" pitchFamily="2" charset="-122"/>
                <a:cs typeface="+mn-cs"/>
              </a:rPr>
              <a:t>大气科学学院本科课程</a:t>
            </a:r>
            <a:endParaRPr lang="zh-CN" altLang="en-US" sz="1800" dirty="0">
              <a:solidFill>
                <a:srgbClr val="D27D00"/>
              </a:solidFill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Text Box 8"/>
          <p:cNvSpPr txBox="1"/>
          <p:nvPr/>
        </p:nvSpPr>
        <p:spPr>
          <a:xfrm>
            <a:off x="2987675" y="1989138"/>
            <a:ext cx="4752975" cy="32623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Aft>
                <a:spcPts val="3600"/>
              </a:spcAft>
            </a:pPr>
            <a:r>
              <a:rPr lang="zh-CN" altLang="en-US" sz="3600" b="1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重  点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1.  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静力学方程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2.  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压高公式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3.  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大气模式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Text Box 5"/>
          <p:cNvSpPr txBox="1"/>
          <p:nvPr/>
        </p:nvSpPr>
        <p:spPr>
          <a:xfrm>
            <a:off x="1476375" y="115888"/>
            <a:ext cx="7559675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40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大气压力</a:t>
            </a:r>
            <a:endParaRPr lang="zh-CN" altLang="en-US" sz="40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123" name="Picture 7" descr="def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1052513"/>
            <a:ext cx="7127875" cy="4044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4" name="Text Box 8"/>
          <p:cNvSpPr txBox="1"/>
          <p:nvPr/>
        </p:nvSpPr>
        <p:spPr>
          <a:xfrm>
            <a:off x="539750" y="5300663"/>
            <a:ext cx="83534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大气压力：</a:t>
            </a:r>
            <a:r>
              <a:rPr lang="zh-CN" altLang="en-US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是指单位面积上直至大气上界整个空气柱的重量。</a:t>
            </a:r>
            <a:endParaRPr lang="zh-CN" altLang="en-US" sz="2400" b="1" dirty="0">
              <a:solidFill>
                <a:srgbClr val="080808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5" name="矩形 4"/>
          <p:cNvSpPr/>
          <p:nvPr/>
        </p:nvSpPr>
        <p:spPr>
          <a:xfrm>
            <a:off x="539750" y="5949950"/>
            <a:ext cx="83343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地面气压在</a:t>
            </a:r>
            <a:r>
              <a:rPr lang="en-US" altLang="zh-CN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980 — 1040 hPa </a:t>
            </a:r>
            <a:r>
              <a:rPr lang="zh-CN" altLang="en-US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之间变化，平均为</a:t>
            </a:r>
            <a:r>
              <a:rPr lang="en-US" altLang="zh-CN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1013 hPa </a:t>
            </a:r>
            <a:r>
              <a:rPr lang="zh-CN" altLang="en-US" sz="2400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  <a:endParaRPr lang="en-US" altLang="zh-CN" sz="2400" b="1" dirty="0">
              <a:solidFill>
                <a:srgbClr val="080808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1403350" y="260350"/>
            <a:ext cx="7862888" cy="56356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solidFill>
                  <a:srgbClr val="FFFF00"/>
                </a:solidFill>
              </a:rPr>
              <a:t>问题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ea typeface="宋体" panose="02010600030101010101" pitchFamily="2" charset="-122"/>
              </a:rPr>
              <a:t>地面气压是否均匀？若不均匀则高低如何？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ea typeface="宋体" panose="02010600030101010101" pitchFamily="2" charset="-122"/>
              </a:rPr>
              <a:t>气压的垂直分布如何？为什么？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ea typeface="宋体" panose="02010600030101010101" pitchFamily="2" charset="-122"/>
              </a:rPr>
              <a:t>地面气压是否对地球有合力矩？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ea typeface="宋体" panose="02010600030101010101" pitchFamily="2" charset="-122"/>
              </a:rPr>
              <a:t>大气压力的两种定义是否等价？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080808"/>
                </a:solidFill>
                <a:ea typeface="宋体" panose="02010600030101010101" pitchFamily="2" charset="-122"/>
              </a:rPr>
              <a:t>   </a:t>
            </a:r>
            <a:r>
              <a:rPr lang="zh-CN" altLang="en-US" dirty="0">
                <a:solidFill>
                  <a:srgbClr val="080808"/>
                </a:solidFill>
                <a:ea typeface="宋体" panose="02010600030101010101" pitchFamily="2" charset="-122"/>
              </a:rPr>
              <a:t>气象上的气压定义：单位面积上空气柱的重量。</a:t>
            </a:r>
            <a:endParaRPr lang="en-US" altLang="zh-CN" dirty="0">
              <a:solidFill>
                <a:srgbClr val="080808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80808"/>
                </a:solidFill>
                <a:ea typeface="宋体" panose="02010600030101010101" pitchFamily="2" charset="-122"/>
              </a:rPr>
              <a:t>   物理上：大量分子的频繁撞击，</a:t>
            </a:r>
            <a:r>
              <a:rPr lang="en-US" altLang="zh-CN" b="0" dirty="0">
                <a:solidFill>
                  <a:srgbClr val="080808"/>
                </a:solidFill>
                <a:ea typeface="宋体" panose="02010600030101010101" pitchFamily="2" charset="-122"/>
              </a:rPr>
              <a:t>P=nR*T</a:t>
            </a:r>
            <a:r>
              <a:rPr lang="zh-CN" altLang="en-US" b="0" dirty="0">
                <a:ea typeface="宋体" panose="02010600030101010101" pitchFamily="2" charset="-122"/>
              </a:rPr>
              <a:t>。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5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ext Box 11"/>
          <p:cNvSpPr txBox="1"/>
          <p:nvPr/>
        </p:nvSpPr>
        <p:spPr>
          <a:xfrm>
            <a:off x="1403350" y="115888"/>
            <a:ext cx="756126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40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压强的单位</a:t>
            </a:r>
            <a:endParaRPr lang="zh-CN" altLang="en-US" sz="40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1" name="Text Box 15"/>
          <p:cNvSpPr txBox="1"/>
          <p:nvPr/>
        </p:nvSpPr>
        <p:spPr>
          <a:xfrm>
            <a:off x="1030288" y="1644650"/>
            <a:ext cx="7245350" cy="49736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70000"/>
              </a:lnSpc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Micrometer Mercury -----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毫米水银柱高 （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mmHg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70000"/>
              </a:lnSpc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Atmosphere—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标准大气压 （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atm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en-US" altLang="zh-CN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70000"/>
              </a:lnSpc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(1 atm = </a:t>
            </a:r>
            <a:r>
              <a:rPr lang="el-GR" altLang="zh-CN" sz="2400" b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ρ</a:t>
            </a:r>
            <a:r>
              <a:rPr lang="en-US" altLang="zh-CN" sz="2400" b="1" baseline="-25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Hg 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x g x 0.76m = 1013.25 hPa)</a:t>
            </a: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70000"/>
              </a:lnSpc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Kilopascals------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千帕 （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kPa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70000"/>
              </a:lnSpc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Millibars--------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毫巴 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(mb)</a:t>
            </a:r>
            <a:endParaRPr lang="en-US" altLang="zh-CN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70000"/>
              </a:lnSpc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Hectpascal------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百帕（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hPa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70000"/>
              </a:lnSpc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Micropascal------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毫帕 （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mPa)</a:t>
            </a:r>
            <a:endParaRPr lang="en-US" altLang="zh-CN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None/>
            </a:pP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1331913" y="260350"/>
            <a:ext cx="7862887" cy="56356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大气中的力</a:t>
            </a:r>
            <a:endParaRPr lang="zh-CN" altLang="en-US" dirty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重力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静止大气在垂直方向上受两个力的作用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重力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大气压力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  重力实际上是地心引力和惯性离心力的合力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u"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5003800" y="5230813"/>
            <a:ext cx="3889375" cy="1150938"/>
          </a:xfrm>
          <a:prstGeom prst="rect">
            <a:avLst/>
          </a:prstGeom>
          <a:solidFill>
            <a:srgbClr val="99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9" name="Text Box 5"/>
          <p:cNvSpPr txBox="1"/>
          <p:nvPr/>
        </p:nvSpPr>
        <p:spPr>
          <a:xfrm>
            <a:off x="1403350" y="188913"/>
            <a:ext cx="756126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40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一、静力学方程</a:t>
            </a:r>
            <a:endParaRPr lang="zh-CN" altLang="en-US" sz="40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9220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2888" y="3400425"/>
            <a:ext cx="1038225" cy="57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Box 4"/>
          <p:cNvSpPr txBox="1"/>
          <p:nvPr/>
        </p:nvSpPr>
        <p:spPr>
          <a:xfrm>
            <a:off x="682625" y="1341438"/>
            <a:ext cx="6913563" cy="1016000"/>
          </a:xfrm>
          <a:prstGeom prst="rect">
            <a:avLst/>
          </a:prstGeom>
          <a:noFill/>
          <a:ln w="19050" cap="flat" cmpd="sng">
            <a:solidFill>
              <a:srgbClr val="00B0F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  <a:buNone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大气在垂直方向上受到的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重力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垂直气压梯度力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达到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平衡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时，称为大气处于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流体静力平衡状态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9221" name="Picture 6"/>
          <p:cNvPicPr>
            <a:picLocks noChangeAspect="1"/>
          </p:cNvPicPr>
          <p:nvPr/>
        </p:nvPicPr>
        <p:blipFill>
          <a:blip r:embed="rId2">
            <a:lum bright="12000"/>
          </a:blip>
          <a:srcRect l="1933" r="1463"/>
          <a:stretch>
            <a:fillRect/>
          </a:stretch>
        </p:blipFill>
        <p:spPr>
          <a:xfrm>
            <a:off x="250825" y="2781300"/>
            <a:ext cx="4645025" cy="3306763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9222" name="Object 5"/>
          <p:cNvGraphicFramePr>
            <a:graphicFrameLocks noChangeAspect="1"/>
          </p:cNvGraphicFramePr>
          <p:nvPr/>
        </p:nvGraphicFramePr>
        <p:xfrm>
          <a:off x="5148263" y="5302250"/>
          <a:ext cx="370840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3" imgW="1307465" imgH="393700" progId="Equations">
                  <p:embed/>
                </p:oleObj>
              </mc:Choice>
              <mc:Fallback>
                <p:oleObj name="" r:id="rId3" imgW="1307465" imgH="393700" progId="Equations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48263" y="5302250"/>
                        <a:ext cx="3708400" cy="930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76825" y="4757738"/>
            <a:ext cx="28797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000" b="1" kern="1200" cap="none" spc="0" normalizeH="0" baseline="0" noProof="0" dirty="0">
                <a:solidFill>
                  <a:srgbClr val="0000FF"/>
                </a:solidFill>
                <a:latin typeface="+mj-ea"/>
                <a:ea typeface="+mj-ea"/>
                <a:cs typeface="+mn-cs"/>
              </a:rPr>
              <a:t>受力分析：</a:t>
            </a:r>
            <a:endParaRPr kumimoji="0" lang="zh-CN" altLang="en-US" sz="2000" b="1" kern="1200" cap="none" spc="0" normalizeH="0" baseline="0" noProof="0" dirty="0">
              <a:solidFill>
                <a:srgbClr val="0000FF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4787900" y="2636838"/>
            <a:ext cx="4176713" cy="1938337"/>
          </a:xfrm>
          <a:prstGeom prst="rect">
            <a:avLst/>
          </a:prstGeom>
          <a:noFill/>
          <a:ln w="28575" cap="flat" cmpd="sng">
            <a:solidFill>
              <a:srgbClr val="7030A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假设：</a:t>
            </a:r>
            <a:endParaRPr lang="en-US" altLang="zh-CN" sz="20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 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大气处于流体静力平衡状态；</a:t>
            </a:r>
            <a:endParaRPr lang="en-US" altLang="zh-CN" sz="20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 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等温面、等压面近似水平，空气无水平运动</a:t>
            </a:r>
            <a:endParaRPr lang="zh-CN" altLang="en-US" sz="20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 animBg="1"/>
      <p:bldP spid="8" grpId="0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2051050" y="1341438"/>
            <a:ext cx="6121400" cy="1150938"/>
          </a:xfrm>
          <a:prstGeom prst="rect">
            <a:avLst/>
          </a:prstGeom>
          <a:blipFill>
            <a:blip r:embed="rId1" cstate="print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矩形标注 13"/>
          <p:cNvSpPr/>
          <p:nvPr/>
        </p:nvSpPr>
        <p:spPr>
          <a:xfrm>
            <a:off x="466725" y="2708275"/>
            <a:ext cx="3600450" cy="1512888"/>
          </a:xfrm>
          <a:prstGeom prst="wedgeRectCallout">
            <a:avLst>
              <a:gd name="adj1" fmla="val 29496"/>
              <a:gd name="adj2" fmla="val -68659"/>
            </a:avLst>
          </a:prstGeom>
          <a:solidFill>
            <a:srgbClr val="99FF99"/>
          </a:solidFill>
          <a:ln w="9525">
            <a:solidFill>
              <a:srgbClr val="0808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051050" y="4652963"/>
            <a:ext cx="6553200" cy="1150938"/>
          </a:xfrm>
          <a:prstGeom prst="rect">
            <a:avLst/>
          </a:prstGeom>
          <a:solidFill>
            <a:srgbClr val="CC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5" name="Text Box 9"/>
          <p:cNvSpPr txBox="1"/>
          <p:nvPr/>
        </p:nvSpPr>
        <p:spPr>
          <a:xfrm>
            <a:off x="1403350" y="206375"/>
            <a:ext cx="7561263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40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静力学方程</a:t>
            </a:r>
            <a:endParaRPr lang="zh-CN" altLang="en-US" sz="40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098" name="Object 6"/>
          <p:cNvGraphicFramePr>
            <a:graphicFrameLocks noChangeAspect="1"/>
          </p:cNvGraphicFramePr>
          <p:nvPr/>
        </p:nvGraphicFramePr>
        <p:xfrm>
          <a:off x="2555875" y="4875213"/>
          <a:ext cx="1836738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2" imgW="647700" imgH="393700" progId="Equation.3">
                  <p:embed/>
                </p:oleObj>
              </mc:Choice>
              <mc:Fallback>
                <p:oleObj name="" r:id="rId2" imgW="647700" imgH="3937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55875" y="4875213"/>
                        <a:ext cx="1836738" cy="930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7"/>
          <p:cNvGraphicFramePr>
            <a:graphicFrameLocks noChangeAspect="1"/>
          </p:cNvGraphicFramePr>
          <p:nvPr/>
        </p:nvGraphicFramePr>
        <p:xfrm>
          <a:off x="2376488" y="1430338"/>
          <a:ext cx="205263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4" imgW="723900" imgH="419100" progId="Equation.3">
                  <p:embed/>
                </p:oleObj>
              </mc:Choice>
              <mc:Fallback>
                <p:oleObj name="" r:id="rId4" imgW="723900" imgH="4191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76488" y="1430338"/>
                        <a:ext cx="2052637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TextBox 7"/>
          <p:cNvSpPr txBox="1"/>
          <p:nvPr/>
        </p:nvSpPr>
        <p:spPr>
          <a:xfrm>
            <a:off x="4643438" y="1628775"/>
            <a:ext cx="3960812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大气静力学方程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08" name="TextBox 8"/>
          <p:cNvSpPr txBox="1"/>
          <p:nvPr/>
        </p:nvSpPr>
        <p:spPr>
          <a:xfrm>
            <a:off x="4787900" y="5065713"/>
            <a:ext cx="388778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压强随高度的变化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09" name="TextBox 10"/>
          <p:cNvSpPr txBox="1"/>
          <p:nvPr/>
        </p:nvSpPr>
        <p:spPr>
          <a:xfrm>
            <a:off x="468313" y="2781300"/>
            <a:ext cx="3598862" cy="1412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30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垂直气压梯度力</a:t>
            </a:r>
            <a:r>
              <a:rPr lang="en-US" altLang="zh-CN" sz="22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单位质量的空气由于气压在垂直方向上有差异而受到的力。</a:t>
            </a:r>
            <a:endParaRPr lang="zh-CN" altLang="en-US" sz="2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2195513" y="1412875"/>
            <a:ext cx="1584325" cy="1008063"/>
          </a:xfrm>
          <a:prstGeom prst="round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下箭头 16"/>
          <p:cNvSpPr/>
          <p:nvPr/>
        </p:nvSpPr>
        <p:spPr>
          <a:xfrm>
            <a:off x="5003800" y="2565400"/>
            <a:ext cx="396875" cy="2016125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3" grpId="0" animBg="1"/>
      <p:bldP spid="4108" grpId="0"/>
      <p:bldP spid="4109" grpId="0"/>
      <p:bldP spid="16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619250" y="1268413"/>
            <a:ext cx="6913563" cy="1152525"/>
          </a:xfrm>
          <a:prstGeom prst="rect">
            <a:avLst/>
          </a:prstGeom>
          <a:solidFill>
            <a:srgbClr val="FF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7" name="Text Box 9"/>
          <p:cNvSpPr txBox="1"/>
          <p:nvPr/>
        </p:nvSpPr>
        <p:spPr>
          <a:xfrm>
            <a:off x="1403350" y="206375"/>
            <a:ext cx="7561263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40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静力学方程</a:t>
            </a:r>
            <a:endParaRPr lang="zh-CN" altLang="en-US" sz="40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68" name="TextBox 6"/>
          <p:cNvSpPr txBox="1"/>
          <p:nvPr/>
        </p:nvSpPr>
        <p:spPr>
          <a:xfrm>
            <a:off x="611188" y="2619375"/>
            <a:ext cx="8353425" cy="3416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lnSpc>
                <a:spcPct val="15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1&gt;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dz&gt;0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时，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dp&lt;0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，即气压随高度的增加而减小。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eaLnBrk="1" hangingPunct="1">
              <a:lnSpc>
                <a:spcPct val="15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2&gt;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重力加速度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≈常数，所以气压随高度的变化取决于空气密度。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eaLnBrk="1" hangingPunct="1">
              <a:lnSpc>
                <a:spcPct val="15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低层密度大，气压随高度减小的快；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eaLnBrk="1" hangingPunct="1">
              <a:lnSpc>
                <a:spcPct val="15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高层密度小，气压随高度减小的慢。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eaLnBrk="1" hangingPunct="1">
              <a:lnSpc>
                <a:spcPct val="150000"/>
              </a:lnSpc>
              <a:buChar char="•"/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098" name="Object 6"/>
          <p:cNvGraphicFramePr>
            <a:graphicFrameLocks noChangeAspect="1"/>
          </p:cNvGraphicFramePr>
          <p:nvPr/>
        </p:nvGraphicFramePr>
        <p:xfrm>
          <a:off x="1692275" y="1341438"/>
          <a:ext cx="2016125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647700" imgH="393700" progId="Equation.3">
                  <p:embed/>
                </p:oleObj>
              </mc:Choice>
              <mc:Fallback>
                <p:oleObj name="" r:id="rId1" imgW="647700" imgH="3937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92275" y="1341438"/>
                        <a:ext cx="2016125" cy="1020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TextBox 7"/>
          <p:cNvSpPr txBox="1"/>
          <p:nvPr/>
        </p:nvSpPr>
        <p:spPr>
          <a:xfrm>
            <a:off x="3924300" y="1628775"/>
            <a:ext cx="471487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静力学方程的主要形式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800225"/>
            <a:ext cx="8362950" cy="6762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3&gt;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将大气静力学方程从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z1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到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z2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进行积分：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1" name="Text Box 7"/>
          <p:cNvSpPr txBox="1"/>
          <p:nvPr/>
        </p:nvSpPr>
        <p:spPr>
          <a:xfrm>
            <a:off x="1023938" y="4103688"/>
            <a:ext cx="7435850" cy="209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 从积分式可以看出，任一气层上下界面的压力差等于该层空气的重量。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 如果令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z</a:t>
            </a:r>
            <a:r>
              <a:rPr lang="en-US" altLang="zh-CN" sz="20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趋于大气上界，那么可得到：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即某一高度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上的气压等于单位截面积上从该高度直到大气上界的空气柱的重量。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292" name="Object 4"/>
          <p:cNvGraphicFramePr>
            <a:graphicFrameLocks noChangeAspect="1"/>
          </p:cNvGraphicFramePr>
          <p:nvPr/>
        </p:nvGraphicFramePr>
        <p:xfrm>
          <a:off x="2195513" y="2636838"/>
          <a:ext cx="4038600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1205865" imgH="355600" progId="Equations">
                  <p:embed/>
                </p:oleObj>
              </mc:Choice>
              <mc:Fallback>
                <p:oleObj name="" r:id="rId1" imgW="1205865" imgH="355600" progId="Equations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95513" y="2636838"/>
                        <a:ext cx="4038600" cy="11906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8"/>
          <p:cNvGraphicFramePr>
            <a:graphicFrameLocks noChangeAspect="1"/>
          </p:cNvGraphicFramePr>
          <p:nvPr/>
        </p:nvGraphicFramePr>
        <p:xfrm>
          <a:off x="5651500" y="4724400"/>
          <a:ext cx="2160588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761365" imgH="330200" progId="Equation.3">
                  <p:embed/>
                </p:oleObj>
              </mc:Choice>
              <mc:Fallback>
                <p:oleObj name="" r:id="rId3" imgW="761365" imgH="3302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51500" y="4724400"/>
                        <a:ext cx="2160588" cy="714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ext Box 2"/>
          <p:cNvSpPr txBox="1"/>
          <p:nvPr/>
        </p:nvSpPr>
        <p:spPr>
          <a:xfrm>
            <a:off x="503238" y="1628775"/>
            <a:ext cx="8532812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大气静力学方程不仅适用于静止（或匀速垂直运动）大气，而且也适用于一般大气，不适用于有强垂直运动的大气。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13315" name="Picture 3" descr="wnd01023b_pi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338" y="3500438"/>
            <a:ext cx="3997325" cy="3241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6" name="Picture 6" descr="fig5"/>
          <p:cNvPicPr>
            <a:picLocks noChangeAspect="1"/>
          </p:cNvPicPr>
          <p:nvPr/>
        </p:nvPicPr>
        <p:blipFill>
          <a:blip r:embed="rId2">
            <a:lum bright="-35999" contrast="54000"/>
          </a:blip>
          <a:stretch>
            <a:fillRect/>
          </a:stretch>
        </p:blipFill>
        <p:spPr>
          <a:xfrm>
            <a:off x="4284663" y="3244850"/>
            <a:ext cx="4859337" cy="3613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7" name="Text Box 9"/>
          <p:cNvSpPr txBox="1"/>
          <p:nvPr/>
        </p:nvSpPr>
        <p:spPr>
          <a:xfrm>
            <a:off x="1403350" y="206375"/>
            <a:ext cx="7561263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40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静力学方程</a:t>
            </a:r>
            <a:endParaRPr lang="zh-CN" altLang="en-US" sz="40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矩形 13"/>
          <p:cNvSpPr/>
          <p:nvPr/>
        </p:nvSpPr>
        <p:spPr>
          <a:xfrm>
            <a:off x="395288" y="6308725"/>
            <a:ext cx="8569325" cy="3603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9" name="Text Box 8"/>
          <p:cNvSpPr txBox="1"/>
          <p:nvPr/>
        </p:nvSpPr>
        <p:spPr>
          <a:xfrm>
            <a:off x="1368425" y="188913"/>
            <a:ext cx="7596188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40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垂直气压梯度和单位气压高度差</a:t>
            </a:r>
            <a:endParaRPr lang="zh-CN" altLang="en-US" sz="40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4" name="Text Box 10"/>
          <p:cNvSpPr txBox="1"/>
          <p:nvPr/>
        </p:nvSpPr>
        <p:spPr>
          <a:xfrm>
            <a:off x="3209925" y="3933825"/>
            <a:ext cx="4056063" cy="1292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3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单位：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hPa/100 m</a:t>
            </a:r>
            <a:endParaRPr lang="en-US" altLang="zh-CN" sz="20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越冷空气中气压随高度减少的越？</a:t>
            </a:r>
            <a:endParaRPr lang="en-US" altLang="zh-CN" sz="20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越干空气中气压随高度减少的越？</a:t>
            </a:r>
            <a:endParaRPr lang="en-US" altLang="zh-CN" sz="20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0245" name="Object 5"/>
          <p:cNvGraphicFramePr>
            <a:graphicFrameLocks noChangeAspect="1"/>
          </p:cNvGraphicFramePr>
          <p:nvPr/>
        </p:nvGraphicFramePr>
        <p:xfrm>
          <a:off x="3344863" y="2924175"/>
          <a:ext cx="4972050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1752600" imgH="431800" progId="Equation.3">
                  <p:embed/>
                </p:oleObj>
              </mc:Choice>
              <mc:Fallback>
                <p:oleObj name="" r:id="rId1" imgW="1752600" imgH="4318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44863" y="2924175"/>
                        <a:ext cx="4972050" cy="1020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6"/>
          <p:cNvGraphicFramePr>
            <a:graphicFrameLocks noChangeAspect="1"/>
          </p:cNvGraphicFramePr>
          <p:nvPr/>
        </p:nvGraphicFramePr>
        <p:xfrm>
          <a:off x="4217988" y="5229225"/>
          <a:ext cx="248602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876300" imgH="419100" progId="Equations">
                  <p:embed/>
                </p:oleObj>
              </mc:Choice>
              <mc:Fallback>
                <p:oleObj name="" r:id="rId3" imgW="876300" imgH="419100" progId="Equations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17988" y="5229225"/>
                        <a:ext cx="2486025" cy="992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0"/>
          <p:cNvSpPr txBox="1"/>
          <p:nvPr/>
        </p:nvSpPr>
        <p:spPr>
          <a:xfrm>
            <a:off x="2843213" y="6269038"/>
            <a:ext cx="6378575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buNone/>
            </a:pP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越到高空，气压变化一个单位所需的空气柱的厚度越？</a:t>
            </a:r>
            <a:endParaRPr lang="zh-CN" altLang="el-GR" sz="20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7250" y="3140075"/>
            <a:ext cx="2232025" cy="461963"/>
          </a:xfrm>
          <a:prstGeom prst="rect">
            <a:avLst/>
          </a:prstGeom>
          <a:noFill/>
          <a:ln w="19050" cap="flat" cmpd="sng">
            <a:solidFill>
              <a:srgbClr val="00B05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 eaLnBrk="1" hangingPunct="1"/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垂直气压梯度：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8513" y="5446713"/>
            <a:ext cx="2520950" cy="461962"/>
          </a:xfrm>
          <a:prstGeom prst="rect">
            <a:avLst/>
          </a:prstGeom>
          <a:noFill/>
          <a:ln w="19050" cap="flat" cmpd="sng">
            <a:solidFill>
              <a:srgbClr val="00B05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 eaLnBrk="1" hangingPunct="1"/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单位气压高度差：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4346" name="Object 7"/>
          <p:cNvGraphicFramePr>
            <a:graphicFrameLocks noChangeAspect="1"/>
          </p:cNvGraphicFramePr>
          <p:nvPr/>
        </p:nvGraphicFramePr>
        <p:xfrm>
          <a:off x="3276600" y="1628775"/>
          <a:ext cx="2701925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5" imgW="951865" imgH="431800" progId="Equation.3">
                  <p:embed/>
                </p:oleObj>
              </mc:Choice>
              <mc:Fallback>
                <p:oleObj name="" r:id="rId5" imgW="951865" imgH="4318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76600" y="1628775"/>
                        <a:ext cx="2701925" cy="1020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下箭头 11"/>
          <p:cNvSpPr/>
          <p:nvPr/>
        </p:nvSpPr>
        <p:spPr>
          <a:xfrm>
            <a:off x="4140200" y="2636838"/>
            <a:ext cx="287338" cy="422275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8" name="Text Box 2"/>
          <p:cNvSpPr txBox="1"/>
          <p:nvPr/>
        </p:nvSpPr>
        <p:spPr>
          <a:xfrm>
            <a:off x="395288" y="1125538"/>
            <a:ext cx="5689600" cy="600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由于常规气象观测不直接测量密度，故：</a:t>
            </a:r>
            <a:endParaRPr lang="zh-CN" altLang="en-US" sz="22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/>
      <p:bldP spid="7" grpId="0"/>
      <p:bldP spid="8" grpId="0" animBg="1"/>
      <p:bldP spid="9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</a:pPr>
            <a:r>
              <a:rPr lang="zh-CN" altLang="en-US" dirty="0">
                <a:ea typeface="宋体" panose="02010600030101010101" pitchFamily="2" charset="-122"/>
              </a:rPr>
              <a:t>静力学方程给我们指出了气压随高度的变化与大气其它参量（密度，温度）的关系，但静力学方程是微分关系式，只能计算当高度增量很小时气压的变化值。而实际工作中往往需要知道较大垂直范围内气压随高度的变化规律，所以要对静力学方程进行积分，即得到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压高公式</a:t>
            </a:r>
            <a:r>
              <a:rPr lang="zh-CN" altLang="en-US" dirty="0">
                <a:ea typeface="宋体" panose="02010600030101010101" pitchFamily="2" charset="-122"/>
              </a:rPr>
              <a:t>。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Text Box 2"/>
          <p:cNvSpPr txBox="1"/>
          <p:nvPr/>
        </p:nvSpPr>
        <p:spPr>
          <a:xfrm>
            <a:off x="1331913" y="188913"/>
            <a:ext cx="7632700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40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二、压高公式</a:t>
            </a:r>
            <a:endParaRPr lang="zh-CN" altLang="en-US" sz="40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6387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2888" y="3400425"/>
            <a:ext cx="1038225" cy="57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8" name="Picture 4"/>
          <p:cNvPicPr>
            <a:picLocks noChangeAspect="1"/>
          </p:cNvPicPr>
          <p:nvPr/>
        </p:nvPicPr>
        <p:blipFill>
          <a:blip r:embed="rId2"/>
          <a:srcRect l="2151"/>
          <a:stretch>
            <a:fillRect/>
          </a:stretch>
        </p:blipFill>
        <p:spPr>
          <a:xfrm>
            <a:off x="1909763" y="2179638"/>
            <a:ext cx="5326062" cy="1393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9" name="Picture 6"/>
          <p:cNvPicPr>
            <a:picLocks noChangeAspect="1"/>
          </p:cNvPicPr>
          <p:nvPr/>
        </p:nvPicPr>
        <p:blipFill>
          <a:blip r:embed="rId3"/>
          <a:srcRect l="4048"/>
          <a:stretch>
            <a:fillRect/>
          </a:stretch>
        </p:blipFill>
        <p:spPr>
          <a:xfrm>
            <a:off x="1044575" y="3881438"/>
            <a:ext cx="7199313" cy="13795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1028"/>
          <p:cNvSpPr txBox="1"/>
          <p:nvPr/>
        </p:nvSpPr>
        <p:spPr>
          <a:xfrm>
            <a:off x="1403350" y="188913"/>
            <a:ext cx="756126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40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三</a:t>
            </a:r>
            <a:r>
              <a:rPr lang="en-US" altLang="zh-CN" sz="40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r>
              <a:rPr lang="zh-CN" altLang="en-US" sz="40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大气标高</a:t>
            </a:r>
            <a:endParaRPr lang="zh-CN" altLang="en-US" sz="40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1" name="Text Box 1032"/>
          <p:cNvSpPr txBox="1"/>
          <p:nvPr/>
        </p:nvSpPr>
        <p:spPr>
          <a:xfrm>
            <a:off x="1130300" y="1743075"/>
            <a:ext cx="6681788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大气标高：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表示气压、密度随高度变化的快慢。</a:t>
            </a: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7412" name="Picture 10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2850" y="3038475"/>
            <a:ext cx="5400675" cy="2406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3" name="TextBox 1"/>
          <p:cNvSpPr txBox="1"/>
          <p:nvPr/>
        </p:nvSpPr>
        <p:spPr>
          <a:xfrm>
            <a:off x="1331913" y="3308350"/>
            <a:ext cx="1798637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气压标高</a:t>
            </a:r>
            <a:endParaRPr lang="zh-CN" altLang="en-US" sz="28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414" name="TextBox 6"/>
          <p:cNvSpPr txBox="1"/>
          <p:nvPr/>
        </p:nvSpPr>
        <p:spPr>
          <a:xfrm>
            <a:off x="1403350" y="4603750"/>
            <a:ext cx="18002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密度标高</a:t>
            </a:r>
            <a:endParaRPr lang="zh-CN" altLang="en-US" sz="28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Text Box 6"/>
          <p:cNvSpPr txBox="1"/>
          <p:nvPr/>
        </p:nvSpPr>
        <p:spPr>
          <a:xfrm>
            <a:off x="1403350" y="188913"/>
            <a:ext cx="756126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40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气压标高</a:t>
            </a:r>
            <a:endParaRPr lang="zh-CN" altLang="en-US" sz="40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8435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0338" y="1628775"/>
            <a:ext cx="3168650" cy="14652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6" name="Text Box 9"/>
          <p:cNvSpPr txBox="1"/>
          <p:nvPr/>
        </p:nvSpPr>
        <p:spPr>
          <a:xfrm>
            <a:off x="684213" y="3284538"/>
            <a:ext cx="3071812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这样压高公式可写成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8437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8" y="3860800"/>
            <a:ext cx="7308850" cy="1362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Text Box 6"/>
          <p:cNvSpPr txBox="1"/>
          <p:nvPr/>
        </p:nvSpPr>
        <p:spPr>
          <a:xfrm>
            <a:off x="1125538" y="1365250"/>
            <a:ext cx="6615112" cy="138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若假设</a:t>
            </a:r>
            <a:r>
              <a:rPr lang="en-US" altLang="zh-CN" sz="2800" b="1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2800" b="1" baseline="-25000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</a:t>
            </a:r>
            <a:r>
              <a:rPr lang="zh-CN" altLang="en-US" sz="2800" b="1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随高度不变，或取一个平均虚温，</a:t>
            </a:r>
            <a:endParaRPr lang="zh-CN" altLang="en-US" sz="2800" b="1" dirty="0">
              <a:solidFill>
                <a:srgbClr val="CC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则压高公式为</a:t>
            </a:r>
            <a:r>
              <a:rPr lang="en-US" altLang="zh-CN" sz="2800" b="1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endParaRPr lang="zh-CN" altLang="en-US" sz="2800" b="1" dirty="0">
              <a:solidFill>
                <a:srgbClr val="CC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9459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8175" y="2951163"/>
            <a:ext cx="5616575" cy="1054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0" name="Text Box 8"/>
          <p:cNvSpPr txBox="1"/>
          <p:nvPr/>
        </p:nvSpPr>
        <p:spPr>
          <a:xfrm>
            <a:off x="1081088" y="4349750"/>
            <a:ext cx="8062912" cy="19478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上式表明，气压标高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Hp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就是气压以当前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z</a:t>
            </a:r>
            <a:r>
              <a:rPr lang="en-US" altLang="zh-CN" sz="2800" b="1" baseline="-25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高度的相对垂直变化率减少到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sz="2800" b="1" baseline="30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-1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</a:t>
            </a:r>
            <a:r>
              <a:rPr lang="en-US" altLang="zh-CN" sz="2800" b="1" baseline="-25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 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 0.37P</a:t>
            </a:r>
            <a:r>
              <a:rPr lang="en-US" altLang="zh-CN" sz="2800" b="1" baseline="-25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时所需要的高度增量。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1" name="Text Box 6"/>
          <p:cNvSpPr txBox="1"/>
          <p:nvPr/>
        </p:nvSpPr>
        <p:spPr>
          <a:xfrm>
            <a:off x="1403350" y="188913"/>
            <a:ext cx="756126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40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气压标高</a:t>
            </a:r>
            <a:endParaRPr lang="zh-CN" altLang="en-US" sz="40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Text Box 3"/>
          <p:cNvSpPr txBox="1"/>
          <p:nvPr/>
        </p:nvSpPr>
        <p:spPr>
          <a:xfrm>
            <a:off x="428625" y="1454150"/>
            <a:ext cx="8535988" cy="523875"/>
          </a:xfrm>
          <a:prstGeom prst="rect">
            <a:avLst/>
          </a:prstGeom>
          <a:solidFill>
            <a:srgbClr val="99FF99"/>
          </a:solidFill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 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等温大气：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大气层的温度（或虚温）不随高度变化。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0483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8" y="2913063"/>
            <a:ext cx="8280400" cy="173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4" name="Text Box 5"/>
          <p:cNvSpPr txBox="1"/>
          <p:nvPr/>
        </p:nvSpPr>
        <p:spPr>
          <a:xfrm>
            <a:off x="900113" y="4960938"/>
            <a:ext cx="7775575" cy="138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上界：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等温大气没有上界。当高度趋近于无穷大时，压强和密度不等于零。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5" name="Text Box 5"/>
          <p:cNvSpPr txBox="1"/>
          <p:nvPr/>
        </p:nvSpPr>
        <p:spPr>
          <a:xfrm>
            <a:off x="1403350" y="188913"/>
            <a:ext cx="756126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en-US" altLang="zh-CN" sz="4000" b="1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§3.2  </a:t>
            </a:r>
            <a:r>
              <a:rPr lang="zh-CN" altLang="en-US" sz="4000" b="1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大气模式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486" name="TextBox 1"/>
          <p:cNvSpPr txBox="1"/>
          <p:nvPr/>
        </p:nvSpPr>
        <p:spPr>
          <a:xfrm>
            <a:off x="765175" y="2401888"/>
            <a:ext cx="2943225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压高公式：</a:t>
            </a:r>
            <a:endParaRPr lang="zh-CN" altLang="en-US" sz="2800" b="1" dirty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Text Box 6"/>
          <p:cNvSpPr txBox="1"/>
          <p:nvPr/>
        </p:nvSpPr>
        <p:spPr>
          <a:xfrm>
            <a:off x="684213" y="5919788"/>
            <a:ext cx="8208962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上界：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多元大气有上界。其上界的高度 ：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H</a:t>
            </a:r>
            <a:r>
              <a:rPr lang="en-US" altLang="zh-CN" sz="2800" b="1" baseline="-25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 T</a:t>
            </a:r>
            <a:r>
              <a:rPr lang="en-US" altLang="zh-CN" sz="2800" b="1" baseline="-25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v0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el-GR" altLang="zh-CN" sz="2800" b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Γ</a:t>
            </a:r>
            <a:endParaRPr lang="el-GR" altLang="zh-CN" sz="2800" b="1" dirty="0">
              <a:solidFill>
                <a:srgbClr val="0000FF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21507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4438" y="2133600"/>
            <a:ext cx="3959225" cy="7635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688" y="3567113"/>
            <a:ext cx="5014912" cy="9413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350" y="4581525"/>
            <a:ext cx="5008563" cy="11160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10" name="Text Box 5"/>
          <p:cNvSpPr txBox="1"/>
          <p:nvPr/>
        </p:nvSpPr>
        <p:spPr>
          <a:xfrm>
            <a:off x="1403350" y="188913"/>
            <a:ext cx="756126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en-US" altLang="zh-CN" sz="4000" b="1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§3.2  </a:t>
            </a:r>
            <a:r>
              <a:rPr lang="zh-CN" altLang="en-US" sz="4000" b="1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大气模式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511" name="Text Box 3"/>
          <p:cNvSpPr txBox="1"/>
          <p:nvPr/>
        </p:nvSpPr>
        <p:spPr>
          <a:xfrm>
            <a:off x="395288" y="1484313"/>
            <a:ext cx="8605837" cy="492125"/>
          </a:xfrm>
          <a:prstGeom prst="rect">
            <a:avLst/>
          </a:prstGeom>
          <a:solidFill>
            <a:srgbClr val="99FF99"/>
          </a:solidFill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</a:t>
            </a:r>
            <a:r>
              <a:rPr lang="zh-CN" altLang="en-US" sz="2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多元大气：</a:t>
            </a:r>
            <a:r>
              <a:rPr lang="zh-CN" altLang="en-US" sz="2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大气层的温度（或虚温）是高度的线性函数。</a:t>
            </a:r>
            <a:endParaRPr lang="zh-CN" altLang="en-US" sz="26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12" name="TextBox 7"/>
          <p:cNvSpPr txBox="1"/>
          <p:nvPr/>
        </p:nvSpPr>
        <p:spPr>
          <a:xfrm>
            <a:off x="765175" y="3678238"/>
            <a:ext cx="1285875" cy="954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压高</a:t>
            </a:r>
            <a:endParaRPr lang="en-US" altLang="zh-CN" sz="2800" b="1" dirty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公式：</a:t>
            </a:r>
            <a:endParaRPr lang="zh-CN" altLang="en-US" sz="2800" b="1" dirty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1513" name="Picture 10"/>
          <p:cNvPicPr>
            <a:picLocks noChangeAspect="1"/>
          </p:cNvPicPr>
          <p:nvPr/>
        </p:nvPicPr>
        <p:blipFill>
          <a:blip r:embed="rId4">
            <a:lum bright="12000"/>
          </a:blip>
          <a:stretch>
            <a:fillRect/>
          </a:stretch>
        </p:blipFill>
        <p:spPr>
          <a:xfrm>
            <a:off x="6858000" y="2060575"/>
            <a:ext cx="2236788" cy="2073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Text Box 5"/>
          <p:cNvSpPr txBox="1"/>
          <p:nvPr/>
        </p:nvSpPr>
        <p:spPr>
          <a:xfrm>
            <a:off x="755650" y="3357563"/>
            <a:ext cx="8064500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None/>
            </a:pPr>
            <a:r>
              <a:rPr lang="zh-CN" altLang="en-US" sz="26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上界：</a:t>
            </a:r>
            <a:r>
              <a:rPr lang="zh-CN" altLang="en-US" sz="2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均质大气有上界。均质大气的高度为</a:t>
            </a:r>
            <a:r>
              <a:rPr lang="en-US" altLang="zh-CN" sz="2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H=p</a:t>
            </a:r>
            <a:r>
              <a:rPr lang="en-US" altLang="zh-CN" sz="2600" b="1" baseline="-25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2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/(</a:t>
            </a:r>
            <a:r>
              <a:rPr lang="el-GR" altLang="zh-CN" sz="2600" b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ρ</a:t>
            </a:r>
            <a:r>
              <a:rPr lang="en-US" altLang="zh-CN" sz="26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g)</a:t>
            </a:r>
            <a:endParaRPr lang="el-GR" altLang="en-US" sz="2600" b="1" dirty="0">
              <a:solidFill>
                <a:srgbClr val="0000FF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22531" name="Text Box 6"/>
          <p:cNvSpPr txBox="1"/>
          <p:nvPr/>
        </p:nvSpPr>
        <p:spPr>
          <a:xfrm>
            <a:off x="3368675" y="2505075"/>
            <a:ext cx="2820988" cy="7080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buNone/>
            </a:pPr>
            <a:r>
              <a:rPr lang="en-US" altLang="zh-CN" sz="4000" dirty="0">
                <a:latin typeface="Arial" panose="020B0604020202020204" pitchFamily="34" charset="0"/>
                <a:ea typeface="宋体" panose="02010600030101010101" pitchFamily="2" charset="-122"/>
              </a:rPr>
              <a:t>p = p</a:t>
            </a:r>
            <a:r>
              <a:rPr lang="en-US" altLang="zh-CN" sz="4000" baseline="-250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4000" dirty="0">
                <a:latin typeface="Arial" panose="020B0604020202020204" pitchFamily="34" charset="0"/>
                <a:ea typeface="宋体" panose="02010600030101010101" pitchFamily="2" charset="-122"/>
              </a:rPr>
              <a:t> - </a:t>
            </a:r>
            <a:r>
              <a:rPr lang="el-GR" altLang="zh-CN" sz="4000" dirty="0">
                <a:latin typeface="Arial" panose="020B0604020202020204" pitchFamily="34" charset="0"/>
                <a:cs typeface="Times New Roman" panose="02020603050405020304" pitchFamily="18" charset="0"/>
              </a:rPr>
              <a:t>ρ</a:t>
            </a:r>
            <a:r>
              <a:rPr lang="en-US" altLang="zh-CN" sz="4000" dirty="0">
                <a:latin typeface="Arial" panose="020B0604020202020204" pitchFamily="34" charset="0"/>
                <a:ea typeface="宋体" panose="02010600030101010101" pitchFamily="2" charset="-122"/>
              </a:rPr>
              <a:t>gz</a:t>
            </a:r>
            <a:endParaRPr lang="el-GR" altLang="zh-CN" sz="4000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22532" name="Text Box 7"/>
          <p:cNvSpPr txBox="1"/>
          <p:nvPr/>
        </p:nvSpPr>
        <p:spPr>
          <a:xfrm>
            <a:off x="793750" y="4149725"/>
            <a:ext cx="8170863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均质大气的密度不随高度变化，但温度随高度变化。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3" name="Text Box 9"/>
          <p:cNvSpPr txBox="1"/>
          <p:nvPr/>
        </p:nvSpPr>
        <p:spPr>
          <a:xfrm>
            <a:off x="2484438" y="4868863"/>
            <a:ext cx="46609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buNone/>
            </a:pPr>
            <a:r>
              <a:rPr lang="el-GR" altLang="zh-CN" sz="2800" b="1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Γ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= -∂T/∂z =g/R= 34.2 K/km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4" name="Text Box 5"/>
          <p:cNvSpPr txBox="1"/>
          <p:nvPr/>
        </p:nvSpPr>
        <p:spPr>
          <a:xfrm>
            <a:off x="1403350" y="188913"/>
            <a:ext cx="756126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en-US" altLang="zh-CN" sz="4000" b="1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§3.2  </a:t>
            </a:r>
            <a:r>
              <a:rPr lang="zh-CN" altLang="en-US" sz="4000" b="1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大气模式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535" name="Text Box 3"/>
          <p:cNvSpPr txBox="1"/>
          <p:nvPr/>
        </p:nvSpPr>
        <p:spPr>
          <a:xfrm>
            <a:off x="765175" y="1484313"/>
            <a:ext cx="6715125" cy="523875"/>
          </a:xfrm>
          <a:prstGeom prst="rect">
            <a:avLst/>
          </a:prstGeom>
          <a:solidFill>
            <a:srgbClr val="99FF99"/>
          </a:solidFill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3. 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均质大气：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大气层密度不随高度变化。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6" name="TextBox 7"/>
          <p:cNvSpPr txBox="1"/>
          <p:nvPr/>
        </p:nvSpPr>
        <p:spPr>
          <a:xfrm>
            <a:off x="765175" y="2603500"/>
            <a:ext cx="1862138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压高公式：</a:t>
            </a:r>
            <a:endParaRPr lang="zh-CN" altLang="en-US" sz="2800" b="1" dirty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537" name="Text Box 7"/>
          <p:cNvSpPr txBox="1"/>
          <p:nvPr/>
        </p:nvSpPr>
        <p:spPr>
          <a:xfrm>
            <a:off x="793750" y="5641975"/>
            <a:ext cx="8170863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问题：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均质大气与多元大气有无某种关系？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Text Box 2"/>
          <p:cNvSpPr txBox="1"/>
          <p:nvPr/>
        </p:nvSpPr>
        <p:spPr>
          <a:xfrm>
            <a:off x="1425575" y="260350"/>
            <a:ext cx="725011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en-US" altLang="zh-CN" sz="3600" b="1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§3.3  </a:t>
            </a:r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气压与位势高度公式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59" name="Text Box 3"/>
          <p:cNvSpPr txBox="1"/>
          <p:nvPr/>
        </p:nvSpPr>
        <p:spPr>
          <a:xfrm>
            <a:off x="611188" y="1268413"/>
            <a:ext cx="8353425" cy="5303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 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重力位势</a:t>
            </a:r>
            <a:endParaRPr lang="en-US" altLang="zh-CN" sz="28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在某个重力位势面</a:t>
            </a:r>
            <a:r>
              <a:rPr lang="el-GR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Φ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，将单位质量空气沿法线方向移动微小距离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dz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，克服重力所做的功即转化为重力位势的增量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endParaRPr lang="en-US" altLang="zh-CN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endParaRPr lang="en-US" altLang="zh-CN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ts val="1800"/>
              </a:spcBef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任一高度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处的重力位势可以由上式积分：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buNone/>
            </a:pPr>
            <a:endParaRPr lang="en-US" altLang="zh-CN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None/>
            </a:pPr>
            <a:endParaRPr lang="en-US" altLang="zh-CN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重力位势：表示把单位质量的物体由海平面（重力位势为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）抬升（沿任意路径）到高度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时克服重力所做的功，单位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J/kg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132138" y="4373563"/>
          <a:ext cx="35179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951865" imgH="330200" progId="Equation.DSMT4">
                  <p:embed/>
                </p:oleObj>
              </mc:Choice>
              <mc:Fallback>
                <p:oleObj name="" r:id="rId1" imgW="951865" imgH="330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32138" y="4373563"/>
                        <a:ext cx="3517900" cy="114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276600" y="2924175"/>
          <a:ext cx="2205038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596900" imgH="203200" progId="Equation.DSMT4">
                  <p:embed/>
                </p:oleObj>
              </mc:Choice>
              <mc:Fallback>
                <p:oleObj name="" r:id="rId3" imgW="596900" imgH="2032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76600" y="2924175"/>
                        <a:ext cx="2205038" cy="703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8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62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84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11188" y="1125538"/>
            <a:ext cx="8281987" cy="53863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2. 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位势高度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表示重力位势的大小，称为位势米（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gpm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）。</a:t>
            </a:r>
            <a:endParaRPr lang="en-US" altLang="zh-CN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endParaRPr lang="en-US" altLang="zh-CN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ts val="180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</a:t>
            </a:r>
            <a:r>
              <a:rPr lang="en-US" altLang="zh-CN" sz="2800" b="1" baseline="-25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是两个单位的换算因子，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</a:t>
            </a:r>
            <a:r>
              <a:rPr lang="en-US" altLang="zh-CN" sz="2800" b="1" baseline="-25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=9.80665J/(kg·gpm)</a:t>
            </a:r>
            <a:endParaRPr lang="en-US" altLang="zh-CN" sz="2800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3000"/>
              </a:spcBef>
            </a:pPr>
            <a:r>
              <a:rPr lang="en-US" altLang="zh-CN" sz="28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1 gpm </a:t>
            </a:r>
            <a:r>
              <a:rPr lang="zh-CN" altLang="en-US" sz="28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相应于 </a:t>
            </a:r>
            <a:r>
              <a:rPr lang="en-US" altLang="zh-CN" sz="28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9.80665 J/kg </a:t>
            </a:r>
            <a:r>
              <a:rPr lang="zh-CN" altLang="en-US" sz="28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的重力位势</a:t>
            </a:r>
            <a:endParaRPr lang="en-US" altLang="zh-CN" sz="2800" b="1" dirty="0">
              <a:solidFill>
                <a:srgbClr val="080808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质量为</a:t>
            </a:r>
            <a:r>
              <a:rPr lang="en-US" altLang="zh-CN" sz="28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1 kg</a:t>
            </a:r>
            <a:r>
              <a:rPr lang="zh-CN" altLang="en-US" sz="28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的物体在标准重力加速度</a:t>
            </a:r>
            <a:r>
              <a:rPr lang="en-US" altLang="zh-CN" sz="28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g</a:t>
            </a:r>
            <a:r>
              <a:rPr lang="en-US" altLang="zh-CN" sz="2800" b="1" baseline="-25000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下，上升</a:t>
            </a:r>
            <a:r>
              <a:rPr lang="en-US" altLang="zh-CN" sz="28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1m</a:t>
            </a:r>
            <a:r>
              <a:rPr lang="zh-CN" altLang="en-US" sz="28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所增加的势能为</a:t>
            </a:r>
            <a:r>
              <a:rPr lang="en-US" altLang="zh-CN" sz="28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位势米。</a:t>
            </a:r>
            <a:endParaRPr lang="en-US" altLang="zh-CN" sz="2800" b="1" dirty="0">
              <a:solidFill>
                <a:srgbClr val="080808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4579" name="对象 4"/>
          <p:cNvGraphicFramePr>
            <a:graphicFrameLocks noChangeAspect="1"/>
          </p:cNvGraphicFramePr>
          <p:nvPr/>
        </p:nvGraphicFramePr>
        <p:xfrm>
          <a:off x="2843213" y="2133600"/>
          <a:ext cx="3876675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1180465" imgH="431800" progId="Equation.DSMT4">
                  <p:embed/>
                </p:oleObj>
              </mc:Choice>
              <mc:Fallback>
                <p:oleObj name="" r:id="rId1" imgW="1180465" imgH="4318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43213" y="2133600"/>
                        <a:ext cx="3876675" cy="1182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Text Box 2"/>
          <p:cNvSpPr txBox="1"/>
          <p:nvPr/>
        </p:nvSpPr>
        <p:spPr>
          <a:xfrm>
            <a:off x="1425575" y="260350"/>
            <a:ext cx="725011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en-US" altLang="zh-CN" sz="3600" b="1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§3.3  </a:t>
            </a:r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气压与位势高度公式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66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95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Text Box 3"/>
          <p:cNvSpPr txBox="1"/>
          <p:nvPr/>
        </p:nvSpPr>
        <p:spPr>
          <a:xfrm>
            <a:off x="755650" y="1157288"/>
            <a:ext cx="7899400" cy="43545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3. 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气压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位势高度公式</a:t>
            </a:r>
            <a:endParaRPr lang="en-US" altLang="zh-CN" sz="28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引入位势高度后：</a:t>
            </a:r>
            <a:endParaRPr lang="en-US" altLang="zh-CN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</a:t>
            </a:r>
            <a:r>
              <a:rPr lang="en-US" altLang="zh-CN" sz="2800" b="1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l-GR" altLang="zh-CN" sz="2800" b="1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Φ</a:t>
            </a:r>
            <a:r>
              <a:rPr lang="en-US" altLang="zh-CN" sz="2800" b="1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= gdz = g</a:t>
            </a:r>
            <a:r>
              <a:rPr lang="en-US" altLang="zh-CN" sz="2800" b="1" baseline="-25000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2800" b="1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dZ</a:t>
            </a:r>
            <a:endParaRPr lang="en-US" altLang="zh-CN" sz="2800" b="1" dirty="0">
              <a:solidFill>
                <a:srgbClr val="CC33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静力平衡方程可写为：</a:t>
            </a: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lnSpc>
                <a:spcPct val="150000"/>
              </a:lnSpc>
              <a:buNone/>
            </a:pPr>
            <a:r>
              <a:rPr lang="en-US" altLang="zh-CN" sz="2800" b="1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dp = -</a:t>
            </a:r>
            <a:r>
              <a:rPr lang="el-GR" altLang="zh-CN" sz="2800" b="1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ρ</a:t>
            </a:r>
            <a:r>
              <a:rPr lang="en-US" altLang="zh-CN" sz="2800" b="1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g</a:t>
            </a:r>
            <a:r>
              <a:rPr lang="en-US" altLang="zh-CN" sz="2800" b="1" baseline="-25000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2800" b="1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dZ = -</a:t>
            </a:r>
            <a:r>
              <a:rPr lang="el-GR" altLang="zh-CN" sz="2800" b="1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ρ</a:t>
            </a:r>
            <a:r>
              <a:rPr lang="en-US" altLang="zh-CN" sz="2800" b="1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l-GR" altLang="zh-CN" sz="2800" b="1" dirty="0">
                <a:solidFill>
                  <a:srgbClr val="CC33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Φ</a:t>
            </a:r>
            <a:endParaRPr lang="el-GR" altLang="zh-CN" sz="2800" b="1" dirty="0">
              <a:solidFill>
                <a:srgbClr val="CC3300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压强与位势高度的关系：</a:t>
            </a: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None/>
            </a:pPr>
            <a:endParaRPr lang="zh-CN" altLang="el-GR" sz="2800" b="1" baseline="-250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0483" name="Picture 4"/>
          <p:cNvPicPr>
            <a:picLocks noChangeAspect="1"/>
          </p:cNvPicPr>
          <p:nvPr/>
        </p:nvPicPr>
        <p:blipFill>
          <a:blip r:embed="rId1"/>
          <a:srcRect l="3448" t="4674" r="6914"/>
          <a:stretch>
            <a:fillRect/>
          </a:stretch>
        </p:blipFill>
        <p:spPr>
          <a:xfrm>
            <a:off x="2268538" y="4868863"/>
            <a:ext cx="5616575" cy="1728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4" name="Text Box 2"/>
          <p:cNvSpPr txBox="1"/>
          <p:nvPr/>
        </p:nvSpPr>
        <p:spPr>
          <a:xfrm>
            <a:off x="1425575" y="260350"/>
            <a:ext cx="725011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en-US" altLang="zh-CN" sz="3600" b="1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§3.3  </a:t>
            </a:r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气压与位势高度公式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charRg st="13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charRg st="22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charRg st="68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charRg st="79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charRg st="99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矩形 14"/>
          <p:cNvSpPr/>
          <p:nvPr/>
        </p:nvSpPr>
        <p:spPr>
          <a:xfrm>
            <a:off x="395288" y="6237288"/>
            <a:ext cx="8569325" cy="43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7" name="Rectangle 2"/>
          <p:cNvSpPr>
            <a:spLocks noGrp="1" noRot="1"/>
          </p:cNvSpPr>
          <p:nvPr>
            <p:ph type="title"/>
          </p:nvPr>
        </p:nvSpPr>
        <p:spPr>
          <a:xfrm>
            <a:off x="1371600" y="0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dirty="0">
                <a:solidFill>
                  <a:srgbClr val="FFFF00"/>
                </a:solidFill>
              </a:rPr>
              <a:t>气压</a:t>
            </a:r>
            <a:r>
              <a:rPr lang="en-US" altLang="zh-CN" dirty="0">
                <a:solidFill>
                  <a:srgbClr val="FFFF00"/>
                </a:solidFill>
              </a:rPr>
              <a:t>-</a:t>
            </a:r>
            <a:r>
              <a:rPr lang="zh-CN" altLang="en-US" dirty="0">
                <a:solidFill>
                  <a:srgbClr val="FFFF00"/>
                </a:solidFill>
              </a:rPr>
              <a:t>位势高度公式</a:t>
            </a:r>
            <a:endParaRPr lang="zh-CN" altLang="en-US" dirty="0">
              <a:solidFill>
                <a:srgbClr val="FFFF00"/>
              </a:solidFill>
            </a:endParaRPr>
          </a:p>
        </p:txBody>
      </p:sp>
      <p:grpSp>
        <p:nvGrpSpPr>
          <p:cNvPr id="26628" name="Group 8"/>
          <p:cNvGrpSpPr/>
          <p:nvPr/>
        </p:nvGrpSpPr>
        <p:grpSpPr>
          <a:xfrm>
            <a:off x="1403350" y="1268413"/>
            <a:ext cx="5629275" cy="1944687"/>
            <a:chOff x="204" y="1117"/>
            <a:chExt cx="4272" cy="1598"/>
          </a:xfrm>
        </p:grpSpPr>
        <p:graphicFrame>
          <p:nvGraphicFramePr>
            <p:cNvPr id="26637" name="Object 4"/>
            <p:cNvGraphicFramePr>
              <a:graphicFrameLocks noChangeAspect="1"/>
            </p:cNvGraphicFramePr>
            <p:nvPr/>
          </p:nvGraphicFramePr>
          <p:xfrm>
            <a:off x="657" y="1117"/>
            <a:ext cx="2681" cy="7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1" imgW="1600200" imgH="431800" progId="Equation.3">
                    <p:embed/>
                  </p:oleObj>
                </mc:Choice>
                <mc:Fallback>
                  <p:oleObj name="" r:id="rId1" imgW="1600200" imgH="431800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57" y="1117"/>
                          <a:ext cx="2681" cy="723"/>
                        </a:xfrm>
                        <a:prstGeom prst="rect">
                          <a:avLst/>
                        </a:prstGeom>
                        <a:solidFill>
                          <a:srgbClr val="CCFFCC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8" name="Object 5"/>
            <p:cNvGraphicFramePr>
              <a:graphicFrameLocks noChangeAspect="1"/>
            </p:cNvGraphicFramePr>
            <p:nvPr/>
          </p:nvGraphicFramePr>
          <p:xfrm>
            <a:off x="657" y="2069"/>
            <a:ext cx="3819" cy="6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3" imgW="2476500" imgH="419100" progId="Equation.3">
                    <p:embed/>
                  </p:oleObj>
                </mc:Choice>
                <mc:Fallback>
                  <p:oleObj name="" r:id="rId3" imgW="2476500" imgH="41910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57" y="2069"/>
                          <a:ext cx="3819" cy="646"/>
                        </a:xfrm>
                        <a:prstGeom prst="rect">
                          <a:avLst/>
                        </a:prstGeom>
                        <a:solidFill>
                          <a:srgbClr val="CCFFCC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39" name="AutoShape 6"/>
            <p:cNvSpPr/>
            <p:nvPr/>
          </p:nvSpPr>
          <p:spPr>
            <a:xfrm>
              <a:off x="204" y="1253"/>
              <a:ext cx="317" cy="1451"/>
            </a:xfrm>
            <a:prstGeom prst="leftBrace">
              <a:avLst>
                <a:gd name="adj1" fmla="val 38144"/>
                <a:gd name="adj2" fmla="val 50000"/>
              </a:avLst>
            </a:prstGeom>
            <a:noFill/>
            <a:ln w="57150" cap="flat" cmpd="sng">
              <a:solidFill>
                <a:srgbClr val="0000FF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6629" name="AutoShape 7"/>
          <p:cNvSpPr/>
          <p:nvPr/>
        </p:nvSpPr>
        <p:spPr>
          <a:xfrm>
            <a:off x="3563938" y="3284538"/>
            <a:ext cx="576262" cy="1296987"/>
          </a:xfrm>
          <a:prstGeom prst="downArrow">
            <a:avLst>
              <a:gd name="adj1" fmla="val 50000"/>
              <a:gd name="adj2" fmla="val 56267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vert="eaVert" wrap="none" anchor="ctr" anchorCtr="0"/>
          <a:p>
            <a:pPr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6630" name="Group 13"/>
          <p:cNvGrpSpPr/>
          <p:nvPr/>
        </p:nvGrpSpPr>
        <p:grpSpPr>
          <a:xfrm>
            <a:off x="4500563" y="3500438"/>
            <a:ext cx="2232025" cy="865187"/>
            <a:chOff x="2699" y="2116"/>
            <a:chExt cx="1923" cy="774"/>
          </a:xfrm>
        </p:grpSpPr>
        <p:graphicFrame>
          <p:nvGraphicFramePr>
            <p:cNvPr id="26635" name="Object 9"/>
            <p:cNvGraphicFramePr>
              <a:graphicFrameLocks noChangeAspect="1"/>
            </p:cNvGraphicFramePr>
            <p:nvPr/>
          </p:nvGraphicFramePr>
          <p:xfrm>
            <a:off x="2699" y="2478"/>
            <a:ext cx="1923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5" imgW="1066800" imgH="228600" progId="Equation.3">
                    <p:embed/>
                  </p:oleObj>
                </mc:Choice>
                <mc:Fallback>
                  <p:oleObj name="" r:id="rId5" imgW="1066800" imgH="228600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699" y="2478"/>
                          <a:ext cx="1923" cy="412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6" name="Object 11"/>
            <p:cNvGraphicFramePr>
              <a:graphicFrameLocks noChangeAspect="1"/>
            </p:cNvGraphicFramePr>
            <p:nvPr/>
          </p:nvGraphicFramePr>
          <p:xfrm>
            <a:off x="2699" y="2116"/>
            <a:ext cx="1134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7" imgW="673100" imgH="228600" progId="Equation.3">
                    <p:embed/>
                  </p:oleObj>
                </mc:Choice>
                <mc:Fallback>
                  <p:oleObj name="" r:id="rId7" imgW="673100" imgH="228600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699" y="2116"/>
                          <a:ext cx="1134" cy="385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631" name="Group 18"/>
          <p:cNvGrpSpPr/>
          <p:nvPr/>
        </p:nvGrpSpPr>
        <p:grpSpPr>
          <a:xfrm>
            <a:off x="1476375" y="4652963"/>
            <a:ext cx="5668963" cy="1957387"/>
            <a:chOff x="930" y="2931"/>
            <a:chExt cx="3571" cy="1233"/>
          </a:xfrm>
        </p:grpSpPr>
        <p:graphicFrame>
          <p:nvGraphicFramePr>
            <p:cNvPr id="26632" name="Object 15"/>
            <p:cNvGraphicFramePr>
              <a:graphicFrameLocks noChangeAspect="1"/>
            </p:cNvGraphicFramePr>
            <p:nvPr/>
          </p:nvGraphicFramePr>
          <p:xfrm>
            <a:off x="1247" y="2931"/>
            <a:ext cx="2331" cy="6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9" imgW="1676400" imgH="482600" progId="Equation.3">
                    <p:embed/>
                  </p:oleObj>
                </mc:Choice>
                <mc:Fallback>
                  <p:oleObj name="" r:id="rId9" imgW="1676400" imgH="482600" progId="Equation.3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247" y="2931"/>
                          <a:ext cx="2331" cy="619"/>
                        </a:xfrm>
                        <a:prstGeom prst="rect">
                          <a:avLst/>
                        </a:prstGeom>
                        <a:solidFill>
                          <a:srgbClr val="CCFFCC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3" name="Object 16"/>
            <p:cNvGraphicFramePr>
              <a:graphicFrameLocks noChangeAspect="1"/>
            </p:cNvGraphicFramePr>
            <p:nvPr/>
          </p:nvGraphicFramePr>
          <p:xfrm>
            <a:off x="1282" y="3654"/>
            <a:ext cx="3219" cy="5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11" imgW="2514600" imgH="431800" progId="Equation.3">
                    <p:embed/>
                  </p:oleObj>
                </mc:Choice>
                <mc:Fallback>
                  <p:oleObj name="" r:id="rId11" imgW="2514600" imgH="431800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282" y="3654"/>
                          <a:ext cx="3219" cy="510"/>
                        </a:xfrm>
                        <a:prstGeom prst="rect">
                          <a:avLst/>
                        </a:prstGeom>
                        <a:solidFill>
                          <a:srgbClr val="CCFFCC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34" name="AutoShape 17"/>
            <p:cNvSpPr/>
            <p:nvPr/>
          </p:nvSpPr>
          <p:spPr>
            <a:xfrm>
              <a:off x="930" y="3035"/>
              <a:ext cx="263" cy="1113"/>
            </a:xfrm>
            <a:prstGeom prst="leftBrace">
              <a:avLst>
                <a:gd name="adj1" fmla="val 35266"/>
                <a:gd name="adj2" fmla="val 50000"/>
              </a:avLst>
            </a:prstGeom>
            <a:noFill/>
            <a:ln w="57150" cap="flat" cmpd="sng">
              <a:solidFill>
                <a:srgbClr val="0000FF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 noRot="1"/>
          </p:cNvSpPr>
          <p:nvPr>
            <p:ph type="title" idx="4294967295"/>
          </p:nvPr>
        </p:nvSpPr>
        <p:spPr>
          <a:xfrm>
            <a:off x="1547813" y="0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dirty="0">
                <a:solidFill>
                  <a:srgbClr val="FFFF00"/>
                </a:solidFill>
              </a:rPr>
              <a:t>等温大气</a:t>
            </a:r>
            <a:endParaRPr lang="zh-CN" altLang="en-US" dirty="0">
              <a:solidFill>
                <a:srgbClr val="FFFF00"/>
              </a:solidFill>
            </a:endParaRPr>
          </a:p>
        </p:txBody>
      </p:sp>
      <p:grpSp>
        <p:nvGrpSpPr>
          <p:cNvPr id="27651" name="Group 10"/>
          <p:cNvGrpSpPr/>
          <p:nvPr/>
        </p:nvGrpSpPr>
        <p:grpSpPr>
          <a:xfrm>
            <a:off x="1692275" y="1700213"/>
            <a:ext cx="7129463" cy="2376487"/>
            <a:chOff x="250" y="1162"/>
            <a:chExt cx="4491" cy="1497"/>
          </a:xfrm>
        </p:grpSpPr>
        <p:graphicFrame>
          <p:nvGraphicFramePr>
            <p:cNvPr id="27657" name="Object 7"/>
            <p:cNvGraphicFramePr>
              <a:graphicFrameLocks noChangeAspect="1"/>
            </p:cNvGraphicFramePr>
            <p:nvPr/>
          </p:nvGraphicFramePr>
          <p:xfrm>
            <a:off x="568" y="1162"/>
            <a:ext cx="4173" cy="6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" r:id="rId1" imgW="2768600" imgH="444500" progId="Equations">
                    <p:embed/>
                  </p:oleObj>
                </mc:Choice>
                <mc:Fallback>
                  <p:oleObj name="" r:id="rId1" imgW="2768600" imgH="444500" progId="Equations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68" y="1162"/>
                          <a:ext cx="4173" cy="670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8" name="Object 8"/>
            <p:cNvGraphicFramePr>
              <a:graphicFrameLocks noChangeAspect="1"/>
            </p:cNvGraphicFramePr>
            <p:nvPr/>
          </p:nvGraphicFramePr>
          <p:xfrm>
            <a:off x="613" y="1960"/>
            <a:ext cx="3084" cy="6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3" imgW="1905000" imgH="431800" progId="Equation.3">
                    <p:embed/>
                  </p:oleObj>
                </mc:Choice>
                <mc:Fallback>
                  <p:oleObj name="" r:id="rId3" imgW="1905000" imgH="43180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13" y="1960"/>
                          <a:ext cx="3084" cy="699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59" name="AutoShape 9"/>
            <p:cNvSpPr/>
            <p:nvPr/>
          </p:nvSpPr>
          <p:spPr>
            <a:xfrm>
              <a:off x="250" y="1208"/>
              <a:ext cx="227" cy="1407"/>
            </a:xfrm>
            <a:prstGeom prst="leftBrace">
              <a:avLst>
                <a:gd name="adj1" fmla="val 51651"/>
                <a:gd name="adj2" fmla="val 50000"/>
              </a:avLst>
            </a:prstGeom>
            <a:noFill/>
            <a:ln w="57150" cap="flat" cmpd="sng">
              <a:solidFill>
                <a:srgbClr val="0000FF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7652" name="Group 15"/>
          <p:cNvGrpSpPr/>
          <p:nvPr/>
        </p:nvGrpSpPr>
        <p:grpSpPr>
          <a:xfrm>
            <a:off x="1690688" y="4365625"/>
            <a:ext cx="4841875" cy="2349500"/>
            <a:chOff x="249" y="2840"/>
            <a:chExt cx="3050" cy="1480"/>
          </a:xfrm>
        </p:grpSpPr>
        <p:graphicFrame>
          <p:nvGraphicFramePr>
            <p:cNvPr id="27654" name="Object 11"/>
            <p:cNvGraphicFramePr>
              <a:graphicFrameLocks noChangeAspect="1"/>
            </p:cNvGraphicFramePr>
            <p:nvPr/>
          </p:nvGraphicFramePr>
          <p:xfrm>
            <a:off x="657" y="2840"/>
            <a:ext cx="2642" cy="7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5" imgW="1752600" imgH="482600" progId="Equation.3">
                    <p:embed/>
                  </p:oleObj>
                </mc:Choice>
                <mc:Fallback>
                  <p:oleObj name="" r:id="rId5" imgW="1752600" imgH="482600" progId="Equation.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57" y="2840"/>
                          <a:ext cx="2642" cy="728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5" name="Object 12"/>
            <p:cNvGraphicFramePr>
              <a:graphicFrameLocks noChangeAspect="1"/>
            </p:cNvGraphicFramePr>
            <p:nvPr/>
          </p:nvGraphicFramePr>
          <p:xfrm>
            <a:off x="657" y="3621"/>
            <a:ext cx="2138" cy="6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7" imgW="1320165" imgH="431800" progId="Equation.3">
                    <p:embed/>
                  </p:oleObj>
                </mc:Choice>
                <mc:Fallback>
                  <p:oleObj name="" r:id="rId7" imgW="1320165" imgH="43180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57" y="3621"/>
                          <a:ext cx="2138" cy="699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56" name="AutoShape 13"/>
            <p:cNvSpPr/>
            <p:nvPr/>
          </p:nvSpPr>
          <p:spPr>
            <a:xfrm>
              <a:off x="249" y="2895"/>
              <a:ext cx="227" cy="1407"/>
            </a:xfrm>
            <a:prstGeom prst="leftBrace">
              <a:avLst>
                <a:gd name="adj1" fmla="val 51651"/>
                <a:gd name="adj2" fmla="val 50000"/>
              </a:avLst>
            </a:prstGeom>
            <a:noFill/>
            <a:ln w="57150" cap="flat" cmpd="sng">
              <a:solidFill>
                <a:srgbClr val="0000FF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7653" name="AutoShape 14"/>
          <p:cNvSpPr/>
          <p:nvPr/>
        </p:nvSpPr>
        <p:spPr>
          <a:xfrm>
            <a:off x="468313" y="2636838"/>
            <a:ext cx="1150937" cy="3529012"/>
          </a:xfrm>
          <a:prstGeom prst="curvedRightArrow">
            <a:avLst>
              <a:gd name="adj1" fmla="val 84915"/>
              <a:gd name="adj2" fmla="val 121710"/>
              <a:gd name="adj3" fmla="val 33333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 noRot="1"/>
          </p:cNvSpPr>
          <p:nvPr>
            <p:ph type="title" idx="4294967295"/>
          </p:nvPr>
        </p:nvSpPr>
        <p:spPr>
          <a:xfrm>
            <a:off x="1403350" y="0"/>
            <a:ext cx="7561263" cy="1143000"/>
          </a:xfrm>
          <a:ln/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dirty="0">
                <a:solidFill>
                  <a:srgbClr val="FFFF00"/>
                </a:solidFill>
              </a:rPr>
              <a:t>多元大气</a:t>
            </a:r>
            <a:endParaRPr lang="zh-CN" altLang="en-US" dirty="0">
              <a:solidFill>
                <a:srgbClr val="FFFF00"/>
              </a:solidFill>
            </a:endParaRPr>
          </a:p>
        </p:txBody>
      </p:sp>
      <p:grpSp>
        <p:nvGrpSpPr>
          <p:cNvPr id="28675" name="Group 7"/>
          <p:cNvGrpSpPr/>
          <p:nvPr/>
        </p:nvGrpSpPr>
        <p:grpSpPr>
          <a:xfrm>
            <a:off x="2916238" y="1125538"/>
            <a:ext cx="4035425" cy="2808287"/>
            <a:chOff x="1066" y="950"/>
            <a:chExt cx="2950" cy="1950"/>
          </a:xfrm>
        </p:grpSpPr>
        <p:graphicFrame>
          <p:nvGraphicFramePr>
            <p:cNvPr id="28681" name="Object 4"/>
            <p:cNvGraphicFramePr>
              <a:graphicFrameLocks noChangeAspect="1"/>
            </p:cNvGraphicFramePr>
            <p:nvPr/>
          </p:nvGraphicFramePr>
          <p:xfrm>
            <a:off x="1383" y="950"/>
            <a:ext cx="2633" cy="8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1" imgW="1447165" imgH="482600" progId="Equation.3">
                    <p:embed/>
                  </p:oleObj>
                </mc:Choice>
                <mc:Fallback>
                  <p:oleObj name="" r:id="rId1" imgW="1447165" imgH="482600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383" y="950"/>
                          <a:ext cx="2633" cy="878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2" name="Object 5"/>
            <p:cNvGraphicFramePr>
              <a:graphicFrameLocks noChangeAspect="1"/>
            </p:cNvGraphicFramePr>
            <p:nvPr/>
          </p:nvGraphicFramePr>
          <p:xfrm>
            <a:off x="1434" y="1863"/>
            <a:ext cx="2495" cy="10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3" imgW="1651000" imgH="685800" progId="Equation.3">
                    <p:embed/>
                  </p:oleObj>
                </mc:Choice>
                <mc:Fallback>
                  <p:oleObj name="" r:id="rId3" imgW="1651000" imgH="685800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34" y="1863"/>
                          <a:ext cx="2495" cy="1037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3" name="AutoShape 6"/>
            <p:cNvSpPr/>
            <p:nvPr/>
          </p:nvSpPr>
          <p:spPr>
            <a:xfrm>
              <a:off x="1066" y="981"/>
              <a:ext cx="227" cy="1814"/>
            </a:xfrm>
            <a:prstGeom prst="leftBrace">
              <a:avLst>
                <a:gd name="adj1" fmla="val 66593"/>
                <a:gd name="adj2" fmla="val 50000"/>
              </a:avLst>
            </a:prstGeom>
            <a:noFill/>
            <a:ln w="57150" cap="flat" cmpd="sng">
              <a:solidFill>
                <a:srgbClr val="0000FF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8676" name="Group 13"/>
          <p:cNvGrpSpPr/>
          <p:nvPr/>
        </p:nvGrpSpPr>
        <p:grpSpPr>
          <a:xfrm>
            <a:off x="2987675" y="4005263"/>
            <a:ext cx="4105275" cy="2836862"/>
            <a:chOff x="1837" y="2120"/>
            <a:chExt cx="2586" cy="1787"/>
          </a:xfrm>
        </p:grpSpPr>
        <p:graphicFrame>
          <p:nvGraphicFramePr>
            <p:cNvPr id="28678" name="Object 8"/>
            <p:cNvGraphicFramePr>
              <a:graphicFrameLocks noChangeAspect="1"/>
            </p:cNvGraphicFramePr>
            <p:nvPr/>
          </p:nvGraphicFramePr>
          <p:xfrm>
            <a:off x="2058" y="2120"/>
            <a:ext cx="2365" cy="8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5" imgW="1536700" imgH="571500" progId="Equation.3">
                    <p:embed/>
                  </p:oleObj>
                </mc:Choice>
                <mc:Fallback>
                  <p:oleObj name="" r:id="rId5" imgW="1536700" imgH="571500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058" y="2120"/>
                          <a:ext cx="2365" cy="885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9" name="Object 9"/>
            <p:cNvGraphicFramePr>
              <a:graphicFrameLocks noChangeAspect="1"/>
            </p:cNvGraphicFramePr>
            <p:nvPr/>
          </p:nvGraphicFramePr>
          <p:xfrm>
            <a:off x="2150" y="3024"/>
            <a:ext cx="2177" cy="8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" r:id="rId7" imgW="1701800" imgH="685800" progId="Equation.3">
                    <p:embed/>
                  </p:oleObj>
                </mc:Choice>
                <mc:Fallback>
                  <p:oleObj name="" r:id="rId7" imgW="1701800" imgH="685800" progId="Equation.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150" y="3024"/>
                          <a:ext cx="2177" cy="883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0" name="AutoShape 10"/>
            <p:cNvSpPr/>
            <p:nvPr/>
          </p:nvSpPr>
          <p:spPr>
            <a:xfrm>
              <a:off x="1837" y="2324"/>
              <a:ext cx="192" cy="1545"/>
            </a:xfrm>
            <a:prstGeom prst="leftBrace">
              <a:avLst>
                <a:gd name="adj1" fmla="val 67057"/>
                <a:gd name="adj2" fmla="val 50000"/>
              </a:avLst>
            </a:prstGeom>
            <a:noFill/>
            <a:ln w="57150" cap="flat" cmpd="sng">
              <a:solidFill>
                <a:srgbClr val="0000FF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8677" name="AutoShape 12"/>
          <p:cNvSpPr/>
          <p:nvPr/>
        </p:nvSpPr>
        <p:spPr>
          <a:xfrm>
            <a:off x="1692275" y="2484438"/>
            <a:ext cx="971550" cy="2952750"/>
          </a:xfrm>
          <a:prstGeom prst="curvedRightArrow">
            <a:avLst>
              <a:gd name="adj1" fmla="val 84818"/>
              <a:gd name="adj2" fmla="val 121568"/>
              <a:gd name="adj3" fmla="val 33333"/>
            </a:avLst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 noRot="1"/>
          </p:cNvSpPr>
          <p:nvPr>
            <p:ph type="title"/>
          </p:nvPr>
        </p:nvSpPr>
        <p:spPr>
          <a:xfrm>
            <a:off x="1281113" y="260350"/>
            <a:ext cx="7862887" cy="563563"/>
          </a:xfrm>
          <a:ln/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dirty="0">
                <a:solidFill>
                  <a:srgbClr val="FFFF00"/>
                </a:solidFill>
              </a:rPr>
              <a:t>采用位势高度的优点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</a:pPr>
            <a:r>
              <a:rPr lang="zh-CN" altLang="en-US" dirty="0">
                <a:ea typeface="宋体" panose="02010600030101010101" pitchFamily="2" charset="-122"/>
              </a:rPr>
              <a:t>可以不考虑重力加速度随高度和纬度的变化，根据实测的气压和温度即可计算位势高度，比较方便；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ea typeface="宋体" panose="02010600030101010101" pitchFamily="2" charset="-122"/>
              </a:rPr>
              <a:t>便于在理论上处理一些问题，例如，在讨论大气能量时，垂直坐标若采用位势高度，则重力无水平分量，方程可以得到简化。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Text Box 3"/>
          <p:cNvSpPr txBox="1"/>
          <p:nvPr/>
        </p:nvSpPr>
        <p:spPr>
          <a:xfrm>
            <a:off x="428625" y="1393825"/>
            <a:ext cx="8459788" cy="4822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 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标准大气：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能够粗略的反映出周年的，中纬度状况的，得到国际上承认的，假定的大气温度、压力和密度的垂直分布。</a:t>
            </a:r>
            <a:endParaRPr lang="en-US" altLang="zh-CN" sz="24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ts val="1200"/>
              </a:spcBef>
            </a:pPr>
            <a:r>
              <a:rPr lang="en-US" altLang="zh-CN" sz="24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 </a:t>
            </a:r>
            <a:r>
              <a:rPr lang="zh-CN" altLang="en-US" sz="24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美国</a:t>
            </a:r>
            <a:r>
              <a:rPr lang="en-US" altLang="zh-CN" sz="24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1976</a:t>
            </a:r>
            <a:r>
              <a:rPr lang="zh-CN" altLang="en-US" sz="24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年标准大气：</a:t>
            </a:r>
            <a:endParaRPr lang="en-US" altLang="zh-CN" sz="2400" b="1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rgbClr val="08080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是对美国</a:t>
            </a:r>
            <a:r>
              <a:rPr lang="en-US" altLang="zh-CN" sz="2400" b="1" dirty="0">
                <a:solidFill>
                  <a:srgbClr val="08080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1962</a:t>
            </a:r>
            <a:r>
              <a:rPr lang="zh-CN" altLang="en-US" sz="2400" b="1" dirty="0">
                <a:solidFill>
                  <a:srgbClr val="08080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年标准大气的修正，它表示了中等太阳活动期间，由地面到</a:t>
            </a:r>
            <a:r>
              <a:rPr lang="en-US" altLang="zh-CN" sz="2400" b="1" dirty="0">
                <a:solidFill>
                  <a:srgbClr val="08080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1000 km</a:t>
            </a:r>
            <a:r>
              <a:rPr lang="zh-CN" altLang="en-US" sz="2400" b="1" dirty="0">
                <a:solidFill>
                  <a:srgbClr val="08080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的理想化、静态的中纬度平均大气结构。</a:t>
            </a:r>
            <a:endParaRPr lang="zh-CN" altLang="en-US" sz="2400" b="1" dirty="0">
              <a:solidFill>
                <a:srgbClr val="08080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ts val="1800"/>
              </a:spcBef>
            </a:pPr>
            <a:r>
              <a:rPr lang="en-US" altLang="zh-CN" sz="24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 </a:t>
            </a:r>
            <a:r>
              <a:rPr lang="zh-CN" altLang="en-US" sz="24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我国国家标准</a:t>
            </a:r>
            <a:r>
              <a:rPr lang="zh-CN" altLang="en-US" sz="20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sz="2000" b="1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rgbClr val="08080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我国有国家军用标准</a:t>
            </a:r>
            <a:r>
              <a:rPr lang="en-US" altLang="zh-CN" sz="2400" b="1" dirty="0">
                <a:solidFill>
                  <a:srgbClr val="08080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GJB5601-2006</a:t>
            </a:r>
            <a:r>
              <a:rPr lang="zh-CN" altLang="en-US" sz="2400" b="1" dirty="0">
                <a:solidFill>
                  <a:srgbClr val="08080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中国参考大气，</a:t>
            </a:r>
            <a:r>
              <a:rPr lang="en-US" altLang="zh-CN" sz="2400" b="1" dirty="0">
                <a:solidFill>
                  <a:srgbClr val="08080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GJB365.1-1987</a:t>
            </a:r>
            <a:r>
              <a:rPr lang="zh-CN" altLang="en-US" sz="2400" b="1" dirty="0">
                <a:solidFill>
                  <a:srgbClr val="08080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北半球标准大气，</a:t>
            </a:r>
            <a:r>
              <a:rPr lang="en-US" altLang="zh-CN" sz="2400" b="1" dirty="0">
                <a:solidFill>
                  <a:srgbClr val="08080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GJB365.1-1987</a:t>
            </a:r>
            <a:r>
              <a:rPr lang="zh-CN" altLang="en-US" sz="2400" b="1" dirty="0">
                <a:solidFill>
                  <a:srgbClr val="08080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航空航天用参考大气。</a:t>
            </a:r>
            <a:endParaRPr lang="zh-CN" altLang="en-US" sz="2400" b="1" dirty="0">
              <a:solidFill>
                <a:srgbClr val="08080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723" name="Text Box 2"/>
          <p:cNvSpPr txBox="1"/>
          <p:nvPr/>
        </p:nvSpPr>
        <p:spPr>
          <a:xfrm>
            <a:off x="1425575" y="260350"/>
            <a:ext cx="725011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en-US" altLang="zh-CN" sz="3600" b="1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§3.4  </a:t>
            </a:r>
            <a:r>
              <a:rPr lang="zh-CN" altLang="en-US" sz="3600" b="1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标准大气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56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72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132" end="1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143" end="2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Text Box 5"/>
          <p:cNvSpPr txBox="1"/>
          <p:nvPr/>
        </p:nvSpPr>
        <p:spPr>
          <a:xfrm>
            <a:off x="1447800" y="4343400"/>
            <a:ext cx="3962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endParaRPr lang="zh-CN" altLang="zh-CN" sz="2400" dirty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1747" name="Picture 4"/>
          <p:cNvPicPr>
            <a:picLocks noChangeAspect="1"/>
          </p:cNvPicPr>
          <p:nvPr/>
        </p:nvPicPr>
        <p:blipFill>
          <a:blip r:embed="rId1"/>
          <a:srcRect t="3912"/>
          <a:stretch>
            <a:fillRect/>
          </a:stretch>
        </p:blipFill>
        <p:spPr>
          <a:xfrm>
            <a:off x="1979613" y="1222375"/>
            <a:ext cx="5832475" cy="52308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48" name="Text Box 2"/>
          <p:cNvSpPr txBox="1"/>
          <p:nvPr/>
        </p:nvSpPr>
        <p:spPr>
          <a:xfrm>
            <a:off x="1425575" y="260350"/>
            <a:ext cx="725011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en-US" altLang="zh-CN" sz="3600" b="1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§3.4  </a:t>
            </a:r>
            <a:r>
              <a:rPr lang="zh-CN" altLang="en-US" sz="3600" b="1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标准大气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2770" name="Picture 12" descr="d00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3" y="1196975"/>
            <a:ext cx="8001000" cy="532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71" name="Rectangle 13"/>
          <p:cNvSpPr/>
          <p:nvPr/>
        </p:nvSpPr>
        <p:spPr>
          <a:xfrm>
            <a:off x="2232025" y="6518275"/>
            <a:ext cx="50355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气压 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[hPa]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亚洲 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: 10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月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11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日 北京时间 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08:00</a:t>
            </a:r>
            <a:endParaRPr lang="en-US" altLang="zh-CN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2772" name="Text Box 2"/>
          <p:cNvSpPr txBox="1"/>
          <p:nvPr/>
        </p:nvSpPr>
        <p:spPr>
          <a:xfrm>
            <a:off x="1425575" y="260350"/>
            <a:ext cx="725011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en-US" altLang="zh-CN" sz="3600" b="1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§3.5  </a:t>
            </a:r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气压的时空分布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AutoShape 4" descr="z1L@9@K2~71W7@RZBLZD1"/>
          <p:cNvSpPr>
            <a:spLocks noChangeAspect="1"/>
          </p:cNvSpPr>
          <p:nvPr/>
        </p:nvSpPr>
        <p:spPr>
          <a:xfrm>
            <a:off x="4419600" y="3276600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379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88" y="1341438"/>
            <a:ext cx="7704137" cy="51958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796" name="Text Box 6"/>
          <p:cNvSpPr txBox="1"/>
          <p:nvPr/>
        </p:nvSpPr>
        <p:spPr>
          <a:xfrm>
            <a:off x="2220913" y="6416675"/>
            <a:ext cx="499427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2010</a:t>
            </a:r>
            <a:r>
              <a:rPr lang="zh-CN" altLang="en-US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年</a:t>
            </a:r>
            <a:r>
              <a:rPr lang="en-US" altLang="zh-CN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月</a:t>
            </a:r>
            <a:r>
              <a:rPr lang="en-US" altLang="zh-CN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20</a:t>
            </a:r>
            <a:r>
              <a:rPr lang="zh-CN" altLang="en-US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日早晨</a:t>
            </a:r>
            <a:r>
              <a:rPr lang="en-US" altLang="zh-CN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08:00</a:t>
            </a:r>
            <a:r>
              <a:rPr lang="zh-CN" altLang="en-US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时</a:t>
            </a:r>
            <a:r>
              <a:rPr lang="en-US" altLang="zh-CN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500hPa</a:t>
            </a:r>
            <a:r>
              <a:rPr lang="zh-CN" altLang="en-US" b="1" dirty="0">
                <a:solidFill>
                  <a:srgbClr val="08080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高空形势图</a:t>
            </a:r>
            <a:endParaRPr lang="zh-CN" altLang="en-US" b="1" dirty="0">
              <a:solidFill>
                <a:srgbClr val="080808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797" name="Text Box 2"/>
          <p:cNvSpPr txBox="1"/>
          <p:nvPr/>
        </p:nvSpPr>
        <p:spPr>
          <a:xfrm>
            <a:off x="1425575" y="260350"/>
            <a:ext cx="725011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en-US" altLang="zh-CN" sz="3600" b="1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§3.5  </a:t>
            </a:r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气压的时空分布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Text Box 7"/>
          <p:cNvSpPr txBox="1"/>
          <p:nvPr/>
        </p:nvSpPr>
        <p:spPr>
          <a:xfrm>
            <a:off x="1852613" y="2163763"/>
            <a:ext cx="3295650" cy="37846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3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）低压</a:t>
            </a:r>
            <a:endParaRPr lang="zh-CN" altLang="en-US" sz="32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3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）高压</a:t>
            </a:r>
            <a:endParaRPr lang="zh-CN" altLang="en-US" sz="32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3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）低压槽</a:t>
            </a:r>
            <a:endParaRPr lang="zh-CN" altLang="en-US" sz="32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3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）高压脊</a:t>
            </a:r>
            <a:endParaRPr lang="zh-CN" altLang="en-US" sz="32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3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r>
              <a:rPr lang="zh-CN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）鞍形气压区</a:t>
            </a:r>
            <a:endParaRPr lang="zh-CN" altLang="en-US" sz="32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19" name="Text Box 2"/>
          <p:cNvSpPr txBox="1"/>
          <p:nvPr/>
        </p:nvSpPr>
        <p:spPr>
          <a:xfrm>
            <a:off x="1425575" y="260350"/>
            <a:ext cx="725011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en-US" altLang="zh-CN" sz="3600" b="1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§3.5  </a:t>
            </a:r>
            <a:r>
              <a:rPr lang="zh-CN" altLang="en-US" sz="36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气压的时空分布</a:t>
            </a:r>
            <a:endParaRPr lang="zh-CN" altLang="en-US" sz="36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20" name="TextBox 1"/>
          <p:cNvSpPr txBox="1"/>
          <p:nvPr/>
        </p:nvSpPr>
        <p:spPr>
          <a:xfrm>
            <a:off x="1042988" y="1414463"/>
            <a:ext cx="4803775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 </a:t>
            </a:r>
            <a:r>
              <a:rPr lang="zh-CN" altLang="en-US" sz="36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气压场的基本</a:t>
            </a:r>
            <a:r>
              <a:rPr lang="zh-CN" altLang="en-US" sz="36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型式：</a:t>
            </a:r>
            <a:endParaRPr lang="zh-CN" altLang="en-US" sz="36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TextBox 6"/>
          <p:cNvSpPr txBox="1"/>
          <p:nvPr/>
        </p:nvSpPr>
        <p:spPr>
          <a:xfrm>
            <a:off x="322263" y="6381750"/>
            <a:ext cx="8821737" cy="3683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xfrm>
            <a:off x="1336675" y="225425"/>
            <a:ext cx="7772400" cy="762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FontTx/>
              <a:buNone/>
            </a:pPr>
            <a:r>
              <a:rPr lang="en-US" altLang="zh-CN" sz="36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36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、气压场的基本型式</a:t>
            </a:r>
            <a:endParaRPr lang="zh-CN" altLang="en-US" sz="3600" dirty="0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5844" name="Rectangle 8"/>
          <p:cNvSpPr/>
          <p:nvPr/>
        </p:nvSpPr>
        <p:spPr>
          <a:xfrm>
            <a:off x="360363" y="1392238"/>
            <a:ext cx="8604250" cy="1676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(1) 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低气压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气旋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其等压线闭合，中心气压低，向外逐渐增高。空间等压面向下凹，形如盆地。北半球，气流呈反时针旋转，称为气旋。低层大气，气流辐合上升，有云雨天气出现。</a:t>
            </a:r>
            <a:endParaRPr lang="zh-CN" altLang="en-US" sz="24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5845" name="Picture 10" descr="pressure-1"/>
          <p:cNvPicPr>
            <a:picLocks noChangeAspect="1"/>
          </p:cNvPicPr>
          <p:nvPr/>
        </p:nvPicPr>
        <p:blipFill>
          <a:blip r:embed="rId1"/>
          <a:srcRect l="3465" t="10655" r="2109" b="7449"/>
          <a:stretch>
            <a:fillRect/>
          </a:stretch>
        </p:blipFill>
        <p:spPr>
          <a:xfrm>
            <a:off x="322263" y="3429000"/>
            <a:ext cx="4897437" cy="2952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46" name="Picture1" descr="0624"/>
          <p:cNvPicPr>
            <a:picLocks noChangeAspect="1"/>
          </p:cNvPicPr>
          <p:nvPr/>
        </p:nvPicPr>
        <p:blipFill>
          <a:blip r:embed="rId2"/>
          <a:srcRect l="3503" t="57040" r="53133" b="6180"/>
          <a:stretch>
            <a:fillRect/>
          </a:stretch>
        </p:blipFill>
        <p:spPr>
          <a:xfrm>
            <a:off x="6194425" y="4581525"/>
            <a:ext cx="2193925" cy="22399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47" name="Picture1" descr="0624"/>
          <p:cNvPicPr>
            <a:picLocks noChangeAspect="1"/>
          </p:cNvPicPr>
          <p:nvPr/>
        </p:nvPicPr>
        <p:blipFill>
          <a:blip r:embed="rId2"/>
          <a:srcRect l="58257" t="61723" b="11755"/>
          <a:stretch>
            <a:fillRect/>
          </a:stretch>
        </p:blipFill>
        <p:spPr>
          <a:xfrm>
            <a:off x="6132513" y="2820988"/>
            <a:ext cx="2111375" cy="1616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TextBox 5"/>
          <p:cNvSpPr txBox="1"/>
          <p:nvPr/>
        </p:nvSpPr>
        <p:spPr>
          <a:xfrm>
            <a:off x="322263" y="6381750"/>
            <a:ext cx="8821737" cy="3683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67" name="Rectangle 5"/>
          <p:cNvSpPr/>
          <p:nvPr/>
        </p:nvSpPr>
        <p:spPr>
          <a:xfrm>
            <a:off x="900113" y="512763"/>
            <a:ext cx="6858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68" name="Rectangle 6"/>
          <p:cNvSpPr/>
          <p:nvPr/>
        </p:nvSpPr>
        <p:spPr>
          <a:xfrm>
            <a:off x="323850" y="1412875"/>
            <a:ext cx="8712200" cy="19446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）高气压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反气旋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其等压线闭合，中心气压高，向外逐渐减低。空间等压面向上凸形状，形似山丘。北半球，气流呈顺时针旋转，称为反气旋。低层大气，气流向外辐散，天气晴好。</a:t>
            </a:r>
            <a:endParaRPr lang="zh-CN" altLang="en-US" sz="24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sz="24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6869" name="Picture1" descr="0624"/>
          <p:cNvPicPr>
            <a:picLocks noChangeAspect="1"/>
          </p:cNvPicPr>
          <p:nvPr/>
        </p:nvPicPr>
        <p:blipFill>
          <a:blip r:embed="rId1"/>
          <a:srcRect b="50000"/>
          <a:stretch>
            <a:fillRect/>
          </a:stretch>
        </p:blipFill>
        <p:spPr>
          <a:xfrm>
            <a:off x="2063750" y="3325813"/>
            <a:ext cx="5676900" cy="3416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70" name="Rectangle 3"/>
          <p:cNvSpPr txBox="1"/>
          <p:nvPr/>
        </p:nvSpPr>
        <p:spPr>
          <a:xfrm>
            <a:off x="1336675" y="225425"/>
            <a:ext cx="7772400" cy="76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</a:pPr>
            <a:r>
              <a:rPr lang="en-US" altLang="zh-CN" sz="36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36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、气压场的基本型式</a:t>
            </a:r>
            <a:endParaRPr lang="zh-CN" altLang="en-US" sz="3600" b="1" dirty="0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7890" name="Picture 2" descr="高压与低压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71600"/>
            <a:ext cx="9144000" cy="5181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1" name="Rectangle 3"/>
          <p:cNvSpPr>
            <a:spLocks noGrp="1" noRot="1"/>
          </p:cNvSpPr>
          <p:nvPr>
            <p:ph type="title"/>
          </p:nvPr>
        </p:nvSpPr>
        <p:spPr>
          <a:xfrm>
            <a:off x="214313" y="1000125"/>
            <a:ext cx="7715250" cy="1000125"/>
          </a:xfrm>
          <a:ln/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zh-CN" altLang="en-US" sz="3600" dirty="0">
                <a:solidFill>
                  <a:srgbClr val="0000FF"/>
                </a:solidFill>
              </a:rPr>
              <a:t>高压与低压</a:t>
            </a:r>
            <a:endParaRPr lang="zh-CN" altLang="en-US" sz="36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TextBox 7"/>
          <p:cNvSpPr txBox="1"/>
          <p:nvPr/>
        </p:nvSpPr>
        <p:spPr>
          <a:xfrm>
            <a:off x="322263" y="6381750"/>
            <a:ext cx="8821737" cy="3683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8915" name="Group 4"/>
          <p:cNvGrpSpPr/>
          <p:nvPr/>
        </p:nvGrpSpPr>
        <p:grpSpPr>
          <a:xfrm>
            <a:off x="0" y="360363"/>
            <a:ext cx="9539288" cy="2441575"/>
            <a:chOff x="0" y="0"/>
            <a:chExt cx="4507" cy="1383"/>
          </a:xfrm>
        </p:grpSpPr>
        <p:sp>
          <p:nvSpPr>
            <p:cNvPr id="38919" name="Rectangle 5"/>
            <p:cNvSpPr/>
            <p:nvPr/>
          </p:nvSpPr>
          <p:spPr>
            <a:xfrm>
              <a:off x="0" y="0"/>
              <a:ext cx="4320" cy="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920" name="Rectangle 6"/>
            <p:cNvSpPr/>
            <p:nvPr/>
          </p:nvSpPr>
          <p:spPr>
            <a:xfrm>
              <a:off x="187" y="596"/>
              <a:ext cx="4320" cy="7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/>
              <a:endParaRPr lang="zh-CN" altLang="en-US" dirty="0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pic>
        <p:nvPicPr>
          <p:cNvPr id="38916" name="Picture 7" descr="abt6-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763" y="3473450"/>
            <a:ext cx="5508625" cy="312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917" name="Rectangle 3"/>
          <p:cNvSpPr txBox="1"/>
          <p:nvPr/>
        </p:nvSpPr>
        <p:spPr>
          <a:xfrm>
            <a:off x="1336675" y="225425"/>
            <a:ext cx="7772400" cy="76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</a:pPr>
            <a:r>
              <a:rPr lang="en-US" altLang="zh-CN" sz="36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36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、气压场的基本型式</a:t>
            </a:r>
            <a:endParaRPr lang="zh-CN" altLang="en-US" sz="3600" b="1" dirty="0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918" name="TextBox 1"/>
          <p:cNvSpPr txBox="1"/>
          <p:nvPr/>
        </p:nvSpPr>
        <p:spPr>
          <a:xfrm>
            <a:off x="395288" y="1412875"/>
            <a:ext cx="8569325" cy="10525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(3) 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低压槽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简称槽</a:t>
            </a:r>
            <a:r>
              <a:rPr lang="en-US" altLang="zh-CN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4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从低压区向外延伸出的气压较低的狭长区域。在槽中，各等压线弯曲最大处的连线叫槽线。</a:t>
            </a:r>
            <a:endParaRPr lang="zh-CN" altLang="en-US" sz="24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TextBox 7"/>
          <p:cNvSpPr txBox="1"/>
          <p:nvPr/>
        </p:nvSpPr>
        <p:spPr>
          <a:xfrm>
            <a:off x="322263" y="6381750"/>
            <a:ext cx="8821737" cy="3683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9939" name="Group 2"/>
          <p:cNvGrpSpPr/>
          <p:nvPr/>
        </p:nvGrpSpPr>
        <p:grpSpPr>
          <a:xfrm>
            <a:off x="228600" y="304800"/>
            <a:ext cx="8686800" cy="3702050"/>
            <a:chOff x="0" y="0"/>
            <a:chExt cx="4320" cy="2053"/>
          </a:xfrm>
        </p:grpSpPr>
        <p:sp>
          <p:nvSpPr>
            <p:cNvPr id="39942" name="Rectangle 3"/>
            <p:cNvSpPr/>
            <p:nvPr/>
          </p:nvSpPr>
          <p:spPr>
            <a:xfrm>
              <a:off x="0" y="0"/>
              <a:ext cx="4320" cy="14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/>
            <a:p>
              <a:pPr eaLnBrk="1" hangingPunct="1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9943" name="Group 4"/>
            <p:cNvGrpSpPr/>
            <p:nvPr/>
          </p:nvGrpSpPr>
          <p:grpSpPr>
            <a:xfrm>
              <a:off x="0" y="0"/>
              <a:ext cx="4320" cy="2053"/>
              <a:chOff x="0" y="0"/>
              <a:chExt cx="4320" cy="2053"/>
            </a:xfrm>
          </p:grpSpPr>
          <p:sp>
            <p:nvSpPr>
              <p:cNvPr id="39944" name="Rectangle 5"/>
              <p:cNvSpPr/>
              <p:nvPr/>
            </p:nvSpPr>
            <p:spPr>
              <a:xfrm>
                <a:off x="0" y="0"/>
                <a:ext cx="4320" cy="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eaLnBrk="1" hangingPunct="1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945" name="Rectangle 6"/>
              <p:cNvSpPr/>
              <p:nvPr/>
            </p:nvSpPr>
            <p:spPr>
              <a:xfrm>
                <a:off x="0" y="574"/>
                <a:ext cx="4320" cy="147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eaLnBrk="1" hangingPunct="1">
                  <a:lnSpc>
                    <a:spcPct val="130000"/>
                  </a:lnSpc>
                </a:pPr>
                <a:r>
                  <a:rPr lang="zh-CN" altLang="en-US" sz="2400" b="1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（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4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）高压脊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(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简称脊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)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：</a:t>
                </a:r>
                <a:r>
                  <a:rPr lang="zh-CN" altLang="en-US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从高压区向外延伸出的气压较高的狭长区域。在脊中，各等压线弯曲最大处的连线叫脊线。</a:t>
                </a:r>
                <a:endParaRPr lang="zh-CN" altLang="en-US" sz="2400" b="1" dirty="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endParaRPr>
              </a:p>
              <a:p>
                <a:r>
                  <a:rPr lang="zh-CN" altLang="en-US" sz="2400" b="1" dirty="0">
                    <a:latin typeface="楷体_GB2312" pitchFamily="49" charset="-122"/>
                    <a:ea typeface="楷体_GB2312" pitchFamily="49" charset="-122"/>
                  </a:rPr>
                  <a:t>　</a:t>
                </a:r>
                <a:endParaRPr lang="zh-CN" altLang="en-US" sz="2400" b="1" dirty="0">
                  <a:latin typeface="楷体_GB2312" pitchFamily="49" charset="-122"/>
                  <a:ea typeface="楷体_GB2312" pitchFamily="49" charset="-122"/>
                </a:endParaRPr>
              </a:p>
              <a:p>
                <a:r>
                  <a:rPr lang="zh-CN" altLang="en-US" sz="2400" b="1" dirty="0">
                    <a:latin typeface="楷体_GB2312" pitchFamily="49" charset="-122"/>
                    <a:ea typeface="楷体_GB2312" pitchFamily="49" charset="-122"/>
                  </a:rPr>
                  <a:t>  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楷体_GB2312" pitchFamily="49" charset="-122"/>
                  </a:rPr>
                  <a:t>                                                                                 </a:t>
                </a:r>
                <a:endParaRPr lang="zh-CN" altLang="en-US" sz="2400" b="1" dirty="0">
                  <a:latin typeface="楷体_GB2312" pitchFamily="49" charset="-122"/>
                  <a:ea typeface="楷体_GB2312" pitchFamily="49" charset="-122"/>
                </a:endParaRPr>
              </a:p>
              <a:p>
                <a:endParaRPr lang="en-US" altLang="zh-CN" sz="2400" b="1" dirty="0"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</p:grpSp>
      <p:pic>
        <p:nvPicPr>
          <p:cNvPr id="39940" name="Picture 7" descr="abt6-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0075" y="3162300"/>
            <a:ext cx="5581650" cy="3362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41" name="Rectangle 3"/>
          <p:cNvSpPr txBox="1"/>
          <p:nvPr/>
        </p:nvSpPr>
        <p:spPr>
          <a:xfrm>
            <a:off x="1336675" y="225425"/>
            <a:ext cx="7772400" cy="76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</a:pPr>
            <a:r>
              <a:rPr lang="en-US" altLang="zh-CN" sz="36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36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、气压场的基本型式</a:t>
            </a:r>
            <a:endParaRPr lang="zh-CN" altLang="en-US" sz="3600" b="1" dirty="0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TextBox 9"/>
          <p:cNvSpPr txBox="1"/>
          <p:nvPr/>
        </p:nvSpPr>
        <p:spPr>
          <a:xfrm>
            <a:off x="322263" y="6381750"/>
            <a:ext cx="8821737" cy="3683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pPr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40963" name="Group 2"/>
          <p:cNvGrpSpPr/>
          <p:nvPr/>
        </p:nvGrpSpPr>
        <p:grpSpPr>
          <a:xfrm>
            <a:off x="342900" y="228600"/>
            <a:ext cx="8442325" cy="2716213"/>
            <a:chOff x="0" y="0"/>
            <a:chExt cx="4320" cy="622"/>
          </a:xfrm>
        </p:grpSpPr>
        <p:sp>
          <p:nvSpPr>
            <p:cNvPr id="40968" name="Rectangle 3"/>
            <p:cNvSpPr/>
            <p:nvPr/>
          </p:nvSpPr>
          <p:spPr>
            <a:xfrm>
              <a:off x="0" y="0"/>
              <a:ext cx="432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/>
            <a:p>
              <a:pPr eaLnBrk="1" hangingPunct="1"/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0969" name="Group 4"/>
            <p:cNvGrpSpPr/>
            <p:nvPr/>
          </p:nvGrpSpPr>
          <p:grpSpPr>
            <a:xfrm>
              <a:off x="0" y="0"/>
              <a:ext cx="4320" cy="622"/>
              <a:chOff x="0" y="0"/>
              <a:chExt cx="4320" cy="622"/>
            </a:xfrm>
          </p:grpSpPr>
          <p:sp>
            <p:nvSpPr>
              <p:cNvPr id="40970" name="Rectangle 5"/>
              <p:cNvSpPr/>
              <p:nvPr/>
            </p:nvSpPr>
            <p:spPr>
              <a:xfrm>
                <a:off x="0" y="0"/>
                <a:ext cx="4320" cy="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eaLnBrk="1" hangingPunct="1"/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971" name="Rectangle 6"/>
              <p:cNvSpPr/>
              <p:nvPr/>
            </p:nvSpPr>
            <p:spPr>
              <a:xfrm>
                <a:off x="0" y="238"/>
                <a:ext cx="4320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eaLnBrk="1" hangingPunct="1">
                  <a:lnSpc>
                    <a:spcPct val="130000"/>
                  </a:lnSpc>
                </a:pPr>
                <a:r>
                  <a:rPr lang="en-US" altLang="zh-CN" sz="2800" b="1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(5) 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楷体_GB2312" pitchFamily="49" charset="-122"/>
                    <a:ea typeface="楷体_GB2312" pitchFamily="49" charset="-122"/>
                  </a:rPr>
                  <a:t>鞍形气压区：</a:t>
                </a:r>
                <a:r>
                  <a:rPr lang="zh-CN" altLang="en-US" sz="2800" b="1" dirty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是两个低压与两个高压交错组成的中间区域，其附近空间等压面形如马鞍。</a:t>
                </a:r>
                <a:endParaRPr lang="zh-CN" altLang="en-US" sz="2800" b="1" dirty="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endParaRPr>
              </a:p>
              <a:p>
                <a:pPr>
                  <a:lnSpc>
                    <a:spcPct val="130000"/>
                  </a:lnSpc>
                </a:pPr>
                <a:endParaRPr lang="en-US" altLang="zh-CN" sz="2800" b="1" dirty="0"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</p:grpSp>
      <p:pic>
        <p:nvPicPr>
          <p:cNvPr id="40964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2565400"/>
            <a:ext cx="5602288" cy="43195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65" name="Oval 8"/>
          <p:cNvSpPr/>
          <p:nvPr/>
        </p:nvSpPr>
        <p:spPr>
          <a:xfrm>
            <a:off x="5364163" y="4724400"/>
            <a:ext cx="504825" cy="396875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66" name="Rectangle 3"/>
          <p:cNvSpPr txBox="1"/>
          <p:nvPr/>
        </p:nvSpPr>
        <p:spPr>
          <a:xfrm>
            <a:off x="1336675" y="225425"/>
            <a:ext cx="7772400" cy="76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</a:pPr>
            <a:r>
              <a:rPr lang="en-US" altLang="zh-CN" sz="36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36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、气压场的基本型式</a:t>
            </a:r>
            <a:endParaRPr lang="zh-CN" altLang="en-US" sz="3600" b="1" dirty="0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0967" name="Oval 8"/>
          <p:cNvSpPr/>
          <p:nvPr/>
        </p:nvSpPr>
        <p:spPr>
          <a:xfrm>
            <a:off x="3203575" y="3752850"/>
            <a:ext cx="504825" cy="396875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1428750" y="260350"/>
            <a:ext cx="7735888" cy="646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3600" b="1" kern="1200" cap="none" spc="0" normalizeH="0" baseline="0" noProof="0" dirty="0">
                <a:solidFill>
                  <a:srgbClr val="FFFF00"/>
                </a:solidFill>
                <a:latin typeface="+mj-ea"/>
                <a:ea typeface="+mj-ea"/>
                <a:cs typeface="+mn-cs"/>
              </a:rPr>
              <a:t>2</a:t>
            </a:r>
            <a:r>
              <a:rPr kumimoji="0" lang="zh-CN" altLang="en-US" sz="3600" b="1" kern="1200" cap="none" spc="0" normalizeH="0" baseline="0" noProof="0" dirty="0">
                <a:solidFill>
                  <a:srgbClr val="FFFF00"/>
                </a:solidFill>
                <a:latin typeface="+mj-ea"/>
                <a:ea typeface="+mj-ea"/>
                <a:cs typeface="+mn-cs"/>
              </a:rPr>
              <a:t>、全球海平面气压和风的分布</a:t>
            </a:r>
            <a:endParaRPr kumimoji="0" lang="zh-CN" altLang="en-US" sz="3600" b="1" kern="1200" cap="none" spc="0" normalizeH="0" baseline="0" noProof="0" dirty="0">
              <a:solidFill>
                <a:srgbClr val="FFFF00"/>
              </a:solidFill>
              <a:latin typeface="+mj-ea"/>
              <a:ea typeface="+mj-ea"/>
              <a:cs typeface="+mn-cs"/>
            </a:endParaRPr>
          </a:p>
        </p:txBody>
      </p:sp>
      <p:pic>
        <p:nvPicPr>
          <p:cNvPr id="41987" name="Picture 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125" y="1087438"/>
            <a:ext cx="6883400" cy="57705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3010" name="Picture 3" descr="00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3" y="1196975"/>
            <a:ext cx="7848600" cy="4806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011" name="Text Box 4"/>
          <p:cNvSpPr txBox="1"/>
          <p:nvPr/>
        </p:nvSpPr>
        <p:spPr>
          <a:xfrm>
            <a:off x="1357313" y="285750"/>
            <a:ext cx="7626350" cy="473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5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(1)</a:t>
            </a:r>
            <a:r>
              <a:rPr lang="zh-CN" altLang="en-US" sz="25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夏季（北半球</a:t>
            </a:r>
            <a:r>
              <a:rPr lang="en-US" altLang="zh-CN" sz="25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r>
              <a:rPr lang="zh-CN" altLang="en-US" sz="25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月、南半球</a:t>
            </a:r>
            <a:r>
              <a:rPr lang="en-US" altLang="zh-CN" sz="25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5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月）大陆内部有低气压</a:t>
            </a:r>
            <a:endParaRPr lang="zh-CN" altLang="en-US" sz="25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12" name="Text Box 5"/>
          <p:cNvSpPr txBox="1"/>
          <p:nvPr/>
        </p:nvSpPr>
        <p:spPr>
          <a:xfrm>
            <a:off x="2481263" y="6021388"/>
            <a:ext cx="4805362" cy="473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5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r>
              <a:rPr lang="zh-CN" altLang="en-US" sz="25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月</a:t>
            </a:r>
            <a:r>
              <a:rPr lang="en-US" altLang="zh-CN" sz="25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25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北半球夏季、南半球冬季</a:t>
            </a:r>
            <a:endParaRPr lang="zh-CN" altLang="en-US" sz="25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2"/>
          <p:cNvSpPr>
            <a:spLocks noGrp="1" noRot="1"/>
          </p:cNvSpPr>
          <p:nvPr>
            <p:ph type="title"/>
          </p:nvPr>
        </p:nvSpPr>
        <p:spPr>
          <a:xfrm>
            <a:off x="1281113" y="214313"/>
            <a:ext cx="7720012" cy="563562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solidFill>
                  <a:srgbClr val="FFFF00"/>
                </a:solidFill>
              </a:rPr>
              <a:t>北半球</a:t>
            </a:r>
            <a:r>
              <a:rPr lang="en-US" altLang="zh-CN" dirty="0">
                <a:solidFill>
                  <a:srgbClr val="FFFF00"/>
                </a:solidFill>
              </a:rPr>
              <a:t>7</a:t>
            </a:r>
            <a:r>
              <a:rPr lang="zh-CN" altLang="en-US" dirty="0">
                <a:solidFill>
                  <a:srgbClr val="FFFF00"/>
                </a:solidFill>
              </a:rPr>
              <a:t>月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4403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海洋上被两个强大的副热带高压控制：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   </a:t>
            </a:r>
            <a:r>
              <a:rPr lang="zh-CN" altLang="en-US" dirty="0">
                <a:ea typeface="宋体" panose="02010600030101010101" pitchFamily="2" charset="-122"/>
              </a:rPr>
              <a:t>太平洋高压、大西洋高压；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zh-CN" altLang="en-US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欧亚大陆被大低压控制：印度低压。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5058" name="Picture 3" descr="00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1196975"/>
            <a:ext cx="7920038" cy="4818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059" name="Text Box 6"/>
          <p:cNvSpPr txBox="1"/>
          <p:nvPr/>
        </p:nvSpPr>
        <p:spPr>
          <a:xfrm>
            <a:off x="1357313" y="285750"/>
            <a:ext cx="7556500" cy="473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5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⑵</a:t>
            </a:r>
            <a:r>
              <a:rPr lang="zh-CN" altLang="en-US" sz="25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冬季（北半球</a:t>
            </a:r>
            <a:r>
              <a:rPr lang="en-US" altLang="zh-CN" sz="25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5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月、南半球</a:t>
            </a:r>
            <a:r>
              <a:rPr lang="en-US" altLang="zh-CN" sz="25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r>
              <a:rPr lang="zh-CN" altLang="en-US" sz="2500" b="1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月）大陆内部有高气压</a:t>
            </a:r>
            <a:endParaRPr lang="zh-CN" altLang="en-US" sz="2500" b="1" dirty="0">
              <a:solidFill>
                <a:srgbClr val="FFFF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60" name="Text Box 7"/>
          <p:cNvSpPr txBox="1"/>
          <p:nvPr/>
        </p:nvSpPr>
        <p:spPr>
          <a:xfrm>
            <a:off x="2176463" y="6000750"/>
            <a:ext cx="4824412" cy="4730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5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5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月</a:t>
            </a:r>
            <a:r>
              <a:rPr lang="en-US" altLang="zh-CN" sz="25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25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北半球冬季、南半球夏季</a:t>
            </a:r>
            <a:endParaRPr lang="zh-CN" altLang="en-US" sz="25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大陆上出现了一个大高压：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   </a:t>
            </a:r>
            <a:r>
              <a:rPr lang="zh-CN" altLang="en-US" dirty="0">
                <a:ea typeface="宋体" panose="02010600030101010101" pitchFamily="2" charset="-122"/>
              </a:rPr>
              <a:t>西伯利亚高压（或蒙古高压）；</a:t>
            </a:r>
            <a:endParaRPr lang="zh-CN" altLang="en-US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海洋上有两个低压：阿留申低压，冰岛低压。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6083" name="Rectangle 4"/>
          <p:cNvSpPr>
            <a:spLocks noGrp="1" noRot="1"/>
          </p:cNvSpPr>
          <p:nvPr>
            <p:ph type="title"/>
          </p:nvPr>
        </p:nvSpPr>
        <p:spPr>
          <a:xfrm>
            <a:off x="1352550" y="285750"/>
            <a:ext cx="7648575" cy="56356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solidFill>
                  <a:srgbClr val="FFFF00"/>
                </a:solidFill>
              </a:rPr>
              <a:t>北半球</a:t>
            </a:r>
            <a:r>
              <a:rPr lang="en-US" altLang="zh-CN" dirty="0">
                <a:solidFill>
                  <a:srgbClr val="FFFF00"/>
                </a:solidFill>
              </a:rPr>
              <a:t>1</a:t>
            </a:r>
            <a:r>
              <a:rPr lang="zh-CN" altLang="en-US" dirty="0">
                <a:solidFill>
                  <a:srgbClr val="FFFF00"/>
                </a:solidFill>
              </a:rPr>
              <a:t>月</a:t>
            </a:r>
            <a:endParaRPr lang="zh-CN" alt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6"/>
          <p:cNvSpPr/>
          <p:nvPr/>
        </p:nvSpPr>
        <p:spPr>
          <a:xfrm>
            <a:off x="38100" y="4429125"/>
            <a:ext cx="9534525" cy="240030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pPr eaLnBrk="1" hangingPunct="1">
              <a:lnSpc>
                <a:spcPct val="150000"/>
              </a:lnSpc>
            </a:pPr>
            <a:b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• 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特点：一天中出现一个最高值（</a:t>
            </a: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9-10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时）、一个次高值（</a:t>
            </a: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21-22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时）</a:t>
            </a:r>
            <a:endParaRPr lang="en-US" altLang="zh-CN" sz="20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一个最低值（</a:t>
            </a: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15-16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时）、一个次低值（凌晨</a:t>
            </a: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3-4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时）的双峰型变化。</a:t>
            </a:r>
            <a:b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• 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最高最低气压值出现时间和变化幅度随纬度不同。</a:t>
            </a:r>
            <a:b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endParaRPr lang="zh-CN" altLang="en-US" sz="20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107" name="Rectangle 5"/>
          <p:cNvSpPr/>
          <p:nvPr/>
        </p:nvSpPr>
        <p:spPr>
          <a:xfrm>
            <a:off x="500063" y="2762250"/>
            <a:ext cx="2347912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气压日变化：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4710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1750" y="1241425"/>
            <a:ext cx="5616575" cy="3616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0647" name="Rectangle 7"/>
          <p:cNvSpPr>
            <a:spLocks noChangeArrowheads="1"/>
          </p:cNvSpPr>
          <p:nvPr/>
        </p:nvSpPr>
        <p:spPr bwMode="auto">
          <a:xfrm>
            <a:off x="1500188" y="285750"/>
            <a:ext cx="5143500" cy="523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、气压周期性变化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Text Box 8"/>
          <p:cNvSpPr txBox="1"/>
          <p:nvPr/>
        </p:nvSpPr>
        <p:spPr>
          <a:xfrm>
            <a:off x="2987675" y="1989138"/>
            <a:ext cx="4752975" cy="32623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Aft>
                <a:spcPts val="3600"/>
              </a:spcAft>
            </a:pPr>
            <a:r>
              <a:rPr lang="zh-CN" altLang="en-US" sz="3600" b="1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本 章 重 点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1. 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静力学方程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2. 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压高公式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3. 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大气模式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WordArt 3"/>
          <p:cNvSpPr>
            <a:spLocks noTextEdit="1"/>
          </p:cNvSpPr>
          <p:nvPr/>
        </p:nvSpPr>
        <p:spPr>
          <a:xfrm>
            <a:off x="3995738" y="1989138"/>
            <a:ext cx="1173162" cy="1008062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  <a:normAutofit/>
          </a:bodyPr>
          <a:p>
            <a:pPr algn="ctr"/>
            <a:r>
              <a:rPr lang="zh-CN" altLang="en-US" sz="3600" b="1">
                <a:ln w="28575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  <a:solidFill>
                  <a:schemeClr val="folHlink">
                    <a:alpha val="76862"/>
                  </a:schemeClr>
                </a:solidFill>
                <a:effectLst>
                  <a:outerShdw dist="89803" dir="2699999" algn="ctr" rotWithShape="0">
                    <a:schemeClr val="tx2">
                      <a:alpha val="50000"/>
                    </a:schemeClr>
                  </a:outerShdw>
                </a:effectLst>
                <a:latin typeface="+mn-ea" charset="0"/>
                <a:ea typeface="+mn-ea" charset="0"/>
              </a:rPr>
              <a:t>完</a:t>
            </a:r>
            <a:endParaRPr lang="zh-CN" altLang="en-US" sz="3600" b="1">
              <a:ln w="285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  <a:solidFill>
                <a:schemeClr val="folHlink">
                  <a:alpha val="76862"/>
                </a:schemeClr>
              </a:solidFill>
              <a:effectLst>
                <a:outerShdw dist="89803" dir="2699999" algn="ctr" rotWithShape="0">
                  <a:schemeClr val="tx2">
                    <a:alpha val="50000"/>
                  </a:schemeClr>
                </a:outerShdw>
              </a:effectLst>
              <a:latin typeface="+mn-ea" charset="0"/>
              <a:ea typeface="+mn-e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db2004132l">
  <a:themeElements>
    <a:clrScheme name="cdb2004132l 3">
      <a:dk1>
        <a:srgbClr val="1A1A70"/>
      </a:dk1>
      <a:lt1>
        <a:srgbClr val="FFFFFF"/>
      </a:lt1>
      <a:dk2>
        <a:srgbClr val="243D8C"/>
      </a:dk2>
      <a:lt2>
        <a:srgbClr val="DDDDDD"/>
      </a:lt2>
      <a:accent1>
        <a:srgbClr val="3E78C6"/>
      </a:accent1>
      <a:accent2>
        <a:srgbClr val="84A1E8"/>
      </a:accent2>
      <a:accent3>
        <a:srgbClr val="FFFFFF"/>
      </a:accent3>
      <a:accent4>
        <a:srgbClr val="14145F"/>
      </a:accent4>
      <a:accent5>
        <a:srgbClr val="AFBEDF"/>
      </a:accent5>
      <a:accent6>
        <a:srgbClr val="7791D2"/>
      </a:accent6>
      <a:hlink>
        <a:srgbClr val="90B54D"/>
      </a:hlink>
      <a:folHlink>
        <a:srgbClr val="F3C43F"/>
      </a:folHlink>
    </a:clrScheme>
    <a:fontScheme name="cdb2004132l">
      <a:majorFont>
        <a:latin typeface="楷体_GB2312"/>
        <a:ea typeface="楷体_GB2312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cdb2004132l 1">
        <a:dk1>
          <a:srgbClr val="1D4940"/>
        </a:dk1>
        <a:lt1>
          <a:srgbClr val="FFFFFF"/>
        </a:lt1>
        <a:dk2>
          <a:srgbClr val="3F716F"/>
        </a:dk2>
        <a:lt2>
          <a:srgbClr val="DDDDDD"/>
        </a:lt2>
        <a:accent1>
          <a:srgbClr val="669E86"/>
        </a:accent1>
        <a:accent2>
          <a:srgbClr val="A2CAB4"/>
        </a:accent2>
        <a:accent3>
          <a:srgbClr val="FFFFFF"/>
        </a:accent3>
        <a:accent4>
          <a:srgbClr val="173D35"/>
        </a:accent4>
        <a:accent5>
          <a:srgbClr val="B8CCC3"/>
        </a:accent5>
        <a:accent6>
          <a:srgbClr val="92B7A3"/>
        </a:accent6>
        <a:hlink>
          <a:srgbClr val="8CA35F"/>
        </a:hlink>
        <a:folHlink>
          <a:srgbClr val="C1B05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32l 2">
        <a:dk1>
          <a:srgbClr val="2D4473"/>
        </a:dk1>
        <a:lt1>
          <a:srgbClr val="FFFFFF"/>
        </a:lt1>
        <a:dk2>
          <a:srgbClr val="2B6185"/>
        </a:dk2>
        <a:lt2>
          <a:srgbClr val="D3D9DD"/>
        </a:lt2>
        <a:accent1>
          <a:srgbClr val="638AA1"/>
        </a:accent1>
        <a:accent2>
          <a:srgbClr val="8CA8B5"/>
        </a:accent2>
        <a:accent3>
          <a:srgbClr val="FFFFFF"/>
        </a:accent3>
        <a:accent4>
          <a:srgbClr val="253961"/>
        </a:accent4>
        <a:accent5>
          <a:srgbClr val="B7C4CD"/>
        </a:accent5>
        <a:accent6>
          <a:srgbClr val="7E98A4"/>
        </a:accent6>
        <a:hlink>
          <a:srgbClr val="6FA2E7"/>
        </a:hlink>
        <a:folHlink>
          <a:srgbClr val="99C25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32l 3">
        <a:dk1>
          <a:srgbClr val="1A1A70"/>
        </a:dk1>
        <a:lt1>
          <a:srgbClr val="FFFFFF"/>
        </a:lt1>
        <a:dk2>
          <a:srgbClr val="243D8C"/>
        </a:dk2>
        <a:lt2>
          <a:srgbClr val="DDDDDD"/>
        </a:lt2>
        <a:accent1>
          <a:srgbClr val="3E78C6"/>
        </a:accent1>
        <a:accent2>
          <a:srgbClr val="84A1E8"/>
        </a:accent2>
        <a:accent3>
          <a:srgbClr val="FFFFFF"/>
        </a:accent3>
        <a:accent4>
          <a:srgbClr val="14145F"/>
        </a:accent4>
        <a:accent5>
          <a:srgbClr val="AFBEDF"/>
        </a:accent5>
        <a:accent6>
          <a:srgbClr val="7791D2"/>
        </a:accent6>
        <a:hlink>
          <a:srgbClr val="90B54D"/>
        </a:hlink>
        <a:folHlink>
          <a:srgbClr val="F3C43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cdb2004132l</Template>
  <TotalTime>0</TotalTime>
  <Words>3323</Words>
  <Application>WPS 演示</Application>
  <PresentationFormat>全屏显示(4:3)</PresentationFormat>
  <Paragraphs>291</Paragraphs>
  <Slides>46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29</vt:i4>
      </vt:variant>
      <vt:variant>
        <vt:lpstr>幻灯片标题</vt:lpstr>
      </vt:variant>
      <vt:variant>
        <vt:i4>46</vt:i4>
      </vt:variant>
    </vt:vector>
  </HeadingPairs>
  <TitlesOfParts>
    <vt:vector size="90" baseType="lpstr">
      <vt:lpstr>Arial</vt:lpstr>
      <vt:lpstr>宋体</vt:lpstr>
      <vt:lpstr>Wingdings</vt:lpstr>
      <vt:lpstr>楷体_GB2312</vt:lpstr>
      <vt:lpstr>新宋体</vt:lpstr>
      <vt:lpstr>Verdana</vt:lpstr>
      <vt:lpstr>Calibri</vt:lpstr>
      <vt:lpstr>Times New Roman</vt:lpstr>
      <vt:lpstr>黑体</vt:lpstr>
      <vt:lpstr>KSOF3FB35F8F</vt:lpstr>
      <vt:lpstr>Segoe Print</vt:lpstr>
      <vt:lpstr>微软雅黑</vt:lpstr>
      <vt:lpstr>+mn-ea</vt:lpstr>
      <vt:lpstr>Arial Unicode MS</vt:lpstr>
      <vt:lpstr>cdb2004132l</vt:lpstr>
      <vt:lpstr>Photoshop.Image.6</vt:lpstr>
      <vt:lpstr>Equation.3</vt:lpstr>
      <vt:lpstr>Equations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Photoshop.Image.6</vt:lpstr>
      <vt:lpstr>Equation.3</vt:lpstr>
      <vt:lpstr>Equation.3</vt:lpstr>
      <vt:lpstr>Equations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Photoshop.Image.6</vt:lpstr>
      <vt:lpstr>Equations</vt:lpstr>
      <vt:lpstr>Equation.3</vt:lpstr>
      <vt:lpstr>Equation.3</vt:lpstr>
      <vt:lpstr>Equation.3</vt:lpstr>
      <vt:lpstr>Equations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气象统计分析与预报方法 复习概要</dc:title>
  <dc:creator>User</dc:creator>
  <cp:lastModifiedBy>赵元丞</cp:lastModifiedBy>
  <cp:revision>473</cp:revision>
  <dcterms:created xsi:type="dcterms:W3CDTF">2008-12-05T07:55:53Z</dcterms:created>
  <dcterms:modified xsi:type="dcterms:W3CDTF">2026-10-10T00:51:06Z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B5A4CCC5106143A4A84B71EEB82A95F6_13</vt:lpwstr>
  </property>
  <property fmtid="{D5CDD505-2E9C-101B-9397-08002B2CF9AE}" pid="3" name="KSOProductBuildVer">
    <vt:lpwstr>2052-12.1.0.28802</vt:lpwstr>
  </property>
</Properties>
</file>